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6"/>
  </p:notesMasterIdLst>
  <p:sldIdLst>
    <p:sldId id="256" r:id="rId2"/>
    <p:sldId id="585" r:id="rId3"/>
    <p:sldId id="586" r:id="rId4"/>
    <p:sldId id="479" r:id="rId5"/>
    <p:sldId id="473" r:id="rId6"/>
    <p:sldId id="587" r:id="rId7"/>
    <p:sldId id="588" r:id="rId8"/>
    <p:sldId id="474" r:id="rId9"/>
    <p:sldId id="475" r:id="rId10"/>
    <p:sldId id="589" r:id="rId11"/>
    <p:sldId id="383" r:id="rId12"/>
    <p:sldId id="582" r:id="rId13"/>
    <p:sldId id="384" r:id="rId14"/>
    <p:sldId id="385" r:id="rId15"/>
    <p:sldId id="386" r:id="rId16"/>
    <p:sldId id="389" r:id="rId17"/>
    <p:sldId id="390" r:id="rId18"/>
    <p:sldId id="391" r:id="rId19"/>
    <p:sldId id="393" r:id="rId20"/>
    <p:sldId id="394" r:id="rId21"/>
    <p:sldId id="395" r:id="rId22"/>
    <p:sldId id="396" r:id="rId23"/>
    <p:sldId id="397" r:id="rId24"/>
    <p:sldId id="398" r:id="rId25"/>
    <p:sldId id="399" r:id="rId26"/>
    <p:sldId id="400" r:id="rId27"/>
    <p:sldId id="401" r:id="rId28"/>
    <p:sldId id="407" r:id="rId29"/>
    <p:sldId id="402" r:id="rId30"/>
    <p:sldId id="403" r:id="rId31"/>
    <p:sldId id="404" r:id="rId32"/>
    <p:sldId id="405" r:id="rId33"/>
    <p:sldId id="406" r:id="rId34"/>
    <p:sldId id="408" r:id="rId35"/>
    <p:sldId id="409" r:id="rId36"/>
    <p:sldId id="412" r:id="rId37"/>
    <p:sldId id="413" r:id="rId38"/>
    <p:sldId id="423" r:id="rId39"/>
    <p:sldId id="416" r:id="rId40"/>
    <p:sldId id="417" r:id="rId41"/>
    <p:sldId id="502" r:id="rId42"/>
    <p:sldId id="503" r:id="rId43"/>
    <p:sldId id="506" r:id="rId44"/>
    <p:sldId id="507" r:id="rId45"/>
    <p:sldId id="547" r:id="rId46"/>
    <p:sldId id="508" r:id="rId47"/>
    <p:sldId id="509" r:id="rId48"/>
    <p:sldId id="510" r:id="rId49"/>
    <p:sldId id="511" r:id="rId50"/>
    <p:sldId id="512" r:id="rId51"/>
    <p:sldId id="513" r:id="rId52"/>
    <p:sldId id="514" r:id="rId53"/>
    <p:sldId id="515" r:id="rId54"/>
    <p:sldId id="516" r:id="rId55"/>
    <p:sldId id="517" r:id="rId56"/>
    <p:sldId id="518" r:id="rId57"/>
    <p:sldId id="590" r:id="rId58"/>
    <p:sldId id="519" r:id="rId59"/>
    <p:sldId id="520" r:id="rId60"/>
    <p:sldId id="521" r:id="rId61"/>
    <p:sldId id="522" r:id="rId62"/>
    <p:sldId id="523" r:id="rId63"/>
    <p:sldId id="579" r:id="rId64"/>
    <p:sldId id="524" r:id="rId65"/>
    <p:sldId id="525" r:id="rId66"/>
    <p:sldId id="526" r:id="rId67"/>
    <p:sldId id="527" r:id="rId68"/>
    <p:sldId id="528" r:id="rId69"/>
    <p:sldId id="529" r:id="rId70"/>
    <p:sldId id="530" r:id="rId71"/>
    <p:sldId id="575" r:id="rId72"/>
    <p:sldId id="576" r:id="rId73"/>
    <p:sldId id="577" r:id="rId74"/>
    <p:sldId id="531" r:id="rId75"/>
    <p:sldId id="532" r:id="rId76"/>
    <p:sldId id="533" r:id="rId77"/>
    <p:sldId id="535" r:id="rId78"/>
    <p:sldId id="536" r:id="rId79"/>
    <p:sldId id="537" r:id="rId80"/>
    <p:sldId id="538" r:id="rId81"/>
    <p:sldId id="539" r:id="rId82"/>
    <p:sldId id="541" r:id="rId83"/>
    <p:sldId id="542" r:id="rId84"/>
    <p:sldId id="543" r:id="rId85"/>
    <p:sldId id="545" r:id="rId86"/>
    <p:sldId id="578" r:id="rId87"/>
    <p:sldId id="546" r:id="rId88"/>
    <p:sldId id="548" r:id="rId89"/>
    <p:sldId id="549" r:id="rId90"/>
    <p:sldId id="550" r:id="rId91"/>
    <p:sldId id="551" r:id="rId92"/>
    <p:sldId id="552" r:id="rId93"/>
    <p:sldId id="591" r:id="rId94"/>
    <p:sldId id="553" r:id="rId95"/>
    <p:sldId id="554" r:id="rId96"/>
    <p:sldId id="556" r:id="rId97"/>
    <p:sldId id="557" r:id="rId98"/>
    <p:sldId id="558" r:id="rId99"/>
    <p:sldId id="559" r:id="rId100"/>
    <p:sldId id="560" r:id="rId101"/>
    <p:sldId id="561" r:id="rId102"/>
    <p:sldId id="583" r:id="rId103"/>
    <p:sldId id="563" r:id="rId104"/>
    <p:sldId id="584" r:id="rId105"/>
    <p:sldId id="565" r:id="rId106"/>
    <p:sldId id="566" r:id="rId107"/>
    <p:sldId id="567" r:id="rId108"/>
    <p:sldId id="568" r:id="rId109"/>
    <p:sldId id="569" r:id="rId110"/>
    <p:sldId id="570" r:id="rId111"/>
    <p:sldId id="571" r:id="rId112"/>
    <p:sldId id="572" r:id="rId113"/>
    <p:sldId id="573" r:id="rId114"/>
    <p:sldId id="574" r:id="rId115"/>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7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94648" autoAdjust="0"/>
  </p:normalViewPr>
  <p:slideViewPr>
    <p:cSldViewPr snapToGrid="0">
      <p:cViewPr varScale="1">
        <p:scale>
          <a:sx n="82" d="100"/>
          <a:sy n="82" d="100"/>
        </p:scale>
        <p:origin x="89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diagrams/_rels/data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image" Target="../media/image4.jpeg"/><Relationship Id="rId5" Type="http://schemas.openxmlformats.org/officeDocument/2006/relationships/image" Target="../media/image8.jpeg"/><Relationship Id="rId4" Type="http://schemas.openxmlformats.org/officeDocument/2006/relationships/image" Target="../media/image7.png"/></Relationships>
</file>

<file path=ppt/diagrams/_rels/drawing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image" Target="../media/image4.jpeg"/><Relationship Id="rId5" Type="http://schemas.openxmlformats.org/officeDocument/2006/relationships/image" Target="../media/image8.jpeg"/><Relationship Id="rId4" Type="http://schemas.openxmlformats.org/officeDocument/2006/relationships/image" Target="../media/image7.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555A0A9-D25B-4394-A459-57326287A028}"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es-MX"/>
        </a:p>
      </dgm:t>
    </dgm:pt>
    <dgm:pt modelId="{E8DE0E58-3663-40CA-A744-C6BD41CDEC24}">
      <dgm:prSet phldrT="[Texto]"/>
      <dgm:spPr/>
      <dgm:t>
        <a:bodyPr/>
        <a:lstStyle/>
        <a:p>
          <a:r>
            <a:rPr lang="es-ES" b="1" dirty="0"/>
            <a:t>Información</a:t>
          </a:r>
          <a:endParaRPr lang="es-MX" b="1" dirty="0"/>
        </a:p>
      </dgm:t>
    </dgm:pt>
    <dgm:pt modelId="{91857CC5-D3B6-4FEC-BBA4-493F8656FE68}" type="parTrans" cxnId="{39068CF5-F298-446A-8DF2-8F6B49002D5F}">
      <dgm:prSet/>
      <dgm:spPr/>
      <dgm:t>
        <a:bodyPr/>
        <a:lstStyle/>
        <a:p>
          <a:endParaRPr lang="es-MX"/>
        </a:p>
      </dgm:t>
    </dgm:pt>
    <dgm:pt modelId="{15F9DC19-3DBB-49E2-AEF3-04943837BF0B}" type="sibTrans" cxnId="{39068CF5-F298-446A-8DF2-8F6B49002D5F}">
      <dgm:prSet/>
      <dgm:spPr/>
      <dgm:t>
        <a:bodyPr/>
        <a:lstStyle/>
        <a:p>
          <a:endParaRPr lang="es-MX"/>
        </a:p>
      </dgm:t>
    </dgm:pt>
    <dgm:pt modelId="{16B69882-7AC3-4A7E-975E-B93BCDC7B4AF}">
      <dgm:prSet phldrT="[Texto]"/>
      <dgm:spPr/>
      <dgm:t>
        <a:bodyPr/>
        <a:lstStyle/>
        <a:p>
          <a:r>
            <a:rPr lang="es-ES" dirty="0"/>
            <a:t>Integrada: Unificación de varios archivos</a:t>
          </a:r>
          <a:endParaRPr lang="es-MX" dirty="0"/>
        </a:p>
      </dgm:t>
    </dgm:pt>
    <dgm:pt modelId="{07765322-E239-4875-8D19-7DBDDDDA4A74}" type="parTrans" cxnId="{15F0227C-24CD-4709-8210-95C55BF850D9}">
      <dgm:prSet/>
      <dgm:spPr/>
      <dgm:t>
        <a:bodyPr/>
        <a:lstStyle/>
        <a:p>
          <a:endParaRPr lang="es-MX"/>
        </a:p>
      </dgm:t>
    </dgm:pt>
    <dgm:pt modelId="{D98BB771-25C3-49D3-B800-77172CCBEA2D}" type="sibTrans" cxnId="{15F0227C-24CD-4709-8210-95C55BF850D9}">
      <dgm:prSet/>
      <dgm:spPr/>
      <dgm:t>
        <a:bodyPr/>
        <a:lstStyle/>
        <a:p>
          <a:endParaRPr lang="es-MX"/>
        </a:p>
      </dgm:t>
    </dgm:pt>
    <dgm:pt modelId="{6DD0318B-FD40-4D47-BD62-478E3A2E2915}">
      <dgm:prSet phldrT="[Texto]"/>
      <dgm:spPr/>
      <dgm:t>
        <a:bodyPr/>
        <a:lstStyle/>
        <a:p>
          <a:r>
            <a:rPr lang="es-ES" dirty="0"/>
            <a:t>Compartida: Usuarios utilizan la información para propósitos diferentes</a:t>
          </a:r>
          <a:endParaRPr lang="es-MX" dirty="0"/>
        </a:p>
      </dgm:t>
    </dgm:pt>
    <dgm:pt modelId="{684D659C-C14F-4982-AA0E-EEBEB6683FE1}" type="parTrans" cxnId="{6752AC9D-0413-42FD-A7DD-26FA2B264ECF}">
      <dgm:prSet/>
      <dgm:spPr/>
      <dgm:t>
        <a:bodyPr/>
        <a:lstStyle/>
        <a:p>
          <a:endParaRPr lang="es-MX"/>
        </a:p>
      </dgm:t>
    </dgm:pt>
    <dgm:pt modelId="{42D6DC06-90B1-4FD4-826A-368FE2ED2EDF}" type="sibTrans" cxnId="{6752AC9D-0413-42FD-A7DD-26FA2B264ECF}">
      <dgm:prSet/>
      <dgm:spPr/>
      <dgm:t>
        <a:bodyPr/>
        <a:lstStyle/>
        <a:p>
          <a:endParaRPr lang="es-MX"/>
        </a:p>
      </dgm:t>
    </dgm:pt>
    <dgm:pt modelId="{E88EA3D9-59ED-4863-B16D-78D46F5852A9}">
      <dgm:prSet phldrT="[Texto]"/>
      <dgm:spPr/>
      <dgm:t>
        <a:bodyPr/>
        <a:lstStyle/>
        <a:p>
          <a:r>
            <a:rPr lang="es-ES" b="1" dirty="0"/>
            <a:t>Equipo</a:t>
          </a:r>
          <a:endParaRPr lang="es-MX" b="1" dirty="0"/>
        </a:p>
      </dgm:t>
    </dgm:pt>
    <dgm:pt modelId="{D390FDC9-E69E-42B5-9195-B2F6927D8821}" type="parTrans" cxnId="{EA5F4EA5-BA66-44A5-85F3-F7CF65BFE990}">
      <dgm:prSet/>
      <dgm:spPr/>
      <dgm:t>
        <a:bodyPr/>
        <a:lstStyle/>
        <a:p>
          <a:endParaRPr lang="es-MX"/>
        </a:p>
      </dgm:t>
    </dgm:pt>
    <dgm:pt modelId="{9A1BFEA8-D732-4FD3-B494-ADE846327CB4}" type="sibTrans" cxnId="{EA5F4EA5-BA66-44A5-85F3-F7CF65BFE990}">
      <dgm:prSet/>
      <dgm:spPr/>
      <dgm:t>
        <a:bodyPr/>
        <a:lstStyle/>
        <a:p>
          <a:endParaRPr lang="es-MX"/>
        </a:p>
      </dgm:t>
    </dgm:pt>
    <dgm:pt modelId="{22F12875-5543-4BDC-BD74-BE418800AA58}">
      <dgm:prSet phldrT="[Texto]"/>
      <dgm:spPr/>
      <dgm:t>
        <a:bodyPr/>
        <a:lstStyle/>
        <a:p>
          <a:r>
            <a:rPr lang="es-ES" dirty="0"/>
            <a:t>Computadora (MU/Redes)</a:t>
          </a:r>
          <a:endParaRPr lang="es-MX" dirty="0"/>
        </a:p>
      </dgm:t>
    </dgm:pt>
    <dgm:pt modelId="{7B0801AB-6771-431E-A660-FED9A8B728D3}" type="parTrans" cxnId="{53310A13-0477-4DC7-9E04-5F697477D3AE}">
      <dgm:prSet/>
      <dgm:spPr/>
      <dgm:t>
        <a:bodyPr/>
        <a:lstStyle/>
        <a:p>
          <a:endParaRPr lang="es-MX"/>
        </a:p>
      </dgm:t>
    </dgm:pt>
    <dgm:pt modelId="{24049BDE-884B-4E12-973A-7F9517A6EE13}" type="sibTrans" cxnId="{53310A13-0477-4DC7-9E04-5F697477D3AE}">
      <dgm:prSet/>
      <dgm:spPr/>
      <dgm:t>
        <a:bodyPr/>
        <a:lstStyle/>
        <a:p>
          <a:endParaRPr lang="es-MX"/>
        </a:p>
      </dgm:t>
    </dgm:pt>
    <dgm:pt modelId="{4D329B6B-68A7-42B3-8BC9-FE7E495767CB}">
      <dgm:prSet phldrT="[Texto]"/>
      <dgm:spPr/>
      <dgm:t>
        <a:bodyPr/>
        <a:lstStyle/>
        <a:p>
          <a:r>
            <a:rPr lang="es-ES" dirty="0"/>
            <a:t>Almacenamiento</a:t>
          </a:r>
          <a:endParaRPr lang="es-MX" dirty="0"/>
        </a:p>
      </dgm:t>
    </dgm:pt>
    <dgm:pt modelId="{0867366D-4180-4E14-A08A-7CB5EA97E9AB}" type="parTrans" cxnId="{734E1B27-1615-4801-84DB-DA1B5C9519A2}">
      <dgm:prSet/>
      <dgm:spPr/>
      <dgm:t>
        <a:bodyPr/>
        <a:lstStyle/>
        <a:p>
          <a:endParaRPr lang="es-MX"/>
        </a:p>
      </dgm:t>
    </dgm:pt>
    <dgm:pt modelId="{CEFB6831-AFF1-471B-A8F7-A76D7615EC14}" type="sibTrans" cxnId="{734E1B27-1615-4801-84DB-DA1B5C9519A2}">
      <dgm:prSet/>
      <dgm:spPr/>
      <dgm:t>
        <a:bodyPr/>
        <a:lstStyle/>
        <a:p>
          <a:endParaRPr lang="es-MX"/>
        </a:p>
      </dgm:t>
    </dgm:pt>
    <dgm:pt modelId="{B92888A0-D3DE-456A-AFDA-FE8DEA85DF78}">
      <dgm:prSet phldrT="[Texto]"/>
      <dgm:spPr/>
      <dgm:t>
        <a:bodyPr/>
        <a:lstStyle/>
        <a:p>
          <a:r>
            <a:rPr lang="es-ES" b="1" dirty="0"/>
            <a:t>Software</a:t>
          </a:r>
          <a:endParaRPr lang="es-MX" b="1" dirty="0"/>
        </a:p>
      </dgm:t>
    </dgm:pt>
    <dgm:pt modelId="{0EC6F332-E813-4F60-B736-8926D7098C62}" type="parTrans" cxnId="{DA1DCB27-9B1B-4ABD-BEE2-8B3C79A1FF66}">
      <dgm:prSet/>
      <dgm:spPr/>
      <dgm:t>
        <a:bodyPr/>
        <a:lstStyle/>
        <a:p>
          <a:endParaRPr lang="es-MX"/>
        </a:p>
      </dgm:t>
    </dgm:pt>
    <dgm:pt modelId="{71BE2719-DD68-46BF-AB40-BAEFBDDFF01C}" type="sibTrans" cxnId="{DA1DCB27-9B1B-4ABD-BEE2-8B3C79A1FF66}">
      <dgm:prSet/>
      <dgm:spPr/>
      <dgm:t>
        <a:bodyPr/>
        <a:lstStyle/>
        <a:p>
          <a:endParaRPr lang="es-MX"/>
        </a:p>
      </dgm:t>
    </dgm:pt>
    <dgm:pt modelId="{A8296131-D259-4A0C-9DD2-D1C1571B9C33}">
      <dgm:prSet phldrT="[Texto]"/>
      <dgm:spPr/>
      <dgm:t>
        <a:bodyPr/>
        <a:lstStyle/>
        <a:p>
          <a:r>
            <a:rPr lang="es-ES" dirty="0"/>
            <a:t>Aplicaciones </a:t>
          </a:r>
          <a:endParaRPr lang="es-MX" dirty="0"/>
        </a:p>
      </dgm:t>
    </dgm:pt>
    <dgm:pt modelId="{77861E42-D9FD-4487-A5B6-D10704AD16CA}" type="parTrans" cxnId="{87589090-A3E2-4DC4-9E1A-5D70B3AD9135}">
      <dgm:prSet/>
      <dgm:spPr/>
      <dgm:t>
        <a:bodyPr/>
        <a:lstStyle/>
        <a:p>
          <a:endParaRPr lang="es-MX"/>
        </a:p>
      </dgm:t>
    </dgm:pt>
    <dgm:pt modelId="{A33E192A-1FA0-4C12-9B93-C4CA6F7FDCB7}" type="sibTrans" cxnId="{87589090-A3E2-4DC4-9E1A-5D70B3AD9135}">
      <dgm:prSet/>
      <dgm:spPr/>
      <dgm:t>
        <a:bodyPr/>
        <a:lstStyle/>
        <a:p>
          <a:endParaRPr lang="es-MX"/>
        </a:p>
      </dgm:t>
    </dgm:pt>
    <dgm:pt modelId="{E8E50EA3-97F6-484B-BF33-340842D2A5A5}">
      <dgm:prSet phldrT="[Texto]"/>
      <dgm:spPr/>
      <dgm:t>
        <a:bodyPr/>
        <a:lstStyle/>
        <a:p>
          <a:r>
            <a:rPr lang="es-ES" dirty="0"/>
            <a:t>SMBD</a:t>
          </a:r>
          <a:endParaRPr lang="es-MX" dirty="0"/>
        </a:p>
      </dgm:t>
    </dgm:pt>
    <dgm:pt modelId="{AAD652E4-B5BF-413F-A3FF-1E47CC69DD94}" type="parTrans" cxnId="{85E87E0D-FE66-48CE-85B3-CF3040A59038}">
      <dgm:prSet/>
      <dgm:spPr/>
      <dgm:t>
        <a:bodyPr/>
        <a:lstStyle/>
        <a:p>
          <a:endParaRPr lang="es-MX"/>
        </a:p>
      </dgm:t>
    </dgm:pt>
    <dgm:pt modelId="{06C32780-1D92-469C-AA47-073140B5C40F}" type="sibTrans" cxnId="{85E87E0D-FE66-48CE-85B3-CF3040A59038}">
      <dgm:prSet/>
      <dgm:spPr/>
      <dgm:t>
        <a:bodyPr/>
        <a:lstStyle/>
        <a:p>
          <a:endParaRPr lang="es-MX"/>
        </a:p>
      </dgm:t>
    </dgm:pt>
    <dgm:pt modelId="{249C338F-002E-4094-809A-473CDE42DA89}">
      <dgm:prSet phldrT="[Texto]"/>
      <dgm:spPr/>
      <dgm:t>
        <a:bodyPr/>
        <a:lstStyle/>
        <a:p>
          <a:r>
            <a:rPr lang="es-ES" b="1" dirty="0"/>
            <a:t>Usuarios</a:t>
          </a:r>
          <a:endParaRPr lang="es-MX" b="1" dirty="0"/>
        </a:p>
      </dgm:t>
    </dgm:pt>
    <dgm:pt modelId="{6E2F2E3F-38D8-4832-865A-C7A6AC7DD7D9}" type="parTrans" cxnId="{DD1B1CBB-4766-4E27-8987-0E87D4B13810}">
      <dgm:prSet/>
      <dgm:spPr/>
      <dgm:t>
        <a:bodyPr/>
        <a:lstStyle/>
        <a:p>
          <a:endParaRPr lang="es-MX"/>
        </a:p>
      </dgm:t>
    </dgm:pt>
    <dgm:pt modelId="{CE17488E-10D0-4718-B2B9-543AEE4D512E}" type="sibTrans" cxnId="{DD1B1CBB-4766-4E27-8987-0E87D4B13810}">
      <dgm:prSet/>
      <dgm:spPr/>
      <dgm:t>
        <a:bodyPr/>
        <a:lstStyle/>
        <a:p>
          <a:endParaRPr lang="es-MX"/>
        </a:p>
      </dgm:t>
    </dgm:pt>
    <dgm:pt modelId="{189022DE-EB6C-485B-8267-045BDF41EFDB}">
      <dgm:prSet phldrT="[Texto]"/>
      <dgm:spPr/>
      <dgm:t>
        <a:bodyPr/>
        <a:lstStyle/>
        <a:p>
          <a:r>
            <a:rPr lang="es-ES" dirty="0"/>
            <a:t>Desarrolladores de Aplicaciones</a:t>
          </a:r>
          <a:endParaRPr lang="es-MX" dirty="0"/>
        </a:p>
      </dgm:t>
    </dgm:pt>
    <dgm:pt modelId="{E17216A8-DA07-4462-9B52-53A7803E0B84}" type="parTrans" cxnId="{CBE9EED8-92DA-45B6-AF33-B5F2960CAAA1}">
      <dgm:prSet/>
      <dgm:spPr/>
      <dgm:t>
        <a:bodyPr/>
        <a:lstStyle/>
        <a:p>
          <a:endParaRPr lang="es-MX"/>
        </a:p>
      </dgm:t>
    </dgm:pt>
    <dgm:pt modelId="{D299682C-1869-4ADD-B09D-59884FFAA954}" type="sibTrans" cxnId="{CBE9EED8-92DA-45B6-AF33-B5F2960CAAA1}">
      <dgm:prSet/>
      <dgm:spPr/>
      <dgm:t>
        <a:bodyPr/>
        <a:lstStyle/>
        <a:p>
          <a:endParaRPr lang="es-MX"/>
        </a:p>
      </dgm:t>
    </dgm:pt>
    <dgm:pt modelId="{BE67F1F6-BF8E-4CED-9832-D3F1DD150A1A}">
      <dgm:prSet phldrT="[Texto]"/>
      <dgm:spPr/>
      <dgm:t>
        <a:bodyPr/>
        <a:lstStyle/>
        <a:p>
          <a:r>
            <a:rPr lang="es-ES" dirty="0"/>
            <a:t>Finales, Administrador de la BD</a:t>
          </a:r>
          <a:endParaRPr lang="es-MX" dirty="0"/>
        </a:p>
      </dgm:t>
    </dgm:pt>
    <dgm:pt modelId="{FBD4417E-E877-4871-9DAA-32AEB201D871}" type="parTrans" cxnId="{A2AEC749-2D1D-45F5-85AB-E6F3F6190DA5}">
      <dgm:prSet/>
      <dgm:spPr/>
      <dgm:t>
        <a:bodyPr/>
        <a:lstStyle/>
        <a:p>
          <a:endParaRPr lang="es-MX"/>
        </a:p>
      </dgm:t>
    </dgm:pt>
    <dgm:pt modelId="{13ADF932-C239-4B28-B914-CB2B95038391}" type="sibTrans" cxnId="{A2AEC749-2D1D-45F5-85AB-E6F3F6190DA5}">
      <dgm:prSet/>
      <dgm:spPr/>
      <dgm:t>
        <a:bodyPr/>
        <a:lstStyle/>
        <a:p>
          <a:endParaRPr lang="es-MX"/>
        </a:p>
      </dgm:t>
    </dgm:pt>
    <dgm:pt modelId="{19658270-ABE5-4946-B5CE-7679A490F079}">
      <dgm:prSet phldrT="[Texto]"/>
      <dgm:spPr/>
      <dgm:t>
        <a:bodyPr/>
        <a:lstStyle/>
        <a:p>
          <a:r>
            <a:rPr lang="es-ES" b="1" dirty="0"/>
            <a:t>Procedimientos</a:t>
          </a:r>
          <a:endParaRPr lang="es-MX" b="1" dirty="0"/>
        </a:p>
      </dgm:t>
    </dgm:pt>
    <dgm:pt modelId="{8142BEA3-DE9F-4536-BD20-47C00ED618B0}" type="parTrans" cxnId="{6B6B220E-FA62-424E-A6F4-C3680218B939}">
      <dgm:prSet/>
      <dgm:spPr/>
      <dgm:t>
        <a:bodyPr/>
        <a:lstStyle/>
        <a:p>
          <a:endParaRPr lang="es-MX"/>
        </a:p>
      </dgm:t>
    </dgm:pt>
    <dgm:pt modelId="{77867559-D39B-4BFA-9D07-8214976C33FD}" type="sibTrans" cxnId="{6B6B220E-FA62-424E-A6F4-C3680218B939}">
      <dgm:prSet/>
      <dgm:spPr/>
      <dgm:t>
        <a:bodyPr/>
        <a:lstStyle/>
        <a:p>
          <a:endParaRPr lang="es-MX"/>
        </a:p>
      </dgm:t>
    </dgm:pt>
    <dgm:pt modelId="{C17EA45F-C043-49C9-8798-3BBD09B4FEAC}">
      <dgm:prSet phldrT="[Texto]"/>
      <dgm:spPr/>
      <dgm:t>
        <a:bodyPr/>
        <a:lstStyle/>
        <a:p>
          <a:r>
            <a:rPr lang="es-ES" dirty="0"/>
            <a:t>Reglas de Negocio</a:t>
          </a:r>
          <a:endParaRPr lang="es-MX" dirty="0"/>
        </a:p>
      </dgm:t>
    </dgm:pt>
    <dgm:pt modelId="{978BACDE-6206-44F9-B2B5-39B871B988A4}" type="parTrans" cxnId="{42373B38-6061-41C1-85E0-3E50FAE97E64}">
      <dgm:prSet/>
      <dgm:spPr/>
      <dgm:t>
        <a:bodyPr/>
        <a:lstStyle/>
        <a:p>
          <a:endParaRPr lang="es-MX"/>
        </a:p>
      </dgm:t>
    </dgm:pt>
    <dgm:pt modelId="{2C20F1CF-3773-455A-9C6D-BF7CFF58B8C4}" type="sibTrans" cxnId="{42373B38-6061-41C1-85E0-3E50FAE97E64}">
      <dgm:prSet/>
      <dgm:spPr/>
      <dgm:t>
        <a:bodyPr/>
        <a:lstStyle/>
        <a:p>
          <a:endParaRPr lang="es-MX"/>
        </a:p>
      </dgm:t>
    </dgm:pt>
    <dgm:pt modelId="{9AA0082A-7B8B-4632-91B9-411E101E4F70}">
      <dgm:prSet phldrT="[Texto]"/>
      <dgm:spPr/>
      <dgm:t>
        <a:bodyPr/>
        <a:lstStyle/>
        <a:p>
          <a:r>
            <a:rPr lang="es-ES" dirty="0"/>
            <a:t>Restricciones de gobierno</a:t>
          </a:r>
          <a:endParaRPr lang="es-MX" dirty="0"/>
        </a:p>
      </dgm:t>
    </dgm:pt>
    <dgm:pt modelId="{0CA81A14-07E4-4EDB-8518-5FCFA93317D6}" type="parTrans" cxnId="{1522E51D-B6F7-4DA1-A7D8-9C604C5A9A6D}">
      <dgm:prSet/>
      <dgm:spPr/>
      <dgm:t>
        <a:bodyPr/>
        <a:lstStyle/>
        <a:p>
          <a:endParaRPr lang="es-MX"/>
        </a:p>
      </dgm:t>
    </dgm:pt>
    <dgm:pt modelId="{F7A13094-2C9E-4CF1-A75B-5CB161E44F8A}" type="sibTrans" cxnId="{1522E51D-B6F7-4DA1-A7D8-9C604C5A9A6D}">
      <dgm:prSet/>
      <dgm:spPr/>
      <dgm:t>
        <a:bodyPr/>
        <a:lstStyle/>
        <a:p>
          <a:endParaRPr lang="es-MX"/>
        </a:p>
      </dgm:t>
    </dgm:pt>
    <dgm:pt modelId="{2A5ADC0C-8DC0-40BD-A01E-B993CC35B9CF}" type="pres">
      <dgm:prSet presAssocID="{4555A0A9-D25B-4394-A459-57326287A028}" presName="linear" presStyleCnt="0">
        <dgm:presLayoutVars>
          <dgm:dir/>
          <dgm:resizeHandles val="exact"/>
        </dgm:presLayoutVars>
      </dgm:prSet>
      <dgm:spPr/>
    </dgm:pt>
    <dgm:pt modelId="{A94B3FA9-E2F8-407B-810A-2B7D5D75626B}" type="pres">
      <dgm:prSet presAssocID="{E8DE0E58-3663-40CA-A744-C6BD41CDEC24}" presName="comp" presStyleCnt="0"/>
      <dgm:spPr/>
    </dgm:pt>
    <dgm:pt modelId="{E43EEEE0-4D8C-40CB-B3C2-37EF22199203}" type="pres">
      <dgm:prSet presAssocID="{E8DE0E58-3663-40CA-A744-C6BD41CDEC24}" presName="box" presStyleLbl="node1" presStyleIdx="0" presStyleCnt="5"/>
      <dgm:spPr/>
    </dgm:pt>
    <dgm:pt modelId="{060E493B-AE89-4B3F-B16A-BD2743E94D03}" type="pres">
      <dgm:prSet presAssocID="{E8DE0E58-3663-40CA-A744-C6BD41CDEC24}" presName="img" presStyleLbl="fgImgPlace1" presStyleIdx="0" presStyleCnt="5" custScaleX="42832" custLinFactNeighborX="-22988"/>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l="-6000" r="-6000"/>
          </a:stretch>
        </a:blipFill>
      </dgm:spPr>
    </dgm:pt>
    <dgm:pt modelId="{9050551B-48FB-4828-8CB0-04E55533F44E}" type="pres">
      <dgm:prSet presAssocID="{E8DE0E58-3663-40CA-A744-C6BD41CDEC24}" presName="text" presStyleLbl="node1" presStyleIdx="0" presStyleCnt="5">
        <dgm:presLayoutVars>
          <dgm:bulletEnabled val="1"/>
        </dgm:presLayoutVars>
      </dgm:prSet>
      <dgm:spPr/>
    </dgm:pt>
    <dgm:pt modelId="{7796B9AB-8C47-4ED2-81BF-C193707FFE2B}" type="pres">
      <dgm:prSet presAssocID="{15F9DC19-3DBB-49E2-AEF3-04943837BF0B}" presName="spacer" presStyleCnt="0"/>
      <dgm:spPr/>
    </dgm:pt>
    <dgm:pt modelId="{991C8E6E-5882-4664-BB64-7BC5CE8FFEAF}" type="pres">
      <dgm:prSet presAssocID="{E88EA3D9-59ED-4863-B16D-78D46F5852A9}" presName="comp" presStyleCnt="0"/>
      <dgm:spPr/>
    </dgm:pt>
    <dgm:pt modelId="{5FA41A7D-4C7F-4D55-94FB-D63BDC05D465}" type="pres">
      <dgm:prSet presAssocID="{E88EA3D9-59ED-4863-B16D-78D46F5852A9}" presName="box" presStyleLbl="node1" presStyleIdx="1" presStyleCnt="5"/>
      <dgm:spPr/>
    </dgm:pt>
    <dgm:pt modelId="{0A6A79EC-2F71-44E7-9C91-2BE13707EB4F}" type="pres">
      <dgm:prSet presAssocID="{E88EA3D9-59ED-4863-B16D-78D46F5852A9}" presName="img" presStyleLbl="fgImgPlace1" presStyleIdx="1" presStyleCnt="5" custScaleX="42832" custLinFactNeighborX="-22987" custLinFactNeighborY="-1991"/>
      <dgm:spPr>
        <a:blipFill>
          <a:blip xmlns:r="http://schemas.openxmlformats.org/officeDocument/2006/relationships" r:embed="rId2" cstate="print">
            <a:extLst>
              <a:ext uri="{28A0092B-C50C-407E-A947-70E740481C1C}">
                <a14:useLocalDpi xmlns:a14="http://schemas.microsoft.com/office/drawing/2010/main" val="0"/>
              </a:ext>
            </a:extLst>
          </a:blip>
          <a:srcRect/>
          <a:stretch>
            <a:fillRect l="-14000" r="-14000"/>
          </a:stretch>
        </a:blipFill>
      </dgm:spPr>
    </dgm:pt>
    <dgm:pt modelId="{5A00A2B4-8FCC-495A-A63A-387C4254AFD0}" type="pres">
      <dgm:prSet presAssocID="{E88EA3D9-59ED-4863-B16D-78D46F5852A9}" presName="text" presStyleLbl="node1" presStyleIdx="1" presStyleCnt="5">
        <dgm:presLayoutVars>
          <dgm:bulletEnabled val="1"/>
        </dgm:presLayoutVars>
      </dgm:prSet>
      <dgm:spPr/>
    </dgm:pt>
    <dgm:pt modelId="{C4F3BB49-CB6D-4B41-BAF8-2CD88AB3EDCE}" type="pres">
      <dgm:prSet presAssocID="{9A1BFEA8-D732-4FD3-B494-ADE846327CB4}" presName="spacer" presStyleCnt="0"/>
      <dgm:spPr/>
    </dgm:pt>
    <dgm:pt modelId="{F0CC1679-9853-4DBF-B6DE-020F90FA605E}" type="pres">
      <dgm:prSet presAssocID="{B92888A0-D3DE-456A-AFDA-FE8DEA85DF78}" presName="comp" presStyleCnt="0"/>
      <dgm:spPr/>
    </dgm:pt>
    <dgm:pt modelId="{07F17CF5-8497-4A2D-B03F-7105636A68F5}" type="pres">
      <dgm:prSet presAssocID="{B92888A0-D3DE-456A-AFDA-FE8DEA85DF78}" presName="box" presStyleLbl="node1" presStyleIdx="2" presStyleCnt="5"/>
      <dgm:spPr/>
    </dgm:pt>
    <dgm:pt modelId="{DE389901-1D95-4B26-B019-2D0F76403A6A}" type="pres">
      <dgm:prSet presAssocID="{B92888A0-D3DE-456A-AFDA-FE8DEA85DF78}" presName="img" presStyleLbl="fgImgPlace1" presStyleIdx="2" presStyleCnt="5" custScaleX="46114" custLinFactNeighborX="-22988"/>
      <dgm:spPr>
        <a:blipFill>
          <a:blip xmlns:r="http://schemas.openxmlformats.org/officeDocument/2006/relationships" r:embed="rId3" cstate="print">
            <a:extLst>
              <a:ext uri="{28A0092B-C50C-407E-A947-70E740481C1C}">
                <a14:useLocalDpi xmlns:a14="http://schemas.microsoft.com/office/drawing/2010/main" val="0"/>
              </a:ext>
            </a:extLst>
          </a:blip>
          <a:srcRect/>
          <a:stretch>
            <a:fillRect t="-4000" b="-4000"/>
          </a:stretch>
        </a:blipFill>
      </dgm:spPr>
    </dgm:pt>
    <dgm:pt modelId="{4426461F-8089-43B7-8A20-C81C23C5E840}" type="pres">
      <dgm:prSet presAssocID="{B92888A0-D3DE-456A-AFDA-FE8DEA85DF78}" presName="text" presStyleLbl="node1" presStyleIdx="2" presStyleCnt="5">
        <dgm:presLayoutVars>
          <dgm:bulletEnabled val="1"/>
        </dgm:presLayoutVars>
      </dgm:prSet>
      <dgm:spPr/>
    </dgm:pt>
    <dgm:pt modelId="{88512AD2-6F9F-4889-B5D8-31E254B159CD}" type="pres">
      <dgm:prSet presAssocID="{71BE2719-DD68-46BF-AB40-BAEFBDDFF01C}" presName="spacer" presStyleCnt="0"/>
      <dgm:spPr/>
    </dgm:pt>
    <dgm:pt modelId="{C6AB7979-511F-4BDF-958A-56ED51477C76}" type="pres">
      <dgm:prSet presAssocID="{249C338F-002E-4094-809A-473CDE42DA89}" presName="comp" presStyleCnt="0"/>
      <dgm:spPr/>
    </dgm:pt>
    <dgm:pt modelId="{CCC9F262-95E1-4934-A030-C4E9E3E34D45}" type="pres">
      <dgm:prSet presAssocID="{249C338F-002E-4094-809A-473CDE42DA89}" presName="box" presStyleLbl="node1" presStyleIdx="3" presStyleCnt="5"/>
      <dgm:spPr/>
    </dgm:pt>
    <dgm:pt modelId="{D0F7289F-C347-40E1-9792-322ED2969B3B}" type="pres">
      <dgm:prSet presAssocID="{249C338F-002E-4094-809A-473CDE42DA89}" presName="img" presStyleLbl="fgImgPlace1" presStyleIdx="3" presStyleCnt="5" custScaleX="47755" custLinFactNeighborX="-22988"/>
      <dgm:spPr>
        <a:blipFill>
          <a:blip xmlns:r="http://schemas.openxmlformats.org/officeDocument/2006/relationships" r:embed="rId4" cstate="print">
            <a:extLst>
              <a:ext uri="{28A0092B-C50C-407E-A947-70E740481C1C}">
                <a14:useLocalDpi xmlns:a14="http://schemas.microsoft.com/office/drawing/2010/main" val="0"/>
              </a:ext>
            </a:extLst>
          </a:blip>
          <a:srcRect/>
          <a:stretch>
            <a:fillRect t="-8000" b="-8000"/>
          </a:stretch>
        </a:blipFill>
      </dgm:spPr>
    </dgm:pt>
    <dgm:pt modelId="{330B5B9B-20D4-43AF-AA3D-6B95E9D241E6}" type="pres">
      <dgm:prSet presAssocID="{249C338F-002E-4094-809A-473CDE42DA89}" presName="text" presStyleLbl="node1" presStyleIdx="3" presStyleCnt="5">
        <dgm:presLayoutVars>
          <dgm:bulletEnabled val="1"/>
        </dgm:presLayoutVars>
      </dgm:prSet>
      <dgm:spPr/>
    </dgm:pt>
    <dgm:pt modelId="{03FEB63F-3141-44C5-8911-3A7EABDB0FBA}" type="pres">
      <dgm:prSet presAssocID="{CE17488E-10D0-4718-B2B9-543AEE4D512E}" presName="spacer" presStyleCnt="0"/>
      <dgm:spPr/>
    </dgm:pt>
    <dgm:pt modelId="{DF339D30-0EB1-4B5D-A0B1-BA0BA428554D}" type="pres">
      <dgm:prSet presAssocID="{19658270-ABE5-4946-B5CE-7679A490F079}" presName="comp" presStyleCnt="0"/>
      <dgm:spPr/>
    </dgm:pt>
    <dgm:pt modelId="{1C40ED00-57E1-4041-9589-DACC405B0A4B}" type="pres">
      <dgm:prSet presAssocID="{19658270-ABE5-4946-B5CE-7679A490F079}" presName="box" presStyleLbl="node1" presStyleIdx="4" presStyleCnt="5"/>
      <dgm:spPr/>
    </dgm:pt>
    <dgm:pt modelId="{B7669B87-5099-4414-8BD9-BD4607483F69}" type="pres">
      <dgm:prSet presAssocID="{19658270-ABE5-4946-B5CE-7679A490F079}" presName="img" presStyleLbl="fgImgPlace1" presStyleIdx="4" presStyleCnt="5" custScaleX="42832" custLinFactNeighborX="-22988"/>
      <dgm:spPr>
        <a:blipFill>
          <a:blip xmlns:r="http://schemas.openxmlformats.org/officeDocument/2006/relationships" r:embed="rId5" cstate="print">
            <a:extLst>
              <a:ext uri="{28A0092B-C50C-407E-A947-70E740481C1C}">
                <a14:useLocalDpi xmlns:a14="http://schemas.microsoft.com/office/drawing/2010/main" val="0"/>
              </a:ext>
            </a:extLst>
          </a:blip>
          <a:srcRect/>
          <a:stretch>
            <a:fillRect l="-5000" r="-5000"/>
          </a:stretch>
        </a:blipFill>
      </dgm:spPr>
    </dgm:pt>
    <dgm:pt modelId="{90DF6BBE-B390-42FD-A440-D0045B86E953}" type="pres">
      <dgm:prSet presAssocID="{19658270-ABE5-4946-B5CE-7679A490F079}" presName="text" presStyleLbl="node1" presStyleIdx="4" presStyleCnt="5">
        <dgm:presLayoutVars>
          <dgm:bulletEnabled val="1"/>
        </dgm:presLayoutVars>
      </dgm:prSet>
      <dgm:spPr/>
    </dgm:pt>
  </dgm:ptLst>
  <dgm:cxnLst>
    <dgm:cxn modelId="{8D40FD06-25F4-4D4E-B10A-50DE8AAC4C5D}" type="presOf" srcId="{E8E50EA3-97F6-484B-BF33-340842D2A5A5}" destId="{07F17CF5-8497-4A2D-B03F-7105636A68F5}" srcOrd="0" destOrd="2" presId="urn:microsoft.com/office/officeart/2005/8/layout/vList4"/>
    <dgm:cxn modelId="{C0AA3F0D-3371-45A4-830D-3E281DB3101F}" type="presOf" srcId="{16B69882-7AC3-4A7E-975E-B93BCDC7B4AF}" destId="{E43EEEE0-4D8C-40CB-B3C2-37EF22199203}" srcOrd="0" destOrd="1" presId="urn:microsoft.com/office/officeart/2005/8/layout/vList4"/>
    <dgm:cxn modelId="{85E87E0D-FE66-48CE-85B3-CF3040A59038}" srcId="{B92888A0-D3DE-456A-AFDA-FE8DEA85DF78}" destId="{E8E50EA3-97F6-484B-BF33-340842D2A5A5}" srcOrd="1" destOrd="0" parTransId="{AAD652E4-B5BF-413F-A3FF-1E47CC69DD94}" sibTransId="{06C32780-1D92-469C-AA47-073140B5C40F}"/>
    <dgm:cxn modelId="{6B6B220E-FA62-424E-A6F4-C3680218B939}" srcId="{4555A0A9-D25B-4394-A459-57326287A028}" destId="{19658270-ABE5-4946-B5CE-7679A490F079}" srcOrd="4" destOrd="0" parTransId="{8142BEA3-DE9F-4536-BD20-47C00ED618B0}" sibTransId="{77867559-D39B-4BFA-9D07-8214976C33FD}"/>
    <dgm:cxn modelId="{53310A13-0477-4DC7-9E04-5F697477D3AE}" srcId="{E88EA3D9-59ED-4863-B16D-78D46F5852A9}" destId="{22F12875-5543-4BDC-BD74-BE418800AA58}" srcOrd="0" destOrd="0" parTransId="{7B0801AB-6771-431E-A660-FED9A8B728D3}" sibTransId="{24049BDE-884B-4E12-973A-7F9517A6EE13}"/>
    <dgm:cxn modelId="{BDE34917-E261-4DB8-ADD6-F86E03BF9E96}" type="presOf" srcId="{249C338F-002E-4094-809A-473CDE42DA89}" destId="{330B5B9B-20D4-43AF-AA3D-6B95E9D241E6}" srcOrd="1" destOrd="0" presId="urn:microsoft.com/office/officeart/2005/8/layout/vList4"/>
    <dgm:cxn modelId="{E311E41B-DE4B-45F1-9579-9F327173F80E}" type="presOf" srcId="{BE67F1F6-BF8E-4CED-9832-D3F1DD150A1A}" destId="{330B5B9B-20D4-43AF-AA3D-6B95E9D241E6}" srcOrd="1" destOrd="2" presId="urn:microsoft.com/office/officeart/2005/8/layout/vList4"/>
    <dgm:cxn modelId="{1522E51D-B6F7-4DA1-A7D8-9C604C5A9A6D}" srcId="{19658270-ABE5-4946-B5CE-7679A490F079}" destId="{9AA0082A-7B8B-4632-91B9-411E101E4F70}" srcOrd="1" destOrd="0" parTransId="{0CA81A14-07E4-4EDB-8518-5FCFA93317D6}" sibTransId="{F7A13094-2C9E-4CF1-A75B-5CB161E44F8A}"/>
    <dgm:cxn modelId="{7DB73920-412A-455A-B81A-F65DF96A9718}" type="presOf" srcId="{19658270-ABE5-4946-B5CE-7679A490F079}" destId="{1C40ED00-57E1-4041-9589-DACC405B0A4B}" srcOrd="0" destOrd="0" presId="urn:microsoft.com/office/officeart/2005/8/layout/vList4"/>
    <dgm:cxn modelId="{734E1B27-1615-4801-84DB-DA1B5C9519A2}" srcId="{E88EA3D9-59ED-4863-B16D-78D46F5852A9}" destId="{4D329B6B-68A7-42B3-8BC9-FE7E495767CB}" srcOrd="1" destOrd="0" parTransId="{0867366D-4180-4E14-A08A-7CB5EA97E9AB}" sibTransId="{CEFB6831-AFF1-471B-A8F7-A76D7615EC14}"/>
    <dgm:cxn modelId="{DA1DCB27-9B1B-4ABD-BEE2-8B3C79A1FF66}" srcId="{4555A0A9-D25B-4394-A459-57326287A028}" destId="{B92888A0-D3DE-456A-AFDA-FE8DEA85DF78}" srcOrd="2" destOrd="0" parTransId="{0EC6F332-E813-4F60-B736-8926D7098C62}" sibTransId="{71BE2719-DD68-46BF-AB40-BAEFBDDFF01C}"/>
    <dgm:cxn modelId="{A0484E28-1C9A-4F27-B4F8-9CC5786ECD54}" type="presOf" srcId="{C17EA45F-C043-49C9-8798-3BBD09B4FEAC}" destId="{90DF6BBE-B390-42FD-A440-D0045B86E953}" srcOrd="1" destOrd="1" presId="urn:microsoft.com/office/officeart/2005/8/layout/vList4"/>
    <dgm:cxn modelId="{E7EF082C-2AAC-49B9-96CA-CE37C44C8986}" type="presOf" srcId="{E8DE0E58-3663-40CA-A744-C6BD41CDEC24}" destId="{9050551B-48FB-4828-8CB0-04E55533F44E}" srcOrd="1" destOrd="0" presId="urn:microsoft.com/office/officeart/2005/8/layout/vList4"/>
    <dgm:cxn modelId="{D646192F-E92F-4AEC-85C3-5F1FC702FEA2}" type="presOf" srcId="{189022DE-EB6C-485B-8267-045BDF41EFDB}" destId="{CCC9F262-95E1-4934-A030-C4E9E3E34D45}" srcOrd="0" destOrd="1" presId="urn:microsoft.com/office/officeart/2005/8/layout/vList4"/>
    <dgm:cxn modelId="{0D9C5C31-C2DC-4E30-B110-A8F6C500C279}" type="presOf" srcId="{C17EA45F-C043-49C9-8798-3BBD09B4FEAC}" destId="{1C40ED00-57E1-4041-9589-DACC405B0A4B}" srcOrd="0" destOrd="1" presId="urn:microsoft.com/office/officeart/2005/8/layout/vList4"/>
    <dgm:cxn modelId="{1A45B936-3CE8-4315-BE02-DFC6C416F337}" type="presOf" srcId="{4D329B6B-68A7-42B3-8BC9-FE7E495767CB}" destId="{5A00A2B4-8FCC-495A-A63A-387C4254AFD0}" srcOrd="1" destOrd="2" presId="urn:microsoft.com/office/officeart/2005/8/layout/vList4"/>
    <dgm:cxn modelId="{42373B38-6061-41C1-85E0-3E50FAE97E64}" srcId="{19658270-ABE5-4946-B5CE-7679A490F079}" destId="{C17EA45F-C043-49C9-8798-3BBD09B4FEAC}" srcOrd="0" destOrd="0" parTransId="{978BACDE-6206-44F9-B2B5-39B871B988A4}" sibTransId="{2C20F1CF-3773-455A-9C6D-BF7CFF58B8C4}"/>
    <dgm:cxn modelId="{9B686B46-2BF7-4B09-8B38-9A3A42DEA96C}" type="presOf" srcId="{9AA0082A-7B8B-4632-91B9-411E101E4F70}" destId="{1C40ED00-57E1-4041-9589-DACC405B0A4B}" srcOrd="0" destOrd="2" presId="urn:microsoft.com/office/officeart/2005/8/layout/vList4"/>
    <dgm:cxn modelId="{A2AEC749-2D1D-45F5-85AB-E6F3F6190DA5}" srcId="{249C338F-002E-4094-809A-473CDE42DA89}" destId="{BE67F1F6-BF8E-4CED-9832-D3F1DD150A1A}" srcOrd="1" destOrd="0" parTransId="{FBD4417E-E877-4871-9DAA-32AEB201D871}" sibTransId="{13ADF932-C239-4B28-B914-CB2B95038391}"/>
    <dgm:cxn modelId="{B5AA676C-DAFD-42E0-87A1-02F01A8EE5B4}" type="presOf" srcId="{189022DE-EB6C-485B-8267-045BDF41EFDB}" destId="{330B5B9B-20D4-43AF-AA3D-6B95E9D241E6}" srcOrd="1" destOrd="1" presId="urn:microsoft.com/office/officeart/2005/8/layout/vList4"/>
    <dgm:cxn modelId="{A195E76D-9039-4549-A0FA-E013E0055E3F}" type="presOf" srcId="{E8DE0E58-3663-40CA-A744-C6BD41CDEC24}" destId="{E43EEEE0-4D8C-40CB-B3C2-37EF22199203}" srcOrd="0" destOrd="0" presId="urn:microsoft.com/office/officeart/2005/8/layout/vList4"/>
    <dgm:cxn modelId="{7F3D7770-802E-45CD-9B02-CB2B177FFEEF}" type="presOf" srcId="{A8296131-D259-4A0C-9DD2-D1C1571B9C33}" destId="{07F17CF5-8497-4A2D-B03F-7105636A68F5}" srcOrd="0" destOrd="1" presId="urn:microsoft.com/office/officeart/2005/8/layout/vList4"/>
    <dgm:cxn modelId="{69769F73-BCB4-4595-9886-776CBAEF39D6}" type="presOf" srcId="{6DD0318B-FD40-4D47-BD62-478E3A2E2915}" destId="{9050551B-48FB-4828-8CB0-04E55533F44E}" srcOrd="1" destOrd="2" presId="urn:microsoft.com/office/officeart/2005/8/layout/vList4"/>
    <dgm:cxn modelId="{19D9AF73-BEDC-4A26-8C6B-AE17F8A4AFF6}" type="presOf" srcId="{22F12875-5543-4BDC-BD74-BE418800AA58}" destId="{5A00A2B4-8FCC-495A-A63A-387C4254AFD0}" srcOrd="1" destOrd="1" presId="urn:microsoft.com/office/officeart/2005/8/layout/vList4"/>
    <dgm:cxn modelId="{ED867559-D24B-4D6F-A537-485D1C6AE0E8}" type="presOf" srcId="{19658270-ABE5-4946-B5CE-7679A490F079}" destId="{90DF6BBE-B390-42FD-A440-D0045B86E953}" srcOrd="1" destOrd="0" presId="urn:microsoft.com/office/officeart/2005/8/layout/vList4"/>
    <dgm:cxn modelId="{F053587B-150E-48F1-A931-33DFDBA47F11}" type="presOf" srcId="{E88EA3D9-59ED-4863-B16D-78D46F5852A9}" destId="{5FA41A7D-4C7F-4D55-94FB-D63BDC05D465}" srcOrd="0" destOrd="0" presId="urn:microsoft.com/office/officeart/2005/8/layout/vList4"/>
    <dgm:cxn modelId="{15F0227C-24CD-4709-8210-95C55BF850D9}" srcId="{E8DE0E58-3663-40CA-A744-C6BD41CDEC24}" destId="{16B69882-7AC3-4A7E-975E-B93BCDC7B4AF}" srcOrd="0" destOrd="0" parTransId="{07765322-E239-4875-8D19-7DBDDDDA4A74}" sibTransId="{D98BB771-25C3-49D3-B800-77172CCBEA2D}"/>
    <dgm:cxn modelId="{BB32FE81-D78D-479E-8DFD-ED85E9A5850C}" type="presOf" srcId="{B92888A0-D3DE-456A-AFDA-FE8DEA85DF78}" destId="{4426461F-8089-43B7-8A20-C81C23C5E840}" srcOrd="1" destOrd="0" presId="urn:microsoft.com/office/officeart/2005/8/layout/vList4"/>
    <dgm:cxn modelId="{BA2C7689-F006-4D7C-B228-3B704A1C7FDB}" type="presOf" srcId="{4D329B6B-68A7-42B3-8BC9-FE7E495767CB}" destId="{5FA41A7D-4C7F-4D55-94FB-D63BDC05D465}" srcOrd="0" destOrd="2" presId="urn:microsoft.com/office/officeart/2005/8/layout/vList4"/>
    <dgm:cxn modelId="{87589090-A3E2-4DC4-9E1A-5D70B3AD9135}" srcId="{B92888A0-D3DE-456A-AFDA-FE8DEA85DF78}" destId="{A8296131-D259-4A0C-9DD2-D1C1571B9C33}" srcOrd="0" destOrd="0" parTransId="{77861E42-D9FD-4487-A5B6-D10704AD16CA}" sibTransId="{A33E192A-1FA0-4C12-9B93-C4CA6F7FDCB7}"/>
    <dgm:cxn modelId="{681AD69A-6E02-4668-B9E0-893BCDF6C4D8}" type="presOf" srcId="{4555A0A9-D25B-4394-A459-57326287A028}" destId="{2A5ADC0C-8DC0-40BD-A01E-B993CC35B9CF}" srcOrd="0" destOrd="0" presId="urn:microsoft.com/office/officeart/2005/8/layout/vList4"/>
    <dgm:cxn modelId="{B11C039C-4CAA-4F94-807A-FC0357CFD5D4}" type="presOf" srcId="{A8296131-D259-4A0C-9DD2-D1C1571B9C33}" destId="{4426461F-8089-43B7-8A20-C81C23C5E840}" srcOrd="1" destOrd="1" presId="urn:microsoft.com/office/officeart/2005/8/layout/vList4"/>
    <dgm:cxn modelId="{6752AC9D-0413-42FD-A7DD-26FA2B264ECF}" srcId="{E8DE0E58-3663-40CA-A744-C6BD41CDEC24}" destId="{6DD0318B-FD40-4D47-BD62-478E3A2E2915}" srcOrd="1" destOrd="0" parTransId="{684D659C-C14F-4982-AA0E-EEBEB6683FE1}" sibTransId="{42D6DC06-90B1-4FD4-826A-368FE2ED2EDF}"/>
    <dgm:cxn modelId="{EA5F4EA5-BA66-44A5-85F3-F7CF65BFE990}" srcId="{4555A0A9-D25B-4394-A459-57326287A028}" destId="{E88EA3D9-59ED-4863-B16D-78D46F5852A9}" srcOrd="1" destOrd="0" parTransId="{D390FDC9-E69E-42B5-9195-B2F6927D8821}" sibTransId="{9A1BFEA8-D732-4FD3-B494-ADE846327CB4}"/>
    <dgm:cxn modelId="{7FEA6CA6-D6D7-406F-AB3B-413C75645F0B}" type="presOf" srcId="{BE67F1F6-BF8E-4CED-9832-D3F1DD150A1A}" destId="{CCC9F262-95E1-4934-A030-C4E9E3E34D45}" srcOrd="0" destOrd="2" presId="urn:microsoft.com/office/officeart/2005/8/layout/vList4"/>
    <dgm:cxn modelId="{A97B96A7-2004-4F55-8474-F36483317818}" type="presOf" srcId="{B92888A0-D3DE-456A-AFDA-FE8DEA85DF78}" destId="{07F17CF5-8497-4A2D-B03F-7105636A68F5}" srcOrd="0" destOrd="0" presId="urn:microsoft.com/office/officeart/2005/8/layout/vList4"/>
    <dgm:cxn modelId="{7F5B8EAC-309D-4F0B-A8E2-DF6FD211F1B2}" type="presOf" srcId="{6DD0318B-FD40-4D47-BD62-478E3A2E2915}" destId="{E43EEEE0-4D8C-40CB-B3C2-37EF22199203}" srcOrd="0" destOrd="2" presId="urn:microsoft.com/office/officeart/2005/8/layout/vList4"/>
    <dgm:cxn modelId="{2FEB2BB2-3DA6-4F30-9AF6-52AC7DFFA36F}" type="presOf" srcId="{E8E50EA3-97F6-484B-BF33-340842D2A5A5}" destId="{4426461F-8089-43B7-8A20-C81C23C5E840}" srcOrd="1" destOrd="2" presId="urn:microsoft.com/office/officeart/2005/8/layout/vList4"/>
    <dgm:cxn modelId="{41E32DB2-5E1E-4E89-8E7F-A4F279EB1DFB}" type="presOf" srcId="{249C338F-002E-4094-809A-473CDE42DA89}" destId="{CCC9F262-95E1-4934-A030-C4E9E3E34D45}" srcOrd="0" destOrd="0" presId="urn:microsoft.com/office/officeart/2005/8/layout/vList4"/>
    <dgm:cxn modelId="{DD1B1CBB-4766-4E27-8987-0E87D4B13810}" srcId="{4555A0A9-D25B-4394-A459-57326287A028}" destId="{249C338F-002E-4094-809A-473CDE42DA89}" srcOrd="3" destOrd="0" parTransId="{6E2F2E3F-38D8-4832-865A-C7A6AC7DD7D9}" sibTransId="{CE17488E-10D0-4718-B2B9-543AEE4D512E}"/>
    <dgm:cxn modelId="{6D4FB8BF-0683-4217-A88C-CB0A8B56E5F5}" type="presOf" srcId="{E88EA3D9-59ED-4863-B16D-78D46F5852A9}" destId="{5A00A2B4-8FCC-495A-A63A-387C4254AFD0}" srcOrd="1" destOrd="0" presId="urn:microsoft.com/office/officeart/2005/8/layout/vList4"/>
    <dgm:cxn modelId="{CBE9EED8-92DA-45B6-AF33-B5F2960CAAA1}" srcId="{249C338F-002E-4094-809A-473CDE42DA89}" destId="{189022DE-EB6C-485B-8267-045BDF41EFDB}" srcOrd="0" destOrd="0" parTransId="{E17216A8-DA07-4462-9B52-53A7803E0B84}" sibTransId="{D299682C-1869-4ADD-B09D-59884FFAA954}"/>
    <dgm:cxn modelId="{0AF7C5DE-188F-4937-8AD3-EEF38D769B17}" type="presOf" srcId="{22F12875-5543-4BDC-BD74-BE418800AA58}" destId="{5FA41A7D-4C7F-4D55-94FB-D63BDC05D465}" srcOrd="0" destOrd="1" presId="urn:microsoft.com/office/officeart/2005/8/layout/vList4"/>
    <dgm:cxn modelId="{007559DF-C8E8-4A68-BE19-07E3D6FC054A}" type="presOf" srcId="{16B69882-7AC3-4A7E-975E-B93BCDC7B4AF}" destId="{9050551B-48FB-4828-8CB0-04E55533F44E}" srcOrd="1" destOrd="1" presId="urn:microsoft.com/office/officeart/2005/8/layout/vList4"/>
    <dgm:cxn modelId="{8B1A67F0-8DDA-4253-9C50-36417D281081}" type="presOf" srcId="{9AA0082A-7B8B-4632-91B9-411E101E4F70}" destId="{90DF6BBE-B390-42FD-A440-D0045B86E953}" srcOrd="1" destOrd="2" presId="urn:microsoft.com/office/officeart/2005/8/layout/vList4"/>
    <dgm:cxn modelId="{39068CF5-F298-446A-8DF2-8F6B49002D5F}" srcId="{4555A0A9-D25B-4394-A459-57326287A028}" destId="{E8DE0E58-3663-40CA-A744-C6BD41CDEC24}" srcOrd="0" destOrd="0" parTransId="{91857CC5-D3B6-4FEC-BBA4-493F8656FE68}" sibTransId="{15F9DC19-3DBB-49E2-AEF3-04943837BF0B}"/>
    <dgm:cxn modelId="{94E4732F-B349-46CF-A082-7DD1E2A34FB5}" type="presParOf" srcId="{2A5ADC0C-8DC0-40BD-A01E-B993CC35B9CF}" destId="{A94B3FA9-E2F8-407B-810A-2B7D5D75626B}" srcOrd="0" destOrd="0" presId="urn:microsoft.com/office/officeart/2005/8/layout/vList4"/>
    <dgm:cxn modelId="{9325A573-A340-4413-B2E7-078D0C8776A4}" type="presParOf" srcId="{A94B3FA9-E2F8-407B-810A-2B7D5D75626B}" destId="{E43EEEE0-4D8C-40CB-B3C2-37EF22199203}" srcOrd="0" destOrd="0" presId="urn:microsoft.com/office/officeart/2005/8/layout/vList4"/>
    <dgm:cxn modelId="{57FCDF19-8C01-4E0E-AD58-2E4375B8238A}" type="presParOf" srcId="{A94B3FA9-E2F8-407B-810A-2B7D5D75626B}" destId="{060E493B-AE89-4B3F-B16A-BD2743E94D03}" srcOrd="1" destOrd="0" presId="urn:microsoft.com/office/officeart/2005/8/layout/vList4"/>
    <dgm:cxn modelId="{E3932219-FA48-47F6-9DCB-AFFAB635CC08}" type="presParOf" srcId="{A94B3FA9-E2F8-407B-810A-2B7D5D75626B}" destId="{9050551B-48FB-4828-8CB0-04E55533F44E}" srcOrd="2" destOrd="0" presId="urn:microsoft.com/office/officeart/2005/8/layout/vList4"/>
    <dgm:cxn modelId="{DD3B5ADE-785A-486A-8F8B-0ED1ABADBEDB}" type="presParOf" srcId="{2A5ADC0C-8DC0-40BD-A01E-B993CC35B9CF}" destId="{7796B9AB-8C47-4ED2-81BF-C193707FFE2B}" srcOrd="1" destOrd="0" presId="urn:microsoft.com/office/officeart/2005/8/layout/vList4"/>
    <dgm:cxn modelId="{7C8E6E45-8434-434A-BBB8-C9E3918051E8}" type="presParOf" srcId="{2A5ADC0C-8DC0-40BD-A01E-B993CC35B9CF}" destId="{991C8E6E-5882-4664-BB64-7BC5CE8FFEAF}" srcOrd="2" destOrd="0" presId="urn:microsoft.com/office/officeart/2005/8/layout/vList4"/>
    <dgm:cxn modelId="{DAAA4E49-9BB8-4543-A9E9-D9811A4A8427}" type="presParOf" srcId="{991C8E6E-5882-4664-BB64-7BC5CE8FFEAF}" destId="{5FA41A7D-4C7F-4D55-94FB-D63BDC05D465}" srcOrd="0" destOrd="0" presId="urn:microsoft.com/office/officeart/2005/8/layout/vList4"/>
    <dgm:cxn modelId="{C60B040F-A063-4081-AB81-F93BD5C0C970}" type="presParOf" srcId="{991C8E6E-5882-4664-BB64-7BC5CE8FFEAF}" destId="{0A6A79EC-2F71-44E7-9C91-2BE13707EB4F}" srcOrd="1" destOrd="0" presId="urn:microsoft.com/office/officeart/2005/8/layout/vList4"/>
    <dgm:cxn modelId="{A343DD83-9D78-4EA0-BB57-77E207BA97FE}" type="presParOf" srcId="{991C8E6E-5882-4664-BB64-7BC5CE8FFEAF}" destId="{5A00A2B4-8FCC-495A-A63A-387C4254AFD0}" srcOrd="2" destOrd="0" presId="urn:microsoft.com/office/officeart/2005/8/layout/vList4"/>
    <dgm:cxn modelId="{429CBE3A-610B-4012-AAD7-E93488DF24D5}" type="presParOf" srcId="{2A5ADC0C-8DC0-40BD-A01E-B993CC35B9CF}" destId="{C4F3BB49-CB6D-4B41-BAF8-2CD88AB3EDCE}" srcOrd="3" destOrd="0" presId="urn:microsoft.com/office/officeart/2005/8/layout/vList4"/>
    <dgm:cxn modelId="{FFF7BB95-497C-4742-8B95-8BF0D7F7E6F1}" type="presParOf" srcId="{2A5ADC0C-8DC0-40BD-A01E-B993CC35B9CF}" destId="{F0CC1679-9853-4DBF-B6DE-020F90FA605E}" srcOrd="4" destOrd="0" presId="urn:microsoft.com/office/officeart/2005/8/layout/vList4"/>
    <dgm:cxn modelId="{CC66F0F3-2179-43F2-934D-843D384D48CC}" type="presParOf" srcId="{F0CC1679-9853-4DBF-B6DE-020F90FA605E}" destId="{07F17CF5-8497-4A2D-B03F-7105636A68F5}" srcOrd="0" destOrd="0" presId="urn:microsoft.com/office/officeart/2005/8/layout/vList4"/>
    <dgm:cxn modelId="{E4BA8C03-F2C2-4688-810F-580C8BC49407}" type="presParOf" srcId="{F0CC1679-9853-4DBF-B6DE-020F90FA605E}" destId="{DE389901-1D95-4B26-B019-2D0F76403A6A}" srcOrd="1" destOrd="0" presId="urn:microsoft.com/office/officeart/2005/8/layout/vList4"/>
    <dgm:cxn modelId="{32C8D1FB-1BCA-4DFA-8165-A7DE0534C39B}" type="presParOf" srcId="{F0CC1679-9853-4DBF-B6DE-020F90FA605E}" destId="{4426461F-8089-43B7-8A20-C81C23C5E840}" srcOrd="2" destOrd="0" presId="urn:microsoft.com/office/officeart/2005/8/layout/vList4"/>
    <dgm:cxn modelId="{CD8E1956-772B-4B2B-8F5D-8A27C9882408}" type="presParOf" srcId="{2A5ADC0C-8DC0-40BD-A01E-B993CC35B9CF}" destId="{88512AD2-6F9F-4889-B5D8-31E254B159CD}" srcOrd="5" destOrd="0" presId="urn:microsoft.com/office/officeart/2005/8/layout/vList4"/>
    <dgm:cxn modelId="{DC04C9C8-3B60-49E5-9639-E6A7B122660E}" type="presParOf" srcId="{2A5ADC0C-8DC0-40BD-A01E-B993CC35B9CF}" destId="{C6AB7979-511F-4BDF-958A-56ED51477C76}" srcOrd="6" destOrd="0" presId="urn:microsoft.com/office/officeart/2005/8/layout/vList4"/>
    <dgm:cxn modelId="{F3D233DA-5A89-421D-B791-C70F5D9CA678}" type="presParOf" srcId="{C6AB7979-511F-4BDF-958A-56ED51477C76}" destId="{CCC9F262-95E1-4934-A030-C4E9E3E34D45}" srcOrd="0" destOrd="0" presId="urn:microsoft.com/office/officeart/2005/8/layout/vList4"/>
    <dgm:cxn modelId="{06F9CA0C-C6EB-4FB8-998C-F792FA7114D6}" type="presParOf" srcId="{C6AB7979-511F-4BDF-958A-56ED51477C76}" destId="{D0F7289F-C347-40E1-9792-322ED2969B3B}" srcOrd="1" destOrd="0" presId="urn:microsoft.com/office/officeart/2005/8/layout/vList4"/>
    <dgm:cxn modelId="{81E76B2C-C151-40B4-B29C-F7E0AAF19062}" type="presParOf" srcId="{C6AB7979-511F-4BDF-958A-56ED51477C76}" destId="{330B5B9B-20D4-43AF-AA3D-6B95E9D241E6}" srcOrd="2" destOrd="0" presId="urn:microsoft.com/office/officeart/2005/8/layout/vList4"/>
    <dgm:cxn modelId="{9EB8CA40-8096-4CA8-B539-67F095616480}" type="presParOf" srcId="{2A5ADC0C-8DC0-40BD-A01E-B993CC35B9CF}" destId="{03FEB63F-3141-44C5-8911-3A7EABDB0FBA}" srcOrd="7" destOrd="0" presId="urn:microsoft.com/office/officeart/2005/8/layout/vList4"/>
    <dgm:cxn modelId="{DA4BC9E3-B347-46F4-BAD9-1A8D6702BAD0}" type="presParOf" srcId="{2A5ADC0C-8DC0-40BD-A01E-B993CC35B9CF}" destId="{DF339D30-0EB1-4B5D-A0B1-BA0BA428554D}" srcOrd="8" destOrd="0" presId="urn:microsoft.com/office/officeart/2005/8/layout/vList4"/>
    <dgm:cxn modelId="{74AB86F9-1F5A-43E4-99F1-051908D44961}" type="presParOf" srcId="{DF339D30-0EB1-4B5D-A0B1-BA0BA428554D}" destId="{1C40ED00-57E1-4041-9589-DACC405B0A4B}" srcOrd="0" destOrd="0" presId="urn:microsoft.com/office/officeart/2005/8/layout/vList4"/>
    <dgm:cxn modelId="{ED67989E-24C2-4C92-8148-8488EEEEBC92}" type="presParOf" srcId="{DF339D30-0EB1-4B5D-A0B1-BA0BA428554D}" destId="{B7669B87-5099-4414-8BD9-BD4607483F69}" srcOrd="1" destOrd="0" presId="urn:microsoft.com/office/officeart/2005/8/layout/vList4"/>
    <dgm:cxn modelId="{2FE8FF91-900B-431A-80EC-B15C72B87539}" type="presParOf" srcId="{DF339D30-0EB1-4B5D-A0B1-BA0BA428554D}" destId="{90DF6BBE-B390-42FD-A440-D0045B86E953}" srcOrd="2" destOrd="0" presId="urn:microsoft.com/office/officeart/2005/8/layout/vList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32E67B8-2B9B-49AF-85DD-398B433A51B8}"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s-MX"/>
        </a:p>
      </dgm:t>
    </dgm:pt>
    <dgm:pt modelId="{31427468-52CD-4C85-B27A-ECFCE2BD3114}">
      <dgm:prSet phldrT="[Texto]"/>
      <dgm:spPr/>
      <dgm:t>
        <a:bodyPr/>
        <a:lstStyle/>
        <a:p>
          <a:r>
            <a:rPr lang="es-ES" dirty="0"/>
            <a:t>Compacto</a:t>
          </a:r>
          <a:endParaRPr lang="es-MX" dirty="0"/>
        </a:p>
      </dgm:t>
    </dgm:pt>
    <dgm:pt modelId="{106F8425-7D13-417C-BB17-34E1D18F4675}" type="parTrans" cxnId="{92DFE39A-A351-481A-88B4-7A5EA092631B}">
      <dgm:prSet/>
      <dgm:spPr/>
      <dgm:t>
        <a:bodyPr/>
        <a:lstStyle/>
        <a:p>
          <a:endParaRPr lang="es-MX"/>
        </a:p>
      </dgm:t>
    </dgm:pt>
    <dgm:pt modelId="{13EA4A1D-FD33-4478-97BA-5227EA439431}" type="sibTrans" cxnId="{92DFE39A-A351-481A-88B4-7A5EA092631B}">
      <dgm:prSet/>
      <dgm:spPr/>
      <dgm:t>
        <a:bodyPr/>
        <a:lstStyle/>
        <a:p>
          <a:endParaRPr lang="es-MX"/>
        </a:p>
      </dgm:t>
    </dgm:pt>
    <dgm:pt modelId="{2A6712E6-97CD-48F5-B056-A36DD40FC982}">
      <dgm:prSet phldrT="[Texto]"/>
      <dgm:spPr/>
      <dgm:t>
        <a:bodyPr/>
        <a:lstStyle/>
        <a:p>
          <a:r>
            <a:rPr lang="es-ES" dirty="0"/>
            <a:t>Rápido</a:t>
          </a:r>
          <a:endParaRPr lang="es-MX" dirty="0"/>
        </a:p>
      </dgm:t>
    </dgm:pt>
    <dgm:pt modelId="{EC401D5B-4491-4775-86B3-A266E3865967}" type="parTrans" cxnId="{D61A33F3-B48A-4907-96C4-5871F079182A}">
      <dgm:prSet/>
      <dgm:spPr/>
      <dgm:t>
        <a:bodyPr/>
        <a:lstStyle/>
        <a:p>
          <a:endParaRPr lang="es-MX"/>
        </a:p>
      </dgm:t>
    </dgm:pt>
    <dgm:pt modelId="{6A5E06FC-FE3C-4B75-A3E1-054D8F1FD13F}" type="sibTrans" cxnId="{D61A33F3-B48A-4907-96C4-5871F079182A}">
      <dgm:prSet/>
      <dgm:spPr/>
      <dgm:t>
        <a:bodyPr/>
        <a:lstStyle/>
        <a:p>
          <a:endParaRPr lang="es-MX"/>
        </a:p>
      </dgm:t>
    </dgm:pt>
    <dgm:pt modelId="{CB5AB524-00B6-4B2E-885D-CAAD21998A38}">
      <dgm:prSet phldrT="[Texto]"/>
      <dgm:spPr/>
      <dgm:t>
        <a:bodyPr/>
        <a:lstStyle/>
        <a:p>
          <a:r>
            <a:rPr lang="es-ES" dirty="0"/>
            <a:t>Menos laborioso</a:t>
          </a:r>
          <a:endParaRPr lang="es-MX" dirty="0"/>
        </a:p>
      </dgm:t>
    </dgm:pt>
    <dgm:pt modelId="{0021CB2D-03AB-4200-BE67-B1F4BC3917C5}" type="parTrans" cxnId="{57635356-1F27-44A9-96AD-61F8BECD47E6}">
      <dgm:prSet/>
      <dgm:spPr/>
      <dgm:t>
        <a:bodyPr/>
        <a:lstStyle/>
        <a:p>
          <a:endParaRPr lang="es-MX"/>
        </a:p>
      </dgm:t>
    </dgm:pt>
    <dgm:pt modelId="{0F744481-B454-4FEB-B955-5BC47E91E092}" type="sibTrans" cxnId="{57635356-1F27-44A9-96AD-61F8BECD47E6}">
      <dgm:prSet/>
      <dgm:spPr/>
      <dgm:t>
        <a:bodyPr/>
        <a:lstStyle/>
        <a:p>
          <a:endParaRPr lang="es-MX"/>
        </a:p>
      </dgm:t>
    </dgm:pt>
    <dgm:pt modelId="{3B211F43-AC6A-43DE-8D62-3CEB93BDFCB5}">
      <dgm:prSet phldrT="[Texto]"/>
      <dgm:spPr/>
      <dgm:t>
        <a:bodyPr/>
        <a:lstStyle/>
        <a:p>
          <a:r>
            <a:rPr lang="es-ES" dirty="0"/>
            <a:t>Mayor confiabilidad</a:t>
          </a:r>
          <a:endParaRPr lang="es-MX" dirty="0"/>
        </a:p>
      </dgm:t>
    </dgm:pt>
    <dgm:pt modelId="{996804CF-3C2A-4AE9-8B7F-086865A600A7}" type="parTrans" cxnId="{EC71DA2B-632C-436A-BB2C-9C6CE6A2629F}">
      <dgm:prSet/>
      <dgm:spPr/>
      <dgm:t>
        <a:bodyPr/>
        <a:lstStyle/>
        <a:p>
          <a:endParaRPr lang="es-MX"/>
        </a:p>
      </dgm:t>
    </dgm:pt>
    <dgm:pt modelId="{CC1804D7-26A9-4D30-8F8B-6E25BE17CCF9}" type="sibTrans" cxnId="{EC71DA2B-632C-436A-BB2C-9C6CE6A2629F}">
      <dgm:prSet/>
      <dgm:spPr/>
      <dgm:t>
        <a:bodyPr/>
        <a:lstStyle/>
        <a:p>
          <a:endParaRPr lang="es-MX"/>
        </a:p>
      </dgm:t>
    </dgm:pt>
    <dgm:pt modelId="{5F6C7CB1-A88C-4FE2-AC66-7AD21F6BD8EE}">
      <dgm:prSet phldrT="[Texto]"/>
      <dgm:spPr/>
      <dgm:t>
        <a:bodyPr/>
        <a:lstStyle/>
        <a:p>
          <a:r>
            <a:rPr lang="es-ES" dirty="0"/>
            <a:t>Provee información actualizada</a:t>
          </a:r>
          <a:endParaRPr lang="es-MX" dirty="0"/>
        </a:p>
      </dgm:t>
    </dgm:pt>
    <dgm:pt modelId="{72DDC757-7BA8-4020-85E1-691C7DD677BC}" type="parTrans" cxnId="{81B014B0-4115-45CE-89C0-8F443C0DDC3B}">
      <dgm:prSet/>
      <dgm:spPr/>
      <dgm:t>
        <a:bodyPr/>
        <a:lstStyle/>
        <a:p>
          <a:endParaRPr lang="es-MX"/>
        </a:p>
      </dgm:t>
    </dgm:pt>
    <dgm:pt modelId="{1B809EBF-BA82-40BC-8FC8-C088B8FEDD2E}" type="sibTrans" cxnId="{81B014B0-4115-45CE-89C0-8F443C0DDC3B}">
      <dgm:prSet/>
      <dgm:spPr/>
      <dgm:t>
        <a:bodyPr/>
        <a:lstStyle/>
        <a:p>
          <a:endParaRPr lang="es-MX"/>
        </a:p>
      </dgm:t>
    </dgm:pt>
    <dgm:pt modelId="{B5EA0EAA-8B12-445F-BC76-7320D8B5A3FE}" type="pres">
      <dgm:prSet presAssocID="{F32E67B8-2B9B-49AF-85DD-398B433A51B8}" presName="Name0" presStyleCnt="0">
        <dgm:presLayoutVars>
          <dgm:chMax val="7"/>
          <dgm:chPref val="7"/>
          <dgm:dir/>
        </dgm:presLayoutVars>
      </dgm:prSet>
      <dgm:spPr/>
    </dgm:pt>
    <dgm:pt modelId="{269D46FE-7F54-4894-A4DF-56AEFCC896D6}" type="pres">
      <dgm:prSet presAssocID="{F32E67B8-2B9B-49AF-85DD-398B433A51B8}" presName="Name1" presStyleCnt="0"/>
      <dgm:spPr/>
    </dgm:pt>
    <dgm:pt modelId="{A97B5A52-ADC9-4F8C-A7FF-4FBF2DCB64E5}" type="pres">
      <dgm:prSet presAssocID="{F32E67B8-2B9B-49AF-85DD-398B433A51B8}" presName="cycle" presStyleCnt="0"/>
      <dgm:spPr/>
    </dgm:pt>
    <dgm:pt modelId="{3CAD5E73-7B68-4F9E-BDE2-CC46D84486C5}" type="pres">
      <dgm:prSet presAssocID="{F32E67B8-2B9B-49AF-85DD-398B433A51B8}" presName="srcNode" presStyleLbl="node1" presStyleIdx="0" presStyleCnt="5"/>
      <dgm:spPr/>
    </dgm:pt>
    <dgm:pt modelId="{C1BB4841-26EF-4853-AA5F-EE759967451A}" type="pres">
      <dgm:prSet presAssocID="{F32E67B8-2B9B-49AF-85DD-398B433A51B8}" presName="conn" presStyleLbl="parChTrans1D2" presStyleIdx="0" presStyleCnt="1"/>
      <dgm:spPr/>
    </dgm:pt>
    <dgm:pt modelId="{A40CA92A-419B-4F64-9229-42206AF5A66D}" type="pres">
      <dgm:prSet presAssocID="{F32E67B8-2B9B-49AF-85DD-398B433A51B8}" presName="extraNode" presStyleLbl="node1" presStyleIdx="0" presStyleCnt="5"/>
      <dgm:spPr/>
    </dgm:pt>
    <dgm:pt modelId="{B771EBE8-555A-425A-8BD1-62114C0D1E98}" type="pres">
      <dgm:prSet presAssocID="{F32E67B8-2B9B-49AF-85DD-398B433A51B8}" presName="dstNode" presStyleLbl="node1" presStyleIdx="0" presStyleCnt="5"/>
      <dgm:spPr/>
    </dgm:pt>
    <dgm:pt modelId="{F05D6D7F-5005-4E88-89B2-E3371DCC84B0}" type="pres">
      <dgm:prSet presAssocID="{31427468-52CD-4C85-B27A-ECFCE2BD3114}" presName="text_1" presStyleLbl="node1" presStyleIdx="0" presStyleCnt="5">
        <dgm:presLayoutVars>
          <dgm:bulletEnabled val="1"/>
        </dgm:presLayoutVars>
      </dgm:prSet>
      <dgm:spPr/>
    </dgm:pt>
    <dgm:pt modelId="{604E4267-7665-492B-8425-AF47DB639B07}" type="pres">
      <dgm:prSet presAssocID="{31427468-52CD-4C85-B27A-ECFCE2BD3114}" presName="accent_1" presStyleCnt="0"/>
      <dgm:spPr/>
    </dgm:pt>
    <dgm:pt modelId="{BCAE2F68-0FB4-48A0-9BAF-87A4F1C653F5}" type="pres">
      <dgm:prSet presAssocID="{31427468-52CD-4C85-B27A-ECFCE2BD3114}" presName="accentRepeatNode" presStyleLbl="solidFgAcc1" presStyleIdx="0" presStyleCnt="5"/>
      <dgm:spPr/>
    </dgm:pt>
    <dgm:pt modelId="{7E310A60-5FF8-4C3E-BE79-5BCC354E4E47}" type="pres">
      <dgm:prSet presAssocID="{2A6712E6-97CD-48F5-B056-A36DD40FC982}" presName="text_2" presStyleLbl="node1" presStyleIdx="1" presStyleCnt="5">
        <dgm:presLayoutVars>
          <dgm:bulletEnabled val="1"/>
        </dgm:presLayoutVars>
      </dgm:prSet>
      <dgm:spPr/>
    </dgm:pt>
    <dgm:pt modelId="{E4A4511B-6B19-4BE6-A2AC-5FB3BC312487}" type="pres">
      <dgm:prSet presAssocID="{2A6712E6-97CD-48F5-B056-A36DD40FC982}" presName="accent_2" presStyleCnt="0"/>
      <dgm:spPr/>
    </dgm:pt>
    <dgm:pt modelId="{31F6B16E-D758-4759-BE9D-D6EA8C40C11D}" type="pres">
      <dgm:prSet presAssocID="{2A6712E6-97CD-48F5-B056-A36DD40FC982}" presName="accentRepeatNode" presStyleLbl="solidFgAcc1" presStyleIdx="1" presStyleCnt="5"/>
      <dgm:spPr/>
    </dgm:pt>
    <dgm:pt modelId="{424231D1-ABD1-4EE1-B43B-7FC741C98156}" type="pres">
      <dgm:prSet presAssocID="{CB5AB524-00B6-4B2E-885D-CAAD21998A38}" presName="text_3" presStyleLbl="node1" presStyleIdx="2" presStyleCnt="5">
        <dgm:presLayoutVars>
          <dgm:bulletEnabled val="1"/>
        </dgm:presLayoutVars>
      </dgm:prSet>
      <dgm:spPr/>
    </dgm:pt>
    <dgm:pt modelId="{59483B22-255D-42FD-8D57-926BFE302AF9}" type="pres">
      <dgm:prSet presAssocID="{CB5AB524-00B6-4B2E-885D-CAAD21998A38}" presName="accent_3" presStyleCnt="0"/>
      <dgm:spPr/>
    </dgm:pt>
    <dgm:pt modelId="{44D2E2E2-8EA9-4030-A98B-80E8F0BDA5EF}" type="pres">
      <dgm:prSet presAssocID="{CB5AB524-00B6-4B2E-885D-CAAD21998A38}" presName="accentRepeatNode" presStyleLbl="solidFgAcc1" presStyleIdx="2" presStyleCnt="5"/>
      <dgm:spPr/>
    </dgm:pt>
    <dgm:pt modelId="{496D4388-0104-42EE-8776-B4042C0CA0EE}" type="pres">
      <dgm:prSet presAssocID="{3B211F43-AC6A-43DE-8D62-3CEB93BDFCB5}" presName="text_4" presStyleLbl="node1" presStyleIdx="3" presStyleCnt="5">
        <dgm:presLayoutVars>
          <dgm:bulletEnabled val="1"/>
        </dgm:presLayoutVars>
      </dgm:prSet>
      <dgm:spPr/>
    </dgm:pt>
    <dgm:pt modelId="{41D1B11B-BE06-460B-A658-BE30FDAAA02C}" type="pres">
      <dgm:prSet presAssocID="{3B211F43-AC6A-43DE-8D62-3CEB93BDFCB5}" presName="accent_4" presStyleCnt="0"/>
      <dgm:spPr/>
    </dgm:pt>
    <dgm:pt modelId="{D42E1073-02C0-4FEE-9A17-0C4C0B7A627E}" type="pres">
      <dgm:prSet presAssocID="{3B211F43-AC6A-43DE-8D62-3CEB93BDFCB5}" presName="accentRepeatNode" presStyleLbl="solidFgAcc1" presStyleIdx="3" presStyleCnt="5"/>
      <dgm:spPr/>
    </dgm:pt>
    <dgm:pt modelId="{021B6692-C4A4-4C25-98B7-BB5E34DD6207}" type="pres">
      <dgm:prSet presAssocID="{5F6C7CB1-A88C-4FE2-AC66-7AD21F6BD8EE}" presName="text_5" presStyleLbl="node1" presStyleIdx="4" presStyleCnt="5">
        <dgm:presLayoutVars>
          <dgm:bulletEnabled val="1"/>
        </dgm:presLayoutVars>
      </dgm:prSet>
      <dgm:spPr/>
    </dgm:pt>
    <dgm:pt modelId="{93B2E8EE-1B4C-45AF-9AC3-2017D3DE61BE}" type="pres">
      <dgm:prSet presAssocID="{5F6C7CB1-A88C-4FE2-AC66-7AD21F6BD8EE}" presName="accent_5" presStyleCnt="0"/>
      <dgm:spPr/>
    </dgm:pt>
    <dgm:pt modelId="{9E9FDDCE-F497-4687-BA4F-895B5308A587}" type="pres">
      <dgm:prSet presAssocID="{5F6C7CB1-A88C-4FE2-AC66-7AD21F6BD8EE}" presName="accentRepeatNode" presStyleLbl="solidFgAcc1" presStyleIdx="4" presStyleCnt="5"/>
      <dgm:spPr/>
    </dgm:pt>
  </dgm:ptLst>
  <dgm:cxnLst>
    <dgm:cxn modelId="{48559C04-1C89-45E6-B8A0-F46C62616EF8}" type="presOf" srcId="{13EA4A1D-FD33-4478-97BA-5227EA439431}" destId="{C1BB4841-26EF-4853-AA5F-EE759967451A}" srcOrd="0" destOrd="0" presId="urn:microsoft.com/office/officeart/2008/layout/VerticalCurvedList"/>
    <dgm:cxn modelId="{EC71DA2B-632C-436A-BB2C-9C6CE6A2629F}" srcId="{F32E67B8-2B9B-49AF-85DD-398B433A51B8}" destId="{3B211F43-AC6A-43DE-8D62-3CEB93BDFCB5}" srcOrd="3" destOrd="0" parTransId="{996804CF-3C2A-4AE9-8B7F-086865A600A7}" sibTransId="{CC1804D7-26A9-4D30-8F8B-6E25BE17CCF9}"/>
    <dgm:cxn modelId="{CBB5883B-2152-47E5-8AD1-0DFF3C99E773}" type="presOf" srcId="{3B211F43-AC6A-43DE-8D62-3CEB93BDFCB5}" destId="{496D4388-0104-42EE-8776-B4042C0CA0EE}" srcOrd="0" destOrd="0" presId="urn:microsoft.com/office/officeart/2008/layout/VerticalCurvedList"/>
    <dgm:cxn modelId="{57635356-1F27-44A9-96AD-61F8BECD47E6}" srcId="{F32E67B8-2B9B-49AF-85DD-398B433A51B8}" destId="{CB5AB524-00B6-4B2E-885D-CAAD21998A38}" srcOrd="2" destOrd="0" parTransId="{0021CB2D-03AB-4200-BE67-B1F4BC3917C5}" sibTransId="{0F744481-B454-4FEB-B955-5BC47E91E092}"/>
    <dgm:cxn modelId="{45133483-30CB-4100-8ACF-10D8F01F1AAB}" type="presOf" srcId="{CB5AB524-00B6-4B2E-885D-CAAD21998A38}" destId="{424231D1-ABD1-4EE1-B43B-7FC741C98156}" srcOrd="0" destOrd="0" presId="urn:microsoft.com/office/officeart/2008/layout/VerticalCurvedList"/>
    <dgm:cxn modelId="{96518389-6113-4127-908C-A08003BAA5C0}" type="presOf" srcId="{31427468-52CD-4C85-B27A-ECFCE2BD3114}" destId="{F05D6D7F-5005-4E88-89B2-E3371DCC84B0}" srcOrd="0" destOrd="0" presId="urn:microsoft.com/office/officeart/2008/layout/VerticalCurvedList"/>
    <dgm:cxn modelId="{4AC66596-A692-4938-89DA-DEC1545A8314}" type="presOf" srcId="{F32E67B8-2B9B-49AF-85DD-398B433A51B8}" destId="{B5EA0EAA-8B12-445F-BC76-7320D8B5A3FE}" srcOrd="0" destOrd="0" presId="urn:microsoft.com/office/officeart/2008/layout/VerticalCurvedList"/>
    <dgm:cxn modelId="{92DFE39A-A351-481A-88B4-7A5EA092631B}" srcId="{F32E67B8-2B9B-49AF-85DD-398B433A51B8}" destId="{31427468-52CD-4C85-B27A-ECFCE2BD3114}" srcOrd="0" destOrd="0" parTransId="{106F8425-7D13-417C-BB17-34E1D18F4675}" sibTransId="{13EA4A1D-FD33-4478-97BA-5227EA439431}"/>
    <dgm:cxn modelId="{81B014B0-4115-45CE-89C0-8F443C0DDC3B}" srcId="{F32E67B8-2B9B-49AF-85DD-398B433A51B8}" destId="{5F6C7CB1-A88C-4FE2-AC66-7AD21F6BD8EE}" srcOrd="4" destOrd="0" parTransId="{72DDC757-7BA8-4020-85E1-691C7DD677BC}" sibTransId="{1B809EBF-BA82-40BC-8FC8-C088B8FEDD2E}"/>
    <dgm:cxn modelId="{A7CBB0C0-2621-4DD9-B261-9A7BCDD9DE6C}" type="presOf" srcId="{2A6712E6-97CD-48F5-B056-A36DD40FC982}" destId="{7E310A60-5FF8-4C3E-BE79-5BCC354E4E47}" srcOrd="0" destOrd="0" presId="urn:microsoft.com/office/officeart/2008/layout/VerticalCurvedList"/>
    <dgm:cxn modelId="{D61A33F3-B48A-4907-96C4-5871F079182A}" srcId="{F32E67B8-2B9B-49AF-85DD-398B433A51B8}" destId="{2A6712E6-97CD-48F5-B056-A36DD40FC982}" srcOrd="1" destOrd="0" parTransId="{EC401D5B-4491-4775-86B3-A266E3865967}" sibTransId="{6A5E06FC-FE3C-4B75-A3E1-054D8F1FD13F}"/>
    <dgm:cxn modelId="{FF6DAAF5-7687-470B-92F3-DB392E3061B8}" type="presOf" srcId="{5F6C7CB1-A88C-4FE2-AC66-7AD21F6BD8EE}" destId="{021B6692-C4A4-4C25-98B7-BB5E34DD6207}" srcOrd="0" destOrd="0" presId="urn:microsoft.com/office/officeart/2008/layout/VerticalCurvedList"/>
    <dgm:cxn modelId="{A98ADD88-54EE-4AC5-927E-00535BFD7AAF}" type="presParOf" srcId="{B5EA0EAA-8B12-445F-BC76-7320D8B5A3FE}" destId="{269D46FE-7F54-4894-A4DF-56AEFCC896D6}" srcOrd="0" destOrd="0" presId="urn:microsoft.com/office/officeart/2008/layout/VerticalCurvedList"/>
    <dgm:cxn modelId="{1FFB1E9B-5AAD-4479-BE1B-B2F88452D3B3}" type="presParOf" srcId="{269D46FE-7F54-4894-A4DF-56AEFCC896D6}" destId="{A97B5A52-ADC9-4F8C-A7FF-4FBF2DCB64E5}" srcOrd="0" destOrd="0" presId="urn:microsoft.com/office/officeart/2008/layout/VerticalCurvedList"/>
    <dgm:cxn modelId="{2E0396AD-288F-46E1-BE83-F8DCC04F4BF1}" type="presParOf" srcId="{A97B5A52-ADC9-4F8C-A7FF-4FBF2DCB64E5}" destId="{3CAD5E73-7B68-4F9E-BDE2-CC46D84486C5}" srcOrd="0" destOrd="0" presId="urn:microsoft.com/office/officeart/2008/layout/VerticalCurvedList"/>
    <dgm:cxn modelId="{50D75BF4-3413-4BF9-A629-B2D92942E0BB}" type="presParOf" srcId="{A97B5A52-ADC9-4F8C-A7FF-4FBF2DCB64E5}" destId="{C1BB4841-26EF-4853-AA5F-EE759967451A}" srcOrd="1" destOrd="0" presId="urn:microsoft.com/office/officeart/2008/layout/VerticalCurvedList"/>
    <dgm:cxn modelId="{B8EE9CAB-4708-4B61-A891-5ABAB8176BB3}" type="presParOf" srcId="{A97B5A52-ADC9-4F8C-A7FF-4FBF2DCB64E5}" destId="{A40CA92A-419B-4F64-9229-42206AF5A66D}" srcOrd="2" destOrd="0" presId="urn:microsoft.com/office/officeart/2008/layout/VerticalCurvedList"/>
    <dgm:cxn modelId="{CC216F01-4B9C-49E2-ABDB-25027091D873}" type="presParOf" srcId="{A97B5A52-ADC9-4F8C-A7FF-4FBF2DCB64E5}" destId="{B771EBE8-555A-425A-8BD1-62114C0D1E98}" srcOrd="3" destOrd="0" presId="urn:microsoft.com/office/officeart/2008/layout/VerticalCurvedList"/>
    <dgm:cxn modelId="{D2AC198D-AAFD-4855-AC62-8788BF8CCAEF}" type="presParOf" srcId="{269D46FE-7F54-4894-A4DF-56AEFCC896D6}" destId="{F05D6D7F-5005-4E88-89B2-E3371DCC84B0}" srcOrd="1" destOrd="0" presId="urn:microsoft.com/office/officeart/2008/layout/VerticalCurvedList"/>
    <dgm:cxn modelId="{56974588-0C15-4D10-A996-01427E4A42D7}" type="presParOf" srcId="{269D46FE-7F54-4894-A4DF-56AEFCC896D6}" destId="{604E4267-7665-492B-8425-AF47DB639B07}" srcOrd="2" destOrd="0" presId="urn:microsoft.com/office/officeart/2008/layout/VerticalCurvedList"/>
    <dgm:cxn modelId="{88A2EA6E-9417-469F-8DEB-D9ECC8591233}" type="presParOf" srcId="{604E4267-7665-492B-8425-AF47DB639B07}" destId="{BCAE2F68-0FB4-48A0-9BAF-87A4F1C653F5}" srcOrd="0" destOrd="0" presId="urn:microsoft.com/office/officeart/2008/layout/VerticalCurvedList"/>
    <dgm:cxn modelId="{B50DB26F-AEB5-4556-9C23-7AF101613C85}" type="presParOf" srcId="{269D46FE-7F54-4894-A4DF-56AEFCC896D6}" destId="{7E310A60-5FF8-4C3E-BE79-5BCC354E4E47}" srcOrd="3" destOrd="0" presId="urn:microsoft.com/office/officeart/2008/layout/VerticalCurvedList"/>
    <dgm:cxn modelId="{427BDBDA-B561-437E-91BE-F598A31F685D}" type="presParOf" srcId="{269D46FE-7F54-4894-A4DF-56AEFCC896D6}" destId="{E4A4511B-6B19-4BE6-A2AC-5FB3BC312487}" srcOrd="4" destOrd="0" presId="urn:microsoft.com/office/officeart/2008/layout/VerticalCurvedList"/>
    <dgm:cxn modelId="{08EB2F7F-045F-4B32-AD4C-2DE45DCE9359}" type="presParOf" srcId="{E4A4511B-6B19-4BE6-A2AC-5FB3BC312487}" destId="{31F6B16E-D758-4759-BE9D-D6EA8C40C11D}" srcOrd="0" destOrd="0" presId="urn:microsoft.com/office/officeart/2008/layout/VerticalCurvedList"/>
    <dgm:cxn modelId="{E190B51D-2B77-43B5-BE16-574B6CF7468D}" type="presParOf" srcId="{269D46FE-7F54-4894-A4DF-56AEFCC896D6}" destId="{424231D1-ABD1-4EE1-B43B-7FC741C98156}" srcOrd="5" destOrd="0" presId="urn:microsoft.com/office/officeart/2008/layout/VerticalCurvedList"/>
    <dgm:cxn modelId="{B6392C2C-7E32-4607-BDE6-CC46FF6FBA54}" type="presParOf" srcId="{269D46FE-7F54-4894-A4DF-56AEFCC896D6}" destId="{59483B22-255D-42FD-8D57-926BFE302AF9}" srcOrd="6" destOrd="0" presId="urn:microsoft.com/office/officeart/2008/layout/VerticalCurvedList"/>
    <dgm:cxn modelId="{5C64D835-9FE1-4B3B-9B27-9AC881FFB9BA}" type="presParOf" srcId="{59483B22-255D-42FD-8D57-926BFE302AF9}" destId="{44D2E2E2-8EA9-4030-A98B-80E8F0BDA5EF}" srcOrd="0" destOrd="0" presId="urn:microsoft.com/office/officeart/2008/layout/VerticalCurvedList"/>
    <dgm:cxn modelId="{C7B99B7F-5384-4D3D-BD22-2EEE12718E29}" type="presParOf" srcId="{269D46FE-7F54-4894-A4DF-56AEFCC896D6}" destId="{496D4388-0104-42EE-8776-B4042C0CA0EE}" srcOrd="7" destOrd="0" presId="urn:microsoft.com/office/officeart/2008/layout/VerticalCurvedList"/>
    <dgm:cxn modelId="{2FD31E79-8F71-4E97-B786-1D9FD749B7FB}" type="presParOf" srcId="{269D46FE-7F54-4894-A4DF-56AEFCC896D6}" destId="{41D1B11B-BE06-460B-A658-BE30FDAAA02C}" srcOrd="8" destOrd="0" presId="urn:microsoft.com/office/officeart/2008/layout/VerticalCurvedList"/>
    <dgm:cxn modelId="{68A794F1-827C-470B-90EE-5730D00B3AAB}" type="presParOf" srcId="{41D1B11B-BE06-460B-A658-BE30FDAAA02C}" destId="{D42E1073-02C0-4FEE-9A17-0C4C0B7A627E}" srcOrd="0" destOrd="0" presId="urn:microsoft.com/office/officeart/2008/layout/VerticalCurvedList"/>
    <dgm:cxn modelId="{88896462-C38B-4280-A4A9-1B2128ED6A01}" type="presParOf" srcId="{269D46FE-7F54-4894-A4DF-56AEFCC896D6}" destId="{021B6692-C4A4-4C25-98B7-BB5E34DD6207}" srcOrd="9" destOrd="0" presId="urn:microsoft.com/office/officeart/2008/layout/VerticalCurvedList"/>
    <dgm:cxn modelId="{41222C93-4A47-46F6-B537-076DB006303B}" type="presParOf" srcId="{269D46FE-7F54-4894-A4DF-56AEFCC896D6}" destId="{93B2E8EE-1B4C-45AF-9AC3-2017D3DE61BE}" srcOrd="10" destOrd="0" presId="urn:microsoft.com/office/officeart/2008/layout/VerticalCurvedList"/>
    <dgm:cxn modelId="{997B6180-23DB-436B-A1B5-060F1DC7EEAC}" type="presParOf" srcId="{93B2E8EE-1B4C-45AF-9AC3-2017D3DE61BE}" destId="{9E9FDDCE-F497-4687-BA4F-895B5308A587}"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3EEEE0-4D8C-40CB-B3C2-37EF22199203}">
      <dsp:nvSpPr>
        <dsp:cNvPr id="0" name=""/>
        <dsp:cNvSpPr/>
      </dsp:nvSpPr>
      <dsp:spPr>
        <a:xfrm>
          <a:off x="0" y="0"/>
          <a:ext cx="7052840" cy="7271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s-ES" sz="1400" b="1" kern="1200" dirty="0"/>
            <a:t>Información</a:t>
          </a:r>
          <a:endParaRPr lang="es-MX" sz="1400" b="1" kern="1200" dirty="0"/>
        </a:p>
        <a:p>
          <a:pPr marL="57150" lvl="1" indent="-57150" algn="l" defTabSz="488950">
            <a:lnSpc>
              <a:spcPct val="90000"/>
            </a:lnSpc>
            <a:spcBef>
              <a:spcPct val="0"/>
            </a:spcBef>
            <a:spcAft>
              <a:spcPct val="15000"/>
            </a:spcAft>
            <a:buChar char="•"/>
          </a:pPr>
          <a:r>
            <a:rPr lang="es-ES" sz="1100" kern="1200" dirty="0"/>
            <a:t>Integrada: Unificación de varios archivos</a:t>
          </a:r>
          <a:endParaRPr lang="es-MX" sz="1100" kern="1200" dirty="0"/>
        </a:p>
        <a:p>
          <a:pPr marL="57150" lvl="1" indent="-57150" algn="l" defTabSz="488950">
            <a:lnSpc>
              <a:spcPct val="90000"/>
            </a:lnSpc>
            <a:spcBef>
              <a:spcPct val="0"/>
            </a:spcBef>
            <a:spcAft>
              <a:spcPct val="15000"/>
            </a:spcAft>
            <a:buChar char="•"/>
          </a:pPr>
          <a:r>
            <a:rPr lang="es-ES" sz="1100" kern="1200" dirty="0"/>
            <a:t>Compartida: Usuarios utilizan la información para propósitos diferentes</a:t>
          </a:r>
          <a:endParaRPr lang="es-MX" sz="1100" kern="1200" dirty="0"/>
        </a:p>
      </dsp:txBody>
      <dsp:txXfrm>
        <a:off x="1483287" y="0"/>
        <a:ext cx="5569552" cy="727190"/>
      </dsp:txXfrm>
    </dsp:sp>
    <dsp:sp modelId="{060E493B-AE89-4B3F-B16A-BD2743E94D03}">
      <dsp:nvSpPr>
        <dsp:cNvPr id="0" name=""/>
        <dsp:cNvSpPr/>
      </dsp:nvSpPr>
      <dsp:spPr>
        <a:xfrm>
          <a:off x="151654" y="72719"/>
          <a:ext cx="604174" cy="581752"/>
        </a:xfrm>
        <a:prstGeom prst="roundRect">
          <a:avLst>
            <a:gd name="adj" fmla="val 10000"/>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l="-6000" r="-6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FA41A7D-4C7F-4D55-94FB-D63BDC05D465}">
      <dsp:nvSpPr>
        <dsp:cNvPr id="0" name=""/>
        <dsp:cNvSpPr/>
      </dsp:nvSpPr>
      <dsp:spPr>
        <a:xfrm>
          <a:off x="0" y="799909"/>
          <a:ext cx="7052840" cy="7271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s-ES" sz="1400" b="1" kern="1200" dirty="0"/>
            <a:t>Equipo</a:t>
          </a:r>
          <a:endParaRPr lang="es-MX" sz="1400" b="1" kern="1200" dirty="0"/>
        </a:p>
        <a:p>
          <a:pPr marL="57150" lvl="1" indent="-57150" algn="l" defTabSz="488950">
            <a:lnSpc>
              <a:spcPct val="90000"/>
            </a:lnSpc>
            <a:spcBef>
              <a:spcPct val="0"/>
            </a:spcBef>
            <a:spcAft>
              <a:spcPct val="15000"/>
            </a:spcAft>
            <a:buChar char="•"/>
          </a:pPr>
          <a:r>
            <a:rPr lang="es-ES" sz="1100" kern="1200" dirty="0"/>
            <a:t>Computadora (MU/Redes)</a:t>
          </a:r>
          <a:endParaRPr lang="es-MX" sz="1100" kern="1200" dirty="0"/>
        </a:p>
        <a:p>
          <a:pPr marL="57150" lvl="1" indent="-57150" algn="l" defTabSz="488950">
            <a:lnSpc>
              <a:spcPct val="90000"/>
            </a:lnSpc>
            <a:spcBef>
              <a:spcPct val="0"/>
            </a:spcBef>
            <a:spcAft>
              <a:spcPct val="15000"/>
            </a:spcAft>
            <a:buChar char="•"/>
          </a:pPr>
          <a:r>
            <a:rPr lang="es-ES" sz="1100" kern="1200" dirty="0"/>
            <a:t>Almacenamiento</a:t>
          </a:r>
          <a:endParaRPr lang="es-MX" sz="1100" kern="1200" dirty="0"/>
        </a:p>
      </dsp:txBody>
      <dsp:txXfrm>
        <a:off x="1483287" y="799909"/>
        <a:ext cx="5569552" cy="727190"/>
      </dsp:txXfrm>
    </dsp:sp>
    <dsp:sp modelId="{0A6A79EC-2F71-44E7-9C91-2BE13707EB4F}">
      <dsp:nvSpPr>
        <dsp:cNvPr id="0" name=""/>
        <dsp:cNvSpPr/>
      </dsp:nvSpPr>
      <dsp:spPr>
        <a:xfrm>
          <a:off x="151668" y="861045"/>
          <a:ext cx="604174" cy="581752"/>
        </a:xfrm>
        <a:prstGeom prst="roundRect">
          <a:avLst>
            <a:gd name="adj" fmla="val 10000"/>
          </a:avLst>
        </a:prstGeom>
        <a:blipFill>
          <a:blip xmlns:r="http://schemas.openxmlformats.org/officeDocument/2006/relationships" r:embed="rId2" cstate="print">
            <a:extLst>
              <a:ext uri="{28A0092B-C50C-407E-A947-70E740481C1C}">
                <a14:useLocalDpi xmlns:a14="http://schemas.microsoft.com/office/drawing/2010/main" val="0"/>
              </a:ext>
            </a:extLst>
          </a:blip>
          <a:srcRect/>
          <a:stretch>
            <a:fillRect l="-14000" r="-14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7F17CF5-8497-4A2D-B03F-7105636A68F5}">
      <dsp:nvSpPr>
        <dsp:cNvPr id="0" name=""/>
        <dsp:cNvSpPr/>
      </dsp:nvSpPr>
      <dsp:spPr>
        <a:xfrm>
          <a:off x="0" y="1599819"/>
          <a:ext cx="7052840" cy="7271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s-ES" sz="1400" b="1" kern="1200" dirty="0"/>
            <a:t>Software</a:t>
          </a:r>
          <a:endParaRPr lang="es-MX" sz="1400" b="1" kern="1200" dirty="0"/>
        </a:p>
        <a:p>
          <a:pPr marL="57150" lvl="1" indent="-57150" algn="l" defTabSz="488950">
            <a:lnSpc>
              <a:spcPct val="90000"/>
            </a:lnSpc>
            <a:spcBef>
              <a:spcPct val="0"/>
            </a:spcBef>
            <a:spcAft>
              <a:spcPct val="15000"/>
            </a:spcAft>
            <a:buChar char="•"/>
          </a:pPr>
          <a:r>
            <a:rPr lang="es-ES" sz="1100" kern="1200" dirty="0"/>
            <a:t>Aplicaciones </a:t>
          </a:r>
          <a:endParaRPr lang="es-MX" sz="1100" kern="1200" dirty="0"/>
        </a:p>
        <a:p>
          <a:pPr marL="57150" lvl="1" indent="-57150" algn="l" defTabSz="488950">
            <a:lnSpc>
              <a:spcPct val="90000"/>
            </a:lnSpc>
            <a:spcBef>
              <a:spcPct val="0"/>
            </a:spcBef>
            <a:spcAft>
              <a:spcPct val="15000"/>
            </a:spcAft>
            <a:buChar char="•"/>
          </a:pPr>
          <a:r>
            <a:rPr lang="es-ES" sz="1100" kern="1200" dirty="0"/>
            <a:t>SMBD</a:t>
          </a:r>
          <a:endParaRPr lang="es-MX" sz="1100" kern="1200" dirty="0"/>
        </a:p>
      </dsp:txBody>
      <dsp:txXfrm>
        <a:off x="1483287" y="1599819"/>
        <a:ext cx="5569552" cy="727190"/>
      </dsp:txXfrm>
    </dsp:sp>
    <dsp:sp modelId="{DE389901-1D95-4B26-B019-2D0F76403A6A}">
      <dsp:nvSpPr>
        <dsp:cNvPr id="0" name=""/>
        <dsp:cNvSpPr/>
      </dsp:nvSpPr>
      <dsp:spPr>
        <a:xfrm>
          <a:off x="128507" y="1672538"/>
          <a:ext cx="650469" cy="581752"/>
        </a:xfrm>
        <a:prstGeom prst="roundRect">
          <a:avLst>
            <a:gd name="adj" fmla="val 10000"/>
          </a:avLst>
        </a:prstGeom>
        <a:blipFill>
          <a:blip xmlns:r="http://schemas.openxmlformats.org/officeDocument/2006/relationships" r:embed="rId3" cstate="print">
            <a:extLst>
              <a:ext uri="{28A0092B-C50C-407E-A947-70E740481C1C}">
                <a14:useLocalDpi xmlns:a14="http://schemas.microsoft.com/office/drawing/2010/main" val="0"/>
              </a:ext>
            </a:extLst>
          </a:blip>
          <a:srcRect/>
          <a:stretch>
            <a:fillRect t="-4000" b="-4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CC9F262-95E1-4934-A030-C4E9E3E34D45}">
      <dsp:nvSpPr>
        <dsp:cNvPr id="0" name=""/>
        <dsp:cNvSpPr/>
      </dsp:nvSpPr>
      <dsp:spPr>
        <a:xfrm>
          <a:off x="0" y="2399728"/>
          <a:ext cx="7052840" cy="7271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s-ES" sz="1400" b="1" kern="1200" dirty="0"/>
            <a:t>Usuarios</a:t>
          </a:r>
          <a:endParaRPr lang="es-MX" sz="1400" b="1" kern="1200" dirty="0"/>
        </a:p>
        <a:p>
          <a:pPr marL="57150" lvl="1" indent="-57150" algn="l" defTabSz="488950">
            <a:lnSpc>
              <a:spcPct val="90000"/>
            </a:lnSpc>
            <a:spcBef>
              <a:spcPct val="0"/>
            </a:spcBef>
            <a:spcAft>
              <a:spcPct val="15000"/>
            </a:spcAft>
            <a:buChar char="•"/>
          </a:pPr>
          <a:r>
            <a:rPr lang="es-ES" sz="1100" kern="1200" dirty="0"/>
            <a:t>Desarrolladores de Aplicaciones</a:t>
          </a:r>
          <a:endParaRPr lang="es-MX" sz="1100" kern="1200" dirty="0"/>
        </a:p>
        <a:p>
          <a:pPr marL="57150" lvl="1" indent="-57150" algn="l" defTabSz="488950">
            <a:lnSpc>
              <a:spcPct val="90000"/>
            </a:lnSpc>
            <a:spcBef>
              <a:spcPct val="0"/>
            </a:spcBef>
            <a:spcAft>
              <a:spcPct val="15000"/>
            </a:spcAft>
            <a:buChar char="•"/>
          </a:pPr>
          <a:r>
            <a:rPr lang="es-ES" sz="1100" kern="1200" dirty="0"/>
            <a:t>Finales, Administrador de la BD</a:t>
          </a:r>
          <a:endParaRPr lang="es-MX" sz="1100" kern="1200" dirty="0"/>
        </a:p>
      </dsp:txBody>
      <dsp:txXfrm>
        <a:off x="1483287" y="2399728"/>
        <a:ext cx="5569552" cy="727190"/>
      </dsp:txXfrm>
    </dsp:sp>
    <dsp:sp modelId="{D0F7289F-C347-40E1-9792-322ED2969B3B}">
      <dsp:nvSpPr>
        <dsp:cNvPr id="0" name=""/>
        <dsp:cNvSpPr/>
      </dsp:nvSpPr>
      <dsp:spPr>
        <a:xfrm>
          <a:off x="116933" y="2472447"/>
          <a:ext cx="673616" cy="581752"/>
        </a:xfrm>
        <a:prstGeom prst="roundRect">
          <a:avLst>
            <a:gd name="adj" fmla="val 10000"/>
          </a:avLst>
        </a:prstGeom>
        <a:blipFill>
          <a:blip xmlns:r="http://schemas.openxmlformats.org/officeDocument/2006/relationships" r:embed="rId4" cstate="print">
            <a:extLst>
              <a:ext uri="{28A0092B-C50C-407E-A947-70E740481C1C}">
                <a14:useLocalDpi xmlns:a14="http://schemas.microsoft.com/office/drawing/2010/main" val="0"/>
              </a:ext>
            </a:extLst>
          </a:blip>
          <a:srcRect/>
          <a:stretch>
            <a:fillRect t="-8000" b="-8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C40ED00-57E1-4041-9589-DACC405B0A4B}">
      <dsp:nvSpPr>
        <dsp:cNvPr id="0" name=""/>
        <dsp:cNvSpPr/>
      </dsp:nvSpPr>
      <dsp:spPr>
        <a:xfrm>
          <a:off x="0" y="3199638"/>
          <a:ext cx="7052840" cy="7271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s-ES" sz="1400" b="1" kern="1200" dirty="0"/>
            <a:t>Procedimientos</a:t>
          </a:r>
          <a:endParaRPr lang="es-MX" sz="1400" b="1" kern="1200" dirty="0"/>
        </a:p>
        <a:p>
          <a:pPr marL="57150" lvl="1" indent="-57150" algn="l" defTabSz="488950">
            <a:lnSpc>
              <a:spcPct val="90000"/>
            </a:lnSpc>
            <a:spcBef>
              <a:spcPct val="0"/>
            </a:spcBef>
            <a:spcAft>
              <a:spcPct val="15000"/>
            </a:spcAft>
            <a:buChar char="•"/>
          </a:pPr>
          <a:r>
            <a:rPr lang="es-ES" sz="1100" kern="1200" dirty="0"/>
            <a:t>Reglas de Negocio</a:t>
          </a:r>
          <a:endParaRPr lang="es-MX" sz="1100" kern="1200" dirty="0"/>
        </a:p>
        <a:p>
          <a:pPr marL="57150" lvl="1" indent="-57150" algn="l" defTabSz="488950">
            <a:lnSpc>
              <a:spcPct val="90000"/>
            </a:lnSpc>
            <a:spcBef>
              <a:spcPct val="0"/>
            </a:spcBef>
            <a:spcAft>
              <a:spcPct val="15000"/>
            </a:spcAft>
            <a:buChar char="•"/>
          </a:pPr>
          <a:r>
            <a:rPr lang="es-ES" sz="1100" kern="1200" dirty="0"/>
            <a:t>Restricciones de gobierno</a:t>
          </a:r>
          <a:endParaRPr lang="es-MX" sz="1100" kern="1200" dirty="0"/>
        </a:p>
      </dsp:txBody>
      <dsp:txXfrm>
        <a:off x="1483287" y="3199638"/>
        <a:ext cx="5569552" cy="727190"/>
      </dsp:txXfrm>
    </dsp:sp>
    <dsp:sp modelId="{B7669B87-5099-4414-8BD9-BD4607483F69}">
      <dsp:nvSpPr>
        <dsp:cNvPr id="0" name=""/>
        <dsp:cNvSpPr/>
      </dsp:nvSpPr>
      <dsp:spPr>
        <a:xfrm>
          <a:off x="151654" y="3272357"/>
          <a:ext cx="604174" cy="581752"/>
        </a:xfrm>
        <a:prstGeom prst="roundRect">
          <a:avLst>
            <a:gd name="adj" fmla="val 10000"/>
          </a:avLst>
        </a:prstGeom>
        <a:blipFill>
          <a:blip xmlns:r="http://schemas.openxmlformats.org/officeDocument/2006/relationships" r:embed="rId5" cstate="print">
            <a:extLst>
              <a:ext uri="{28A0092B-C50C-407E-A947-70E740481C1C}">
                <a14:useLocalDpi xmlns:a14="http://schemas.microsoft.com/office/drawing/2010/main" val="0"/>
              </a:ext>
            </a:extLst>
          </a:blip>
          <a:srcRect/>
          <a:stretch>
            <a:fillRect l="-5000" r="-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BB4841-26EF-4853-AA5F-EE759967451A}">
      <dsp:nvSpPr>
        <dsp:cNvPr id="0" name=""/>
        <dsp:cNvSpPr/>
      </dsp:nvSpPr>
      <dsp:spPr>
        <a:xfrm>
          <a:off x="-4565167" y="-699973"/>
          <a:ext cx="5438166" cy="5438166"/>
        </a:xfrm>
        <a:prstGeom prst="blockArc">
          <a:avLst>
            <a:gd name="adj1" fmla="val 18900000"/>
            <a:gd name="adj2" fmla="val 2700000"/>
            <a:gd name="adj3" fmla="val 397"/>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05D6D7F-5005-4E88-89B2-E3371DCC84B0}">
      <dsp:nvSpPr>
        <dsp:cNvPr id="0" name=""/>
        <dsp:cNvSpPr/>
      </dsp:nvSpPr>
      <dsp:spPr>
        <a:xfrm>
          <a:off x="382155" y="252307"/>
          <a:ext cx="6609474" cy="50493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795" tIns="68580" rIns="68580" bIns="68580" numCol="1" spcCol="1270" anchor="ctr" anchorCtr="0">
          <a:noAutofit/>
        </a:bodyPr>
        <a:lstStyle/>
        <a:p>
          <a:pPr marL="0" lvl="0" indent="0" algn="l" defTabSz="1200150">
            <a:lnSpc>
              <a:spcPct val="90000"/>
            </a:lnSpc>
            <a:spcBef>
              <a:spcPct val="0"/>
            </a:spcBef>
            <a:spcAft>
              <a:spcPct val="35000"/>
            </a:spcAft>
            <a:buNone/>
          </a:pPr>
          <a:r>
            <a:rPr lang="es-ES" sz="2700" kern="1200" dirty="0"/>
            <a:t>Compacto</a:t>
          </a:r>
          <a:endParaRPr lang="es-MX" sz="2700" kern="1200" dirty="0"/>
        </a:p>
      </dsp:txBody>
      <dsp:txXfrm>
        <a:off x="382155" y="252307"/>
        <a:ext cx="6609474" cy="504938"/>
      </dsp:txXfrm>
    </dsp:sp>
    <dsp:sp modelId="{BCAE2F68-0FB4-48A0-9BAF-87A4F1C653F5}">
      <dsp:nvSpPr>
        <dsp:cNvPr id="0" name=""/>
        <dsp:cNvSpPr/>
      </dsp:nvSpPr>
      <dsp:spPr>
        <a:xfrm>
          <a:off x="66569" y="189190"/>
          <a:ext cx="631173" cy="631173"/>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E310A60-5FF8-4C3E-BE79-5BCC354E4E47}">
      <dsp:nvSpPr>
        <dsp:cNvPr id="0" name=""/>
        <dsp:cNvSpPr/>
      </dsp:nvSpPr>
      <dsp:spPr>
        <a:xfrm>
          <a:off x="743980" y="1009473"/>
          <a:ext cx="6247650" cy="50493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795" tIns="68580" rIns="68580" bIns="68580" numCol="1" spcCol="1270" anchor="ctr" anchorCtr="0">
          <a:noAutofit/>
        </a:bodyPr>
        <a:lstStyle/>
        <a:p>
          <a:pPr marL="0" lvl="0" indent="0" algn="l" defTabSz="1200150">
            <a:lnSpc>
              <a:spcPct val="90000"/>
            </a:lnSpc>
            <a:spcBef>
              <a:spcPct val="0"/>
            </a:spcBef>
            <a:spcAft>
              <a:spcPct val="35000"/>
            </a:spcAft>
            <a:buNone/>
          </a:pPr>
          <a:r>
            <a:rPr lang="es-ES" sz="2700" kern="1200" dirty="0"/>
            <a:t>Rápido</a:t>
          </a:r>
          <a:endParaRPr lang="es-MX" sz="2700" kern="1200" dirty="0"/>
        </a:p>
      </dsp:txBody>
      <dsp:txXfrm>
        <a:off x="743980" y="1009473"/>
        <a:ext cx="6247650" cy="504938"/>
      </dsp:txXfrm>
    </dsp:sp>
    <dsp:sp modelId="{31F6B16E-D758-4759-BE9D-D6EA8C40C11D}">
      <dsp:nvSpPr>
        <dsp:cNvPr id="0" name=""/>
        <dsp:cNvSpPr/>
      </dsp:nvSpPr>
      <dsp:spPr>
        <a:xfrm>
          <a:off x="428393" y="946356"/>
          <a:ext cx="631173" cy="631173"/>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24231D1-ABD1-4EE1-B43B-7FC741C98156}">
      <dsp:nvSpPr>
        <dsp:cNvPr id="0" name=""/>
        <dsp:cNvSpPr/>
      </dsp:nvSpPr>
      <dsp:spPr>
        <a:xfrm>
          <a:off x="855031" y="1766640"/>
          <a:ext cx="6136599" cy="50493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795" tIns="68580" rIns="68580" bIns="68580" numCol="1" spcCol="1270" anchor="ctr" anchorCtr="0">
          <a:noAutofit/>
        </a:bodyPr>
        <a:lstStyle/>
        <a:p>
          <a:pPr marL="0" lvl="0" indent="0" algn="l" defTabSz="1200150">
            <a:lnSpc>
              <a:spcPct val="90000"/>
            </a:lnSpc>
            <a:spcBef>
              <a:spcPct val="0"/>
            </a:spcBef>
            <a:spcAft>
              <a:spcPct val="35000"/>
            </a:spcAft>
            <a:buNone/>
          </a:pPr>
          <a:r>
            <a:rPr lang="es-ES" sz="2700" kern="1200" dirty="0"/>
            <a:t>Menos laborioso</a:t>
          </a:r>
          <a:endParaRPr lang="es-MX" sz="2700" kern="1200" dirty="0"/>
        </a:p>
      </dsp:txBody>
      <dsp:txXfrm>
        <a:off x="855031" y="1766640"/>
        <a:ext cx="6136599" cy="504938"/>
      </dsp:txXfrm>
    </dsp:sp>
    <dsp:sp modelId="{44D2E2E2-8EA9-4030-A98B-80E8F0BDA5EF}">
      <dsp:nvSpPr>
        <dsp:cNvPr id="0" name=""/>
        <dsp:cNvSpPr/>
      </dsp:nvSpPr>
      <dsp:spPr>
        <a:xfrm>
          <a:off x="539444" y="1703522"/>
          <a:ext cx="631173" cy="631173"/>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96D4388-0104-42EE-8776-B4042C0CA0EE}">
      <dsp:nvSpPr>
        <dsp:cNvPr id="0" name=""/>
        <dsp:cNvSpPr/>
      </dsp:nvSpPr>
      <dsp:spPr>
        <a:xfrm>
          <a:off x="743980" y="2523806"/>
          <a:ext cx="6247650" cy="50493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795" tIns="68580" rIns="68580" bIns="68580" numCol="1" spcCol="1270" anchor="ctr" anchorCtr="0">
          <a:noAutofit/>
        </a:bodyPr>
        <a:lstStyle/>
        <a:p>
          <a:pPr marL="0" lvl="0" indent="0" algn="l" defTabSz="1200150">
            <a:lnSpc>
              <a:spcPct val="90000"/>
            </a:lnSpc>
            <a:spcBef>
              <a:spcPct val="0"/>
            </a:spcBef>
            <a:spcAft>
              <a:spcPct val="35000"/>
            </a:spcAft>
            <a:buNone/>
          </a:pPr>
          <a:r>
            <a:rPr lang="es-ES" sz="2700" kern="1200" dirty="0"/>
            <a:t>Mayor confiabilidad</a:t>
          </a:r>
          <a:endParaRPr lang="es-MX" sz="2700" kern="1200" dirty="0"/>
        </a:p>
      </dsp:txBody>
      <dsp:txXfrm>
        <a:off x="743980" y="2523806"/>
        <a:ext cx="6247650" cy="504938"/>
      </dsp:txXfrm>
    </dsp:sp>
    <dsp:sp modelId="{D42E1073-02C0-4FEE-9A17-0C4C0B7A627E}">
      <dsp:nvSpPr>
        <dsp:cNvPr id="0" name=""/>
        <dsp:cNvSpPr/>
      </dsp:nvSpPr>
      <dsp:spPr>
        <a:xfrm>
          <a:off x="428393" y="2460688"/>
          <a:ext cx="631173" cy="631173"/>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21B6692-C4A4-4C25-98B7-BB5E34DD6207}">
      <dsp:nvSpPr>
        <dsp:cNvPr id="0" name=""/>
        <dsp:cNvSpPr/>
      </dsp:nvSpPr>
      <dsp:spPr>
        <a:xfrm>
          <a:off x="382155" y="3280972"/>
          <a:ext cx="6609474" cy="50493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795" tIns="68580" rIns="68580" bIns="68580" numCol="1" spcCol="1270" anchor="ctr" anchorCtr="0">
          <a:noAutofit/>
        </a:bodyPr>
        <a:lstStyle/>
        <a:p>
          <a:pPr marL="0" lvl="0" indent="0" algn="l" defTabSz="1200150">
            <a:lnSpc>
              <a:spcPct val="90000"/>
            </a:lnSpc>
            <a:spcBef>
              <a:spcPct val="0"/>
            </a:spcBef>
            <a:spcAft>
              <a:spcPct val="35000"/>
            </a:spcAft>
            <a:buNone/>
          </a:pPr>
          <a:r>
            <a:rPr lang="es-ES" sz="2700" kern="1200" dirty="0"/>
            <a:t>Provee información actualizada</a:t>
          </a:r>
          <a:endParaRPr lang="es-MX" sz="2700" kern="1200" dirty="0"/>
        </a:p>
      </dsp:txBody>
      <dsp:txXfrm>
        <a:off x="382155" y="3280972"/>
        <a:ext cx="6609474" cy="504938"/>
      </dsp:txXfrm>
    </dsp:sp>
    <dsp:sp modelId="{9E9FDDCE-F497-4687-BA4F-895B5308A587}">
      <dsp:nvSpPr>
        <dsp:cNvPr id="0" name=""/>
        <dsp:cNvSpPr/>
      </dsp:nvSpPr>
      <dsp:spPr>
        <a:xfrm>
          <a:off x="66569" y="3217854"/>
          <a:ext cx="631173" cy="631173"/>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9E736D-FA02-46B3-82AF-51CF12AED252}" type="datetimeFigureOut">
              <a:rPr lang="es-MX" smtClean="0"/>
              <a:t>11/08/2026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EA51CC-574E-4C5F-BCB5-50D601C83C70}" type="slidenum">
              <a:rPr lang="es-MX" smtClean="0"/>
              <a:t>‹Nº›</a:t>
            </a:fld>
            <a:endParaRPr lang="es-MX"/>
          </a:p>
        </p:txBody>
      </p:sp>
    </p:spTree>
    <p:extLst>
      <p:ext uri="{BB962C8B-B14F-4D97-AF65-F5344CB8AC3E}">
        <p14:creationId xmlns:p14="http://schemas.microsoft.com/office/powerpoint/2010/main" val="3030807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6" name="Marcador de número de diapositiva 5"/>
          <p:cNvSpPr>
            <a:spLocks noGrp="1"/>
          </p:cNvSpPr>
          <p:nvPr>
            <p:ph type="sldNum" sz="quarter" idx="12"/>
          </p:nvPr>
        </p:nvSpPr>
        <p:spPr>
          <a:xfrm>
            <a:off x="10172702" y="6356354"/>
            <a:ext cx="1181100" cy="365125"/>
          </a:xfrm>
          <a:prstGeom prst="rect">
            <a:avLst/>
          </a:prstGeom>
        </p:spPr>
        <p:txBody>
          <a:bodyPr/>
          <a:lstStyle/>
          <a:p>
            <a:fld id="{535C381F-C058-4457-AC2A-473EAEE256FB}" type="slidenum">
              <a:rPr lang="es-MX" smtClean="0"/>
              <a:t>‹Nº›</a:t>
            </a:fld>
            <a:endParaRPr lang="es-MX"/>
          </a:p>
        </p:txBody>
      </p:sp>
      <p:sp>
        <p:nvSpPr>
          <p:cNvPr id="7" name="Rectángulo 6"/>
          <p:cNvSpPr/>
          <p:nvPr userDrawn="1"/>
        </p:nvSpPr>
        <p:spPr>
          <a:xfrm>
            <a:off x="750950" y="512767"/>
            <a:ext cx="2085769" cy="2043401"/>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800"/>
          </a:p>
        </p:txBody>
      </p:sp>
      <p:sp>
        <p:nvSpPr>
          <p:cNvPr id="8" name="Rectángulo 7"/>
          <p:cNvSpPr/>
          <p:nvPr userDrawn="1"/>
        </p:nvSpPr>
        <p:spPr>
          <a:xfrm>
            <a:off x="2836720" y="512767"/>
            <a:ext cx="8598537" cy="2043401"/>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3200" b="1" dirty="0">
                <a:latin typeface="Arial" panose="020B0604020202020204" pitchFamily="34" charset="0"/>
                <a:cs typeface="Arial" panose="020B0604020202020204" pitchFamily="34" charset="0"/>
              </a:rPr>
              <a:t>Universidad</a:t>
            </a:r>
            <a:r>
              <a:rPr lang="es-MX" sz="3200" b="1" baseline="0" dirty="0">
                <a:latin typeface="Arial" panose="020B0604020202020204" pitchFamily="34" charset="0"/>
                <a:cs typeface="Arial" panose="020B0604020202020204" pitchFamily="34" charset="0"/>
              </a:rPr>
              <a:t> Autónoma de Yucatán</a:t>
            </a:r>
          </a:p>
          <a:p>
            <a:pPr algn="ctr"/>
            <a:r>
              <a:rPr lang="es-MX" sz="3200" b="1" baseline="0" dirty="0">
                <a:latin typeface="Arial" panose="020B0604020202020204" pitchFamily="34" charset="0"/>
                <a:cs typeface="Arial" panose="020B0604020202020204" pitchFamily="34" charset="0"/>
              </a:rPr>
              <a:t>Facultad de Matemáticas</a:t>
            </a:r>
          </a:p>
          <a:p>
            <a:pPr algn="ctr"/>
            <a:r>
              <a:rPr lang="es-MX" sz="2800" b="1" baseline="0" dirty="0">
                <a:latin typeface="Arial" panose="020B0604020202020204" pitchFamily="34" charset="0"/>
                <a:cs typeface="Arial" panose="020B0604020202020204" pitchFamily="34" charset="0"/>
              </a:rPr>
              <a:t>Licenciatura en Ingeniería de Software</a:t>
            </a:r>
            <a:endParaRPr lang="es-MX" sz="2800" b="1" dirty="0">
              <a:latin typeface="Arial" panose="020B0604020202020204" pitchFamily="34" charset="0"/>
              <a:cs typeface="Arial" panose="020B0604020202020204" pitchFamily="34" charset="0"/>
            </a:endParaRPr>
          </a:p>
        </p:txBody>
      </p:sp>
      <p:pic>
        <p:nvPicPr>
          <p:cNvPr id="10" name="Imagen 9"/>
          <p:cNvPicPr>
            <a:picLocks noChangeAspect="1"/>
          </p:cNvPicPr>
          <p:nvPr userDrawn="1"/>
        </p:nvPicPr>
        <p:blipFill>
          <a:blip r:embed="rId2"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1379801" y="739734"/>
            <a:ext cx="934991" cy="1538995"/>
          </a:xfrm>
          <a:prstGeom prst="rect">
            <a:avLst/>
          </a:prstGeom>
        </p:spPr>
      </p:pic>
      <p:sp>
        <p:nvSpPr>
          <p:cNvPr id="11" name="Subtítulo 2"/>
          <p:cNvSpPr txBox="1">
            <a:spLocks/>
          </p:cNvSpPr>
          <p:nvPr userDrawn="1"/>
        </p:nvSpPr>
        <p:spPr>
          <a:xfrm>
            <a:off x="4019048" y="2691249"/>
            <a:ext cx="7416209" cy="3273619"/>
          </a:xfrm>
          <a:prstGeom prst="rect">
            <a:avLst/>
          </a:prstGeom>
        </p:spPr>
        <p:txBody>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s-MX" sz="2400" dirty="0"/>
          </a:p>
        </p:txBody>
      </p:sp>
      <p:sp>
        <p:nvSpPr>
          <p:cNvPr id="13" name="CuadroTexto 12"/>
          <p:cNvSpPr txBox="1"/>
          <p:nvPr userDrawn="1"/>
        </p:nvSpPr>
        <p:spPr>
          <a:xfrm>
            <a:off x="482126" y="5995557"/>
            <a:ext cx="2645538" cy="307777"/>
          </a:xfrm>
          <a:prstGeom prst="rect">
            <a:avLst/>
          </a:prstGeom>
          <a:solidFill>
            <a:schemeClr val="accent1">
              <a:lumMod val="50000"/>
            </a:schemeClr>
          </a:solidFill>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s-MX" sz="1400" b="1" dirty="0">
                <a:solidFill>
                  <a:schemeClr val="bg1"/>
                </a:solidFill>
                <a:latin typeface="Arial" panose="020B0604020202020204" pitchFamily="34" charset="0"/>
                <a:cs typeface="Arial" panose="020B0604020202020204" pitchFamily="34" charset="0"/>
              </a:rPr>
              <a:t>Bases</a:t>
            </a:r>
            <a:r>
              <a:rPr lang="es-MX" sz="1400" b="1" baseline="0" dirty="0">
                <a:solidFill>
                  <a:schemeClr val="bg1"/>
                </a:solidFill>
                <a:latin typeface="Arial" panose="020B0604020202020204" pitchFamily="34" charset="0"/>
                <a:cs typeface="Arial" panose="020B0604020202020204" pitchFamily="34" charset="0"/>
              </a:rPr>
              <a:t> de Datos</a:t>
            </a:r>
            <a:endParaRPr lang="es-MX" sz="1400" b="1" dirty="0">
              <a:solidFill>
                <a:schemeClr val="bg1"/>
              </a:solidFill>
              <a:latin typeface="Arial" panose="020B0604020202020204" pitchFamily="34" charset="0"/>
              <a:cs typeface="Arial" panose="020B0604020202020204" pitchFamily="34" charset="0"/>
            </a:endParaRPr>
          </a:p>
        </p:txBody>
      </p:sp>
      <p:sp>
        <p:nvSpPr>
          <p:cNvPr id="17" name="Marcador de contenido 16"/>
          <p:cNvSpPr>
            <a:spLocks noGrp="1"/>
          </p:cNvSpPr>
          <p:nvPr>
            <p:ph sz="quarter" idx="13"/>
          </p:nvPr>
        </p:nvSpPr>
        <p:spPr>
          <a:xfrm>
            <a:off x="3771903" y="2690817"/>
            <a:ext cx="7662863" cy="3584575"/>
          </a:xfrm>
          <a:prstGeom prst="rect">
            <a:avLst/>
          </a:prstGeom>
        </p:spPr>
        <p:txBody>
          <a:bodyPr/>
          <a:lstStyle>
            <a:lvl1pPr marL="0" indent="0">
              <a:buNone/>
              <a:defRPr sz="2800">
                <a:latin typeface="Arial" panose="020B0604020202020204" pitchFamily="34" charset="0"/>
                <a:cs typeface="Arial" panose="020B0604020202020204" pitchFamily="34" charset="0"/>
              </a:defRPr>
            </a:lvl1pPr>
          </a:lstStyle>
          <a:p>
            <a:pPr lvl="0"/>
            <a:r>
              <a:rPr lang="es-ES"/>
              <a:t>Editar el estilo de texto del patrón</a:t>
            </a:r>
          </a:p>
        </p:txBody>
      </p:sp>
      <p:pic>
        <p:nvPicPr>
          <p:cNvPr id="2050" name="Picture 2" descr="Resultado de imagen para databases"/>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82125" y="4183243"/>
            <a:ext cx="2728666" cy="1534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98891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
        <p:nvSpPr>
          <p:cNvPr id="6" name="Marcador de número de diapositiva 5"/>
          <p:cNvSpPr>
            <a:spLocks noGrp="1"/>
          </p:cNvSpPr>
          <p:nvPr>
            <p:ph type="sldNum" sz="quarter" idx="12"/>
          </p:nvPr>
        </p:nvSpPr>
        <p:spPr>
          <a:xfrm>
            <a:off x="10355582" y="6356354"/>
            <a:ext cx="998220" cy="365125"/>
          </a:xfrm>
          <a:prstGeom prst="rect">
            <a:avLst/>
          </a:prstGeom>
        </p:spPr>
        <p:txBody>
          <a:bodyPr/>
          <a:lstStyle/>
          <a:p>
            <a:fld id="{535C381F-C058-4457-AC2A-473EAEE256FB}" type="slidenum">
              <a:rPr lang="es-MX" smtClean="0"/>
              <a:t>‹Nº›</a:t>
            </a:fld>
            <a:endParaRPr lang="es-MX"/>
          </a:p>
        </p:txBody>
      </p:sp>
      <p:sp>
        <p:nvSpPr>
          <p:cNvPr id="7" name="Título 6"/>
          <p:cNvSpPr>
            <a:spLocks noGrp="1"/>
          </p:cNvSpPr>
          <p:nvPr>
            <p:ph type="title"/>
          </p:nvPr>
        </p:nvSpPr>
        <p:spPr>
          <a:xfrm>
            <a:off x="1108709" y="654627"/>
            <a:ext cx="10245091" cy="846210"/>
          </a:xfrm>
          <a:prstGeom prst="rect">
            <a:avLst/>
          </a:prstGeom>
        </p:spPr>
        <p:txBody>
          <a:bodyPr/>
          <a:lstStyle>
            <a:lvl1pPr>
              <a:defRPr sz="3200">
                <a:latin typeface="Arial" panose="020B0604020202020204" pitchFamily="34" charset="0"/>
                <a:cs typeface="Arial" panose="020B0604020202020204" pitchFamily="34" charset="0"/>
              </a:defRPr>
            </a:lvl1pPr>
          </a:lstStyle>
          <a:p>
            <a:r>
              <a:rPr lang="es-ES" dirty="0"/>
              <a:t>Haga clic para modificar el estilo de título del patrón</a:t>
            </a:r>
            <a:endParaRPr lang="es-MX" dirty="0"/>
          </a:p>
        </p:txBody>
      </p:sp>
      <p:sp>
        <p:nvSpPr>
          <p:cNvPr id="8" name="Rectángulo 7"/>
          <p:cNvSpPr/>
          <p:nvPr userDrawn="1"/>
        </p:nvSpPr>
        <p:spPr>
          <a:xfrm>
            <a:off x="0" y="1516032"/>
            <a:ext cx="12192000" cy="17145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800"/>
          </a:p>
        </p:txBody>
      </p:sp>
      <p:sp>
        <p:nvSpPr>
          <p:cNvPr id="9" name="Rectángulo 8"/>
          <p:cNvSpPr/>
          <p:nvPr userDrawn="1"/>
        </p:nvSpPr>
        <p:spPr>
          <a:xfrm>
            <a:off x="3811" y="1702722"/>
            <a:ext cx="12192000" cy="111442"/>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800"/>
          </a:p>
        </p:txBody>
      </p:sp>
      <p:cxnSp>
        <p:nvCxnSpPr>
          <p:cNvPr id="15" name="Conector recto 14"/>
          <p:cNvCxnSpPr>
            <a:stCxn id="8" idx="1"/>
            <a:endCxn id="8" idx="3"/>
          </p:cNvCxnSpPr>
          <p:nvPr userDrawn="1"/>
        </p:nvCxnSpPr>
        <p:spPr>
          <a:xfrm>
            <a:off x="0" y="1601757"/>
            <a:ext cx="12192000" cy="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18" name="Conector recto 17"/>
          <p:cNvCxnSpPr/>
          <p:nvPr userDrawn="1"/>
        </p:nvCxnSpPr>
        <p:spPr>
          <a:xfrm>
            <a:off x="3811" y="1747013"/>
            <a:ext cx="12192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Marcador de contenido 21"/>
          <p:cNvSpPr>
            <a:spLocks noGrp="1"/>
          </p:cNvSpPr>
          <p:nvPr>
            <p:ph sz="quarter" idx="13"/>
          </p:nvPr>
        </p:nvSpPr>
        <p:spPr>
          <a:xfrm>
            <a:off x="1108709" y="1814164"/>
            <a:ext cx="10356851" cy="4432653"/>
          </a:xfrm>
          <a:prstGeom prst="rect">
            <a:avLst/>
          </a:prstGeom>
        </p:spPr>
        <p:txBody>
          <a:bodyPr/>
          <a:lstStyle>
            <a:lvl1pPr marL="0" indent="0">
              <a:buNone/>
              <a:defRPr sz="2400">
                <a:latin typeface="Arial" panose="020B0604020202020204" pitchFamily="34" charset="0"/>
                <a:cs typeface="Arial" panose="020B0604020202020204" pitchFamily="34" charset="0"/>
              </a:defRPr>
            </a:lvl1pPr>
          </a:lstStyle>
          <a:p>
            <a:pPr lvl="0"/>
            <a:r>
              <a:rPr lang="es-ES"/>
              <a:t>Editar el estilo de texto del patrón</a:t>
            </a:r>
          </a:p>
        </p:txBody>
      </p:sp>
      <p:pic>
        <p:nvPicPr>
          <p:cNvPr id="167938" name="Picture 2" descr="Resultado de imagen para databases"/>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30122" y="5894460"/>
            <a:ext cx="1189728" cy="4618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384070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4466410"/>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6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6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ángulo redondeado 15"/>
          <p:cNvSpPr/>
          <p:nvPr/>
        </p:nvSpPr>
        <p:spPr>
          <a:xfrm>
            <a:off x="3286124" y="2929867"/>
            <a:ext cx="8191501" cy="3356636"/>
          </a:xfrm>
          <a:prstGeom prst="roundRect">
            <a:avLst>
              <a:gd name="adj" fmla="val 436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3" name="Conector recto 2"/>
          <p:cNvCxnSpPr/>
          <p:nvPr/>
        </p:nvCxnSpPr>
        <p:spPr>
          <a:xfrm>
            <a:off x="2900859" y="515011"/>
            <a:ext cx="51895" cy="208214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Rectángulo 8"/>
          <p:cNvSpPr/>
          <p:nvPr/>
        </p:nvSpPr>
        <p:spPr>
          <a:xfrm>
            <a:off x="752476" y="2586967"/>
            <a:ext cx="10684349" cy="266700"/>
          </a:xfrm>
          <a:prstGeom prst="rect">
            <a:avLst/>
          </a:prstGeom>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11" name="Conector recto 10"/>
          <p:cNvCxnSpPr/>
          <p:nvPr/>
        </p:nvCxnSpPr>
        <p:spPr>
          <a:xfrm>
            <a:off x="752476" y="2767939"/>
            <a:ext cx="10684349"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Conector recto 12"/>
          <p:cNvCxnSpPr/>
          <p:nvPr/>
        </p:nvCxnSpPr>
        <p:spPr>
          <a:xfrm>
            <a:off x="742951" y="2691739"/>
            <a:ext cx="10684349"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CuadroTexto 13"/>
          <p:cNvSpPr txBox="1"/>
          <p:nvPr/>
        </p:nvSpPr>
        <p:spPr>
          <a:xfrm>
            <a:off x="3400429" y="2990853"/>
            <a:ext cx="8036399" cy="3016210"/>
          </a:xfrm>
          <a:prstGeom prst="rect">
            <a:avLst/>
          </a:prstGeom>
          <a:noFill/>
        </p:spPr>
        <p:txBody>
          <a:bodyPr wrap="square" rtlCol="0">
            <a:spAutoFit/>
          </a:bodyPr>
          <a:lstStyle/>
          <a:p>
            <a:pPr algn="ctr"/>
            <a:endParaRPr lang="es-MX" sz="1600" b="1" dirty="0">
              <a:solidFill>
                <a:schemeClr val="accent4">
                  <a:lumMod val="20000"/>
                  <a:lumOff val="80000"/>
                </a:schemeClr>
              </a:solidFill>
            </a:endParaRPr>
          </a:p>
          <a:p>
            <a:pPr algn="ctr"/>
            <a:r>
              <a:rPr lang="es-MX" sz="3600" b="1" dirty="0">
                <a:solidFill>
                  <a:srgbClr val="FFE7A3"/>
                </a:solidFill>
              </a:rPr>
              <a:t>Diseño de Bases de Datos</a:t>
            </a:r>
          </a:p>
          <a:p>
            <a:endParaRPr lang="es-MX" sz="2000" dirty="0"/>
          </a:p>
          <a:p>
            <a:pPr algn="ctr"/>
            <a:r>
              <a:rPr lang="es-MX" sz="2000" b="1" dirty="0">
                <a:solidFill>
                  <a:schemeClr val="accent4">
                    <a:lumMod val="20000"/>
                    <a:lumOff val="80000"/>
                  </a:schemeClr>
                </a:solidFill>
              </a:rPr>
              <a:t>Periodo:   enero-mayo 2026</a:t>
            </a:r>
          </a:p>
          <a:p>
            <a:pPr algn="ctr"/>
            <a:r>
              <a:rPr lang="es-MX" sz="2000" b="1" dirty="0">
                <a:solidFill>
                  <a:schemeClr val="accent4">
                    <a:lumMod val="20000"/>
                    <a:lumOff val="80000"/>
                  </a:schemeClr>
                </a:solidFill>
              </a:rPr>
              <a:t>Quinto Semestre</a:t>
            </a:r>
          </a:p>
          <a:p>
            <a:endParaRPr lang="es-MX" dirty="0">
              <a:solidFill>
                <a:schemeClr val="accent4">
                  <a:lumMod val="20000"/>
                  <a:lumOff val="80000"/>
                </a:schemeClr>
              </a:solidFill>
            </a:endParaRPr>
          </a:p>
          <a:p>
            <a:endParaRPr lang="es-MX" dirty="0"/>
          </a:p>
          <a:p>
            <a:pPr algn="ctr"/>
            <a:r>
              <a:rPr lang="es-MX" sz="2400" b="1" dirty="0">
                <a:solidFill>
                  <a:schemeClr val="bg1"/>
                </a:solidFill>
              </a:rPr>
              <a:t>Profesor:   MTI. Julio César Díaz Mendoza</a:t>
            </a:r>
          </a:p>
          <a:p>
            <a:endParaRPr lang="es-MX" dirty="0"/>
          </a:p>
        </p:txBody>
      </p:sp>
    </p:spTree>
    <p:extLst>
      <p:ext uri="{BB962C8B-B14F-4D97-AF65-F5344CB8AC3E}">
        <p14:creationId xmlns:p14="http://schemas.microsoft.com/office/powerpoint/2010/main" val="3249837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22C9D1-B87A-4A82-97E6-39459CDE7D98}"/>
              </a:ext>
            </a:extLst>
          </p:cNvPr>
          <p:cNvSpPr>
            <a:spLocks noGrp="1"/>
          </p:cNvSpPr>
          <p:nvPr>
            <p:ph type="title"/>
          </p:nvPr>
        </p:nvSpPr>
        <p:spPr>
          <a:xfrm>
            <a:off x="1108709" y="861391"/>
            <a:ext cx="10245091" cy="639446"/>
          </a:xfrm>
        </p:spPr>
        <p:txBody>
          <a:bodyPr/>
          <a:lstStyle/>
          <a:p>
            <a:r>
              <a:rPr lang="es-MX" b="1" dirty="0"/>
              <a:t>Diseño de Bases de Datos</a:t>
            </a:r>
          </a:p>
        </p:txBody>
      </p:sp>
      <p:sp>
        <p:nvSpPr>
          <p:cNvPr id="3" name="Marcador de contenido 2">
            <a:extLst>
              <a:ext uri="{FF2B5EF4-FFF2-40B4-BE49-F238E27FC236}">
                <a16:creationId xmlns:a16="http://schemas.microsoft.com/office/drawing/2014/main" id="{459FAE85-02EF-4B60-A220-18D915EB28C3}"/>
              </a:ext>
            </a:extLst>
          </p:cNvPr>
          <p:cNvSpPr>
            <a:spLocks noGrp="1"/>
          </p:cNvSpPr>
          <p:nvPr>
            <p:ph sz="quarter" idx="13"/>
          </p:nvPr>
        </p:nvSpPr>
        <p:spPr/>
        <p:txBody>
          <a:bodyPr/>
          <a:lstStyle/>
          <a:p>
            <a:r>
              <a:rPr lang="es-MX" sz="3200" b="1" dirty="0">
                <a:solidFill>
                  <a:schemeClr val="accent1">
                    <a:lumMod val="50000"/>
                  </a:schemeClr>
                </a:solidFill>
              </a:rPr>
              <a:t>Competencia</a:t>
            </a:r>
          </a:p>
          <a:p>
            <a:pPr algn="l"/>
            <a:endParaRPr lang="es-MX" sz="1800" b="0" i="0" u="none" strike="noStrike" baseline="0" dirty="0">
              <a:solidFill>
                <a:srgbClr val="000000"/>
              </a:solidFill>
              <a:latin typeface="Arial" panose="020B0604020202020204" pitchFamily="34" charset="0"/>
            </a:endParaRPr>
          </a:p>
          <a:p>
            <a:r>
              <a:rPr lang="es-MX" b="0" i="0" u="none" strike="noStrike" baseline="0" dirty="0">
                <a:solidFill>
                  <a:srgbClr val="000000"/>
                </a:solidFill>
                <a:latin typeface="Arial" panose="020B0604020202020204" pitchFamily="34" charset="0"/>
              </a:rPr>
              <a:t>Diseña la estructura lógica de una base de datos, para la solución de un problema del mundo real, utilizando los modelos y técnicas apropiadas </a:t>
            </a:r>
            <a:r>
              <a:rPr lang="es-MX" sz="1800" b="0" i="0" u="none" strike="noStrike" baseline="0" dirty="0">
                <a:solidFill>
                  <a:srgbClr val="000000"/>
                </a:solidFill>
                <a:latin typeface="Arial" panose="020B0604020202020204" pitchFamily="34" charset="0"/>
              </a:rPr>
              <a:t>	</a:t>
            </a:r>
          </a:p>
          <a:p>
            <a:r>
              <a:rPr lang="es-MX" b="1" dirty="0"/>
              <a:t>U1. Fundamentos de Bases de datos</a:t>
            </a:r>
          </a:p>
          <a:p>
            <a:r>
              <a:rPr lang="es-MX" b="1" dirty="0"/>
              <a:t>U2. El Modelo Relacional</a:t>
            </a:r>
          </a:p>
          <a:p>
            <a:r>
              <a:rPr lang="es-MX" b="1" dirty="0"/>
              <a:t>U3. El Modelo de Entidad-Relación</a:t>
            </a:r>
          </a:p>
          <a:p>
            <a:r>
              <a:rPr lang="es-MX" b="1" dirty="0"/>
              <a:t>U4. Normalización</a:t>
            </a:r>
          </a:p>
          <a:p>
            <a:r>
              <a:rPr lang="es-MX" b="1" dirty="0"/>
              <a:t>U5. SQL</a:t>
            </a:r>
          </a:p>
        </p:txBody>
      </p:sp>
    </p:spTree>
    <p:extLst>
      <p:ext uri="{BB962C8B-B14F-4D97-AF65-F5344CB8AC3E}">
        <p14:creationId xmlns:p14="http://schemas.microsoft.com/office/powerpoint/2010/main" val="1059517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47CC52-A65A-43EE-9119-AB2110E42DC5}"/>
              </a:ext>
            </a:extLst>
          </p:cNvPr>
          <p:cNvSpPr>
            <a:spLocks noGrp="1"/>
          </p:cNvSpPr>
          <p:nvPr>
            <p:ph type="title"/>
          </p:nvPr>
        </p:nvSpPr>
        <p:spPr>
          <a:xfrm>
            <a:off x="1108709" y="874643"/>
            <a:ext cx="10245091" cy="626194"/>
          </a:xfrm>
        </p:spPr>
        <p:txBody>
          <a:bodyPr/>
          <a:lstStyle/>
          <a:p>
            <a:r>
              <a:rPr lang="es-MX" b="1" dirty="0"/>
              <a:t>Diseño de Bases de Datos</a:t>
            </a:r>
          </a:p>
        </p:txBody>
      </p:sp>
      <p:sp>
        <p:nvSpPr>
          <p:cNvPr id="3" name="Marcador de contenido 2">
            <a:extLst>
              <a:ext uri="{FF2B5EF4-FFF2-40B4-BE49-F238E27FC236}">
                <a16:creationId xmlns:a16="http://schemas.microsoft.com/office/drawing/2014/main" id="{495D6848-18B9-4BC9-9EA3-29FBA5D05F5E}"/>
              </a:ext>
            </a:extLst>
          </p:cNvPr>
          <p:cNvSpPr>
            <a:spLocks noGrp="1"/>
          </p:cNvSpPr>
          <p:nvPr>
            <p:ph sz="quarter" idx="13"/>
          </p:nvPr>
        </p:nvSpPr>
        <p:spPr>
          <a:xfrm>
            <a:off x="513273" y="1846059"/>
            <a:ext cx="10831654" cy="4639801"/>
          </a:xfrm>
        </p:spPr>
        <p:txBody>
          <a:bodyPr/>
          <a:lstStyle/>
          <a:p>
            <a:r>
              <a:rPr lang="es-MX" sz="2800" b="1" dirty="0"/>
              <a:t>Conceptos básicos</a:t>
            </a:r>
          </a:p>
          <a:p>
            <a:r>
              <a:rPr lang="es-MX" sz="2000" b="1" dirty="0">
                <a:solidFill>
                  <a:schemeClr val="accent1">
                    <a:lumMod val="50000"/>
                  </a:schemeClr>
                </a:solidFill>
              </a:rPr>
              <a:t>Base de datos</a:t>
            </a:r>
          </a:p>
          <a:p>
            <a:r>
              <a:rPr lang="es-MX" sz="1800" dirty="0"/>
              <a:t>Un conjunto de datos interrelacionados entre sí, almacenados en conjunto que sirven a una o más aplicaciones, sin redundancias innecesarias, y que utilizan métodos definidos para su registro y recuperación.</a:t>
            </a:r>
          </a:p>
          <a:p>
            <a:r>
              <a:rPr lang="es-MX" sz="2000" b="1" dirty="0">
                <a:solidFill>
                  <a:schemeClr val="accent1">
                    <a:lumMod val="50000"/>
                  </a:schemeClr>
                </a:solidFill>
              </a:rPr>
              <a:t>Sistema de Base de Datos</a:t>
            </a:r>
          </a:p>
          <a:p>
            <a:r>
              <a:rPr lang="es-MX" sz="1800" dirty="0"/>
              <a:t>Sistema de software que utiliza una base de datos.</a:t>
            </a:r>
          </a:p>
          <a:p>
            <a:r>
              <a:rPr lang="es-MX" sz="2000" b="1" dirty="0">
                <a:solidFill>
                  <a:schemeClr val="accent1">
                    <a:lumMod val="50000"/>
                  </a:schemeClr>
                </a:solidFill>
              </a:rPr>
              <a:t>Sistema Manejador de Bases de datos</a:t>
            </a:r>
          </a:p>
          <a:p>
            <a:r>
              <a:rPr lang="es-MX" sz="1800" dirty="0"/>
              <a:t>Software de administración y manipulación de los datos. </a:t>
            </a:r>
          </a:p>
          <a:p>
            <a:r>
              <a:rPr lang="es-MX" sz="1800" dirty="0"/>
              <a:t>Tiene dos componentes: DDL y DML</a:t>
            </a:r>
          </a:p>
          <a:p>
            <a:endParaRPr lang="es-MX" dirty="0"/>
          </a:p>
        </p:txBody>
      </p:sp>
    </p:spTree>
    <p:extLst>
      <p:ext uri="{BB962C8B-B14F-4D97-AF65-F5344CB8AC3E}">
        <p14:creationId xmlns:p14="http://schemas.microsoft.com/office/powerpoint/2010/main" val="32936991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93095" y="735724"/>
            <a:ext cx="10245091" cy="681030"/>
          </a:xfrm>
        </p:spPr>
        <p:txBody>
          <a:bodyPr/>
          <a:lstStyle/>
          <a:p>
            <a:r>
              <a:rPr lang="en-US" b="1" dirty="0" err="1">
                <a:solidFill>
                  <a:schemeClr val="accent1">
                    <a:lumMod val="50000"/>
                  </a:schemeClr>
                </a:solidFill>
                <a:latin typeface="Arial" charset="0"/>
              </a:rPr>
              <a:t>Ejemplo</a:t>
            </a:r>
            <a:r>
              <a:rPr lang="en-US" b="1" dirty="0">
                <a:solidFill>
                  <a:schemeClr val="accent1">
                    <a:lumMod val="50000"/>
                  </a:schemeClr>
                </a:solidFill>
                <a:latin typeface="Arial" charset="0"/>
              </a:rPr>
              <a:t> BD Escolar</a:t>
            </a:r>
            <a:endParaRPr lang="es-MX" b="1" dirty="0">
              <a:solidFill>
                <a:schemeClr val="accent1">
                  <a:lumMod val="50000"/>
                </a:schemeClr>
              </a:solidFill>
              <a:latin typeface="Arial" charset="0"/>
            </a:endParaRPr>
          </a:p>
        </p:txBody>
      </p:sp>
      <p:sp>
        <p:nvSpPr>
          <p:cNvPr id="3" name="Marcador de contenido 2"/>
          <p:cNvSpPr>
            <a:spLocks noGrp="1"/>
          </p:cNvSpPr>
          <p:nvPr>
            <p:ph sz="quarter" idx="13"/>
          </p:nvPr>
        </p:nvSpPr>
        <p:spPr/>
        <p:txBody>
          <a:bodyPr/>
          <a:lstStyle/>
          <a:p>
            <a:pPr>
              <a:spcBef>
                <a:spcPct val="0"/>
              </a:spcBef>
            </a:pPr>
            <a:r>
              <a:rPr lang="es-MX" altLang="es-MX" b="1" dirty="0">
                <a:solidFill>
                  <a:schemeClr val="accent1">
                    <a:lumMod val="50000"/>
                  </a:schemeClr>
                </a:solidFill>
              </a:rPr>
              <a:t>Requisitos</a:t>
            </a:r>
          </a:p>
          <a:p>
            <a:pPr>
              <a:spcBef>
                <a:spcPct val="0"/>
              </a:spcBef>
            </a:pPr>
            <a:r>
              <a:rPr lang="es-MX" altLang="es-MX" dirty="0"/>
              <a:t>La USE (Universidad del </a:t>
            </a:r>
            <a:r>
              <a:rPr lang="es-MX" altLang="es-MX" dirty="0" err="1"/>
              <a:t>SudEste</a:t>
            </a:r>
            <a:r>
              <a:rPr lang="es-MX" altLang="es-MX" dirty="0"/>
              <a:t>) requiere conocer el avance académico de sus alumnos de las 6 carreras que imparte en el nivel superior, así como la carga académica de sus profesores. Los alumnos se registran en los grupos (profesor-asignatura) que se ofrecen en cada período. Los alumnos pueden inscribirse en, al menos, una asignatura, y a un máximo de 42 créditos, en los cursos ordinarios. Para los exámenes extraordinarios, tienen un máximo de tres oportunidades para aprobar. Pueden ofrecerse varios grupos de la misma asignatura. Las asignaturas son únicas en cada carrera y se imparten de una a seis sesiones a la semana. Un alumno sólo puede estar inscrito a una carrera a la vez.</a:t>
            </a:r>
          </a:p>
          <a:p>
            <a:pPr>
              <a:spcBef>
                <a:spcPct val="0"/>
              </a:spcBef>
            </a:pPr>
            <a:r>
              <a:rPr lang="es-MX" altLang="es-MX" dirty="0"/>
              <a:t>Los datos requeridos para cada entidad son: </a:t>
            </a:r>
          </a:p>
          <a:p>
            <a:endParaRPr lang="es-MX" dirty="0"/>
          </a:p>
        </p:txBody>
      </p:sp>
    </p:spTree>
    <p:extLst>
      <p:ext uri="{BB962C8B-B14F-4D97-AF65-F5344CB8AC3E}">
        <p14:creationId xmlns:p14="http://schemas.microsoft.com/office/powerpoint/2010/main" val="26219238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93095" y="735724"/>
            <a:ext cx="10245091" cy="681030"/>
          </a:xfrm>
        </p:spPr>
        <p:txBody>
          <a:bodyPr/>
          <a:lstStyle/>
          <a:p>
            <a:r>
              <a:rPr lang="en-US" b="1" dirty="0" err="1">
                <a:solidFill>
                  <a:schemeClr val="accent1">
                    <a:lumMod val="50000"/>
                  </a:schemeClr>
                </a:solidFill>
                <a:latin typeface="Arial" charset="0"/>
              </a:rPr>
              <a:t>Ejemplo</a:t>
            </a:r>
            <a:r>
              <a:rPr lang="en-US" b="1" dirty="0">
                <a:solidFill>
                  <a:schemeClr val="accent1">
                    <a:lumMod val="50000"/>
                  </a:schemeClr>
                </a:solidFill>
                <a:latin typeface="Arial" charset="0"/>
              </a:rPr>
              <a:t> BD Escolar</a:t>
            </a:r>
            <a:endParaRPr lang="es-MX" b="1" dirty="0">
              <a:solidFill>
                <a:schemeClr val="accent1">
                  <a:lumMod val="50000"/>
                </a:schemeClr>
              </a:solidFill>
              <a:latin typeface="Arial" charset="0"/>
            </a:endParaRPr>
          </a:p>
        </p:txBody>
      </p:sp>
      <p:sp>
        <p:nvSpPr>
          <p:cNvPr id="3" name="Marcador de contenido 2"/>
          <p:cNvSpPr>
            <a:spLocks noGrp="1"/>
          </p:cNvSpPr>
          <p:nvPr>
            <p:ph sz="quarter" idx="13"/>
          </p:nvPr>
        </p:nvSpPr>
        <p:spPr/>
        <p:txBody>
          <a:bodyPr/>
          <a:lstStyle/>
          <a:p>
            <a:pPr>
              <a:spcBef>
                <a:spcPct val="0"/>
              </a:spcBef>
            </a:pPr>
            <a:r>
              <a:rPr lang="es-MX" altLang="es-MX" b="1" dirty="0">
                <a:solidFill>
                  <a:schemeClr val="accent1">
                    <a:lumMod val="50000"/>
                  </a:schemeClr>
                </a:solidFill>
              </a:rPr>
              <a:t>Entidades</a:t>
            </a:r>
          </a:p>
          <a:p>
            <a:pPr>
              <a:spcBef>
                <a:spcPct val="0"/>
              </a:spcBef>
            </a:pPr>
            <a:r>
              <a:rPr lang="es-MX" altLang="es-MX" dirty="0"/>
              <a:t>Alumnos (</a:t>
            </a:r>
            <a:r>
              <a:rPr lang="es-MX" altLang="es-MX" b="1" dirty="0"/>
              <a:t>Matricula</a:t>
            </a:r>
            <a:r>
              <a:rPr lang="es-MX" altLang="es-MX" dirty="0"/>
              <a:t>, Nombre, Dirección, Teléfono)</a:t>
            </a:r>
          </a:p>
          <a:p>
            <a:pPr>
              <a:spcBef>
                <a:spcPct val="0"/>
              </a:spcBef>
            </a:pPr>
            <a:r>
              <a:rPr lang="es-MX" altLang="es-MX" dirty="0"/>
              <a:t>Carreras (</a:t>
            </a:r>
            <a:r>
              <a:rPr lang="es-MX" altLang="es-MX" b="1" dirty="0" err="1"/>
              <a:t>CCar</a:t>
            </a:r>
            <a:r>
              <a:rPr lang="es-MX" altLang="es-MX" dirty="0"/>
              <a:t>, </a:t>
            </a:r>
            <a:r>
              <a:rPr lang="es-MX" altLang="es-MX" dirty="0" err="1"/>
              <a:t>NomCarrera</a:t>
            </a:r>
            <a:r>
              <a:rPr lang="es-MX" altLang="es-MX" dirty="0"/>
              <a:t>, </a:t>
            </a:r>
            <a:r>
              <a:rPr lang="es-MX" altLang="es-MX" dirty="0" err="1"/>
              <a:t>TCreditos</a:t>
            </a:r>
            <a:r>
              <a:rPr lang="es-MX" altLang="es-MX" dirty="0"/>
              <a:t>)</a:t>
            </a:r>
          </a:p>
          <a:p>
            <a:pPr>
              <a:spcBef>
                <a:spcPct val="0"/>
              </a:spcBef>
            </a:pPr>
            <a:r>
              <a:rPr lang="es-MX" altLang="es-MX" dirty="0"/>
              <a:t>Materias (</a:t>
            </a:r>
            <a:r>
              <a:rPr lang="es-MX" altLang="es-MX" b="1" dirty="0" err="1"/>
              <a:t>CMat</a:t>
            </a:r>
            <a:r>
              <a:rPr lang="es-MX" altLang="es-MX" dirty="0"/>
              <a:t>, </a:t>
            </a:r>
            <a:r>
              <a:rPr lang="es-MX" altLang="es-MX" dirty="0" err="1"/>
              <a:t>NomMat</a:t>
            </a:r>
            <a:r>
              <a:rPr lang="es-MX" altLang="es-MX" dirty="0"/>
              <a:t>, </a:t>
            </a:r>
            <a:r>
              <a:rPr lang="es-MX" altLang="es-MX" dirty="0" err="1"/>
              <a:t>NCreditos</a:t>
            </a:r>
            <a:r>
              <a:rPr lang="es-MX" altLang="es-MX" dirty="0"/>
              <a:t>)</a:t>
            </a:r>
          </a:p>
          <a:p>
            <a:pPr>
              <a:spcBef>
                <a:spcPct val="0"/>
              </a:spcBef>
            </a:pPr>
            <a:r>
              <a:rPr lang="es-MX" altLang="es-MX" dirty="0"/>
              <a:t>Profesores (</a:t>
            </a:r>
            <a:r>
              <a:rPr lang="es-MX" altLang="es-MX" b="1" dirty="0" err="1"/>
              <a:t>CProf</a:t>
            </a:r>
            <a:r>
              <a:rPr lang="es-MX" altLang="es-MX" dirty="0"/>
              <a:t>, </a:t>
            </a:r>
            <a:r>
              <a:rPr lang="es-MX" altLang="es-MX" dirty="0" err="1"/>
              <a:t>NomProf</a:t>
            </a:r>
            <a:r>
              <a:rPr lang="es-MX" altLang="es-MX" dirty="0"/>
              <a:t>, </a:t>
            </a:r>
            <a:r>
              <a:rPr lang="es-MX" altLang="es-MX" dirty="0" err="1"/>
              <a:t>GradoAcad</a:t>
            </a:r>
            <a:r>
              <a:rPr lang="es-MX" altLang="es-MX" dirty="0"/>
              <a:t>,  </a:t>
            </a:r>
            <a:r>
              <a:rPr lang="es-MX" altLang="es-MX" dirty="0" err="1"/>
              <a:t>FechaIng</a:t>
            </a:r>
            <a:r>
              <a:rPr lang="es-MX" altLang="es-MX" dirty="0"/>
              <a:t>, </a:t>
            </a:r>
            <a:r>
              <a:rPr lang="es-MX" altLang="es-MX" dirty="0" err="1"/>
              <a:t>NCubiculo</a:t>
            </a:r>
            <a:r>
              <a:rPr lang="es-MX" altLang="es-MX" dirty="0"/>
              <a:t>)</a:t>
            </a:r>
          </a:p>
          <a:p>
            <a:pPr>
              <a:spcBef>
                <a:spcPct val="0"/>
              </a:spcBef>
            </a:pPr>
            <a:endParaRPr lang="es-MX" altLang="es-MX" sz="1800" dirty="0"/>
          </a:p>
          <a:p>
            <a:pPr>
              <a:spcBef>
                <a:spcPct val="0"/>
              </a:spcBef>
            </a:pPr>
            <a:r>
              <a:rPr lang="es-MX" altLang="es-MX" b="1" dirty="0">
                <a:solidFill>
                  <a:schemeClr val="accent1">
                    <a:lumMod val="50000"/>
                  </a:schemeClr>
                </a:solidFill>
              </a:rPr>
              <a:t>Interrelaciones </a:t>
            </a:r>
          </a:p>
          <a:p>
            <a:pPr>
              <a:spcBef>
                <a:spcPct val="0"/>
              </a:spcBef>
            </a:pPr>
            <a:r>
              <a:rPr lang="es-MX" altLang="es-MX" dirty="0"/>
              <a:t>Grupos :   Profesores – Materias (</a:t>
            </a:r>
            <a:r>
              <a:rPr lang="es-MX" altLang="es-MX" b="1" dirty="0" err="1"/>
              <a:t>CProf</a:t>
            </a:r>
            <a:r>
              <a:rPr lang="es-MX" altLang="es-MX" b="1" dirty="0"/>
              <a:t>, </a:t>
            </a:r>
            <a:r>
              <a:rPr lang="es-MX" altLang="es-MX" b="1" dirty="0" err="1"/>
              <a:t>CMat</a:t>
            </a:r>
            <a:r>
              <a:rPr lang="es-MX" altLang="es-MX" dirty="0"/>
              <a:t>, </a:t>
            </a:r>
            <a:r>
              <a:rPr lang="es-MX" altLang="es-MX" b="1" dirty="0"/>
              <a:t>Periodo</a:t>
            </a:r>
            <a:r>
              <a:rPr lang="es-MX" altLang="es-MX" dirty="0"/>
              <a:t>, {Horario, Aula}, </a:t>
            </a:r>
            <a:r>
              <a:rPr lang="es-MX" altLang="es-MX" b="1" dirty="0" err="1"/>
              <a:t>TipoExa</a:t>
            </a:r>
            <a:r>
              <a:rPr lang="es-MX" altLang="es-MX" dirty="0"/>
              <a:t>)</a:t>
            </a:r>
          </a:p>
          <a:p>
            <a:pPr>
              <a:spcBef>
                <a:spcPct val="0"/>
              </a:spcBef>
            </a:pPr>
            <a:r>
              <a:rPr lang="es-MX" altLang="es-MX" dirty="0"/>
              <a:t>                  Alumno – Carrera (</a:t>
            </a:r>
            <a:r>
              <a:rPr lang="es-MX" altLang="es-MX" b="1" dirty="0"/>
              <a:t>Matricula, </a:t>
            </a:r>
            <a:r>
              <a:rPr lang="es-MX" altLang="es-MX" b="1" dirty="0" err="1"/>
              <a:t>CCar</a:t>
            </a:r>
            <a:r>
              <a:rPr lang="es-MX" altLang="es-MX" dirty="0"/>
              <a:t>)</a:t>
            </a:r>
          </a:p>
          <a:p>
            <a:pPr>
              <a:spcBef>
                <a:spcPct val="0"/>
              </a:spcBef>
            </a:pPr>
            <a:r>
              <a:rPr lang="es-MX" altLang="es-MX" dirty="0" err="1"/>
              <a:t>Inscripcion</a:t>
            </a:r>
            <a:r>
              <a:rPr lang="es-MX" altLang="es-MX" dirty="0"/>
              <a:t> :  Alumno – Grupos </a:t>
            </a:r>
          </a:p>
          <a:p>
            <a:pPr>
              <a:spcBef>
                <a:spcPct val="0"/>
              </a:spcBef>
            </a:pPr>
            <a:r>
              <a:rPr lang="es-MX" altLang="es-MX" dirty="0"/>
              <a:t>	       (</a:t>
            </a:r>
            <a:r>
              <a:rPr lang="es-MX" altLang="es-MX" b="1" dirty="0"/>
              <a:t>Matricula, </a:t>
            </a:r>
            <a:r>
              <a:rPr lang="es-MX" altLang="es-MX" b="1" dirty="0" err="1"/>
              <a:t>CProf</a:t>
            </a:r>
            <a:r>
              <a:rPr lang="es-MX" altLang="es-MX" b="1" dirty="0"/>
              <a:t>, </a:t>
            </a:r>
            <a:r>
              <a:rPr lang="es-MX" altLang="es-MX" b="1" dirty="0" err="1"/>
              <a:t>CMat</a:t>
            </a:r>
            <a:r>
              <a:rPr lang="es-MX" altLang="es-MX" dirty="0"/>
              <a:t>, </a:t>
            </a:r>
            <a:r>
              <a:rPr lang="es-MX" altLang="es-MX" dirty="0" err="1"/>
              <a:t>Calificacion</a:t>
            </a:r>
            <a:r>
              <a:rPr lang="es-MX" altLang="es-MX" dirty="0"/>
              <a:t>, </a:t>
            </a:r>
            <a:r>
              <a:rPr lang="es-MX" altLang="es-MX" b="1" dirty="0"/>
              <a:t>Periodo</a:t>
            </a:r>
            <a:r>
              <a:rPr lang="es-MX" altLang="es-MX" dirty="0"/>
              <a:t>, </a:t>
            </a:r>
            <a:r>
              <a:rPr lang="es-MX" altLang="es-MX" b="1" dirty="0" err="1"/>
              <a:t>TipoExa</a:t>
            </a:r>
            <a:r>
              <a:rPr lang="es-MX" altLang="es-MX" dirty="0"/>
              <a:t>)</a:t>
            </a:r>
          </a:p>
          <a:p>
            <a:endParaRPr lang="es-MX" dirty="0"/>
          </a:p>
        </p:txBody>
      </p:sp>
    </p:spTree>
    <p:extLst>
      <p:ext uri="{BB962C8B-B14F-4D97-AF65-F5344CB8AC3E}">
        <p14:creationId xmlns:p14="http://schemas.microsoft.com/office/powerpoint/2010/main" val="1891566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56AF4D-8880-42CC-A32B-4BBBD0B42F94}"/>
              </a:ext>
            </a:extLst>
          </p:cNvPr>
          <p:cNvSpPr>
            <a:spLocks noGrp="1"/>
          </p:cNvSpPr>
          <p:nvPr>
            <p:ph type="title"/>
          </p:nvPr>
        </p:nvSpPr>
        <p:spPr>
          <a:xfrm>
            <a:off x="973454" y="808478"/>
            <a:ext cx="10245091" cy="732211"/>
          </a:xfrm>
        </p:spPr>
        <p:txBody>
          <a:bodyPr/>
          <a:lstStyle/>
          <a:p>
            <a:r>
              <a:rPr lang="es-MX" b="1" dirty="0" err="1"/>
              <a:t>SiCSE</a:t>
            </a:r>
            <a:r>
              <a:rPr lang="es-MX" b="1" dirty="0"/>
              <a:t> (Sistema de Control y Seguimiento Escolar)</a:t>
            </a:r>
          </a:p>
        </p:txBody>
      </p:sp>
      <p:sp>
        <p:nvSpPr>
          <p:cNvPr id="4" name="1 Rectángulo">
            <a:extLst>
              <a:ext uri="{FF2B5EF4-FFF2-40B4-BE49-F238E27FC236}">
                <a16:creationId xmlns:a16="http://schemas.microsoft.com/office/drawing/2014/main" id="{358F1610-BD21-4151-8EAC-F0D8F937E6DA}"/>
              </a:ext>
            </a:extLst>
          </p:cNvPr>
          <p:cNvSpPr/>
          <p:nvPr/>
        </p:nvSpPr>
        <p:spPr>
          <a:xfrm>
            <a:off x="2298983" y="4932283"/>
            <a:ext cx="1944687"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b="1" dirty="0">
                <a:solidFill>
                  <a:srgbClr val="FFFF00"/>
                </a:solidFill>
                <a:latin typeface="Arial" pitchFamily="34" charset="0"/>
                <a:cs typeface="Arial" pitchFamily="34" charset="0"/>
              </a:rPr>
              <a:t>Alumno</a:t>
            </a:r>
          </a:p>
        </p:txBody>
      </p:sp>
      <p:sp>
        <p:nvSpPr>
          <p:cNvPr id="5" name="3 Rectángulo">
            <a:extLst>
              <a:ext uri="{FF2B5EF4-FFF2-40B4-BE49-F238E27FC236}">
                <a16:creationId xmlns:a16="http://schemas.microsoft.com/office/drawing/2014/main" id="{A491B238-5006-482B-AD6C-E6F098C12A72}"/>
              </a:ext>
            </a:extLst>
          </p:cNvPr>
          <p:cNvSpPr/>
          <p:nvPr/>
        </p:nvSpPr>
        <p:spPr>
          <a:xfrm>
            <a:off x="7340883" y="4932283"/>
            <a:ext cx="19431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b="1" dirty="0">
                <a:solidFill>
                  <a:srgbClr val="FFFF00"/>
                </a:solidFill>
                <a:latin typeface="Arial" pitchFamily="34" charset="0"/>
                <a:cs typeface="Arial" pitchFamily="34" charset="0"/>
              </a:rPr>
              <a:t>Carrera</a:t>
            </a:r>
          </a:p>
        </p:txBody>
      </p:sp>
      <p:sp>
        <p:nvSpPr>
          <p:cNvPr id="6" name="20 Rombo">
            <a:extLst>
              <a:ext uri="{FF2B5EF4-FFF2-40B4-BE49-F238E27FC236}">
                <a16:creationId xmlns:a16="http://schemas.microsoft.com/office/drawing/2014/main" id="{E3534BC6-01E2-493C-BAD2-CAA8A7646D79}"/>
              </a:ext>
            </a:extLst>
          </p:cNvPr>
          <p:cNvSpPr/>
          <p:nvPr/>
        </p:nvSpPr>
        <p:spPr>
          <a:xfrm>
            <a:off x="5280308" y="4530646"/>
            <a:ext cx="1176337" cy="1258887"/>
          </a:xfrm>
          <a:prstGeom prst="diamond">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200" b="1" dirty="0">
                <a:solidFill>
                  <a:schemeClr val="bg2"/>
                </a:solidFill>
                <a:latin typeface="Arial" pitchFamily="34" charset="0"/>
                <a:cs typeface="Arial" pitchFamily="34" charset="0"/>
              </a:rPr>
              <a:t>Tiene</a:t>
            </a:r>
          </a:p>
        </p:txBody>
      </p:sp>
      <p:cxnSp>
        <p:nvCxnSpPr>
          <p:cNvPr id="7" name="25 Conector recto">
            <a:extLst>
              <a:ext uri="{FF2B5EF4-FFF2-40B4-BE49-F238E27FC236}">
                <a16:creationId xmlns:a16="http://schemas.microsoft.com/office/drawing/2014/main" id="{FED517D8-DF93-4DAF-9B09-801578108CCD}"/>
              </a:ext>
            </a:extLst>
          </p:cNvPr>
          <p:cNvCxnSpPr>
            <a:stCxn id="4" idx="3"/>
            <a:endCxn id="6" idx="1"/>
          </p:cNvCxnSpPr>
          <p:nvPr/>
        </p:nvCxnSpPr>
        <p:spPr>
          <a:xfrm>
            <a:off x="4243670" y="5160883"/>
            <a:ext cx="103663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28 Conector recto">
            <a:extLst>
              <a:ext uri="{FF2B5EF4-FFF2-40B4-BE49-F238E27FC236}">
                <a16:creationId xmlns:a16="http://schemas.microsoft.com/office/drawing/2014/main" id="{C283F80F-9B57-4A1B-B0C2-E4745F0A997C}"/>
              </a:ext>
            </a:extLst>
          </p:cNvPr>
          <p:cNvCxnSpPr>
            <a:cxnSpLocks/>
            <a:stCxn id="6" idx="3"/>
            <a:endCxn id="5" idx="1"/>
          </p:cNvCxnSpPr>
          <p:nvPr/>
        </p:nvCxnSpPr>
        <p:spPr>
          <a:xfrm>
            <a:off x="6456645" y="5160883"/>
            <a:ext cx="884238"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106 Elipse">
            <a:extLst>
              <a:ext uri="{FF2B5EF4-FFF2-40B4-BE49-F238E27FC236}">
                <a16:creationId xmlns:a16="http://schemas.microsoft.com/office/drawing/2014/main" id="{E81172B5-1E45-4EA4-8109-885808ED1332}"/>
              </a:ext>
            </a:extLst>
          </p:cNvPr>
          <p:cNvSpPr/>
          <p:nvPr/>
        </p:nvSpPr>
        <p:spPr>
          <a:xfrm>
            <a:off x="6404258" y="3995658"/>
            <a:ext cx="1260475" cy="503238"/>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400" b="1" u="sng" dirty="0" err="1">
                <a:solidFill>
                  <a:schemeClr val="bg1"/>
                </a:solidFill>
                <a:latin typeface="Arial" pitchFamily="34" charset="0"/>
                <a:cs typeface="Arial" pitchFamily="34" charset="0"/>
              </a:rPr>
              <a:t>ClvCar</a:t>
            </a:r>
            <a:endParaRPr lang="es-MX" sz="1400" b="1" u="sng" dirty="0">
              <a:solidFill>
                <a:schemeClr val="bg1"/>
              </a:solidFill>
              <a:latin typeface="Arial" pitchFamily="34" charset="0"/>
              <a:cs typeface="Arial" pitchFamily="34" charset="0"/>
            </a:endParaRPr>
          </a:p>
        </p:txBody>
      </p:sp>
      <p:sp>
        <p:nvSpPr>
          <p:cNvPr id="10" name="112 Elipse">
            <a:extLst>
              <a:ext uri="{FF2B5EF4-FFF2-40B4-BE49-F238E27FC236}">
                <a16:creationId xmlns:a16="http://schemas.microsoft.com/office/drawing/2014/main" id="{AC20795F-AEDA-4E2B-9110-7053241C37AC}"/>
              </a:ext>
            </a:extLst>
          </p:cNvPr>
          <p:cNvSpPr/>
          <p:nvPr/>
        </p:nvSpPr>
        <p:spPr>
          <a:xfrm>
            <a:off x="7636158" y="3757533"/>
            <a:ext cx="1262062" cy="504825"/>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400" b="1" dirty="0" err="1">
                <a:solidFill>
                  <a:schemeClr val="bg2"/>
                </a:solidFill>
                <a:latin typeface="Arial" pitchFamily="34" charset="0"/>
                <a:cs typeface="Arial" pitchFamily="34" charset="0"/>
              </a:rPr>
              <a:t>NomCar</a:t>
            </a:r>
            <a:endParaRPr lang="es-MX" sz="1400" b="1" dirty="0">
              <a:solidFill>
                <a:schemeClr val="bg2"/>
              </a:solidFill>
              <a:latin typeface="Arial" pitchFamily="34" charset="0"/>
              <a:cs typeface="Arial" pitchFamily="34" charset="0"/>
            </a:endParaRPr>
          </a:p>
        </p:txBody>
      </p:sp>
      <p:sp>
        <p:nvSpPr>
          <p:cNvPr id="11" name="113 Elipse">
            <a:extLst>
              <a:ext uri="{FF2B5EF4-FFF2-40B4-BE49-F238E27FC236}">
                <a16:creationId xmlns:a16="http://schemas.microsoft.com/office/drawing/2014/main" id="{C3E4D0C4-7B0D-4945-AAE6-748ED62C445B}"/>
              </a:ext>
            </a:extLst>
          </p:cNvPr>
          <p:cNvSpPr/>
          <p:nvPr/>
        </p:nvSpPr>
        <p:spPr>
          <a:xfrm>
            <a:off x="8780745" y="4067096"/>
            <a:ext cx="1260475" cy="504825"/>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100" b="1" dirty="0" err="1">
                <a:solidFill>
                  <a:schemeClr val="bg2"/>
                </a:solidFill>
                <a:latin typeface="Arial" pitchFamily="34" charset="0"/>
                <a:cs typeface="Arial" pitchFamily="34" charset="0"/>
              </a:rPr>
              <a:t>TCreditos</a:t>
            </a:r>
            <a:endParaRPr lang="es-MX" sz="1100" b="1" dirty="0">
              <a:solidFill>
                <a:schemeClr val="bg2"/>
              </a:solidFill>
              <a:latin typeface="Arial" pitchFamily="34" charset="0"/>
              <a:cs typeface="Arial" pitchFamily="34" charset="0"/>
            </a:endParaRPr>
          </a:p>
        </p:txBody>
      </p:sp>
      <p:cxnSp>
        <p:nvCxnSpPr>
          <p:cNvPr id="12" name="114 Conector recto">
            <a:extLst>
              <a:ext uri="{FF2B5EF4-FFF2-40B4-BE49-F238E27FC236}">
                <a16:creationId xmlns:a16="http://schemas.microsoft.com/office/drawing/2014/main" id="{9A4C89FD-25D2-4463-B77D-032A4F58148C}"/>
              </a:ext>
            </a:extLst>
          </p:cNvPr>
          <p:cNvCxnSpPr>
            <a:stCxn id="9" idx="4"/>
          </p:cNvCxnSpPr>
          <p:nvPr/>
        </p:nvCxnSpPr>
        <p:spPr>
          <a:xfrm>
            <a:off x="7034495" y="4498896"/>
            <a:ext cx="947738" cy="43338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117 Conector recto">
            <a:extLst>
              <a:ext uri="{FF2B5EF4-FFF2-40B4-BE49-F238E27FC236}">
                <a16:creationId xmlns:a16="http://schemas.microsoft.com/office/drawing/2014/main" id="{890E7820-5FEB-42C4-90A6-726EF0B5DDEB}"/>
              </a:ext>
            </a:extLst>
          </p:cNvPr>
          <p:cNvCxnSpPr>
            <a:cxnSpLocks/>
            <a:stCxn id="10" idx="4"/>
            <a:endCxn id="5" idx="0"/>
          </p:cNvCxnSpPr>
          <p:nvPr/>
        </p:nvCxnSpPr>
        <p:spPr>
          <a:xfrm>
            <a:off x="8266395" y="4262358"/>
            <a:ext cx="46038" cy="6699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119 Conector recto">
            <a:extLst>
              <a:ext uri="{FF2B5EF4-FFF2-40B4-BE49-F238E27FC236}">
                <a16:creationId xmlns:a16="http://schemas.microsoft.com/office/drawing/2014/main" id="{06E95D84-D67F-4EC1-9F7E-41E063A7E8F4}"/>
              </a:ext>
            </a:extLst>
          </p:cNvPr>
          <p:cNvCxnSpPr>
            <a:stCxn id="11" idx="4"/>
          </p:cNvCxnSpPr>
          <p:nvPr/>
        </p:nvCxnSpPr>
        <p:spPr>
          <a:xfrm flipH="1">
            <a:off x="8636283" y="4571921"/>
            <a:ext cx="774700" cy="360362"/>
          </a:xfrm>
          <a:prstGeom prst="line">
            <a:avLst/>
          </a:prstGeom>
        </p:spPr>
        <p:style>
          <a:lnRef idx="1">
            <a:schemeClr val="accent1"/>
          </a:lnRef>
          <a:fillRef idx="0">
            <a:schemeClr val="accent1"/>
          </a:fillRef>
          <a:effectRef idx="0">
            <a:schemeClr val="accent1"/>
          </a:effectRef>
          <a:fontRef idx="minor">
            <a:schemeClr val="tx1"/>
          </a:fontRef>
        </p:style>
      </p:cxnSp>
      <p:sp>
        <p:nvSpPr>
          <p:cNvPr id="15" name="106 Elipse">
            <a:extLst>
              <a:ext uri="{FF2B5EF4-FFF2-40B4-BE49-F238E27FC236}">
                <a16:creationId xmlns:a16="http://schemas.microsoft.com/office/drawing/2014/main" id="{C572D95E-1001-4C72-A38D-C74377D30E81}"/>
              </a:ext>
            </a:extLst>
          </p:cNvPr>
          <p:cNvSpPr/>
          <p:nvPr/>
        </p:nvSpPr>
        <p:spPr>
          <a:xfrm>
            <a:off x="1078679" y="3989034"/>
            <a:ext cx="1225549" cy="503238"/>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200" b="1" u="sng" dirty="0">
                <a:solidFill>
                  <a:schemeClr val="bg1"/>
                </a:solidFill>
                <a:latin typeface="Arial" pitchFamily="34" charset="0"/>
                <a:cs typeface="Arial" pitchFamily="34" charset="0"/>
              </a:rPr>
              <a:t>Matricula</a:t>
            </a:r>
          </a:p>
        </p:txBody>
      </p:sp>
      <p:sp>
        <p:nvSpPr>
          <p:cNvPr id="16" name="112 Elipse">
            <a:extLst>
              <a:ext uri="{FF2B5EF4-FFF2-40B4-BE49-F238E27FC236}">
                <a16:creationId xmlns:a16="http://schemas.microsoft.com/office/drawing/2014/main" id="{A875E2DC-D898-41E0-B0C2-747835C02B49}"/>
              </a:ext>
            </a:extLst>
          </p:cNvPr>
          <p:cNvSpPr/>
          <p:nvPr/>
        </p:nvSpPr>
        <p:spPr>
          <a:xfrm>
            <a:off x="1843028" y="3432861"/>
            <a:ext cx="1260474" cy="504825"/>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200" b="1" dirty="0" err="1">
                <a:solidFill>
                  <a:schemeClr val="bg2"/>
                </a:solidFill>
                <a:latin typeface="Arial" pitchFamily="34" charset="0"/>
                <a:cs typeface="Arial" pitchFamily="34" charset="0"/>
              </a:rPr>
              <a:t>NombreA</a:t>
            </a:r>
            <a:endParaRPr lang="es-MX" sz="1200" b="1" dirty="0">
              <a:solidFill>
                <a:schemeClr val="bg2"/>
              </a:solidFill>
              <a:latin typeface="Arial" pitchFamily="34" charset="0"/>
              <a:cs typeface="Arial" pitchFamily="34" charset="0"/>
            </a:endParaRPr>
          </a:p>
        </p:txBody>
      </p:sp>
      <p:sp>
        <p:nvSpPr>
          <p:cNvPr id="17" name="113 Elipse">
            <a:extLst>
              <a:ext uri="{FF2B5EF4-FFF2-40B4-BE49-F238E27FC236}">
                <a16:creationId xmlns:a16="http://schemas.microsoft.com/office/drawing/2014/main" id="{4B057291-AF59-4F7D-A1AF-863CDADB849C}"/>
              </a:ext>
            </a:extLst>
          </p:cNvPr>
          <p:cNvSpPr/>
          <p:nvPr/>
        </p:nvSpPr>
        <p:spPr>
          <a:xfrm>
            <a:off x="3234712" y="3278595"/>
            <a:ext cx="1260475" cy="504825"/>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100" b="1" dirty="0">
                <a:solidFill>
                  <a:schemeClr val="bg2"/>
                </a:solidFill>
                <a:latin typeface="Arial" pitchFamily="34" charset="0"/>
                <a:cs typeface="Arial" pitchFamily="34" charset="0"/>
              </a:rPr>
              <a:t>Dirección</a:t>
            </a:r>
          </a:p>
        </p:txBody>
      </p:sp>
      <p:cxnSp>
        <p:nvCxnSpPr>
          <p:cNvPr id="18" name="114 Conector recto">
            <a:extLst>
              <a:ext uri="{FF2B5EF4-FFF2-40B4-BE49-F238E27FC236}">
                <a16:creationId xmlns:a16="http://schemas.microsoft.com/office/drawing/2014/main" id="{63334896-F682-4791-B90A-644890E3D91B}"/>
              </a:ext>
            </a:extLst>
          </p:cNvPr>
          <p:cNvCxnSpPr>
            <a:cxnSpLocks/>
            <a:stCxn id="15" idx="4"/>
          </p:cNvCxnSpPr>
          <p:nvPr/>
        </p:nvCxnSpPr>
        <p:spPr>
          <a:xfrm>
            <a:off x="1691454" y="4492272"/>
            <a:ext cx="930274" cy="433387"/>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117 Conector recto">
            <a:extLst>
              <a:ext uri="{FF2B5EF4-FFF2-40B4-BE49-F238E27FC236}">
                <a16:creationId xmlns:a16="http://schemas.microsoft.com/office/drawing/2014/main" id="{8DBA4F31-19E0-4D15-945F-4D5A72AD1567}"/>
              </a:ext>
            </a:extLst>
          </p:cNvPr>
          <p:cNvCxnSpPr>
            <a:cxnSpLocks/>
            <a:stCxn id="16" idx="4"/>
          </p:cNvCxnSpPr>
          <p:nvPr/>
        </p:nvCxnSpPr>
        <p:spPr>
          <a:xfrm>
            <a:off x="2473265" y="3937686"/>
            <a:ext cx="408813" cy="9879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119 Conector recto">
            <a:extLst>
              <a:ext uri="{FF2B5EF4-FFF2-40B4-BE49-F238E27FC236}">
                <a16:creationId xmlns:a16="http://schemas.microsoft.com/office/drawing/2014/main" id="{97CBB873-D392-40F0-AEF1-171DCE6B10D3}"/>
              </a:ext>
            </a:extLst>
          </p:cNvPr>
          <p:cNvCxnSpPr>
            <a:cxnSpLocks/>
            <a:stCxn id="17" idx="4"/>
          </p:cNvCxnSpPr>
          <p:nvPr/>
        </p:nvCxnSpPr>
        <p:spPr>
          <a:xfrm flipH="1">
            <a:off x="3090040" y="3783420"/>
            <a:ext cx="774910" cy="1148863"/>
          </a:xfrm>
          <a:prstGeom prst="line">
            <a:avLst/>
          </a:prstGeom>
        </p:spPr>
        <p:style>
          <a:lnRef idx="1">
            <a:schemeClr val="accent1"/>
          </a:lnRef>
          <a:fillRef idx="0">
            <a:schemeClr val="accent1"/>
          </a:fillRef>
          <a:effectRef idx="0">
            <a:schemeClr val="accent1"/>
          </a:effectRef>
          <a:fontRef idx="minor">
            <a:schemeClr val="tx1"/>
          </a:fontRef>
        </p:style>
      </p:cxnSp>
      <p:sp>
        <p:nvSpPr>
          <p:cNvPr id="34" name="113 Elipse">
            <a:extLst>
              <a:ext uri="{FF2B5EF4-FFF2-40B4-BE49-F238E27FC236}">
                <a16:creationId xmlns:a16="http://schemas.microsoft.com/office/drawing/2014/main" id="{9B1806D5-CCA9-40D3-A1A2-871BDADC7300}"/>
              </a:ext>
            </a:extLst>
          </p:cNvPr>
          <p:cNvSpPr/>
          <p:nvPr/>
        </p:nvSpPr>
        <p:spPr>
          <a:xfrm>
            <a:off x="3824431" y="3881568"/>
            <a:ext cx="1260475" cy="504825"/>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100" b="1" dirty="0">
                <a:solidFill>
                  <a:schemeClr val="bg2"/>
                </a:solidFill>
                <a:latin typeface="Arial" pitchFamily="34" charset="0"/>
                <a:cs typeface="Arial" pitchFamily="34" charset="0"/>
              </a:rPr>
              <a:t>Teléfono</a:t>
            </a:r>
          </a:p>
        </p:txBody>
      </p:sp>
      <p:cxnSp>
        <p:nvCxnSpPr>
          <p:cNvPr id="35" name="119 Conector recto">
            <a:extLst>
              <a:ext uri="{FF2B5EF4-FFF2-40B4-BE49-F238E27FC236}">
                <a16:creationId xmlns:a16="http://schemas.microsoft.com/office/drawing/2014/main" id="{274081A2-6A8C-4599-97A4-487B7E1C10B0}"/>
              </a:ext>
            </a:extLst>
          </p:cNvPr>
          <p:cNvCxnSpPr>
            <a:cxnSpLocks/>
            <a:stCxn id="34" idx="4"/>
          </p:cNvCxnSpPr>
          <p:nvPr/>
        </p:nvCxnSpPr>
        <p:spPr>
          <a:xfrm flipH="1">
            <a:off x="3505967" y="4386393"/>
            <a:ext cx="948702" cy="545890"/>
          </a:xfrm>
          <a:prstGeom prst="line">
            <a:avLst/>
          </a:prstGeom>
        </p:spPr>
        <p:style>
          <a:lnRef idx="1">
            <a:schemeClr val="accent1"/>
          </a:lnRef>
          <a:fillRef idx="0">
            <a:schemeClr val="accent1"/>
          </a:fillRef>
          <a:effectRef idx="0">
            <a:schemeClr val="accent1"/>
          </a:effectRef>
          <a:fontRef idx="minor">
            <a:schemeClr val="tx1"/>
          </a:fontRef>
        </p:style>
      </p:cxnSp>
      <p:sp>
        <p:nvSpPr>
          <p:cNvPr id="3" name="CuadroTexto 2">
            <a:extLst>
              <a:ext uri="{FF2B5EF4-FFF2-40B4-BE49-F238E27FC236}">
                <a16:creationId xmlns:a16="http://schemas.microsoft.com/office/drawing/2014/main" id="{B313101A-5F59-4F3B-BE5E-A8C0E8BB5FC1}"/>
              </a:ext>
            </a:extLst>
          </p:cNvPr>
          <p:cNvSpPr txBox="1"/>
          <p:nvPr/>
        </p:nvSpPr>
        <p:spPr>
          <a:xfrm>
            <a:off x="6823496" y="4752102"/>
            <a:ext cx="487356" cy="369332"/>
          </a:xfrm>
          <a:prstGeom prst="rect">
            <a:avLst/>
          </a:prstGeom>
          <a:noFill/>
        </p:spPr>
        <p:txBody>
          <a:bodyPr wrap="square" rtlCol="0">
            <a:spAutoFit/>
          </a:bodyPr>
          <a:lstStyle/>
          <a:p>
            <a:r>
              <a:rPr lang="es-MX" dirty="0"/>
              <a:t>1</a:t>
            </a:r>
          </a:p>
        </p:txBody>
      </p:sp>
      <p:sp>
        <p:nvSpPr>
          <p:cNvPr id="23" name="CuadroTexto 22">
            <a:extLst>
              <a:ext uri="{FF2B5EF4-FFF2-40B4-BE49-F238E27FC236}">
                <a16:creationId xmlns:a16="http://schemas.microsoft.com/office/drawing/2014/main" id="{D3D86BE5-34FF-491E-8D57-40805C995B8B}"/>
              </a:ext>
            </a:extLst>
          </p:cNvPr>
          <p:cNvSpPr txBox="1"/>
          <p:nvPr/>
        </p:nvSpPr>
        <p:spPr>
          <a:xfrm>
            <a:off x="4378468" y="4771982"/>
            <a:ext cx="487356" cy="369332"/>
          </a:xfrm>
          <a:prstGeom prst="rect">
            <a:avLst/>
          </a:prstGeom>
          <a:noFill/>
        </p:spPr>
        <p:txBody>
          <a:bodyPr wrap="square" rtlCol="0">
            <a:spAutoFit/>
          </a:bodyPr>
          <a:lstStyle/>
          <a:p>
            <a:r>
              <a:rPr lang="es-MX" dirty="0"/>
              <a:t>n</a:t>
            </a:r>
          </a:p>
        </p:txBody>
      </p:sp>
      <p:sp>
        <p:nvSpPr>
          <p:cNvPr id="24" name="106 Elipse">
            <a:extLst>
              <a:ext uri="{FF2B5EF4-FFF2-40B4-BE49-F238E27FC236}">
                <a16:creationId xmlns:a16="http://schemas.microsoft.com/office/drawing/2014/main" id="{A10E09B1-266E-4976-86E5-5E4921A09A3B}"/>
              </a:ext>
            </a:extLst>
          </p:cNvPr>
          <p:cNvSpPr/>
          <p:nvPr/>
        </p:nvSpPr>
        <p:spPr>
          <a:xfrm>
            <a:off x="1984654" y="2359007"/>
            <a:ext cx="1260475" cy="503238"/>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400" b="1" dirty="0">
                <a:solidFill>
                  <a:schemeClr val="bg1"/>
                </a:solidFill>
                <a:latin typeface="Arial" pitchFamily="34" charset="0"/>
                <a:cs typeface="Arial" pitchFamily="34" charset="0"/>
              </a:rPr>
              <a:t>Calle</a:t>
            </a:r>
          </a:p>
        </p:txBody>
      </p:sp>
      <p:sp>
        <p:nvSpPr>
          <p:cNvPr id="25" name="112 Elipse">
            <a:extLst>
              <a:ext uri="{FF2B5EF4-FFF2-40B4-BE49-F238E27FC236}">
                <a16:creationId xmlns:a16="http://schemas.microsoft.com/office/drawing/2014/main" id="{1D877597-67C8-440A-BA59-77D97AE49EFD}"/>
              </a:ext>
            </a:extLst>
          </p:cNvPr>
          <p:cNvSpPr/>
          <p:nvPr/>
        </p:nvSpPr>
        <p:spPr>
          <a:xfrm>
            <a:off x="3216554" y="2120882"/>
            <a:ext cx="1262062" cy="504825"/>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400" b="1" dirty="0">
                <a:solidFill>
                  <a:schemeClr val="bg2"/>
                </a:solidFill>
                <a:latin typeface="Arial" pitchFamily="34" charset="0"/>
                <a:cs typeface="Arial" pitchFamily="34" charset="0"/>
              </a:rPr>
              <a:t>Colonia</a:t>
            </a:r>
          </a:p>
        </p:txBody>
      </p:sp>
      <p:sp>
        <p:nvSpPr>
          <p:cNvPr id="26" name="113 Elipse">
            <a:extLst>
              <a:ext uri="{FF2B5EF4-FFF2-40B4-BE49-F238E27FC236}">
                <a16:creationId xmlns:a16="http://schemas.microsoft.com/office/drawing/2014/main" id="{FD6A5011-0058-4404-90B3-4CF2C45F0F5B}"/>
              </a:ext>
            </a:extLst>
          </p:cNvPr>
          <p:cNvSpPr/>
          <p:nvPr/>
        </p:nvSpPr>
        <p:spPr>
          <a:xfrm>
            <a:off x="4361141" y="2430445"/>
            <a:ext cx="1260475" cy="504825"/>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100" b="1" dirty="0">
                <a:solidFill>
                  <a:schemeClr val="bg2"/>
                </a:solidFill>
                <a:latin typeface="Arial" pitchFamily="34" charset="0"/>
                <a:cs typeface="Arial" pitchFamily="34" charset="0"/>
              </a:rPr>
              <a:t>CP</a:t>
            </a:r>
          </a:p>
        </p:txBody>
      </p:sp>
      <p:cxnSp>
        <p:nvCxnSpPr>
          <p:cNvPr id="27" name="114 Conector recto">
            <a:extLst>
              <a:ext uri="{FF2B5EF4-FFF2-40B4-BE49-F238E27FC236}">
                <a16:creationId xmlns:a16="http://schemas.microsoft.com/office/drawing/2014/main" id="{BC1CF9FE-851C-45BE-BB66-AD2A2303FC41}"/>
              </a:ext>
            </a:extLst>
          </p:cNvPr>
          <p:cNvCxnSpPr>
            <a:cxnSpLocks/>
            <a:stCxn id="24" idx="4"/>
          </p:cNvCxnSpPr>
          <p:nvPr/>
        </p:nvCxnSpPr>
        <p:spPr>
          <a:xfrm>
            <a:off x="2614892" y="2862245"/>
            <a:ext cx="978913" cy="433387"/>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117 Conector recto">
            <a:extLst>
              <a:ext uri="{FF2B5EF4-FFF2-40B4-BE49-F238E27FC236}">
                <a16:creationId xmlns:a16="http://schemas.microsoft.com/office/drawing/2014/main" id="{8F55D028-21F9-457B-890C-1F98D3B1DC2A}"/>
              </a:ext>
            </a:extLst>
          </p:cNvPr>
          <p:cNvCxnSpPr>
            <a:cxnSpLocks/>
            <a:stCxn id="25" idx="4"/>
          </p:cNvCxnSpPr>
          <p:nvPr/>
        </p:nvCxnSpPr>
        <p:spPr>
          <a:xfrm>
            <a:off x="3846791" y="2625707"/>
            <a:ext cx="46038" cy="669925"/>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119 Conector recto">
            <a:extLst>
              <a:ext uri="{FF2B5EF4-FFF2-40B4-BE49-F238E27FC236}">
                <a16:creationId xmlns:a16="http://schemas.microsoft.com/office/drawing/2014/main" id="{C0B5FC98-2B5D-4342-A4C3-43AA2151FE55}"/>
              </a:ext>
            </a:extLst>
          </p:cNvPr>
          <p:cNvCxnSpPr>
            <a:cxnSpLocks/>
            <a:stCxn id="26" idx="4"/>
          </p:cNvCxnSpPr>
          <p:nvPr/>
        </p:nvCxnSpPr>
        <p:spPr>
          <a:xfrm flipH="1">
            <a:off x="4157330" y="2935270"/>
            <a:ext cx="834049" cy="36036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618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Rectángulo">
            <a:extLst>
              <a:ext uri="{FF2B5EF4-FFF2-40B4-BE49-F238E27FC236}">
                <a16:creationId xmlns:a16="http://schemas.microsoft.com/office/drawing/2014/main" id="{DB5A9EE1-50CA-435D-83BB-E4040655CED3}"/>
              </a:ext>
            </a:extLst>
          </p:cNvPr>
          <p:cNvSpPr/>
          <p:nvPr/>
        </p:nvSpPr>
        <p:spPr>
          <a:xfrm>
            <a:off x="2814746" y="4542531"/>
            <a:ext cx="1944687"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b="1" dirty="0">
                <a:solidFill>
                  <a:srgbClr val="FFFF00"/>
                </a:solidFill>
                <a:latin typeface="Arial" pitchFamily="34" charset="0"/>
                <a:cs typeface="Arial" pitchFamily="34" charset="0"/>
              </a:rPr>
              <a:t>Profesor</a:t>
            </a:r>
          </a:p>
        </p:txBody>
      </p:sp>
      <p:sp>
        <p:nvSpPr>
          <p:cNvPr id="5" name="3 Rectángulo">
            <a:extLst>
              <a:ext uri="{FF2B5EF4-FFF2-40B4-BE49-F238E27FC236}">
                <a16:creationId xmlns:a16="http://schemas.microsoft.com/office/drawing/2014/main" id="{93502F28-DA4D-4AC0-978E-A82AE803A3D9}"/>
              </a:ext>
            </a:extLst>
          </p:cNvPr>
          <p:cNvSpPr/>
          <p:nvPr/>
        </p:nvSpPr>
        <p:spPr>
          <a:xfrm>
            <a:off x="7856646" y="4542531"/>
            <a:ext cx="19431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b="1" dirty="0">
                <a:solidFill>
                  <a:srgbClr val="FFFF00"/>
                </a:solidFill>
                <a:latin typeface="Arial" pitchFamily="34" charset="0"/>
                <a:cs typeface="Arial" pitchFamily="34" charset="0"/>
              </a:rPr>
              <a:t>Materias</a:t>
            </a:r>
          </a:p>
        </p:txBody>
      </p:sp>
      <p:sp>
        <p:nvSpPr>
          <p:cNvPr id="6" name="20 Rombo">
            <a:extLst>
              <a:ext uri="{FF2B5EF4-FFF2-40B4-BE49-F238E27FC236}">
                <a16:creationId xmlns:a16="http://schemas.microsoft.com/office/drawing/2014/main" id="{5C0FCB2A-4ED4-417D-A272-8847A19E7895}"/>
              </a:ext>
            </a:extLst>
          </p:cNvPr>
          <p:cNvSpPr/>
          <p:nvPr/>
        </p:nvSpPr>
        <p:spPr>
          <a:xfrm>
            <a:off x="5666415" y="4140894"/>
            <a:ext cx="1490238" cy="1258887"/>
          </a:xfrm>
          <a:prstGeom prst="diamond">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200" b="1" dirty="0">
                <a:solidFill>
                  <a:schemeClr val="bg2"/>
                </a:solidFill>
                <a:latin typeface="Arial" pitchFamily="34" charset="0"/>
                <a:cs typeface="Arial" pitchFamily="34" charset="0"/>
              </a:rPr>
              <a:t>Imparte</a:t>
            </a:r>
          </a:p>
        </p:txBody>
      </p:sp>
      <p:cxnSp>
        <p:nvCxnSpPr>
          <p:cNvPr id="7" name="25 Conector recto">
            <a:extLst>
              <a:ext uri="{FF2B5EF4-FFF2-40B4-BE49-F238E27FC236}">
                <a16:creationId xmlns:a16="http://schemas.microsoft.com/office/drawing/2014/main" id="{D76D96A3-8584-41A8-A7F3-0E8148CC9014}"/>
              </a:ext>
            </a:extLst>
          </p:cNvPr>
          <p:cNvCxnSpPr>
            <a:cxnSpLocks/>
            <a:stCxn id="4" idx="3"/>
            <a:endCxn id="6" idx="1"/>
          </p:cNvCxnSpPr>
          <p:nvPr/>
        </p:nvCxnSpPr>
        <p:spPr>
          <a:xfrm flipV="1">
            <a:off x="4759433" y="4770338"/>
            <a:ext cx="906982" cy="793"/>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28 Conector recto">
            <a:extLst>
              <a:ext uri="{FF2B5EF4-FFF2-40B4-BE49-F238E27FC236}">
                <a16:creationId xmlns:a16="http://schemas.microsoft.com/office/drawing/2014/main" id="{A01AD75A-4E44-4C1C-B239-4E239421C997}"/>
              </a:ext>
            </a:extLst>
          </p:cNvPr>
          <p:cNvCxnSpPr>
            <a:cxnSpLocks/>
            <a:stCxn id="6" idx="3"/>
            <a:endCxn id="5" idx="1"/>
          </p:cNvCxnSpPr>
          <p:nvPr/>
        </p:nvCxnSpPr>
        <p:spPr>
          <a:xfrm>
            <a:off x="7156653" y="4770338"/>
            <a:ext cx="699993" cy="793"/>
          </a:xfrm>
          <a:prstGeom prst="line">
            <a:avLst/>
          </a:prstGeom>
        </p:spPr>
        <p:style>
          <a:lnRef idx="1">
            <a:schemeClr val="accent1"/>
          </a:lnRef>
          <a:fillRef idx="0">
            <a:schemeClr val="accent1"/>
          </a:fillRef>
          <a:effectRef idx="0">
            <a:schemeClr val="accent1"/>
          </a:effectRef>
          <a:fontRef idx="minor">
            <a:schemeClr val="tx1"/>
          </a:fontRef>
        </p:style>
      </p:cxnSp>
      <p:sp>
        <p:nvSpPr>
          <p:cNvPr id="9" name="106 Elipse">
            <a:extLst>
              <a:ext uri="{FF2B5EF4-FFF2-40B4-BE49-F238E27FC236}">
                <a16:creationId xmlns:a16="http://schemas.microsoft.com/office/drawing/2014/main" id="{A71DE102-2BAE-4502-80CE-17843EB25B2C}"/>
              </a:ext>
            </a:extLst>
          </p:cNvPr>
          <p:cNvSpPr/>
          <p:nvPr/>
        </p:nvSpPr>
        <p:spPr>
          <a:xfrm>
            <a:off x="6920021" y="3605906"/>
            <a:ext cx="1260475" cy="503238"/>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400" b="1" dirty="0" err="1">
                <a:solidFill>
                  <a:schemeClr val="bg1"/>
                </a:solidFill>
                <a:latin typeface="Arial" pitchFamily="34" charset="0"/>
                <a:cs typeface="Arial" pitchFamily="34" charset="0"/>
              </a:rPr>
              <a:t>ClvAsig</a:t>
            </a:r>
            <a:endParaRPr lang="es-MX" sz="1400" b="1" dirty="0">
              <a:solidFill>
                <a:schemeClr val="bg1"/>
              </a:solidFill>
              <a:latin typeface="Arial" pitchFamily="34" charset="0"/>
              <a:cs typeface="Arial" pitchFamily="34" charset="0"/>
            </a:endParaRPr>
          </a:p>
        </p:txBody>
      </p:sp>
      <p:sp>
        <p:nvSpPr>
          <p:cNvPr id="10" name="112 Elipse">
            <a:extLst>
              <a:ext uri="{FF2B5EF4-FFF2-40B4-BE49-F238E27FC236}">
                <a16:creationId xmlns:a16="http://schemas.microsoft.com/office/drawing/2014/main" id="{85E87FBF-B707-4437-9EF0-8DC72EB57B4B}"/>
              </a:ext>
            </a:extLst>
          </p:cNvPr>
          <p:cNvSpPr/>
          <p:nvPr/>
        </p:nvSpPr>
        <p:spPr>
          <a:xfrm>
            <a:off x="8076114" y="3367781"/>
            <a:ext cx="1367675" cy="504825"/>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400" b="1" dirty="0" err="1">
                <a:solidFill>
                  <a:schemeClr val="bg2"/>
                </a:solidFill>
                <a:latin typeface="Arial" pitchFamily="34" charset="0"/>
                <a:cs typeface="Arial" pitchFamily="34" charset="0"/>
              </a:rPr>
              <a:t>NomAsig</a:t>
            </a:r>
            <a:endParaRPr lang="es-MX" sz="1400" b="1" dirty="0">
              <a:solidFill>
                <a:schemeClr val="bg2"/>
              </a:solidFill>
              <a:latin typeface="Arial" pitchFamily="34" charset="0"/>
              <a:cs typeface="Arial" pitchFamily="34" charset="0"/>
            </a:endParaRPr>
          </a:p>
        </p:txBody>
      </p:sp>
      <p:sp>
        <p:nvSpPr>
          <p:cNvPr id="11" name="113 Elipse">
            <a:extLst>
              <a:ext uri="{FF2B5EF4-FFF2-40B4-BE49-F238E27FC236}">
                <a16:creationId xmlns:a16="http://schemas.microsoft.com/office/drawing/2014/main" id="{A90DE946-F067-4FE3-8639-8BD1C20C3179}"/>
              </a:ext>
            </a:extLst>
          </p:cNvPr>
          <p:cNvSpPr/>
          <p:nvPr/>
        </p:nvSpPr>
        <p:spPr>
          <a:xfrm>
            <a:off x="9296508" y="3677344"/>
            <a:ext cx="1260475" cy="504825"/>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100" b="1" dirty="0" err="1">
                <a:solidFill>
                  <a:schemeClr val="bg2"/>
                </a:solidFill>
                <a:latin typeface="Arial" pitchFamily="34" charset="0"/>
                <a:cs typeface="Arial" pitchFamily="34" charset="0"/>
              </a:rPr>
              <a:t>NCreditos</a:t>
            </a:r>
            <a:endParaRPr lang="es-MX" sz="1100" b="1" dirty="0">
              <a:solidFill>
                <a:schemeClr val="bg2"/>
              </a:solidFill>
              <a:latin typeface="Arial" pitchFamily="34" charset="0"/>
              <a:cs typeface="Arial" pitchFamily="34" charset="0"/>
            </a:endParaRPr>
          </a:p>
        </p:txBody>
      </p:sp>
      <p:cxnSp>
        <p:nvCxnSpPr>
          <p:cNvPr id="12" name="114 Conector recto">
            <a:extLst>
              <a:ext uri="{FF2B5EF4-FFF2-40B4-BE49-F238E27FC236}">
                <a16:creationId xmlns:a16="http://schemas.microsoft.com/office/drawing/2014/main" id="{D9FC3F3B-6DA5-4651-A969-5E3AEA7979B9}"/>
              </a:ext>
            </a:extLst>
          </p:cNvPr>
          <p:cNvCxnSpPr>
            <a:stCxn id="9" idx="4"/>
          </p:cNvCxnSpPr>
          <p:nvPr/>
        </p:nvCxnSpPr>
        <p:spPr>
          <a:xfrm>
            <a:off x="7550258" y="4109144"/>
            <a:ext cx="947738" cy="43338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117 Conector recto">
            <a:extLst>
              <a:ext uri="{FF2B5EF4-FFF2-40B4-BE49-F238E27FC236}">
                <a16:creationId xmlns:a16="http://schemas.microsoft.com/office/drawing/2014/main" id="{3A416F69-F281-4B3A-BA8A-4B64C20569A4}"/>
              </a:ext>
            </a:extLst>
          </p:cNvPr>
          <p:cNvCxnSpPr>
            <a:cxnSpLocks/>
            <a:stCxn id="10" idx="4"/>
            <a:endCxn id="5" idx="0"/>
          </p:cNvCxnSpPr>
          <p:nvPr/>
        </p:nvCxnSpPr>
        <p:spPr>
          <a:xfrm>
            <a:off x="8759952" y="3872606"/>
            <a:ext cx="68244" cy="6699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119 Conector recto">
            <a:extLst>
              <a:ext uri="{FF2B5EF4-FFF2-40B4-BE49-F238E27FC236}">
                <a16:creationId xmlns:a16="http://schemas.microsoft.com/office/drawing/2014/main" id="{B88E0C14-7BBD-437F-A026-71B8BDCDB170}"/>
              </a:ext>
            </a:extLst>
          </p:cNvPr>
          <p:cNvCxnSpPr>
            <a:stCxn id="11" idx="4"/>
          </p:cNvCxnSpPr>
          <p:nvPr/>
        </p:nvCxnSpPr>
        <p:spPr>
          <a:xfrm flipH="1">
            <a:off x="9152046" y="4182169"/>
            <a:ext cx="774700" cy="360362"/>
          </a:xfrm>
          <a:prstGeom prst="line">
            <a:avLst/>
          </a:prstGeom>
        </p:spPr>
        <p:style>
          <a:lnRef idx="1">
            <a:schemeClr val="accent1"/>
          </a:lnRef>
          <a:fillRef idx="0">
            <a:schemeClr val="accent1"/>
          </a:fillRef>
          <a:effectRef idx="0">
            <a:schemeClr val="accent1"/>
          </a:effectRef>
          <a:fontRef idx="minor">
            <a:schemeClr val="tx1"/>
          </a:fontRef>
        </p:style>
      </p:cxnSp>
      <p:sp>
        <p:nvSpPr>
          <p:cNvPr id="15" name="106 Elipse">
            <a:extLst>
              <a:ext uri="{FF2B5EF4-FFF2-40B4-BE49-F238E27FC236}">
                <a16:creationId xmlns:a16="http://schemas.microsoft.com/office/drawing/2014/main" id="{4BF224A8-7B40-4BF9-991B-2C80CC4298ED}"/>
              </a:ext>
            </a:extLst>
          </p:cNvPr>
          <p:cNvSpPr/>
          <p:nvPr/>
        </p:nvSpPr>
        <p:spPr>
          <a:xfrm>
            <a:off x="1382410" y="3572778"/>
            <a:ext cx="1225549" cy="503238"/>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200" b="1" dirty="0" err="1">
                <a:solidFill>
                  <a:schemeClr val="bg1"/>
                </a:solidFill>
                <a:latin typeface="Arial" pitchFamily="34" charset="0"/>
                <a:cs typeface="Arial" pitchFamily="34" charset="0"/>
              </a:rPr>
              <a:t>ClvProf</a:t>
            </a:r>
            <a:endParaRPr lang="es-MX" sz="1200" b="1" dirty="0">
              <a:solidFill>
                <a:schemeClr val="bg1"/>
              </a:solidFill>
              <a:latin typeface="Arial" pitchFamily="34" charset="0"/>
              <a:cs typeface="Arial" pitchFamily="34" charset="0"/>
            </a:endParaRPr>
          </a:p>
        </p:txBody>
      </p:sp>
      <p:sp>
        <p:nvSpPr>
          <p:cNvPr id="16" name="112 Elipse">
            <a:extLst>
              <a:ext uri="{FF2B5EF4-FFF2-40B4-BE49-F238E27FC236}">
                <a16:creationId xmlns:a16="http://schemas.microsoft.com/office/drawing/2014/main" id="{A3239127-008D-4295-A819-3AF015F8D8D3}"/>
              </a:ext>
            </a:extLst>
          </p:cNvPr>
          <p:cNvSpPr/>
          <p:nvPr/>
        </p:nvSpPr>
        <p:spPr>
          <a:xfrm>
            <a:off x="2146759" y="3016605"/>
            <a:ext cx="1260474" cy="504825"/>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200" b="1" dirty="0" err="1">
                <a:solidFill>
                  <a:schemeClr val="bg2"/>
                </a:solidFill>
                <a:latin typeface="Arial" pitchFamily="34" charset="0"/>
                <a:cs typeface="Arial" pitchFamily="34" charset="0"/>
              </a:rPr>
              <a:t>NombreP</a:t>
            </a:r>
            <a:endParaRPr lang="es-MX" sz="1200" b="1" dirty="0">
              <a:solidFill>
                <a:schemeClr val="bg2"/>
              </a:solidFill>
              <a:latin typeface="Arial" pitchFamily="34" charset="0"/>
              <a:cs typeface="Arial" pitchFamily="34" charset="0"/>
            </a:endParaRPr>
          </a:p>
        </p:txBody>
      </p:sp>
      <p:sp>
        <p:nvSpPr>
          <p:cNvPr id="17" name="113 Elipse">
            <a:extLst>
              <a:ext uri="{FF2B5EF4-FFF2-40B4-BE49-F238E27FC236}">
                <a16:creationId xmlns:a16="http://schemas.microsoft.com/office/drawing/2014/main" id="{ADBBB327-7BAD-4F7A-AC69-D611C4450D06}"/>
              </a:ext>
            </a:extLst>
          </p:cNvPr>
          <p:cNvSpPr/>
          <p:nvPr/>
        </p:nvSpPr>
        <p:spPr>
          <a:xfrm>
            <a:off x="2822832" y="2451521"/>
            <a:ext cx="1260475" cy="504825"/>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100" b="1" dirty="0" err="1">
                <a:solidFill>
                  <a:schemeClr val="bg2"/>
                </a:solidFill>
                <a:latin typeface="Arial" pitchFamily="34" charset="0"/>
                <a:cs typeface="Arial" pitchFamily="34" charset="0"/>
              </a:rPr>
              <a:t>GradoAc</a:t>
            </a:r>
            <a:endParaRPr lang="es-MX" sz="1100" b="1" dirty="0">
              <a:solidFill>
                <a:schemeClr val="bg2"/>
              </a:solidFill>
              <a:latin typeface="Arial" pitchFamily="34" charset="0"/>
              <a:cs typeface="Arial" pitchFamily="34" charset="0"/>
            </a:endParaRPr>
          </a:p>
        </p:txBody>
      </p:sp>
      <p:cxnSp>
        <p:nvCxnSpPr>
          <p:cNvPr id="18" name="114 Conector recto">
            <a:extLst>
              <a:ext uri="{FF2B5EF4-FFF2-40B4-BE49-F238E27FC236}">
                <a16:creationId xmlns:a16="http://schemas.microsoft.com/office/drawing/2014/main" id="{3065D474-89F8-42CB-8E67-297F0F31AF42}"/>
              </a:ext>
            </a:extLst>
          </p:cNvPr>
          <p:cNvCxnSpPr>
            <a:cxnSpLocks/>
            <a:stCxn id="15" idx="4"/>
          </p:cNvCxnSpPr>
          <p:nvPr/>
        </p:nvCxnSpPr>
        <p:spPr>
          <a:xfrm>
            <a:off x="1995185" y="4076016"/>
            <a:ext cx="999923" cy="440011"/>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117 Conector recto">
            <a:extLst>
              <a:ext uri="{FF2B5EF4-FFF2-40B4-BE49-F238E27FC236}">
                <a16:creationId xmlns:a16="http://schemas.microsoft.com/office/drawing/2014/main" id="{1CEABAC8-B014-4F15-905C-C3C8B77346EA}"/>
              </a:ext>
            </a:extLst>
          </p:cNvPr>
          <p:cNvCxnSpPr>
            <a:cxnSpLocks/>
            <a:stCxn id="16" idx="4"/>
          </p:cNvCxnSpPr>
          <p:nvPr/>
        </p:nvCxnSpPr>
        <p:spPr>
          <a:xfrm>
            <a:off x="2776996" y="3521430"/>
            <a:ext cx="408813" cy="9879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119 Conector recto">
            <a:extLst>
              <a:ext uri="{FF2B5EF4-FFF2-40B4-BE49-F238E27FC236}">
                <a16:creationId xmlns:a16="http://schemas.microsoft.com/office/drawing/2014/main" id="{9FE46887-26FF-4F50-876F-C54206075965}"/>
              </a:ext>
            </a:extLst>
          </p:cNvPr>
          <p:cNvCxnSpPr>
            <a:cxnSpLocks/>
            <a:stCxn id="17" idx="4"/>
          </p:cNvCxnSpPr>
          <p:nvPr/>
        </p:nvCxnSpPr>
        <p:spPr>
          <a:xfrm flipH="1">
            <a:off x="3349788" y="2956346"/>
            <a:ext cx="103282" cy="1586185"/>
          </a:xfrm>
          <a:prstGeom prst="line">
            <a:avLst/>
          </a:prstGeom>
        </p:spPr>
        <p:style>
          <a:lnRef idx="1">
            <a:schemeClr val="accent1"/>
          </a:lnRef>
          <a:fillRef idx="0">
            <a:schemeClr val="accent1"/>
          </a:fillRef>
          <a:effectRef idx="0">
            <a:schemeClr val="accent1"/>
          </a:effectRef>
          <a:fontRef idx="minor">
            <a:schemeClr val="tx1"/>
          </a:fontRef>
        </p:style>
      </p:cxnSp>
      <p:sp>
        <p:nvSpPr>
          <p:cNvPr id="21" name="113 Elipse">
            <a:extLst>
              <a:ext uri="{FF2B5EF4-FFF2-40B4-BE49-F238E27FC236}">
                <a16:creationId xmlns:a16="http://schemas.microsoft.com/office/drawing/2014/main" id="{E37BEEE2-4C0D-48E8-8E0D-ADDC4CB786C5}"/>
              </a:ext>
            </a:extLst>
          </p:cNvPr>
          <p:cNvSpPr/>
          <p:nvPr/>
        </p:nvSpPr>
        <p:spPr>
          <a:xfrm>
            <a:off x="3651090" y="2868965"/>
            <a:ext cx="1260475" cy="504825"/>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100" b="1" dirty="0" err="1">
                <a:solidFill>
                  <a:schemeClr val="bg2"/>
                </a:solidFill>
                <a:latin typeface="Arial" pitchFamily="34" charset="0"/>
                <a:cs typeface="Arial" pitchFamily="34" charset="0"/>
              </a:rPr>
              <a:t>FIngreso</a:t>
            </a:r>
            <a:endParaRPr lang="es-MX" sz="1100" b="1" dirty="0">
              <a:solidFill>
                <a:schemeClr val="bg2"/>
              </a:solidFill>
              <a:latin typeface="Arial" pitchFamily="34" charset="0"/>
              <a:cs typeface="Arial" pitchFamily="34" charset="0"/>
            </a:endParaRPr>
          </a:p>
        </p:txBody>
      </p:sp>
      <p:cxnSp>
        <p:nvCxnSpPr>
          <p:cNvPr id="22" name="119 Conector recto">
            <a:extLst>
              <a:ext uri="{FF2B5EF4-FFF2-40B4-BE49-F238E27FC236}">
                <a16:creationId xmlns:a16="http://schemas.microsoft.com/office/drawing/2014/main" id="{DABEA399-C96A-4917-B6B2-3924878A9218}"/>
              </a:ext>
            </a:extLst>
          </p:cNvPr>
          <p:cNvCxnSpPr>
            <a:cxnSpLocks/>
            <a:stCxn id="21" idx="4"/>
          </p:cNvCxnSpPr>
          <p:nvPr/>
        </p:nvCxnSpPr>
        <p:spPr>
          <a:xfrm flipH="1">
            <a:off x="3453070" y="3373790"/>
            <a:ext cx="828258" cy="1168741"/>
          </a:xfrm>
          <a:prstGeom prst="line">
            <a:avLst/>
          </a:prstGeom>
        </p:spPr>
        <p:style>
          <a:lnRef idx="1">
            <a:schemeClr val="accent1"/>
          </a:lnRef>
          <a:fillRef idx="0">
            <a:schemeClr val="accent1"/>
          </a:fillRef>
          <a:effectRef idx="0">
            <a:schemeClr val="accent1"/>
          </a:effectRef>
          <a:fontRef idx="minor">
            <a:schemeClr val="tx1"/>
          </a:fontRef>
        </p:style>
      </p:cxnSp>
      <p:sp>
        <p:nvSpPr>
          <p:cNvPr id="27" name="113 Elipse">
            <a:extLst>
              <a:ext uri="{FF2B5EF4-FFF2-40B4-BE49-F238E27FC236}">
                <a16:creationId xmlns:a16="http://schemas.microsoft.com/office/drawing/2014/main" id="{C0F8D618-76F2-477E-B7DF-63BD13AD1FFA}"/>
              </a:ext>
            </a:extLst>
          </p:cNvPr>
          <p:cNvSpPr/>
          <p:nvPr/>
        </p:nvSpPr>
        <p:spPr>
          <a:xfrm>
            <a:off x="4340206" y="3346044"/>
            <a:ext cx="1260475" cy="504825"/>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100" b="1" dirty="0" err="1">
                <a:solidFill>
                  <a:schemeClr val="bg2"/>
                </a:solidFill>
                <a:latin typeface="Arial" pitchFamily="34" charset="0"/>
                <a:cs typeface="Arial" pitchFamily="34" charset="0"/>
              </a:rPr>
              <a:t>GradoAc</a:t>
            </a:r>
            <a:endParaRPr lang="es-MX" sz="1100" b="1" dirty="0">
              <a:solidFill>
                <a:schemeClr val="bg2"/>
              </a:solidFill>
              <a:latin typeface="Arial" pitchFamily="34" charset="0"/>
              <a:cs typeface="Arial" pitchFamily="34" charset="0"/>
            </a:endParaRPr>
          </a:p>
        </p:txBody>
      </p:sp>
      <p:sp>
        <p:nvSpPr>
          <p:cNvPr id="30" name="113 Elipse">
            <a:extLst>
              <a:ext uri="{FF2B5EF4-FFF2-40B4-BE49-F238E27FC236}">
                <a16:creationId xmlns:a16="http://schemas.microsoft.com/office/drawing/2014/main" id="{B6A51440-56D8-490A-94B9-4AFB45DED83E}"/>
              </a:ext>
            </a:extLst>
          </p:cNvPr>
          <p:cNvSpPr/>
          <p:nvPr/>
        </p:nvSpPr>
        <p:spPr>
          <a:xfrm>
            <a:off x="4678135" y="3922517"/>
            <a:ext cx="1260475" cy="504825"/>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100" b="1" dirty="0">
                <a:solidFill>
                  <a:schemeClr val="bg2"/>
                </a:solidFill>
                <a:latin typeface="Arial" pitchFamily="34" charset="0"/>
                <a:cs typeface="Arial" pitchFamily="34" charset="0"/>
              </a:rPr>
              <a:t>Horario</a:t>
            </a:r>
          </a:p>
        </p:txBody>
      </p:sp>
      <p:cxnSp>
        <p:nvCxnSpPr>
          <p:cNvPr id="31" name="119 Conector recto">
            <a:extLst>
              <a:ext uri="{FF2B5EF4-FFF2-40B4-BE49-F238E27FC236}">
                <a16:creationId xmlns:a16="http://schemas.microsoft.com/office/drawing/2014/main" id="{39706AC8-44C4-4F85-9F67-7DB774EAA7EA}"/>
              </a:ext>
            </a:extLst>
          </p:cNvPr>
          <p:cNvCxnSpPr>
            <a:cxnSpLocks/>
            <a:endCxn id="4" idx="0"/>
          </p:cNvCxnSpPr>
          <p:nvPr/>
        </p:nvCxnSpPr>
        <p:spPr>
          <a:xfrm flipH="1">
            <a:off x="3787090" y="3817736"/>
            <a:ext cx="885156" cy="724795"/>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119 Conector recto">
            <a:extLst>
              <a:ext uri="{FF2B5EF4-FFF2-40B4-BE49-F238E27FC236}">
                <a16:creationId xmlns:a16="http://schemas.microsoft.com/office/drawing/2014/main" id="{D0EE445C-EEE8-42F6-B823-512BC63C1FC0}"/>
              </a:ext>
            </a:extLst>
          </p:cNvPr>
          <p:cNvCxnSpPr>
            <a:cxnSpLocks/>
          </p:cNvCxnSpPr>
          <p:nvPr/>
        </p:nvCxnSpPr>
        <p:spPr>
          <a:xfrm flipH="1">
            <a:off x="4281328" y="4334569"/>
            <a:ext cx="549950" cy="207962"/>
          </a:xfrm>
          <a:prstGeom prst="line">
            <a:avLst/>
          </a:prstGeom>
        </p:spPr>
        <p:style>
          <a:lnRef idx="1">
            <a:schemeClr val="accent1"/>
          </a:lnRef>
          <a:fillRef idx="0">
            <a:schemeClr val="accent1"/>
          </a:fillRef>
          <a:effectRef idx="0">
            <a:schemeClr val="accent1"/>
          </a:effectRef>
          <a:fontRef idx="minor">
            <a:schemeClr val="tx1"/>
          </a:fontRef>
        </p:style>
      </p:cxnSp>
      <p:sp>
        <p:nvSpPr>
          <p:cNvPr id="35" name="106 Elipse">
            <a:extLst>
              <a:ext uri="{FF2B5EF4-FFF2-40B4-BE49-F238E27FC236}">
                <a16:creationId xmlns:a16="http://schemas.microsoft.com/office/drawing/2014/main" id="{BDA26156-63A3-40FA-BB3D-AD9279FB48B8}"/>
              </a:ext>
            </a:extLst>
          </p:cNvPr>
          <p:cNvSpPr/>
          <p:nvPr/>
        </p:nvSpPr>
        <p:spPr>
          <a:xfrm>
            <a:off x="4620763" y="2313820"/>
            <a:ext cx="1260475" cy="503238"/>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400" b="1" dirty="0">
                <a:solidFill>
                  <a:schemeClr val="bg1"/>
                </a:solidFill>
                <a:latin typeface="Arial" pitchFamily="34" charset="0"/>
                <a:cs typeface="Arial" pitchFamily="34" charset="0"/>
              </a:rPr>
              <a:t>Aula</a:t>
            </a:r>
          </a:p>
        </p:txBody>
      </p:sp>
      <p:sp>
        <p:nvSpPr>
          <p:cNvPr id="36" name="112 Elipse">
            <a:extLst>
              <a:ext uri="{FF2B5EF4-FFF2-40B4-BE49-F238E27FC236}">
                <a16:creationId xmlns:a16="http://schemas.microsoft.com/office/drawing/2014/main" id="{25090AD0-7EFC-4248-BF44-843C508F0A39}"/>
              </a:ext>
            </a:extLst>
          </p:cNvPr>
          <p:cNvSpPr/>
          <p:nvPr/>
        </p:nvSpPr>
        <p:spPr>
          <a:xfrm>
            <a:off x="5415347" y="1823907"/>
            <a:ext cx="1262062" cy="504825"/>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400" b="1" dirty="0">
                <a:solidFill>
                  <a:schemeClr val="bg2"/>
                </a:solidFill>
                <a:latin typeface="Arial" pitchFamily="34" charset="0"/>
                <a:cs typeface="Arial" pitchFamily="34" charset="0"/>
              </a:rPr>
              <a:t>Dia</a:t>
            </a:r>
          </a:p>
        </p:txBody>
      </p:sp>
      <p:sp>
        <p:nvSpPr>
          <p:cNvPr id="37" name="113 Elipse">
            <a:extLst>
              <a:ext uri="{FF2B5EF4-FFF2-40B4-BE49-F238E27FC236}">
                <a16:creationId xmlns:a16="http://schemas.microsoft.com/office/drawing/2014/main" id="{02BC2461-D770-4742-B1D5-AFDE78941D38}"/>
              </a:ext>
            </a:extLst>
          </p:cNvPr>
          <p:cNvSpPr/>
          <p:nvPr/>
        </p:nvSpPr>
        <p:spPr>
          <a:xfrm>
            <a:off x="6559934" y="2133470"/>
            <a:ext cx="1260475" cy="504825"/>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100" b="1" dirty="0" err="1">
                <a:solidFill>
                  <a:schemeClr val="bg2"/>
                </a:solidFill>
                <a:latin typeface="Arial" pitchFamily="34" charset="0"/>
                <a:cs typeface="Arial" pitchFamily="34" charset="0"/>
              </a:rPr>
              <a:t>HoraIni</a:t>
            </a:r>
            <a:endParaRPr lang="es-MX" sz="1100" b="1" dirty="0">
              <a:solidFill>
                <a:schemeClr val="bg2"/>
              </a:solidFill>
              <a:latin typeface="Arial" pitchFamily="34" charset="0"/>
              <a:cs typeface="Arial" pitchFamily="34" charset="0"/>
            </a:endParaRPr>
          </a:p>
        </p:txBody>
      </p:sp>
      <p:cxnSp>
        <p:nvCxnSpPr>
          <p:cNvPr id="38" name="114 Conector recto">
            <a:extLst>
              <a:ext uri="{FF2B5EF4-FFF2-40B4-BE49-F238E27FC236}">
                <a16:creationId xmlns:a16="http://schemas.microsoft.com/office/drawing/2014/main" id="{ADD3BBEB-ACDF-455F-BB48-8356D40FBBBB}"/>
              </a:ext>
            </a:extLst>
          </p:cNvPr>
          <p:cNvCxnSpPr>
            <a:cxnSpLocks/>
            <a:stCxn id="35" idx="4"/>
          </p:cNvCxnSpPr>
          <p:nvPr/>
        </p:nvCxnSpPr>
        <p:spPr>
          <a:xfrm>
            <a:off x="5251001" y="2817058"/>
            <a:ext cx="1002953" cy="433387"/>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117 Conector recto">
            <a:extLst>
              <a:ext uri="{FF2B5EF4-FFF2-40B4-BE49-F238E27FC236}">
                <a16:creationId xmlns:a16="http://schemas.microsoft.com/office/drawing/2014/main" id="{32A2CF6B-3251-4DD7-88C4-579C8D4D4E8C}"/>
              </a:ext>
            </a:extLst>
          </p:cNvPr>
          <p:cNvCxnSpPr>
            <a:cxnSpLocks/>
            <a:stCxn id="36" idx="4"/>
          </p:cNvCxnSpPr>
          <p:nvPr/>
        </p:nvCxnSpPr>
        <p:spPr>
          <a:xfrm>
            <a:off x="6046378" y="2328732"/>
            <a:ext cx="207576" cy="921713"/>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119 Conector recto">
            <a:extLst>
              <a:ext uri="{FF2B5EF4-FFF2-40B4-BE49-F238E27FC236}">
                <a16:creationId xmlns:a16="http://schemas.microsoft.com/office/drawing/2014/main" id="{9114AB41-D067-41E6-8C52-1F697B77EEBB}"/>
              </a:ext>
            </a:extLst>
          </p:cNvPr>
          <p:cNvCxnSpPr>
            <a:cxnSpLocks/>
            <a:stCxn id="37" idx="4"/>
          </p:cNvCxnSpPr>
          <p:nvPr/>
        </p:nvCxnSpPr>
        <p:spPr>
          <a:xfrm flipH="1">
            <a:off x="6386476" y="2638295"/>
            <a:ext cx="803696" cy="530704"/>
          </a:xfrm>
          <a:prstGeom prst="line">
            <a:avLst/>
          </a:prstGeom>
        </p:spPr>
        <p:style>
          <a:lnRef idx="1">
            <a:schemeClr val="accent1"/>
          </a:lnRef>
          <a:fillRef idx="0">
            <a:schemeClr val="accent1"/>
          </a:fillRef>
          <a:effectRef idx="0">
            <a:schemeClr val="accent1"/>
          </a:effectRef>
          <a:fontRef idx="minor">
            <a:schemeClr val="tx1"/>
          </a:fontRef>
        </p:style>
      </p:cxnSp>
      <p:sp>
        <p:nvSpPr>
          <p:cNvPr id="48" name="112 Elipse">
            <a:extLst>
              <a:ext uri="{FF2B5EF4-FFF2-40B4-BE49-F238E27FC236}">
                <a16:creationId xmlns:a16="http://schemas.microsoft.com/office/drawing/2014/main" id="{394602CB-C5C3-45A3-9C0C-1FBAC09F4B99}"/>
              </a:ext>
            </a:extLst>
          </p:cNvPr>
          <p:cNvSpPr/>
          <p:nvPr/>
        </p:nvSpPr>
        <p:spPr>
          <a:xfrm>
            <a:off x="5872543" y="3168999"/>
            <a:ext cx="1262062" cy="504825"/>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400" b="1" dirty="0">
                <a:solidFill>
                  <a:schemeClr val="bg2"/>
                </a:solidFill>
                <a:latin typeface="Arial" pitchFamily="34" charset="0"/>
                <a:cs typeface="Arial" pitchFamily="34" charset="0"/>
              </a:rPr>
              <a:t>Horario</a:t>
            </a:r>
          </a:p>
        </p:txBody>
      </p:sp>
      <p:sp>
        <p:nvSpPr>
          <p:cNvPr id="53" name="113 Elipse">
            <a:extLst>
              <a:ext uri="{FF2B5EF4-FFF2-40B4-BE49-F238E27FC236}">
                <a16:creationId xmlns:a16="http://schemas.microsoft.com/office/drawing/2014/main" id="{9084663E-4B7B-4223-9FE7-D238B698FD0B}"/>
              </a:ext>
            </a:extLst>
          </p:cNvPr>
          <p:cNvSpPr/>
          <p:nvPr/>
        </p:nvSpPr>
        <p:spPr>
          <a:xfrm>
            <a:off x="7123155" y="2643682"/>
            <a:ext cx="1260475" cy="504825"/>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100" b="1" dirty="0" err="1">
                <a:solidFill>
                  <a:schemeClr val="bg2"/>
                </a:solidFill>
                <a:latin typeface="Arial" pitchFamily="34" charset="0"/>
                <a:cs typeface="Arial" pitchFamily="34" charset="0"/>
              </a:rPr>
              <a:t>HoraFin</a:t>
            </a:r>
            <a:endParaRPr lang="es-MX" sz="1100" b="1" dirty="0">
              <a:solidFill>
                <a:schemeClr val="bg2"/>
              </a:solidFill>
              <a:latin typeface="Arial" pitchFamily="34" charset="0"/>
              <a:cs typeface="Arial" pitchFamily="34" charset="0"/>
            </a:endParaRPr>
          </a:p>
        </p:txBody>
      </p:sp>
      <p:cxnSp>
        <p:nvCxnSpPr>
          <p:cNvPr id="54" name="119 Conector recto">
            <a:extLst>
              <a:ext uri="{FF2B5EF4-FFF2-40B4-BE49-F238E27FC236}">
                <a16:creationId xmlns:a16="http://schemas.microsoft.com/office/drawing/2014/main" id="{35784BF2-31C5-493D-8DD1-F807FC99BE76}"/>
              </a:ext>
            </a:extLst>
          </p:cNvPr>
          <p:cNvCxnSpPr>
            <a:cxnSpLocks/>
            <a:stCxn id="53" idx="4"/>
          </p:cNvCxnSpPr>
          <p:nvPr/>
        </p:nvCxnSpPr>
        <p:spPr>
          <a:xfrm flipH="1">
            <a:off x="7015955" y="3148507"/>
            <a:ext cx="737438" cy="172892"/>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117 Conector recto">
            <a:extLst>
              <a:ext uri="{FF2B5EF4-FFF2-40B4-BE49-F238E27FC236}">
                <a16:creationId xmlns:a16="http://schemas.microsoft.com/office/drawing/2014/main" id="{8CF00FF8-16FD-4F23-AEEC-DF4E5C975493}"/>
              </a:ext>
            </a:extLst>
          </p:cNvPr>
          <p:cNvCxnSpPr>
            <a:cxnSpLocks/>
            <a:stCxn id="58" idx="4"/>
            <a:endCxn id="6" idx="0"/>
          </p:cNvCxnSpPr>
          <p:nvPr/>
        </p:nvCxnSpPr>
        <p:spPr>
          <a:xfrm flipH="1">
            <a:off x="6411534" y="3696600"/>
            <a:ext cx="82306" cy="444294"/>
          </a:xfrm>
          <a:prstGeom prst="line">
            <a:avLst/>
          </a:prstGeom>
        </p:spPr>
        <p:style>
          <a:lnRef idx="1">
            <a:schemeClr val="accent1"/>
          </a:lnRef>
          <a:fillRef idx="0">
            <a:schemeClr val="accent1"/>
          </a:fillRef>
          <a:effectRef idx="0">
            <a:schemeClr val="accent1"/>
          </a:effectRef>
          <a:fontRef idx="minor">
            <a:schemeClr val="tx1"/>
          </a:fontRef>
        </p:style>
      </p:cxnSp>
      <p:sp>
        <p:nvSpPr>
          <p:cNvPr id="58" name="112 Elipse">
            <a:extLst>
              <a:ext uri="{FF2B5EF4-FFF2-40B4-BE49-F238E27FC236}">
                <a16:creationId xmlns:a16="http://schemas.microsoft.com/office/drawing/2014/main" id="{55F6B116-0CB7-43E2-ABE7-F73705ACB095}"/>
              </a:ext>
            </a:extLst>
          </p:cNvPr>
          <p:cNvSpPr/>
          <p:nvPr/>
        </p:nvSpPr>
        <p:spPr>
          <a:xfrm>
            <a:off x="5810002" y="3142848"/>
            <a:ext cx="1367675" cy="553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MX" sz="1400" b="1" dirty="0">
              <a:solidFill>
                <a:schemeClr val="bg2"/>
              </a:solidFill>
              <a:latin typeface="Arial" pitchFamily="34" charset="0"/>
              <a:cs typeface="Arial" pitchFamily="34" charset="0"/>
            </a:endParaRPr>
          </a:p>
        </p:txBody>
      </p:sp>
      <p:sp>
        <p:nvSpPr>
          <p:cNvPr id="59" name="112 Elipse">
            <a:extLst>
              <a:ext uri="{FF2B5EF4-FFF2-40B4-BE49-F238E27FC236}">
                <a16:creationId xmlns:a16="http://schemas.microsoft.com/office/drawing/2014/main" id="{72C26623-BE63-409D-8452-2D0874EE654A}"/>
              </a:ext>
            </a:extLst>
          </p:cNvPr>
          <p:cNvSpPr/>
          <p:nvPr/>
        </p:nvSpPr>
        <p:spPr>
          <a:xfrm>
            <a:off x="4622552" y="3898498"/>
            <a:ext cx="1367675" cy="553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MX" sz="1400" b="1" dirty="0">
              <a:solidFill>
                <a:schemeClr val="bg2"/>
              </a:solidFill>
              <a:latin typeface="Arial" pitchFamily="34" charset="0"/>
              <a:cs typeface="Arial" pitchFamily="34" charset="0"/>
            </a:endParaRPr>
          </a:p>
        </p:txBody>
      </p:sp>
      <p:cxnSp>
        <p:nvCxnSpPr>
          <p:cNvPr id="69" name="74 Conector recto">
            <a:extLst>
              <a:ext uri="{FF2B5EF4-FFF2-40B4-BE49-F238E27FC236}">
                <a16:creationId xmlns:a16="http://schemas.microsoft.com/office/drawing/2014/main" id="{7C7665BE-D841-458D-A1D6-3938365C290F}"/>
              </a:ext>
            </a:extLst>
          </p:cNvPr>
          <p:cNvCxnSpPr>
            <a:cxnSpLocks/>
            <a:stCxn id="71" idx="0"/>
          </p:cNvCxnSpPr>
          <p:nvPr/>
        </p:nvCxnSpPr>
        <p:spPr>
          <a:xfrm flipH="1" flipV="1">
            <a:off x="6677409" y="5145301"/>
            <a:ext cx="566317" cy="351732"/>
          </a:xfrm>
          <a:prstGeom prst="line">
            <a:avLst/>
          </a:prstGeom>
        </p:spPr>
        <p:style>
          <a:lnRef idx="1">
            <a:schemeClr val="accent1"/>
          </a:lnRef>
          <a:fillRef idx="0">
            <a:schemeClr val="accent1"/>
          </a:fillRef>
          <a:effectRef idx="0">
            <a:schemeClr val="accent1"/>
          </a:effectRef>
          <a:fontRef idx="minor">
            <a:schemeClr val="tx1"/>
          </a:fontRef>
        </p:style>
      </p:cxnSp>
      <p:sp>
        <p:nvSpPr>
          <p:cNvPr id="70" name="65 Elipse">
            <a:extLst>
              <a:ext uri="{FF2B5EF4-FFF2-40B4-BE49-F238E27FC236}">
                <a16:creationId xmlns:a16="http://schemas.microsoft.com/office/drawing/2014/main" id="{BDA75F58-635A-4A01-A909-E156BEB11791}"/>
              </a:ext>
            </a:extLst>
          </p:cNvPr>
          <p:cNvSpPr/>
          <p:nvPr/>
        </p:nvSpPr>
        <p:spPr>
          <a:xfrm>
            <a:off x="4946175" y="5493142"/>
            <a:ext cx="1290581" cy="670265"/>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200" b="1" dirty="0" err="1">
                <a:solidFill>
                  <a:schemeClr val="bg2"/>
                </a:solidFill>
                <a:latin typeface="Arial" pitchFamily="34" charset="0"/>
                <a:cs typeface="Arial" pitchFamily="34" charset="0"/>
              </a:rPr>
              <a:t>TipoExam</a:t>
            </a:r>
            <a:endParaRPr lang="es-MX" sz="1200" b="1" dirty="0">
              <a:solidFill>
                <a:schemeClr val="bg2"/>
              </a:solidFill>
              <a:latin typeface="Arial" pitchFamily="34" charset="0"/>
              <a:cs typeface="Arial" pitchFamily="34" charset="0"/>
            </a:endParaRPr>
          </a:p>
        </p:txBody>
      </p:sp>
      <p:sp>
        <p:nvSpPr>
          <p:cNvPr id="71" name="65 Elipse">
            <a:extLst>
              <a:ext uri="{FF2B5EF4-FFF2-40B4-BE49-F238E27FC236}">
                <a16:creationId xmlns:a16="http://schemas.microsoft.com/office/drawing/2014/main" id="{8A48D9C7-69DF-475C-8AAF-3000DFAB3803}"/>
              </a:ext>
            </a:extLst>
          </p:cNvPr>
          <p:cNvSpPr/>
          <p:nvPr/>
        </p:nvSpPr>
        <p:spPr>
          <a:xfrm>
            <a:off x="6640598" y="5497033"/>
            <a:ext cx="1206256" cy="669471"/>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MX" sz="1400" b="1" dirty="0">
                <a:solidFill>
                  <a:schemeClr val="bg2"/>
                </a:solidFill>
                <a:latin typeface="Arial" pitchFamily="34" charset="0"/>
                <a:cs typeface="Arial" pitchFamily="34" charset="0"/>
              </a:rPr>
              <a:t>Periodo</a:t>
            </a:r>
          </a:p>
        </p:txBody>
      </p:sp>
      <p:cxnSp>
        <p:nvCxnSpPr>
          <p:cNvPr id="72" name="74 Conector recto">
            <a:extLst>
              <a:ext uri="{FF2B5EF4-FFF2-40B4-BE49-F238E27FC236}">
                <a16:creationId xmlns:a16="http://schemas.microsoft.com/office/drawing/2014/main" id="{804560FC-2B2B-40EA-84A1-C978EC964823}"/>
              </a:ext>
            </a:extLst>
          </p:cNvPr>
          <p:cNvCxnSpPr>
            <a:cxnSpLocks/>
            <a:endCxn id="70" idx="0"/>
          </p:cNvCxnSpPr>
          <p:nvPr/>
        </p:nvCxnSpPr>
        <p:spPr>
          <a:xfrm flipH="1">
            <a:off x="5591466" y="5145301"/>
            <a:ext cx="599604" cy="347841"/>
          </a:xfrm>
          <a:prstGeom prst="line">
            <a:avLst/>
          </a:prstGeom>
        </p:spPr>
        <p:style>
          <a:lnRef idx="1">
            <a:schemeClr val="accent1"/>
          </a:lnRef>
          <a:fillRef idx="0">
            <a:schemeClr val="accent1"/>
          </a:fillRef>
          <a:effectRef idx="0">
            <a:schemeClr val="accent1"/>
          </a:effectRef>
          <a:fontRef idx="minor">
            <a:schemeClr val="tx1"/>
          </a:fontRef>
        </p:style>
      </p:cxnSp>
      <p:sp>
        <p:nvSpPr>
          <p:cNvPr id="42" name="CuadroTexto 41">
            <a:extLst>
              <a:ext uri="{FF2B5EF4-FFF2-40B4-BE49-F238E27FC236}">
                <a16:creationId xmlns:a16="http://schemas.microsoft.com/office/drawing/2014/main" id="{FA233C3F-F6BD-461B-B592-23D20359B314}"/>
              </a:ext>
            </a:extLst>
          </p:cNvPr>
          <p:cNvSpPr txBox="1"/>
          <p:nvPr/>
        </p:nvSpPr>
        <p:spPr>
          <a:xfrm>
            <a:off x="7365763" y="4326782"/>
            <a:ext cx="487356" cy="369332"/>
          </a:xfrm>
          <a:prstGeom prst="rect">
            <a:avLst/>
          </a:prstGeom>
          <a:noFill/>
        </p:spPr>
        <p:txBody>
          <a:bodyPr wrap="square" rtlCol="0">
            <a:spAutoFit/>
          </a:bodyPr>
          <a:lstStyle/>
          <a:p>
            <a:r>
              <a:rPr lang="es-MX" dirty="0"/>
              <a:t>n</a:t>
            </a:r>
          </a:p>
        </p:txBody>
      </p:sp>
      <p:sp>
        <p:nvSpPr>
          <p:cNvPr id="43" name="CuadroTexto 42">
            <a:extLst>
              <a:ext uri="{FF2B5EF4-FFF2-40B4-BE49-F238E27FC236}">
                <a16:creationId xmlns:a16="http://schemas.microsoft.com/office/drawing/2014/main" id="{F02F2B95-7731-4184-9D5C-BE427689A636}"/>
              </a:ext>
            </a:extLst>
          </p:cNvPr>
          <p:cNvSpPr txBox="1"/>
          <p:nvPr/>
        </p:nvSpPr>
        <p:spPr>
          <a:xfrm>
            <a:off x="4920735" y="4346662"/>
            <a:ext cx="487356" cy="369332"/>
          </a:xfrm>
          <a:prstGeom prst="rect">
            <a:avLst/>
          </a:prstGeom>
          <a:noFill/>
        </p:spPr>
        <p:txBody>
          <a:bodyPr wrap="square" rtlCol="0">
            <a:spAutoFit/>
          </a:bodyPr>
          <a:lstStyle/>
          <a:p>
            <a:r>
              <a:rPr lang="es-MX" dirty="0"/>
              <a:t>n</a:t>
            </a:r>
          </a:p>
        </p:txBody>
      </p:sp>
      <p:sp>
        <p:nvSpPr>
          <p:cNvPr id="3" name="CuadroTexto 2">
            <a:extLst>
              <a:ext uri="{FF2B5EF4-FFF2-40B4-BE49-F238E27FC236}">
                <a16:creationId xmlns:a16="http://schemas.microsoft.com/office/drawing/2014/main" id="{C416249B-7883-35B4-E7C7-9734CF61BF56}"/>
              </a:ext>
            </a:extLst>
          </p:cNvPr>
          <p:cNvSpPr txBox="1"/>
          <p:nvPr/>
        </p:nvSpPr>
        <p:spPr>
          <a:xfrm>
            <a:off x="902233" y="990462"/>
            <a:ext cx="9443245" cy="523220"/>
          </a:xfrm>
          <a:prstGeom prst="rect">
            <a:avLst/>
          </a:prstGeom>
          <a:noFill/>
        </p:spPr>
        <p:txBody>
          <a:bodyPr wrap="square">
            <a:spAutoFit/>
          </a:bodyPr>
          <a:lstStyle/>
          <a:p>
            <a:r>
              <a:rPr lang="es-MX" sz="2800" b="1" dirty="0" err="1"/>
              <a:t>SiCSE</a:t>
            </a:r>
            <a:r>
              <a:rPr lang="es-MX" sz="2800" b="1" dirty="0"/>
              <a:t> (Sistema de Control y Seguimiento Escolar)</a:t>
            </a:r>
            <a:endParaRPr lang="es-MX" sz="2800" dirty="0"/>
          </a:p>
        </p:txBody>
      </p:sp>
    </p:spTree>
    <p:extLst>
      <p:ext uri="{BB962C8B-B14F-4D97-AF65-F5344CB8AC3E}">
        <p14:creationId xmlns:p14="http://schemas.microsoft.com/office/powerpoint/2010/main" val="2924802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903024"/>
            <a:ext cx="10245091" cy="672244"/>
          </a:xfrm>
        </p:spPr>
        <p:txBody>
          <a:bodyPr/>
          <a:lstStyle/>
          <a:p>
            <a:r>
              <a:rPr lang="en-US" dirty="0"/>
              <a:t>BD Escolar – DER (</a:t>
            </a:r>
            <a:r>
              <a:rPr lang="en-US" dirty="0" err="1"/>
              <a:t>Incompleto</a:t>
            </a:r>
            <a:r>
              <a:rPr lang="en-US" dirty="0"/>
              <a:t>)</a:t>
            </a:r>
            <a:endParaRPr lang="es-MX" dirty="0"/>
          </a:p>
        </p:txBody>
      </p:sp>
      <p:sp>
        <p:nvSpPr>
          <p:cNvPr id="4" name="1 Rectángulo"/>
          <p:cNvSpPr/>
          <p:nvPr/>
        </p:nvSpPr>
        <p:spPr>
          <a:xfrm>
            <a:off x="2378495" y="2493884"/>
            <a:ext cx="1944687"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b="1" dirty="0">
                <a:solidFill>
                  <a:srgbClr val="FFFF00"/>
                </a:solidFill>
                <a:latin typeface="Arial" pitchFamily="34" charset="0"/>
                <a:cs typeface="Arial" pitchFamily="34" charset="0"/>
              </a:rPr>
              <a:t>Alumno</a:t>
            </a:r>
          </a:p>
        </p:txBody>
      </p:sp>
      <p:sp>
        <p:nvSpPr>
          <p:cNvPr id="5" name="3 Rectángulo"/>
          <p:cNvSpPr/>
          <p:nvPr/>
        </p:nvSpPr>
        <p:spPr>
          <a:xfrm>
            <a:off x="7420395" y="2493884"/>
            <a:ext cx="19431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b="1" dirty="0">
                <a:solidFill>
                  <a:srgbClr val="FFFF00"/>
                </a:solidFill>
                <a:latin typeface="Arial" pitchFamily="34" charset="0"/>
                <a:cs typeface="Arial" pitchFamily="34" charset="0"/>
              </a:rPr>
              <a:t>Carrera</a:t>
            </a:r>
          </a:p>
        </p:txBody>
      </p:sp>
      <p:sp>
        <p:nvSpPr>
          <p:cNvPr id="6" name="5 Rectángulo"/>
          <p:cNvSpPr/>
          <p:nvPr/>
        </p:nvSpPr>
        <p:spPr>
          <a:xfrm>
            <a:off x="2451520" y="5810172"/>
            <a:ext cx="19431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b="1" dirty="0">
                <a:solidFill>
                  <a:srgbClr val="FFFF00"/>
                </a:solidFill>
                <a:latin typeface="Arial" pitchFamily="34" charset="0"/>
                <a:cs typeface="Arial" pitchFamily="34" charset="0"/>
              </a:rPr>
              <a:t>Profesores</a:t>
            </a:r>
          </a:p>
        </p:txBody>
      </p:sp>
      <p:sp>
        <p:nvSpPr>
          <p:cNvPr id="7" name="6 Rectángulo"/>
          <p:cNvSpPr/>
          <p:nvPr/>
        </p:nvSpPr>
        <p:spPr>
          <a:xfrm>
            <a:off x="7420395" y="5784772"/>
            <a:ext cx="19431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b="1" dirty="0">
                <a:solidFill>
                  <a:srgbClr val="FFFF00"/>
                </a:solidFill>
                <a:latin typeface="Arial" pitchFamily="34" charset="0"/>
                <a:cs typeface="Arial" pitchFamily="34" charset="0"/>
              </a:rPr>
              <a:t>Materias</a:t>
            </a:r>
          </a:p>
        </p:txBody>
      </p:sp>
      <p:sp>
        <p:nvSpPr>
          <p:cNvPr id="8" name="20 Rombo"/>
          <p:cNvSpPr/>
          <p:nvPr/>
        </p:nvSpPr>
        <p:spPr>
          <a:xfrm>
            <a:off x="5359820" y="2092247"/>
            <a:ext cx="1176337" cy="1258887"/>
          </a:xfrm>
          <a:prstGeom prst="diamond">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200" b="1" dirty="0">
                <a:solidFill>
                  <a:schemeClr val="bg2"/>
                </a:solidFill>
                <a:latin typeface="Arial" pitchFamily="34" charset="0"/>
                <a:cs typeface="Arial" pitchFamily="34" charset="0"/>
              </a:rPr>
              <a:t>Tiene</a:t>
            </a:r>
          </a:p>
        </p:txBody>
      </p:sp>
      <p:sp>
        <p:nvSpPr>
          <p:cNvPr id="9" name="23 Rombo"/>
          <p:cNvSpPr/>
          <p:nvPr/>
        </p:nvSpPr>
        <p:spPr>
          <a:xfrm>
            <a:off x="7489090" y="3738484"/>
            <a:ext cx="1775241" cy="1203325"/>
          </a:xfrm>
          <a:prstGeom prst="diamond">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200" b="1" dirty="0">
                <a:solidFill>
                  <a:schemeClr val="bg2"/>
                </a:solidFill>
                <a:latin typeface="Arial" pitchFamily="34" charset="0"/>
                <a:cs typeface="Arial" pitchFamily="34" charset="0"/>
              </a:rPr>
              <a:t>Compone</a:t>
            </a:r>
          </a:p>
        </p:txBody>
      </p:sp>
      <p:sp>
        <p:nvSpPr>
          <p:cNvPr id="10" name="24 Rombo"/>
          <p:cNvSpPr/>
          <p:nvPr/>
        </p:nvSpPr>
        <p:spPr>
          <a:xfrm>
            <a:off x="5123282" y="5508931"/>
            <a:ext cx="1752600" cy="1034561"/>
          </a:xfrm>
          <a:prstGeom prst="diamond">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400" b="1" dirty="0">
                <a:solidFill>
                  <a:schemeClr val="bg2"/>
                </a:solidFill>
                <a:latin typeface="Arial" pitchFamily="34" charset="0"/>
                <a:cs typeface="Arial" pitchFamily="34" charset="0"/>
              </a:rPr>
              <a:t>Grupos</a:t>
            </a:r>
          </a:p>
        </p:txBody>
      </p:sp>
      <p:cxnSp>
        <p:nvCxnSpPr>
          <p:cNvPr id="11" name="25 Conector recto"/>
          <p:cNvCxnSpPr>
            <a:stCxn id="4" idx="3"/>
            <a:endCxn id="8" idx="1"/>
          </p:cNvCxnSpPr>
          <p:nvPr/>
        </p:nvCxnSpPr>
        <p:spPr>
          <a:xfrm>
            <a:off x="4323182" y="2722484"/>
            <a:ext cx="103663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28 Conector recto"/>
          <p:cNvCxnSpPr>
            <a:stCxn id="8" idx="3"/>
            <a:endCxn id="5" idx="1"/>
          </p:cNvCxnSpPr>
          <p:nvPr/>
        </p:nvCxnSpPr>
        <p:spPr>
          <a:xfrm>
            <a:off x="6536157" y="2722484"/>
            <a:ext cx="88423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31 Conector recto"/>
          <p:cNvCxnSpPr>
            <a:cxnSpLocks/>
            <a:stCxn id="5" idx="2"/>
            <a:endCxn id="9" idx="0"/>
          </p:cNvCxnSpPr>
          <p:nvPr/>
        </p:nvCxnSpPr>
        <p:spPr>
          <a:xfrm flipH="1">
            <a:off x="8376711" y="2951084"/>
            <a:ext cx="15234" cy="787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34 Conector recto"/>
          <p:cNvCxnSpPr>
            <a:cxnSpLocks/>
            <a:stCxn id="9" idx="2"/>
            <a:endCxn id="7" idx="0"/>
          </p:cNvCxnSpPr>
          <p:nvPr/>
        </p:nvCxnSpPr>
        <p:spPr>
          <a:xfrm>
            <a:off x="8376711" y="4941809"/>
            <a:ext cx="15234" cy="8429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37 Conector recto"/>
          <p:cNvCxnSpPr>
            <a:stCxn id="6" idx="3"/>
            <a:endCxn id="10" idx="1"/>
          </p:cNvCxnSpPr>
          <p:nvPr/>
        </p:nvCxnSpPr>
        <p:spPr>
          <a:xfrm flipV="1">
            <a:off x="4394620" y="6026212"/>
            <a:ext cx="728662" cy="12560"/>
          </a:xfrm>
          <a:prstGeom prst="line">
            <a:avLst/>
          </a:prstGeom>
        </p:spPr>
        <p:style>
          <a:lnRef idx="1">
            <a:schemeClr val="accent1"/>
          </a:lnRef>
          <a:fillRef idx="0">
            <a:schemeClr val="accent1"/>
          </a:fillRef>
          <a:effectRef idx="0">
            <a:schemeClr val="accent1"/>
          </a:effectRef>
          <a:fontRef idx="minor">
            <a:schemeClr val="tx1"/>
          </a:fontRef>
        </p:style>
      </p:cxnSp>
      <p:sp>
        <p:nvSpPr>
          <p:cNvPr id="17" name="43 Rombo"/>
          <p:cNvSpPr/>
          <p:nvPr/>
        </p:nvSpPr>
        <p:spPr>
          <a:xfrm>
            <a:off x="3675481" y="3608309"/>
            <a:ext cx="2277152" cy="1404938"/>
          </a:xfrm>
          <a:prstGeom prst="diamond">
            <a:avLst/>
          </a:prstGeom>
          <a:solidFill>
            <a:schemeClr val="accent2">
              <a:lumMod val="75000"/>
            </a:schemeClr>
          </a:solidFill>
          <a:ln>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400" b="1" dirty="0">
                <a:solidFill>
                  <a:schemeClr val="bg2"/>
                </a:solidFill>
                <a:latin typeface="Arial" pitchFamily="34" charset="0"/>
                <a:cs typeface="Arial" pitchFamily="34" charset="0"/>
              </a:rPr>
              <a:t>Inscripción</a:t>
            </a:r>
          </a:p>
        </p:txBody>
      </p:sp>
      <p:cxnSp>
        <p:nvCxnSpPr>
          <p:cNvPr id="18" name="45 Conector recto"/>
          <p:cNvCxnSpPr>
            <a:cxnSpLocks/>
            <a:stCxn id="4" idx="2"/>
            <a:endCxn id="17" idx="0"/>
          </p:cNvCxnSpPr>
          <p:nvPr/>
        </p:nvCxnSpPr>
        <p:spPr>
          <a:xfrm>
            <a:off x="3350839" y="2951084"/>
            <a:ext cx="1463218" cy="6572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48 Conector recto"/>
          <p:cNvCxnSpPr>
            <a:cxnSpLocks/>
            <a:stCxn id="17" idx="2"/>
            <a:endCxn id="10" idx="0"/>
          </p:cNvCxnSpPr>
          <p:nvPr/>
        </p:nvCxnSpPr>
        <p:spPr>
          <a:xfrm>
            <a:off x="4814057" y="5013247"/>
            <a:ext cx="1185525" cy="495684"/>
          </a:xfrm>
          <a:prstGeom prst="line">
            <a:avLst/>
          </a:prstGeom>
        </p:spPr>
        <p:style>
          <a:lnRef idx="1">
            <a:schemeClr val="accent1"/>
          </a:lnRef>
          <a:fillRef idx="0">
            <a:schemeClr val="accent1"/>
          </a:fillRef>
          <a:effectRef idx="0">
            <a:schemeClr val="accent1"/>
          </a:effectRef>
          <a:fontRef idx="minor">
            <a:schemeClr val="tx1"/>
          </a:fontRef>
        </p:style>
      </p:cxnSp>
      <p:sp>
        <p:nvSpPr>
          <p:cNvPr id="20" name="51 Elipse"/>
          <p:cNvSpPr/>
          <p:nvPr/>
        </p:nvSpPr>
        <p:spPr>
          <a:xfrm>
            <a:off x="1706983" y="3417809"/>
            <a:ext cx="1752599" cy="642938"/>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400" b="1" dirty="0" err="1">
                <a:solidFill>
                  <a:schemeClr val="bg2"/>
                </a:solidFill>
                <a:latin typeface="Arial" pitchFamily="34" charset="0"/>
                <a:cs typeface="Arial" pitchFamily="34" charset="0"/>
              </a:rPr>
              <a:t>Calificacion</a:t>
            </a:r>
            <a:endParaRPr lang="es-MX" sz="1400" b="1" dirty="0">
              <a:solidFill>
                <a:schemeClr val="bg2"/>
              </a:solidFill>
              <a:latin typeface="Arial" pitchFamily="34" charset="0"/>
              <a:cs typeface="Arial" pitchFamily="34" charset="0"/>
            </a:endParaRPr>
          </a:p>
        </p:txBody>
      </p:sp>
      <p:sp>
        <p:nvSpPr>
          <p:cNvPr id="21" name="57 Elipse"/>
          <p:cNvSpPr/>
          <p:nvPr/>
        </p:nvSpPr>
        <p:spPr>
          <a:xfrm>
            <a:off x="1655265" y="4153874"/>
            <a:ext cx="1404937" cy="642938"/>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400" b="1" dirty="0" err="1">
                <a:solidFill>
                  <a:schemeClr val="bg2"/>
                </a:solidFill>
                <a:latin typeface="Arial" pitchFamily="34" charset="0"/>
                <a:cs typeface="Arial" pitchFamily="34" charset="0"/>
              </a:rPr>
              <a:t>TipoExa</a:t>
            </a:r>
            <a:endParaRPr lang="es-MX" sz="1400" b="1" dirty="0">
              <a:solidFill>
                <a:schemeClr val="bg2"/>
              </a:solidFill>
              <a:latin typeface="Arial" pitchFamily="34" charset="0"/>
              <a:cs typeface="Arial" pitchFamily="34" charset="0"/>
            </a:endParaRPr>
          </a:p>
        </p:txBody>
      </p:sp>
      <p:cxnSp>
        <p:nvCxnSpPr>
          <p:cNvPr id="22" name="58 Conector recto"/>
          <p:cNvCxnSpPr>
            <a:cxnSpLocks/>
            <a:stCxn id="20" idx="6"/>
          </p:cNvCxnSpPr>
          <p:nvPr/>
        </p:nvCxnSpPr>
        <p:spPr>
          <a:xfrm>
            <a:off x="3459582" y="3739278"/>
            <a:ext cx="546934" cy="4145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61 Conector recto"/>
          <p:cNvCxnSpPr>
            <a:cxnSpLocks/>
            <a:stCxn id="21" idx="6"/>
            <a:endCxn id="17" idx="1"/>
          </p:cNvCxnSpPr>
          <p:nvPr/>
        </p:nvCxnSpPr>
        <p:spPr>
          <a:xfrm flipV="1">
            <a:off x="3060202" y="4310778"/>
            <a:ext cx="615279" cy="164565"/>
          </a:xfrm>
          <a:prstGeom prst="line">
            <a:avLst/>
          </a:prstGeom>
        </p:spPr>
        <p:style>
          <a:lnRef idx="1">
            <a:schemeClr val="accent1"/>
          </a:lnRef>
          <a:fillRef idx="0">
            <a:schemeClr val="accent1"/>
          </a:fillRef>
          <a:effectRef idx="0">
            <a:schemeClr val="accent1"/>
          </a:effectRef>
          <a:fontRef idx="minor">
            <a:schemeClr val="tx1"/>
          </a:fontRef>
        </p:style>
      </p:cxnSp>
      <p:sp>
        <p:nvSpPr>
          <p:cNvPr id="35" name="57 Elipse"/>
          <p:cNvSpPr/>
          <p:nvPr/>
        </p:nvSpPr>
        <p:spPr>
          <a:xfrm>
            <a:off x="2312147" y="4747711"/>
            <a:ext cx="1404937" cy="642938"/>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400" b="1" dirty="0">
                <a:solidFill>
                  <a:schemeClr val="bg2"/>
                </a:solidFill>
                <a:latin typeface="Arial" pitchFamily="34" charset="0"/>
                <a:cs typeface="Arial" pitchFamily="34" charset="0"/>
              </a:rPr>
              <a:t>Periodo</a:t>
            </a:r>
          </a:p>
        </p:txBody>
      </p:sp>
      <p:cxnSp>
        <p:nvCxnSpPr>
          <p:cNvPr id="36" name="61 Conector recto"/>
          <p:cNvCxnSpPr>
            <a:cxnSpLocks/>
          </p:cNvCxnSpPr>
          <p:nvPr/>
        </p:nvCxnSpPr>
        <p:spPr>
          <a:xfrm flipV="1">
            <a:off x="3675482" y="4644189"/>
            <a:ext cx="511507" cy="297622"/>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28 Conector recto">
            <a:extLst>
              <a:ext uri="{FF2B5EF4-FFF2-40B4-BE49-F238E27FC236}">
                <a16:creationId xmlns:a16="http://schemas.microsoft.com/office/drawing/2014/main" id="{CCBD3B4D-D79E-4110-99DC-75380A5EC7FA}"/>
              </a:ext>
            </a:extLst>
          </p:cNvPr>
          <p:cNvCxnSpPr>
            <a:cxnSpLocks/>
            <a:endCxn id="7" idx="1"/>
          </p:cNvCxnSpPr>
          <p:nvPr/>
        </p:nvCxnSpPr>
        <p:spPr>
          <a:xfrm flipV="1">
            <a:off x="6796845" y="6013372"/>
            <a:ext cx="623550" cy="13782"/>
          </a:xfrm>
          <a:prstGeom prst="line">
            <a:avLst/>
          </a:prstGeom>
        </p:spPr>
        <p:style>
          <a:lnRef idx="1">
            <a:schemeClr val="accent1"/>
          </a:lnRef>
          <a:fillRef idx="0">
            <a:schemeClr val="accent1"/>
          </a:fillRef>
          <a:effectRef idx="0">
            <a:schemeClr val="accent1"/>
          </a:effectRef>
          <a:fontRef idx="minor">
            <a:schemeClr val="tx1"/>
          </a:fontRef>
        </p:style>
      </p:cxnSp>
      <p:sp>
        <p:nvSpPr>
          <p:cNvPr id="3" name="CuadroTexto 2">
            <a:extLst>
              <a:ext uri="{FF2B5EF4-FFF2-40B4-BE49-F238E27FC236}">
                <a16:creationId xmlns:a16="http://schemas.microsoft.com/office/drawing/2014/main" id="{04282ED6-49D7-0809-A3E3-5C511A8ADEBC}"/>
              </a:ext>
            </a:extLst>
          </p:cNvPr>
          <p:cNvSpPr txBox="1"/>
          <p:nvPr/>
        </p:nvSpPr>
        <p:spPr>
          <a:xfrm>
            <a:off x="8378450" y="2998377"/>
            <a:ext cx="297711" cy="369332"/>
          </a:xfrm>
          <a:prstGeom prst="rect">
            <a:avLst/>
          </a:prstGeom>
          <a:noFill/>
        </p:spPr>
        <p:txBody>
          <a:bodyPr wrap="square" rtlCol="0">
            <a:spAutoFit/>
          </a:bodyPr>
          <a:lstStyle/>
          <a:p>
            <a:r>
              <a:rPr lang="es-ES" dirty="0"/>
              <a:t>1</a:t>
            </a:r>
            <a:endParaRPr lang="es-MX" dirty="0"/>
          </a:p>
        </p:txBody>
      </p:sp>
      <p:sp>
        <p:nvSpPr>
          <p:cNvPr id="16" name="CuadroTexto 15">
            <a:extLst>
              <a:ext uri="{FF2B5EF4-FFF2-40B4-BE49-F238E27FC236}">
                <a16:creationId xmlns:a16="http://schemas.microsoft.com/office/drawing/2014/main" id="{2AE89DBD-E859-CFB0-F619-17A943191802}"/>
              </a:ext>
            </a:extLst>
          </p:cNvPr>
          <p:cNvSpPr txBox="1"/>
          <p:nvPr/>
        </p:nvSpPr>
        <p:spPr>
          <a:xfrm>
            <a:off x="8445791" y="5341102"/>
            <a:ext cx="297711" cy="369332"/>
          </a:xfrm>
          <a:prstGeom prst="rect">
            <a:avLst/>
          </a:prstGeom>
          <a:noFill/>
        </p:spPr>
        <p:txBody>
          <a:bodyPr wrap="square" rtlCol="0">
            <a:spAutoFit/>
          </a:bodyPr>
          <a:lstStyle/>
          <a:p>
            <a:r>
              <a:rPr lang="es-ES" dirty="0"/>
              <a:t>n</a:t>
            </a:r>
            <a:endParaRPr lang="es-MX" dirty="0"/>
          </a:p>
        </p:txBody>
      </p:sp>
      <p:sp>
        <p:nvSpPr>
          <p:cNvPr id="24" name="CuadroTexto 23">
            <a:extLst>
              <a:ext uri="{FF2B5EF4-FFF2-40B4-BE49-F238E27FC236}">
                <a16:creationId xmlns:a16="http://schemas.microsoft.com/office/drawing/2014/main" id="{C7C93283-A0E2-9499-E396-075286ED108F}"/>
              </a:ext>
            </a:extLst>
          </p:cNvPr>
          <p:cNvSpPr txBox="1"/>
          <p:nvPr/>
        </p:nvSpPr>
        <p:spPr>
          <a:xfrm>
            <a:off x="4366418" y="2367518"/>
            <a:ext cx="297711" cy="369332"/>
          </a:xfrm>
          <a:prstGeom prst="rect">
            <a:avLst/>
          </a:prstGeom>
          <a:noFill/>
        </p:spPr>
        <p:txBody>
          <a:bodyPr wrap="square" rtlCol="0">
            <a:spAutoFit/>
          </a:bodyPr>
          <a:lstStyle/>
          <a:p>
            <a:r>
              <a:rPr lang="es-ES" dirty="0"/>
              <a:t>n</a:t>
            </a:r>
            <a:endParaRPr lang="es-MX" dirty="0"/>
          </a:p>
        </p:txBody>
      </p:sp>
      <p:sp>
        <p:nvSpPr>
          <p:cNvPr id="25" name="CuadroTexto 24">
            <a:extLst>
              <a:ext uri="{FF2B5EF4-FFF2-40B4-BE49-F238E27FC236}">
                <a16:creationId xmlns:a16="http://schemas.microsoft.com/office/drawing/2014/main" id="{16BB0B77-1963-6687-E2B4-B6B97EACEEDD}"/>
              </a:ext>
            </a:extLst>
          </p:cNvPr>
          <p:cNvSpPr txBox="1"/>
          <p:nvPr/>
        </p:nvSpPr>
        <p:spPr>
          <a:xfrm>
            <a:off x="4412488" y="5699069"/>
            <a:ext cx="297711" cy="369332"/>
          </a:xfrm>
          <a:prstGeom prst="rect">
            <a:avLst/>
          </a:prstGeom>
          <a:noFill/>
        </p:spPr>
        <p:txBody>
          <a:bodyPr wrap="square" rtlCol="0">
            <a:spAutoFit/>
          </a:bodyPr>
          <a:lstStyle/>
          <a:p>
            <a:r>
              <a:rPr lang="es-ES" dirty="0"/>
              <a:t>n</a:t>
            </a:r>
            <a:endParaRPr lang="es-MX" dirty="0"/>
          </a:p>
        </p:txBody>
      </p:sp>
      <p:sp>
        <p:nvSpPr>
          <p:cNvPr id="26" name="CuadroTexto 25">
            <a:extLst>
              <a:ext uri="{FF2B5EF4-FFF2-40B4-BE49-F238E27FC236}">
                <a16:creationId xmlns:a16="http://schemas.microsoft.com/office/drawing/2014/main" id="{66DC597A-7D05-CF95-A096-D8FA12D2543E}"/>
              </a:ext>
            </a:extLst>
          </p:cNvPr>
          <p:cNvSpPr txBox="1"/>
          <p:nvPr/>
        </p:nvSpPr>
        <p:spPr>
          <a:xfrm>
            <a:off x="7021015" y="5660075"/>
            <a:ext cx="297711" cy="369332"/>
          </a:xfrm>
          <a:prstGeom prst="rect">
            <a:avLst/>
          </a:prstGeom>
          <a:noFill/>
        </p:spPr>
        <p:txBody>
          <a:bodyPr wrap="square" rtlCol="0">
            <a:spAutoFit/>
          </a:bodyPr>
          <a:lstStyle/>
          <a:p>
            <a:r>
              <a:rPr lang="es-ES" dirty="0"/>
              <a:t>n</a:t>
            </a:r>
            <a:endParaRPr lang="es-MX" dirty="0"/>
          </a:p>
        </p:txBody>
      </p:sp>
      <p:sp>
        <p:nvSpPr>
          <p:cNvPr id="27" name="CuadroTexto 26">
            <a:extLst>
              <a:ext uri="{FF2B5EF4-FFF2-40B4-BE49-F238E27FC236}">
                <a16:creationId xmlns:a16="http://schemas.microsoft.com/office/drawing/2014/main" id="{F71AFBD3-B30D-F31D-E893-270C5BCF9E2F}"/>
              </a:ext>
            </a:extLst>
          </p:cNvPr>
          <p:cNvSpPr txBox="1"/>
          <p:nvPr/>
        </p:nvSpPr>
        <p:spPr>
          <a:xfrm>
            <a:off x="5759288" y="5046929"/>
            <a:ext cx="297711" cy="369332"/>
          </a:xfrm>
          <a:prstGeom prst="rect">
            <a:avLst/>
          </a:prstGeom>
          <a:noFill/>
        </p:spPr>
        <p:txBody>
          <a:bodyPr wrap="square" rtlCol="0">
            <a:spAutoFit/>
          </a:bodyPr>
          <a:lstStyle/>
          <a:p>
            <a:r>
              <a:rPr lang="es-ES" dirty="0"/>
              <a:t>n</a:t>
            </a:r>
            <a:endParaRPr lang="es-MX" dirty="0"/>
          </a:p>
        </p:txBody>
      </p:sp>
      <p:sp>
        <p:nvSpPr>
          <p:cNvPr id="28" name="CuadroTexto 27">
            <a:extLst>
              <a:ext uri="{FF2B5EF4-FFF2-40B4-BE49-F238E27FC236}">
                <a16:creationId xmlns:a16="http://schemas.microsoft.com/office/drawing/2014/main" id="{F2AC11CF-F315-3F4C-3B59-9A5EAE6873EC}"/>
              </a:ext>
            </a:extLst>
          </p:cNvPr>
          <p:cNvSpPr txBox="1"/>
          <p:nvPr/>
        </p:nvSpPr>
        <p:spPr>
          <a:xfrm>
            <a:off x="4008457" y="2923955"/>
            <a:ext cx="297711" cy="369332"/>
          </a:xfrm>
          <a:prstGeom prst="rect">
            <a:avLst/>
          </a:prstGeom>
          <a:noFill/>
        </p:spPr>
        <p:txBody>
          <a:bodyPr wrap="square" rtlCol="0">
            <a:spAutoFit/>
          </a:bodyPr>
          <a:lstStyle/>
          <a:p>
            <a:r>
              <a:rPr lang="es-ES" dirty="0"/>
              <a:t>n</a:t>
            </a:r>
            <a:endParaRPr lang="es-MX" dirty="0"/>
          </a:p>
        </p:txBody>
      </p:sp>
      <p:sp>
        <p:nvSpPr>
          <p:cNvPr id="29" name="CuadroTexto 28">
            <a:extLst>
              <a:ext uri="{FF2B5EF4-FFF2-40B4-BE49-F238E27FC236}">
                <a16:creationId xmlns:a16="http://schemas.microsoft.com/office/drawing/2014/main" id="{B923A8B6-D19B-B508-FED4-EE0D5FEB1F67}"/>
              </a:ext>
            </a:extLst>
          </p:cNvPr>
          <p:cNvSpPr txBox="1"/>
          <p:nvPr/>
        </p:nvSpPr>
        <p:spPr>
          <a:xfrm>
            <a:off x="7010387" y="2395864"/>
            <a:ext cx="297711" cy="369332"/>
          </a:xfrm>
          <a:prstGeom prst="rect">
            <a:avLst/>
          </a:prstGeom>
          <a:noFill/>
        </p:spPr>
        <p:txBody>
          <a:bodyPr wrap="square" rtlCol="0">
            <a:spAutoFit/>
          </a:bodyPr>
          <a:lstStyle/>
          <a:p>
            <a:r>
              <a:rPr lang="es-ES" dirty="0"/>
              <a:t>1</a:t>
            </a:r>
            <a:endParaRPr lang="es-MX" dirty="0"/>
          </a:p>
        </p:txBody>
      </p:sp>
    </p:spTree>
    <p:extLst>
      <p:ext uri="{BB962C8B-B14F-4D97-AF65-F5344CB8AC3E}">
        <p14:creationId xmlns:p14="http://schemas.microsoft.com/office/powerpoint/2010/main" val="14774215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a:solidFill>
                  <a:schemeClr val="accent1">
                    <a:lumMod val="50000"/>
                  </a:schemeClr>
                </a:solidFill>
                <a:latin typeface="Arial" charset="0"/>
              </a:rPr>
              <a:t>Esquema</a:t>
            </a:r>
            <a:r>
              <a:rPr lang="en-US" b="1" dirty="0">
                <a:solidFill>
                  <a:schemeClr val="accent1">
                    <a:lumMod val="50000"/>
                  </a:schemeClr>
                </a:solidFill>
                <a:latin typeface="Arial" charset="0"/>
              </a:rPr>
              <a:t> de la BD Escolar</a:t>
            </a:r>
            <a:br>
              <a:rPr lang="en-US" b="1" dirty="0">
                <a:solidFill>
                  <a:schemeClr val="accent1">
                    <a:lumMod val="50000"/>
                  </a:schemeClr>
                </a:solidFill>
                <a:latin typeface="Arial" charset="0"/>
              </a:rPr>
            </a:br>
            <a:r>
              <a:rPr lang="en-US" b="1" dirty="0">
                <a:solidFill>
                  <a:schemeClr val="accent1">
                    <a:lumMod val="50000"/>
                  </a:schemeClr>
                </a:solidFill>
                <a:latin typeface="Arial" charset="0"/>
              </a:rPr>
              <a:t>SQL – Data Definition Language</a:t>
            </a:r>
            <a:endParaRPr lang="es-MX" b="1" dirty="0">
              <a:solidFill>
                <a:schemeClr val="accent1">
                  <a:lumMod val="50000"/>
                </a:schemeClr>
              </a:solidFill>
              <a:latin typeface="Arial" charset="0"/>
            </a:endParaRPr>
          </a:p>
        </p:txBody>
      </p:sp>
      <p:sp>
        <p:nvSpPr>
          <p:cNvPr id="4" name="3 CuadroTexto"/>
          <p:cNvSpPr txBox="1">
            <a:spLocks noChangeArrowheads="1"/>
          </p:cNvSpPr>
          <p:nvPr/>
        </p:nvSpPr>
        <p:spPr bwMode="auto">
          <a:xfrm>
            <a:off x="1682750" y="1798638"/>
            <a:ext cx="4146550" cy="4370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9pPr>
          </a:lstStyle>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Create</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database</a:t>
            </a:r>
            <a:r>
              <a:rPr lang="es-MX" altLang="es-MX" sz="2000" dirty="0">
                <a:latin typeface="Arial" panose="020B0604020202020204" pitchFamily="34" charset="0"/>
                <a:cs typeface="Arial" panose="020B0604020202020204" pitchFamily="34" charset="0"/>
              </a:rPr>
              <a:t> escolar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Create</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Table</a:t>
            </a:r>
            <a:r>
              <a:rPr lang="es-MX" altLang="es-MX" sz="2000" dirty="0">
                <a:latin typeface="Arial" panose="020B0604020202020204" pitchFamily="34" charset="0"/>
                <a:cs typeface="Arial" panose="020B0604020202020204" pitchFamily="34" charset="0"/>
              </a:rPr>
              <a:t> Alumno (</a:t>
            </a:r>
          </a:p>
          <a:p>
            <a:pPr eaLnBrk="1" hangingPunct="1">
              <a:spcBef>
                <a:spcPct val="0"/>
              </a:spcBef>
              <a:buClrTx/>
              <a:buSzTx/>
              <a:buFontTx/>
              <a:buNone/>
            </a:pPr>
            <a:r>
              <a:rPr lang="es-MX" altLang="es-MX" sz="2000" dirty="0">
                <a:latin typeface="Arial" panose="020B0604020202020204" pitchFamily="34" charset="0"/>
                <a:cs typeface="Arial" panose="020B0604020202020204" pitchFamily="34" charset="0"/>
              </a:rPr>
              <a:t>Matricula  </a:t>
            </a:r>
            <a:r>
              <a:rPr lang="es-MX" altLang="es-MX" sz="2000" dirty="0" err="1">
                <a:latin typeface="Arial" panose="020B0604020202020204" pitchFamily="34" charset="0"/>
                <a:cs typeface="Arial" panose="020B0604020202020204" pitchFamily="34" charset="0"/>
              </a:rPr>
              <a:t>char</a:t>
            </a:r>
            <a:r>
              <a:rPr lang="es-MX" altLang="es-MX" sz="2000" dirty="0">
                <a:latin typeface="Arial" panose="020B0604020202020204" pitchFamily="34" charset="0"/>
                <a:cs typeface="Arial" panose="020B0604020202020204" pitchFamily="34" charset="0"/>
              </a:rPr>
              <a:t>(8) PRIMARY KEY,</a:t>
            </a:r>
          </a:p>
          <a:p>
            <a:pPr eaLnBrk="1" hangingPunct="1">
              <a:spcBef>
                <a:spcPct val="0"/>
              </a:spcBef>
              <a:buClrTx/>
              <a:buSzTx/>
              <a:buFontTx/>
              <a:buNone/>
            </a:pPr>
            <a:r>
              <a:rPr lang="es-MX" altLang="es-MX" sz="2000" dirty="0">
                <a:latin typeface="Arial" panose="020B0604020202020204" pitchFamily="34" charset="0"/>
                <a:cs typeface="Arial" panose="020B0604020202020204" pitchFamily="34" charset="0"/>
              </a:rPr>
              <a:t>Nombre    </a:t>
            </a:r>
            <a:r>
              <a:rPr lang="es-MX" altLang="es-MX" sz="2000" dirty="0" err="1">
                <a:latin typeface="Arial" panose="020B0604020202020204" pitchFamily="34" charset="0"/>
                <a:cs typeface="Arial" panose="020B0604020202020204" pitchFamily="34" charset="0"/>
              </a:rPr>
              <a:t>varchar</a:t>
            </a:r>
            <a:r>
              <a:rPr lang="es-MX" altLang="es-MX" sz="2000" dirty="0">
                <a:latin typeface="Arial" panose="020B0604020202020204" pitchFamily="34" charset="0"/>
                <a:cs typeface="Arial" panose="020B0604020202020204" pitchFamily="34" charset="0"/>
              </a:rPr>
              <a:t>(60),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Direccion</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varchar</a:t>
            </a:r>
            <a:r>
              <a:rPr lang="es-MX" altLang="es-MX" sz="2000" dirty="0">
                <a:latin typeface="Arial" panose="020B0604020202020204" pitchFamily="34" charset="0"/>
                <a:cs typeface="Arial" panose="020B0604020202020204" pitchFamily="34" charset="0"/>
              </a:rPr>
              <a:t>(60),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Telefono</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char</a:t>
            </a:r>
            <a:r>
              <a:rPr lang="es-MX" altLang="es-MX" sz="2000" dirty="0">
                <a:latin typeface="Arial" panose="020B0604020202020204" pitchFamily="34" charset="0"/>
                <a:cs typeface="Arial" panose="020B0604020202020204" pitchFamily="34" charset="0"/>
              </a:rPr>
              <a:t>(12),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ClvCar</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char</a:t>
            </a:r>
            <a:r>
              <a:rPr lang="es-MX" altLang="es-MX" sz="2000" dirty="0">
                <a:latin typeface="Arial" panose="020B0604020202020204" pitchFamily="34" charset="0"/>
                <a:cs typeface="Arial" panose="020B0604020202020204" pitchFamily="34" charset="0"/>
              </a:rPr>
              <a:t>(3) </a:t>
            </a:r>
            <a:r>
              <a:rPr lang="es-MX" altLang="es-MX" sz="2000" dirty="0" err="1">
                <a:latin typeface="Arial" panose="020B0604020202020204" pitchFamily="34" charset="0"/>
                <a:cs typeface="Arial" panose="020B0604020202020204" pitchFamily="34" charset="0"/>
              </a:rPr>
              <a:t>references</a:t>
            </a:r>
            <a:r>
              <a:rPr lang="es-MX" altLang="es-MX" sz="2000" dirty="0">
                <a:latin typeface="Arial" panose="020B0604020202020204" pitchFamily="34" charset="0"/>
                <a:cs typeface="Arial" panose="020B0604020202020204" pitchFamily="34" charset="0"/>
              </a:rPr>
              <a:t> carreras (</a:t>
            </a:r>
            <a:r>
              <a:rPr lang="es-MX" altLang="es-MX" sz="2000" dirty="0" err="1">
                <a:latin typeface="Arial" panose="020B0604020202020204" pitchFamily="34" charset="0"/>
                <a:cs typeface="Arial" panose="020B0604020202020204" pitchFamily="34" charset="0"/>
              </a:rPr>
              <a:t>clvcar</a:t>
            </a:r>
            <a:r>
              <a:rPr lang="es-MX" altLang="es-MX" sz="2000" dirty="0">
                <a:latin typeface="Arial" panose="020B0604020202020204" pitchFamily="34" charset="0"/>
                <a:cs typeface="Arial" panose="020B0604020202020204" pitchFamily="34" charset="0"/>
              </a:rPr>
              <a:t>))</a:t>
            </a:r>
          </a:p>
          <a:p>
            <a:pPr eaLnBrk="1" hangingPunct="1">
              <a:spcBef>
                <a:spcPct val="0"/>
              </a:spcBef>
              <a:buClrTx/>
              <a:buSzTx/>
              <a:buFontTx/>
              <a:buNone/>
            </a:pPr>
            <a:endParaRPr lang="es-MX" altLang="es-MX" sz="2000" dirty="0">
              <a:latin typeface="Arial" panose="020B0604020202020204" pitchFamily="34" charset="0"/>
              <a:cs typeface="Arial" panose="020B0604020202020204" pitchFamily="34" charset="0"/>
            </a:endParaRP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Create</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Table</a:t>
            </a:r>
            <a:r>
              <a:rPr lang="es-MX" altLang="es-MX" sz="2000" dirty="0">
                <a:latin typeface="Arial" panose="020B0604020202020204" pitchFamily="34" charset="0"/>
                <a:cs typeface="Arial" panose="020B0604020202020204" pitchFamily="34" charset="0"/>
              </a:rPr>
              <a:t> Carreras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ClvCar</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char</a:t>
            </a:r>
            <a:r>
              <a:rPr lang="es-MX" altLang="es-MX" sz="2000" dirty="0">
                <a:latin typeface="Arial" panose="020B0604020202020204" pitchFamily="34" charset="0"/>
                <a:cs typeface="Arial" panose="020B0604020202020204" pitchFamily="34" charset="0"/>
              </a:rPr>
              <a:t>(3) </a:t>
            </a:r>
            <a:r>
              <a:rPr lang="es-MX" altLang="es-MX" sz="2000" dirty="0" err="1">
                <a:latin typeface="Arial" panose="020B0604020202020204" pitchFamily="34" charset="0"/>
                <a:cs typeface="Arial" panose="020B0604020202020204" pitchFamily="34" charset="0"/>
              </a:rPr>
              <a:t>Primary</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key</a:t>
            </a:r>
            <a:r>
              <a:rPr lang="es-MX" altLang="es-MX" sz="2000" dirty="0">
                <a:latin typeface="Arial" panose="020B0604020202020204" pitchFamily="34" charset="0"/>
                <a:cs typeface="Arial" panose="020B0604020202020204" pitchFamily="34" charset="0"/>
              </a:rPr>
              <a:t>,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NomCarrera</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varchar</a:t>
            </a:r>
            <a:r>
              <a:rPr lang="es-MX" altLang="es-MX" sz="2000" dirty="0">
                <a:latin typeface="Arial" panose="020B0604020202020204" pitchFamily="34" charset="0"/>
                <a:cs typeface="Arial" panose="020B0604020202020204" pitchFamily="34" charset="0"/>
              </a:rPr>
              <a:t>(40),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Tcreditos</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integer</a:t>
            </a:r>
            <a:r>
              <a:rPr lang="es-MX" altLang="es-MX" sz="2000" dirty="0">
                <a:latin typeface="Arial" panose="020B0604020202020204" pitchFamily="34" charset="0"/>
                <a:cs typeface="Arial" panose="020B0604020202020204" pitchFamily="34" charset="0"/>
              </a:rPr>
              <a:t>)</a:t>
            </a:r>
          </a:p>
          <a:p>
            <a:pPr eaLnBrk="1" hangingPunct="1">
              <a:spcBef>
                <a:spcPct val="0"/>
              </a:spcBef>
              <a:buClrTx/>
              <a:buSzTx/>
              <a:buFontTx/>
              <a:buNone/>
            </a:pPr>
            <a:endParaRPr lang="es-MX" altLang="es-MX" sz="1800" dirty="0">
              <a:latin typeface="Arial" panose="020B0604020202020204" pitchFamily="34" charset="0"/>
              <a:cs typeface="Arial" panose="020B0604020202020204" pitchFamily="34" charset="0"/>
            </a:endParaRPr>
          </a:p>
        </p:txBody>
      </p:sp>
      <p:sp>
        <p:nvSpPr>
          <p:cNvPr id="5" name="6 CuadroTexto"/>
          <p:cNvSpPr txBox="1">
            <a:spLocks noChangeArrowheads="1"/>
          </p:cNvSpPr>
          <p:nvPr/>
        </p:nvSpPr>
        <p:spPr bwMode="auto">
          <a:xfrm>
            <a:off x="6145213" y="1798638"/>
            <a:ext cx="3959225"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9pPr>
          </a:lstStyle>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Create</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Table</a:t>
            </a:r>
            <a:r>
              <a:rPr lang="es-MX" altLang="es-MX" sz="2000" dirty="0">
                <a:latin typeface="Arial" panose="020B0604020202020204" pitchFamily="34" charset="0"/>
                <a:cs typeface="Arial" panose="020B0604020202020204" pitchFamily="34" charset="0"/>
              </a:rPr>
              <a:t> Materias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ClvMat</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char</a:t>
            </a:r>
            <a:r>
              <a:rPr lang="es-MX" altLang="es-MX" sz="2000" dirty="0">
                <a:latin typeface="Arial" panose="020B0604020202020204" pitchFamily="34" charset="0"/>
                <a:cs typeface="Arial" panose="020B0604020202020204" pitchFamily="34" charset="0"/>
              </a:rPr>
              <a:t>(6) </a:t>
            </a:r>
            <a:r>
              <a:rPr lang="es-MX" altLang="es-MX" sz="2000" dirty="0" err="1">
                <a:latin typeface="Arial" panose="020B0604020202020204" pitchFamily="34" charset="0"/>
                <a:cs typeface="Arial" panose="020B0604020202020204" pitchFamily="34" charset="0"/>
              </a:rPr>
              <a:t>Primary</a:t>
            </a:r>
            <a:r>
              <a:rPr lang="es-MX" altLang="es-MX" sz="2000" dirty="0">
                <a:latin typeface="Arial" panose="020B0604020202020204" pitchFamily="34" charset="0"/>
                <a:cs typeface="Arial" panose="020B0604020202020204" pitchFamily="34" charset="0"/>
              </a:rPr>
              <a:t> Key, </a:t>
            </a:r>
            <a:r>
              <a:rPr lang="es-MX" altLang="es-MX" sz="2000" dirty="0" err="1">
                <a:latin typeface="Arial" panose="020B0604020202020204" pitchFamily="34" charset="0"/>
                <a:cs typeface="Arial" panose="020B0604020202020204" pitchFamily="34" charset="0"/>
              </a:rPr>
              <a:t>NomMat</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varchar</a:t>
            </a:r>
            <a:r>
              <a:rPr lang="es-MX" altLang="es-MX" sz="2000" dirty="0">
                <a:latin typeface="Arial" panose="020B0604020202020204" pitchFamily="34" charset="0"/>
                <a:cs typeface="Arial" panose="020B0604020202020204" pitchFamily="34" charset="0"/>
              </a:rPr>
              <a:t>(40),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ClvCar</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char</a:t>
            </a:r>
            <a:r>
              <a:rPr lang="es-MX" altLang="es-MX" sz="2000" dirty="0">
                <a:latin typeface="Arial" panose="020B0604020202020204" pitchFamily="34" charset="0"/>
                <a:cs typeface="Arial" panose="020B0604020202020204" pitchFamily="34" charset="0"/>
              </a:rPr>
              <a:t>(3) </a:t>
            </a:r>
            <a:r>
              <a:rPr lang="es-MX" altLang="es-MX" sz="2000" dirty="0" err="1">
                <a:latin typeface="Arial" panose="020B0604020202020204" pitchFamily="34" charset="0"/>
                <a:cs typeface="Arial" panose="020B0604020202020204" pitchFamily="34" charset="0"/>
              </a:rPr>
              <a:t>references</a:t>
            </a:r>
            <a:r>
              <a:rPr lang="es-MX" altLang="es-MX" sz="2000" dirty="0">
                <a:latin typeface="Arial" panose="020B0604020202020204" pitchFamily="34" charset="0"/>
                <a:cs typeface="Arial" panose="020B0604020202020204" pitchFamily="34" charset="0"/>
              </a:rPr>
              <a:t> carrera (</a:t>
            </a:r>
            <a:r>
              <a:rPr lang="es-MX" altLang="es-MX" sz="2000" dirty="0" err="1">
                <a:latin typeface="Arial" panose="020B0604020202020204" pitchFamily="34" charset="0"/>
                <a:cs typeface="Arial" panose="020B0604020202020204" pitchFamily="34" charset="0"/>
              </a:rPr>
              <a:t>clvcar</a:t>
            </a:r>
            <a:r>
              <a:rPr lang="es-MX" altLang="es-MX" sz="2000" dirty="0">
                <a:latin typeface="Arial" panose="020B0604020202020204" pitchFamily="34" charset="0"/>
                <a:cs typeface="Arial" panose="020B0604020202020204" pitchFamily="34" charset="0"/>
              </a:rPr>
              <a:t>),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Ncreditos</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integer</a:t>
            </a:r>
            <a:endParaRPr lang="es-MX" altLang="es-MX" sz="2000" dirty="0">
              <a:latin typeface="Arial" panose="020B0604020202020204" pitchFamily="34" charset="0"/>
              <a:cs typeface="Arial" panose="020B0604020202020204" pitchFamily="34" charset="0"/>
            </a:endParaRPr>
          </a:p>
          <a:p>
            <a:pPr eaLnBrk="1" hangingPunct="1">
              <a:spcBef>
                <a:spcPct val="0"/>
              </a:spcBef>
              <a:buClrTx/>
              <a:buSzTx/>
              <a:buFontTx/>
              <a:buNone/>
            </a:pPr>
            <a:r>
              <a:rPr lang="es-MX" altLang="es-MX" sz="2000" dirty="0">
                <a:latin typeface="Arial" panose="020B0604020202020204" pitchFamily="34" charset="0"/>
                <a:cs typeface="Arial" panose="020B0604020202020204" pitchFamily="34" charset="0"/>
              </a:rPr>
              <a:t>)</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Create</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Table</a:t>
            </a:r>
            <a:r>
              <a:rPr lang="es-MX" altLang="es-MX" sz="2000" dirty="0">
                <a:latin typeface="Arial" panose="020B0604020202020204" pitchFamily="34" charset="0"/>
                <a:cs typeface="Arial" panose="020B0604020202020204" pitchFamily="34" charset="0"/>
              </a:rPr>
              <a:t> Profesores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ClvProf</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char</a:t>
            </a:r>
            <a:r>
              <a:rPr lang="es-MX" altLang="es-MX" sz="2000" dirty="0">
                <a:latin typeface="Arial" panose="020B0604020202020204" pitchFamily="34" charset="0"/>
                <a:cs typeface="Arial" panose="020B0604020202020204" pitchFamily="34" charset="0"/>
              </a:rPr>
              <a:t>(4) </a:t>
            </a:r>
            <a:r>
              <a:rPr lang="es-MX" altLang="es-MX" sz="2000" dirty="0" err="1">
                <a:latin typeface="Arial" panose="020B0604020202020204" pitchFamily="34" charset="0"/>
                <a:cs typeface="Arial" panose="020B0604020202020204" pitchFamily="34" charset="0"/>
              </a:rPr>
              <a:t>Primary</a:t>
            </a:r>
            <a:r>
              <a:rPr lang="es-MX" altLang="es-MX" sz="2000" dirty="0">
                <a:latin typeface="Arial" panose="020B0604020202020204" pitchFamily="34" charset="0"/>
                <a:cs typeface="Arial" panose="020B0604020202020204" pitchFamily="34" charset="0"/>
              </a:rPr>
              <a:t> Key, </a:t>
            </a:r>
            <a:r>
              <a:rPr lang="es-MX" altLang="es-MX" sz="2000" dirty="0" err="1">
                <a:latin typeface="Arial" panose="020B0604020202020204" pitchFamily="34" charset="0"/>
                <a:cs typeface="Arial" panose="020B0604020202020204" pitchFamily="34" charset="0"/>
              </a:rPr>
              <a:t>NomProf</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varchar</a:t>
            </a:r>
            <a:r>
              <a:rPr lang="es-MX" altLang="es-MX" sz="2000" dirty="0">
                <a:latin typeface="Arial" panose="020B0604020202020204" pitchFamily="34" charset="0"/>
                <a:cs typeface="Arial" panose="020B0604020202020204" pitchFamily="34" charset="0"/>
              </a:rPr>
              <a:t>(50), </a:t>
            </a:r>
          </a:p>
          <a:p>
            <a:pPr eaLnBrk="1" hangingPunct="1">
              <a:spcBef>
                <a:spcPct val="0"/>
              </a:spcBef>
              <a:buClrTx/>
              <a:buSzTx/>
              <a:buFontTx/>
              <a:buNone/>
            </a:pPr>
            <a:r>
              <a:rPr lang="es-MX" altLang="es-MX" sz="2000" dirty="0">
                <a:latin typeface="Arial" panose="020B0604020202020204" pitchFamily="34" charset="0"/>
                <a:cs typeface="Arial" panose="020B0604020202020204" pitchFamily="34" charset="0"/>
              </a:rPr>
              <a:t>Grado  </a:t>
            </a:r>
            <a:r>
              <a:rPr lang="es-MX" altLang="es-MX" sz="2000" dirty="0" err="1">
                <a:latin typeface="Arial" panose="020B0604020202020204" pitchFamily="34" charset="0"/>
                <a:cs typeface="Arial" panose="020B0604020202020204" pitchFamily="34" charset="0"/>
              </a:rPr>
              <a:t>varchar</a:t>
            </a:r>
            <a:r>
              <a:rPr lang="es-MX" altLang="es-MX" sz="2000" dirty="0">
                <a:latin typeface="Arial" panose="020B0604020202020204" pitchFamily="34" charset="0"/>
                <a:cs typeface="Arial" panose="020B0604020202020204" pitchFamily="34" charset="0"/>
              </a:rPr>
              <a:t>(30),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FechaIng</a:t>
            </a:r>
            <a:r>
              <a:rPr lang="es-MX" altLang="es-MX" sz="2000" dirty="0">
                <a:latin typeface="Arial" panose="020B0604020202020204" pitchFamily="34" charset="0"/>
                <a:cs typeface="Arial" panose="020B0604020202020204" pitchFamily="34" charset="0"/>
              </a:rPr>
              <a:t>  date,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Ncubiculo</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varchar</a:t>
            </a:r>
            <a:r>
              <a:rPr lang="es-MX" altLang="es-MX" sz="2000" dirty="0">
                <a:latin typeface="Arial" panose="020B0604020202020204" pitchFamily="34" charset="0"/>
                <a:cs typeface="Arial" panose="020B0604020202020204" pitchFamily="34" charset="0"/>
              </a:rPr>
              <a:t>(20)</a:t>
            </a:r>
          </a:p>
          <a:p>
            <a:pPr eaLnBrk="1" hangingPunct="1">
              <a:spcBef>
                <a:spcPct val="0"/>
              </a:spcBef>
              <a:buClrTx/>
              <a:buSzTx/>
              <a:buFontTx/>
              <a:buNone/>
            </a:pPr>
            <a:r>
              <a:rPr lang="es-MX" altLang="es-MX" sz="20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40552707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914400"/>
            <a:ext cx="10245091" cy="586436"/>
          </a:xfrm>
        </p:spPr>
        <p:txBody>
          <a:bodyPr/>
          <a:lstStyle/>
          <a:p>
            <a:r>
              <a:rPr lang="en-US" b="1" dirty="0" err="1">
                <a:solidFill>
                  <a:schemeClr val="accent1">
                    <a:lumMod val="50000"/>
                  </a:schemeClr>
                </a:solidFill>
                <a:latin typeface="Arial" charset="0"/>
              </a:rPr>
              <a:t>Ejemplo</a:t>
            </a:r>
            <a:r>
              <a:rPr lang="en-US" b="1" dirty="0">
                <a:solidFill>
                  <a:schemeClr val="accent1">
                    <a:lumMod val="50000"/>
                  </a:schemeClr>
                </a:solidFill>
                <a:latin typeface="Arial" charset="0"/>
              </a:rPr>
              <a:t> BD Escolar</a:t>
            </a:r>
            <a:endParaRPr lang="es-MX" b="1" dirty="0">
              <a:solidFill>
                <a:schemeClr val="accent1">
                  <a:lumMod val="50000"/>
                </a:schemeClr>
              </a:solidFill>
              <a:latin typeface="Arial" charset="0"/>
            </a:endParaRPr>
          </a:p>
        </p:txBody>
      </p:sp>
      <p:sp>
        <p:nvSpPr>
          <p:cNvPr id="4" name="2 CuadroTexto"/>
          <p:cNvSpPr txBox="1">
            <a:spLocks noChangeArrowheads="1"/>
          </p:cNvSpPr>
          <p:nvPr/>
        </p:nvSpPr>
        <p:spPr bwMode="auto">
          <a:xfrm>
            <a:off x="653604" y="1777702"/>
            <a:ext cx="5204935"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9pPr>
          </a:lstStyle>
          <a:p>
            <a:pPr eaLnBrk="1" hangingPunct="1">
              <a:spcBef>
                <a:spcPct val="0"/>
              </a:spcBef>
              <a:buClrTx/>
              <a:buSzTx/>
              <a:buFontTx/>
              <a:buNone/>
            </a:pPr>
            <a:r>
              <a:rPr lang="es-MX" altLang="es-MX" sz="1800" dirty="0" err="1">
                <a:latin typeface="Arial" panose="020B0604020202020204" pitchFamily="34" charset="0"/>
                <a:cs typeface="Arial" panose="020B0604020202020204" pitchFamily="34" charset="0"/>
              </a:rPr>
              <a:t>Create</a:t>
            </a:r>
            <a:r>
              <a:rPr lang="es-MX" altLang="es-MX" sz="1800" dirty="0">
                <a:latin typeface="Arial" panose="020B0604020202020204" pitchFamily="34" charset="0"/>
                <a:cs typeface="Arial" panose="020B0604020202020204" pitchFamily="34" charset="0"/>
              </a:rPr>
              <a:t> </a:t>
            </a:r>
            <a:r>
              <a:rPr lang="es-MX" altLang="es-MX" sz="1800" dirty="0" err="1">
                <a:latin typeface="Arial" panose="020B0604020202020204" pitchFamily="34" charset="0"/>
                <a:cs typeface="Arial" panose="020B0604020202020204" pitchFamily="34" charset="0"/>
              </a:rPr>
              <a:t>Table</a:t>
            </a:r>
            <a:r>
              <a:rPr lang="es-MX" altLang="es-MX" sz="1800" dirty="0">
                <a:latin typeface="Arial" panose="020B0604020202020204" pitchFamily="34" charset="0"/>
                <a:cs typeface="Arial" panose="020B0604020202020204" pitchFamily="34" charset="0"/>
              </a:rPr>
              <a:t> Grupos (</a:t>
            </a:r>
          </a:p>
          <a:p>
            <a:pPr eaLnBrk="1" hangingPunct="1">
              <a:spcBef>
                <a:spcPct val="0"/>
              </a:spcBef>
              <a:buClrTx/>
              <a:buSzTx/>
              <a:buFontTx/>
              <a:buNone/>
            </a:pPr>
            <a:r>
              <a:rPr lang="es-MX" altLang="es-MX" sz="1800" dirty="0" err="1">
                <a:latin typeface="Arial" panose="020B0604020202020204" pitchFamily="34" charset="0"/>
                <a:cs typeface="Arial" panose="020B0604020202020204" pitchFamily="34" charset="0"/>
              </a:rPr>
              <a:t>ClvGpo</a:t>
            </a:r>
            <a:r>
              <a:rPr lang="es-MX" altLang="es-MX" sz="1800" dirty="0">
                <a:latin typeface="Arial" panose="020B0604020202020204" pitchFamily="34" charset="0"/>
                <a:cs typeface="Arial" panose="020B0604020202020204" pitchFamily="34" charset="0"/>
              </a:rPr>
              <a:t>  </a:t>
            </a:r>
            <a:r>
              <a:rPr lang="es-MX" altLang="es-MX" sz="1800" dirty="0" err="1">
                <a:latin typeface="Arial" panose="020B0604020202020204" pitchFamily="34" charset="0"/>
                <a:cs typeface="Arial" panose="020B0604020202020204" pitchFamily="34" charset="0"/>
              </a:rPr>
              <a:t>char</a:t>
            </a:r>
            <a:r>
              <a:rPr lang="es-MX" altLang="es-MX" sz="1800" dirty="0">
                <a:latin typeface="Arial" panose="020B0604020202020204" pitchFamily="34" charset="0"/>
                <a:cs typeface="Arial" panose="020B0604020202020204" pitchFamily="34" charset="0"/>
              </a:rPr>
              <a:t>(6) </a:t>
            </a:r>
            <a:r>
              <a:rPr lang="es-MX" altLang="es-MX" sz="1800" dirty="0" err="1">
                <a:latin typeface="Arial" panose="020B0604020202020204" pitchFamily="34" charset="0"/>
                <a:cs typeface="Arial" panose="020B0604020202020204" pitchFamily="34" charset="0"/>
              </a:rPr>
              <a:t>Primary</a:t>
            </a:r>
            <a:r>
              <a:rPr lang="es-MX" altLang="es-MX" sz="1800" dirty="0">
                <a:latin typeface="Arial" panose="020B0604020202020204" pitchFamily="34" charset="0"/>
                <a:cs typeface="Arial" panose="020B0604020202020204" pitchFamily="34" charset="0"/>
              </a:rPr>
              <a:t> Key,</a:t>
            </a:r>
          </a:p>
          <a:p>
            <a:pPr eaLnBrk="1" hangingPunct="1">
              <a:spcBef>
                <a:spcPct val="0"/>
              </a:spcBef>
              <a:buClrTx/>
              <a:buSzTx/>
              <a:buFontTx/>
              <a:buNone/>
            </a:pPr>
            <a:r>
              <a:rPr lang="es-MX" altLang="es-MX" sz="1800" dirty="0" err="1">
                <a:latin typeface="Arial" panose="020B0604020202020204" pitchFamily="34" charset="0"/>
                <a:cs typeface="Arial" panose="020B0604020202020204" pitchFamily="34" charset="0"/>
              </a:rPr>
              <a:t>ClvProf</a:t>
            </a:r>
            <a:r>
              <a:rPr lang="es-MX" altLang="es-MX" sz="1800" dirty="0">
                <a:latin typeface="Arial" panose="020B0604020202020204" pitchFamily="34" charset="0"/>
                <a:cs typeface="Arial" panose="020B0604020202020204" pitchFamily="34" charset="0"/>
              </a:rPr>
              <a:t>   </a:t>
            </a:r>
            <a:r>
              <a:rPr lang="es-MX" altLang="es-MX" sz="1800" dirty="0" err="1">
                <a:latin typeface="Arial" panose="020B0604020202020204" pitchFamily="34" charset="0"/>
                <a:cs typeface="Arial" panose="020B0604020202020204" pitchFamily="34" charset="0"/>
              </a:rPr>
              <a:t>char</a:t>
            </a:r>
            <a:r>
              <a:rPr lang="es-MX" altLang="es-MX" sz="1800" dirty="0">
                <a:latin typeface="Arial" panose="020B0604020202020204" pitchFamily="34" charset="0"/>
                <a:cs typeface="Arial" panose="020B0604020202020204" pitchFamily="34" charset="0"/>
              </a:rPr>
              <a:t>(4) </a:t>
            </a:r>
            <a:r>
              <a:rPr lang="es-MX" altLang="es-MX" sz="1800" dirty="0" err="1">
                <a:latin typeface="Arial" panose="020B0604020202020204" pitchFamily="34" charset="0"/>
                <a:cs typeface="Arial" panose="020B0604020202020204" pitchFamily="34" charset="0"/>
              </a:rPr>
              <a:t>references</a:t>
            </a:r>
            <a:r>
              <a:rPr lang="es-MX" altLang="es-MX" sz="1800" dirty="0">
                <a:latin typeface="Arial" panose="020B0604020202020204" pitchFamily="34" charset="0"/>
                <a:cs typeface="Arial" panose="020B0604020202020204" pitchFamily="34" charset="0"/>
              </a:rPr>
              <a:t> Profesores (</a:t>
            </a:r>
            <a:r>
              <a:rPr lang="es-MX" altLang="es-MX" sz="1800" dirty="0" err="1">
                <a:latin typeface="Arial" panose="020B0604020202020204" pitchFamily="34" charset="0"/>
                <a:cs typeface="Arial" panose="020B0604020202020204" pitchFamily="34" charset="0"/>
              </a:rPr>
              <a:t>ClvProf</a:t>
            </a:r>
            <a:r>
              <a:rPr lang="es-MX" altLang="es-MX" sz="1800" dirty="0">
                <a:latin typeface="Arial" panose="020B0604020202020204" pitchFamily="34" charset="0"/>
                <a:cs typeface="Arial" panose="020B0604020202020204" pitchFamily="34" charset="0"/>
              </a:rPr>
              <a:t>),</a:t>
            </a:r>
          </a:p>
          <a:p>
            <a:pPr eaLnBrk="1" hangingPunct="1">
              <a:spcBef>
                <a:spcPct val="0"/>
              </a:spcBef>
              <a:buClrTx/>
              <a:buSzTx/>
              <a:buFontTx/>
              <a:buNone/>
            </a:pPr>
            <a:r>
              <a:rPr lang="es-MX" altLang="es-MX" sz="1800" dirty="0" err="1">
                <a:latin typeface="Arial" panose="020B0604020202020204" pitchFamily="34" charset="0"/>
                <a:cs typeface="Arial" panose="020B0604020202020204" pitchFamily="34" charset="0"/>
              </a:rPr>
              <a:t>ClvMat</a:t>
            </a:r>
            <a:r>
              <a:rPr lang="es-MX" altLang="es-MX" sz="1800" dirty="0">
                <a:latin typeface="Arial" panose="020B0604020202020204" pitchFamily="34" charset="0"/>
                <a:cs typeface="Arial" panose="020B0604020202020204" pitchFamily="34" charset="0"/>
              </a:rPr>
              <a:t>    </a:t>
            </a:r>
            <a:r>
              <a:rPr lang="es-MX" altLang="es-MX" sz="1800" dirty="0" err="1">
                <a:latin typeface="Arial" panose="020B0604020202020204" pitchFamily="34" charset="0"/>
                <a:cs typeface="Arial" panose="020B0604020202020204" pitchFamily="34" charset="0"/>
              </a:rPr>
              <a:t>char</a:t>
            </a:r>
            <a:r>
              <a:rPr lang="es-MX" altLang="es-MX" sz="1800" dirty="0">
                <a:latin typeface="Arial" panose="020B0604020202020204" pitchFamily="34" charset="0"/>
                <a:cs typeface="Arial" panose="020B0604020202020204" pitchFamily="34" charset="0"/>
              </a:rPr>
              <a:t>(6) </a:t>
            </a:r>
            <a:r>
              <a:rPr lang="es-MX" altLang="es-MX" sz="1800" dirty="0" err="1">
                <a:latin typeface="Arial" panose="020B0604020202020204" pitchFamily="34" charset="0"/>
                <a:cs typeface="Arial" panose="020B0604020202020204" pitchFamily="34" charset="0"/>
              </a:rPr>
              <a:t>references</a:t>
            </a:r>
            <a:r>
              <a:rPr lang="es-MX" altLang="es-MX" sz="1800" dirty="0">
                <a:latin typeface="Arial" panose="020B0604020202020204" pitchFamily="34" charset="0"/>
                <a:cs typeface="Arial" panose="020B0604020202020204" pitchFamily="34" charset="0"/>
              </a:rPr>
              <a:t> Materias (</a:t>
            </a:r>
            <a:r>
              <a:rPr lang="es-MX" altLang="es-MX" sz="1800" dirty="0" err="1">
                <a:latin typeface="Arial" panose="020B0604020202020204" pitchFamily="34" charset="0"/>
                <a:cs typeface="Arial" panose="020B0604020202020204" pitchFamily="34" charset="0"/>
              </a:rPr>
              <a:t>ClvMat</a:t>
            </a:r>
            <a:r>
              <a:rPr lang="es-MX" altLang="es-MX" sz="1800" dirty="0">
                <a:latin typeface="Arial" panose="020B0604020202020204" pitchFamily="34" charset="0"/>
                <a:cs typeface="Arial" panose="020B0604020202020204" pitchFamily="34" charset="0"/>
              </a:rPr>
              <a:t>),</a:t>
            </a:r>
          </a:p>
          <a:p>
            <a:pPr eaLnBrk="1" hangingPunct="1">
              <a:spcBef>
                <a:spcPct val="0"/>
              </a:spcBef>
              <a:buClrTx/>
              <a:buSzTx/>
              <a:buFontTx/>
              <a:buNone/>
            </a:pPr>
            <a:r>
              <a:rPr lang="es-MX" altLang="es-MX" sz="1800" dirty="0" err="1">
                <a:latin typeface="Arial" panose="020B0604020202020204" pitchFamily="34" charset="0"/>
                <a:cs typeface="Arial" panose="020B0604020202020204" pitchFamily="34" charset="0"/>
              </a:rPr>
              <a:t>TipoExam</a:t>
            </a:r>
            <a:r>
              <a:rPr lang="es-MX" altLang="es-MX" sz="1800" dirty="0">
                <a:latin typeface="Arial" panose="020B0604020202020204" pitchFamily="34" charset="0"/>
                <a:cs typeface="Arial" panose="020B0604020202020204" pitchFamily="34" charset="0"/>
              </a:rPr>
              <a:t> </a:t>
            </a:r>
            <a:r>
              <a:rPr lang="es-MX" altLang="es-MX" sz="1800" dirty="0" err="1">
                <a:latin typeface="Arial" panose="020B0604020202020204" pitchFamily="34" charset="0"/>
                <a:cs typeface="Arial" panose="020B0604020202020204" pitchFamily="34" charset="0"/>
              </a:rPr>
              <a:t>char</a:t>
            </a:r>
            <a:r>
              <a:rPr lang="es-MX" altLang="es-MX" sz="1800" dirty="0">
                <a:latin typeface="Arial" panose="020B0604020202020204" pitchFamily="34" charset="0"/>
                <a:cs typeface="Arial" panose="020B0604020202020204" pitchFamily="34" charset="0"/>
              </a:rPr>
              <a:t>(3),</a:t>
            </a:r>
          </a:p>
          <a:p>
            <a:pPr eaLnBrk="1" hangingPunct="1">
              <a:spcBef>
                <a:spcPct val="0"/>
              </a:spcBef>
              <a:buClrTx/>
              <a:buSzTx/>
              <a:buFontTx/>
              <a:buNone/>
            </a:pPr>
            <a:r>
              <a:rPr lang="es-MX" altLang="es-MX" sz="1800" dirty="0">
                <a:latin typeface="Arial" panose="020B0604020202020204" pitchFamily="34" charset="0"/>
                <a:cs typeface="Arial" panose="020B0604020202020204" pitchFamily="34" charset="0"/>
              </a:rPr>
              <a:t>Periodo  </a:t>
            </a:r>
            <a:r>
              <a:rPr lang="es-MX" altLang="es-MX" sz="1800" dirty="0" err="1">
                <a:latin typeface="Arial" panose="020B0604020202020204" pitchFamily="34" charset="0"/>
                <a:cs typeface="Arial" panose="020B0604020202020204" pitchFamily="34" charset="0"/>
              </a:rPr>
              <a:t>char</a:t>
            </a:r>
            <a:r>
              <a:rPr lang="es-MX" altLang="es-MX" sz="1800" dirty="0">
                <a:latin typeface="Arial" panose="020B0604020202020204" pitchFamily="34" charset="0"/>
                <a:cs typeface="Arial" panose="020B0604020202020204" pitchFamily="34" charset="0"/>
              </a:rPr>
              <a:t>(10)</a:t>
            </a:r>
          </a:p>
          <a:p>
            <a:pPr eaLnBrk="1" hangingPunct="1">
              <a:spcBef>
                <a:spcPct val="0"/>
              </a:spcBef>
              <a:buClrTx/>
              <a:buSzTx/>
              <a:buFontTx/>
              <a:buNone/>
            </a:pPr>
            <a:r>
              <a:rPr lang="es-MX" altLang="es-MX" sz="1800" dirty="0">
                <a:latin typeface="Arial" panose="020B0604020202020204" pitchFamily="34" charset="0"/>
                <a:cs typeface="Arial" panose="020B0604020202020204" pitchFamily="34" charset="0"/>
              </a:rPr>
              <a:t>)</a:t>
            </a:r>
          </a:p>
        </p:txBody>
      </p:sp>
      <p:sp>
        <p:nvSpPr>
          <p:cNvPr id="5" name="3 CuadroTexto"/>
          <p:cNvSpPr txBox="1">
            <a:spLocks noChangeArrowheads="1"/>
          </p:cNvSpPr>
          <p:nvPr/>
        </p:nvSpPr>
        <p:spPr bwMode="auto">
          <a:xfrm>
            <a:off x="5951538" y="1755030"/>
            <a:ext cx="5400675"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9pPr>
          </a:lstStyle>
          <a:p>
            <a:pPr eaLnBrk="1" hangingPunct="1">
              <a:spcBef>
                <a:spcPct val="0"/>
              </a:spcBef>
              <a:buClrTx/>
              <a:buSzTx/>
              <a:buFontTx/>
              <a:buNone/>
            </a:pPr>
            <a:r>
              <a:rPr lang="es-MX" altLang="es-MX" sz="1800" dirty="0" err="1">
                <a:latin typeface="Arial" panose="020B0604020202020204" pitchFamily="34" charset="0"/>
                <a:cs typeface="Arial" panose="020B0604020202020204" pitchFamily="34" charset="0"/>
              </a:rPr>
              <a:t>Create</a:t>
            </a:r>
            <a:r>
              <a:rPr lang="es-MX" altLang="es-MX" sz="1800" dirty="0">
                <a:latin typeface="Arial" panose="020B0604020202020204" pitchFamily="34" charset="0"/>
                <a:cs typeface="Arial" panose="020B0604020202020204" pitchFamily="34" charset="0"/>
              </a:rPr>
              <a:t> Table Horarios (</a:t>
            </a:r>
          </a:p>
          <a:p>
            <a:pPr eaLnBrk="1" hangingPunct="1">
              <a:spcBef>
                <a:spcPct val="0"/>
              </a:spcBef>
              <a:buClrTx/>
              <a:buSzTx/>
              <a:buFontTx/>
              <a:buNone/>
            </a:pPr>
            <a:r>
              <a:rPr lang="es-MX" altLang="es-MX" sz="1800" dirty="0" err="1">
                <a:latin typeface="Arial" panose="020B0604020202020204" pitchFamily="34" charset="0"/>
                <a:cs typeface="Arial" panose="020B0604020202020204" pitchFamily="34" charset="0"/>
              </a:rPr>
              <a:t>ClvGpo</a:t>
            </a:r>
            <a:r>
              <a:rPr lang="es-MX" altLang="es-MX" sz="1800" dirty="0">
                <a:latin typeface="Arial" panose="020B0604020202020204" pitchFamily="34" charset="0"/>
                <a:cs typeface="Arial" panose="020B0604020202020204" pitchFamily="34" charset="0"/>
              </a:rPr>
              <a:t>      </a:t>
            </a:r>
            <a:r>
              <a:rPr lang="es-MX" altLang="es-MX" sz="1800" dirty="0" err="1">
                <a:latin typeface="Arial" panose="020B0604020202020204" pitchFamily="34" charset="0"/>
                <a:cs typeface="Arial" panose="020B0604020202020204" pitchFamily="34" charset="0"/>
              </a:rPr>
              <a:t>char</a:t>
            </a:r>
            <a:r>
              <a:rPr lang="es-MX" altLang="es-MX" sz="1800" dirty="0">
                <a:latin typeface="Arial" panose="020B0604020202020204" pitchFamily="34" charset="0"/>
                <a:cs typeface="Arial" panose="020B0604020202020204" pitchFamily="34" charset="0"/>
              </a:rPr>
              <a:t>(6) </a:t>
            </a:r>
            <a:r>
              <a:rPr lang="es-MX" altLang="es-MX" sz="1800" dirty="0" err="1">
                <a:latin typeface="Arial" panose="020B0604020202020204" pitchFamily="34" charset="0"/>
                <a:cs typeface="Arial" panose="020B0604020202020204" pitchFamily="34" charset="0"/>
              </a:rPr>
              <a:t>references</a:t>
            </a:r>
            <a:r>
              <a:rPr lang="es-MX" altLang="es-MX" sz="1800" dirty="0">
                <a:latin typeface="Arial" panose="020B0604020202020204" pitchFamily="34" charset="0"/>
                <a:cs typeface="Arial" panose="020B0604020202020204" pitchFamily="34" charset="0"/>
              </a:rPr>
              <a:t> Grupos (</a:t>
            </a:r>
            <a:r>
              <a:rPr lang="es-MX" altLang="es-MX" sz="1800" dirty="0" err="1">
                <a:latin typeface="Arial" panose="020B0604020202020204" pitchFamily="34" charset="0"/>
                <a:cs typeface="Arial" panose="020B0604020202020204" pitchFamily="34" charset="0"/>
              </a:rPr>
              <a:t>clvgpo</a:t>
            </a:r>
            <a:r>
              <a:rPr lang="es-MX" altLang="es-MX" sz="1800" dirty="0">
                <a:latin typeface="Arial" panose="020B0604020202020204" pitchFamily="34" charset="0"/>
                <a:cs typeface="Arial" panose="020B0604020202020204" pitchFamily="34" charset="0"/>
              </a:rPr>
              <a:t>),</a:t>
            </a:r>
          </a:p>
          <a:p>
            <a:pPr eaLnBrk="1" hangingPunct="1">
              <a:spcBef>
                <a:spcPct val="0"/>
              </a:spcBef>
              <a:buClrTx/>
              <a:buSzTx/>
              <a:buFontTx/>
              <a:buNone/>
            </a:pPr>
            <a:r>
              <a:rPr lang="es-MX" altLang="es-MX" sz="1800" dirty="0">
                <a:latin typeface="Arial" panose="020B0604020202020204" pitchFamily="34" charset="0"/>
                <a:cs typeface="Arial" panose="020B0604020202020204" pitchFamily="34" charset="0"/>
              </a:rPr>
              <a:t>Dia             </a:t>
            </a:r>
            <a:r>
              <a:rPr lang="es-MX" altLang="es-MX" sz="1800" dirty="0" err="1">
                <a:latin typeface="Arial" panose="020B0604020202020204" pitchFamily="34" charset="0"/>
                <a:cs typeface="Arial" panose="020B0604020202020204" pitchFamily="34" charset="0"/>
              </a:rPr>
              <a:t>char</a:t>
            </a:r>
            <a:r>
              <a:rPr lang="es-MX" altLang="es-MX" sz="1800" dirty="0">
                <a:latin typeface="Arial" panose="020B0604020202020204" pitchFamily="34" charset="0"/>
                <a:cs typeface="Arial" panose="020B0604020202020204" pitchFamily="34" charset="0"/>
              </a:rPr>
              <a:t>(1),</a:t>
            </a:r>
          </a:p>
          <a:p>
            <a:pPr eaLnBrk="1" hangingPunct="1">
              <a:spcBef>
                <a:spcPct val="0"/>
              </a:spcBef>
              <a:buClrTx/>
              <a:buSzTx/>
              <a:buFontTx/>
              <a:buNone/>
            </a:pPr>
            <a:r>
              <a:rPr lang="es-MX" altLang="es-MX" sz="1800" dirty="0">
                <a:latin typeface="Arial" panose="020B0604020202020204" pitchFamily="34" charset="0"/>
                <a:cs typeface="Arial" panose="020B0604020202020204" pitchFamily="34" charset="0"/>
              </a:rPr>
              <a:t>Hora-entra </a:t>
            </a:r>
            <a:r>
              <a:rPr lang="es-MX" altLang="es-MX" sz="1800" dirty="0" err="1">
                <a:latin typeface="Arial" panose="020B0604020202020204" pitchFamily="34" charset="0"/>
                <a:cs typeface="Arial" panose="020B0604020202020204" pitchFamily="34" charset="0"/>
              </a:rPr>
              <a:t>char</a:t>
            </a:r>
            <a:r>
              <a:rPr lang="es-MX" altLang="es-MX" sz="1800" dirty="0">
                <a:latin typeface="Arial" panose="020B0604020202020204" pitchFamily="34" charset="0"/>
                <a:cs typeface="Arial" panose="020B0604020202020204" pitchFamily="34" charset="0"/>
              </a:rPr>
              <a:t>(5),</a:t>
            </a:r>
          </a:p>
          <a:p>
            <a:pPr eaLnBrk="1" hangingPunct="1">
              <a:spcBef>
                <a:spcPct val="0"/>
              </a:spcBef>
              <a:buClrTx/>
              <a:buSzTx/>
              <a:buFontTx/>
              <a:buNone/>
            </a:pPr>
            <a:r>
              <a:rPr lang="es-MX" altLang="es-MX" sz="1800" dirty="0">
                <a:latin typeface="Arial" panose="020B0604020202020204" pitchFamily="34" charset="0"/>
                <a:cs typeface="Arial" panose="020B0604020202020204" pitchFamily="34" charset="0"/>
              </a:rPr>
              <a:t>Hora-sale  </a:t>
            </a:r>
            <a:r>
              <a:rPr lang="es-MX" altLang="es-MX" sz="1800" dirty="0" err="1">
                <a:latin typeface="Arial" panose="020B0604020202020204" pitchFamily="34" charset="0"/>
                <a:cs typeface="Arial" panose="020B0604020202020204" pitchFamily="34" charset="0"/>
              </a:rPr>
              <a:t>char</a:t>
            </a:r>
            <a:r>
              <a:rPr lang="es-MX" altLang="es-MX" sz="1800" dirty="0">
                <a:latin typeface="Arial" panose="020B0604020202020204" pitchFamily="34" charset="0"/>
                <a:cs typeface="Arial" panose="020B0604020202020204" pitchFamily="34" charset="0"/>
              </a:rPr>
              <a:t>(5),</a:t>
            </a:r>
          </a:p>
          <a:p>
            <a:pPr eaLnBrk="1" hangingPunct="1">
              <a:spcBef>
                <a:spcPct val="0"/>
              </a:spcBef>
              <a:buClrTx/>
              <a:buSzTx/>
              <a:buFontTx/>
              <a:buNone/>
            </a:pPr>
            <a:r>
              <a:rPr lang="es-MX" altLang="es-MX" sz="1800" dirty="0">
                <a:latin typeface="Arial" panose="020B0604020202020204" pitchFamily="34" charset="0"/>
                <a:cs typeface="Arial" panose="020B0604020202020204" pitchFamily="34" charset="0"/>
              </a:rPr>
              <a:t>Aula          </a:t>
            </a:r>
            <a:r>
              <a:rPr lang="es-MX" altLang="es-MX" sz="1800" dirty="0" err="1">
                <a:latin typeface="Arial" panose="020B0604020202020204" pitchFamily="34" charset="0"/>
                <a:cs typeface="Arial" panose="020B0604020202020204" pitchFamily="34" charset="0"/>
              </a:rPr>
              <a:t>char</a:t>
            </a:r>
            <a:r>
              <a:rPr lang="es-MX" altLang="es-MX" sz="1800" dirty="0">
                <a:latin typeface="Arial" panose="020B0604020202020204" pitchFamily="34" charset="0"/>
                <a:cs typeface="Arial" panose="020B0604020202020204" pitchFamily="34" charset="0"/>
              </a:rPr>
              <a:t>(8),</a:t>
            </a:r>
          </a:p>
          <a:p>
            <a:pPr eaLnBrk="1" hangingPunct="1">
              <a:spcBef>
                <a:spcPct val="0"/>
              </a:spcBef>
              <a:buClrTx/>
              <a:buSzTx/>
              <a:buFontTx/>
              <a:buNone/>
            </a:pPr>
            <a:r>
              <a:rPr lang="es-MX" altLang="es-MX" sz="1800" dirty="0">
                <a:latin typeface="Arial" panose="020B0604020202020204" pitchFamily="34" charset="0"/>
                <a:cs typeface="Arial" panose="020B0604020202020204" pitchFamily="34" charset="0"/>
              </a:rPr>
              <a:t>PRIMARY KEY (</a:t>
            </a:r>
            <a:r>
              <a:rPr lang="es-MX" altLang="es-MX" sz="1800" dirty="0" err="1">
                <a:latin typeface="Arial" panose="020B0604020202020204" pitchFamily="34" charset="0"/>
                <a:cs typeface="Arial" panose="020B0604020202020204" pitchFamily="34" charset="0"/>
              </a:rPr>
              <a:t>clvprof</a:t>
            </a:r>
            <a:r>
              <a:rPr lang="es-MX" altLang="es-MX" sz="1800" dirty="0">
                <a:latin typeface="Arial" panose="020B0604020202020204" pitchFamily="34" charset="0"/>
                <a:cs typeface="Arial" panose="020B0604020202020204" pitchFamily="34" charset="0"/>
              </a:rPr>
              <a:t>, </a:t>
            </a:r>
            <a:r>
              <a:rPr lang="es-MX" altLang="es-MX" sz="1800" dirty="0" err="1">
                <a:latin typeface="Arial" panose="020B0604020202020204" pitchFamily="34" charset="0"/>
                <a:cs typeface="Arial" panose="020B0604020202020204" pitchFamily="34" charset="0"/>
              </a:rPr>
              <a:t>clvmat</a:t>
            </a:r>
            <a:r>
              <a:rPr lang="es-MX" altLang="es-MX" sz="1800" dirty="0">
                <a:latin typeface="Arial" panose="020B0604020202020204" pitchFamily="34" charset="0"/>
                <a:cs typeface="Arial" panose="020B0604020202020204" pitchFamily="34" charset="0"/>
              </a:rPr>
              <a:t>, día)</a:t>
            </a:r>
          </a:p>
          <a:p>
            <a:pPr eaLnBrk="1" hangingPunct="1">
              <a:spcBef>
                <a:spcPct val="0"/>
              </a:spcBef>
              <a:buClrTx/>
              <a:buSzTx/>
              <a:buFontTx/>
              <a:buNone/>
            </a:pPr>
            <a:r>
              <a:rPr lang="es-MX" altLang="es-MX" sz="1800" dirty="0">
                <a:latin typeface="Arial" panose="020B0604020202020204" pitchFamily="34" charset="0"/>
                <a:cs typeface="Arial" panose="020B0604020202020204" pitchFamily="34" charset="0"/>
              </a:rPr>
              <a:t>)</a:t>
            </a:r>
          </a:p>
        </p:txBody>
      </p:sp>
      <p:sp>
        <p:nvSpPr>
          <p:cNvPr id="3" name="3 CuadroTexto">
            <a:extLst>
              <a:ext uri="{FF2B5EF4-FFF2-40B4-BE49-F238E27FC236}">
                <a16:creationId xmlns:a16="http://schemas.microsoft.com/office/drawing/2014/main" id="{424958E2-174C-8D43-3C85-0B07EA0C7301}"/>
              </a:ext>
            </a:extLst>
          </p:cNvPr>
          <p:cNvSpPr txBox="1">
            <a:spLocks noChangeArrowheads="1"/>
          </p:cNvSpPr>
          <p:nvPr/>
        </p:nvSpPr>
        <p:spPr bwMode="auto">
          <a:xfrm>
            <a:off x="653604" y="3749577"/>
            <a:ext cx="5400675"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9pPr>
          </a:lstStyle>
          <a:p>
            <a:pPr eaLnBrk="1" hangingPunct="1">
              <a:spcBef>
                <a:spcPct val="0"/>
              </a:spcBef>
              <a:buClrTx/>
              <a:buSzTx/>
              <a:buFontTx/>
              <a:buNone/>
            </a:pPr>
            <a:r>
              <a:rPr lang="es-MX" altLang="es-MX" sz="1800" dirty="0" err="1">
                <a:latin typeface="Arial" panose="020B0604020202020204" pitchFamily="34" charset="0"/>
                <a:cs typeface="Arial" panose="020B0604020202020204" pitchFamily="34" charset="0"/>
              </a:rPr>
              <a:t>Create</a:t>
            </a:r>
            <a:r>
              <a:rPr lang="es-MX" altLang="es-MX" sz="1800" dirty="0">
                <a:latin typeface="Arial" panose="020B0604020202020204" pitchFamily="34" charset="0"/>
                <a:cs typeface="Arial" panose="020B0604020202020204" pitchFamily="34" charset="0"/>
              </a:rPr>
              <a:t> Table </a:t>
            </a:r>
            <a:r>
              <a:rPr lang="es-MX" altLang="es-MX" sz="1800" dirty="0" err="1">
                <a:latin typeface="Arial" panose="020B0604020202020204" pitchFamily="34" charset="0"/>
                <a:cs typeface="Arial" panose="020B0604020202020204" pitchFamily="34" charset="0"/>
              </a:rPr>
              <a:t>Horarios_Prof</a:t>
            </a:r>
            <a:r>
              <a:rPr lang="es-MX" altLang="es-MX" sz="1800" dirty="0">
                <a:latin typeface="Arial" panose="020B0604020202020204" pitchFamily="34" charset="0"/>
                <a:cs typeface="Arial" panose="020B0604020202020204" pitchFamily="34" charset="0"/>
              </a:rPr>
              <a:t> (</a:t>
            </a:r>
          </a:p>
          <a:p>
            <a:pPr eaLnBrk="1" hangingPunct="1">
              <a:spcBef>
                <a:spcPct val="0"/>
              </a:spcBef>
              <a:buClrTx/>
              <a:buSzTx/>
              <a:buFontTx/>
              <a:buNone/>
            </a:pPr>
            <a:r>
              <a:rPr lang="es-MX" altLang="es-MX" sz="1800" dirty="0" err="1">
                <a:latin typeface="Arial" panose="020B0604020202020204" pitchFamily="34" charset="0"/>
                <a:cs typeface="Arial" panose="020B0604020202020204" pitchFamily="34" charset="0"/>
              </a:rPr>
              <a:t>ClvProf</a:t>
            </a:r>
            <a:r>
              <a:rPr lang="es-MX" altLang="es-MX" sz="1800" dirty="0">
                <a:latin typeface="Arial" panose="020B0604020202020204" pitchFamily="34" charset="0"/>
                <a:cs typeface="Arial" panose="020B0604020202020204" pitchFamily="34" charset="0"/>
              </a:rPr>
              <a:t>      </a:t>
            </a:r>
            <a:r>
              <a:rPr lang="es-MX" altLang="es-MX" sz="1800" dirty="0" err="1">
                <a:latin typeface="Arial" panose="020B0604020202020204" pitchFamily="34" charset="0"/>
                <a:cs typeface="Arial" panose="020B0604020202020204" pitchFamily="34" charset="0"/>
              </a:rPr>
              <a:t>char</a:t>
            </a:r>
            <a:r>
              <a:rPr lang="es-MX" altLang="es-MX" sz="1800" dirty="0">
                <a:latin typeface="Arial" panose="020B0604020202020204" pitchFamily="34" charset="0"/>
                <a:cs typeface="Arial" panose="020B0604020202020204" pitchFamily="34" charset="0"/>
              </a:rPr>
              <a:t>(4) </a:t>
            </a:r>
            <a:r>
              <a:rPr lang="es-MX" altLang="es-MX" sz="1800" dirty="0" err="1">
                <a:latin typeface="Arial" panose="020B0604020202020204" pitchFamily="34" charset="0"/>
                <a:cs typeface="Arial" panose="020B0604020202020204" pitchFamily="34" charset="0"/>
              </a:rPr>
              <a:t>references</a:t>
            </a:r>
            <a:r>
              <a:rPr lang="es-MX" altLang="es-MX" sz="1800" dirty="0">
                <a:latin typeface="Arial" panose="020B0604020202020204" pitchFamily="34" charset="0"/>
                <a:cs typeface="Arial" panose="020B0604020202020204" pitchFamily="34" charset="0"/>
              </a:rPr>
              <a:t> Grupos (</a:t>
            </a:r>
            <a:r>
              <a:rPr lang="es-MX" altLang="es-MX" sz="1800" dirty="0" err="1">
                <a:latin typeface="Arial" panose="020B0604020202020204" pitchFamily="34" charset="0"/>
                <a:cs typeface="Arial" panose="020B0604020202020204" pitchFamily="34" charset="0"/>
              </a:rPr>
              <a:t>clvgpo</a:t>
            </a:r>
            <a:r>
              <a:rPr lang="es-MX" altLang="es-MX" sz="1800" dirty="0">
                <a:latin typeface="Arial" panose="020B0604020202020204" pitchFamily="34" charset="0"/>
                <a:cs typeface="Arial" panose="020B0604020202020204" pitchFamily="34" charset="0"/>
              </a:rPr>
              <a:t>),</a:t>
            </a:r>
          </a:p>
          <a:p>
            <a:pPr eaLnBrk="1" hangingPunct="1">
              <a:spcBef>
                <a:spcPct val="0"/>
              </a:spcBef>
              <a:buClrTx/>
              <a:buSzTx/>
              <a:buFontTx/>
              <a:buNone/>
            </a:pPr>
            <a:r>
              <a:rPr lang="es-MX" altLang="es-MX" sz="1800" dirty="0">
                <a:latin typeface="Arial" panose="020B0604020202020204" pitchFamily="34" charset="0"/>
                <a:cs typeface="Arial" panose="020B0604020202020204" pitchFamily="34" charset="0"/>
              </a:rPr>
              <a:t>Dia             </a:t>
            </a:r>
            <a:r>
              <a:rPr lang="es-MX" altLang="es-MX" sz="1800" dirty="0" err="1">
                <a:latin typeface="Arial" panose="020B0604020202020204" pitchFamily="34" charset="0"/>
                <a:cs typeface="Arial" panose="020B0604020202020204" pitchFamily="34" charset="0"/>
              </a:rPr>
              <a:t>char</a:t>
            </a:r>
            <a:r>
              <a:rPr lang="es-MX" altLang="es-MX" sz="1800" dirty="0">
                <a:latin typeface="Arial" panose="020B0604020202020204" pitchFamily="34" charset="0"/>
                <a:cs typeface="Arial" panose="020B0604020202020204" pitchFamily="34" charset="0"/>
              </a:rPr>
              <a:t>(1),</a:t>
            </a:r>
          </a:p>
          <a:p>
            <a:pPr eaLnBrk="1" hangingPunct="1">
              <a:spcBef>
                <a:spcPct val="0"/>
              </a:spcBef>
              <a:buClrTx/>
              <a:buSzTx/>
              <a:buFontTx/>
              <a:buNone/>
            </a:pPr>
            <a:r>
              <a:rPr lang="es-MX" altLang="es-MX" sz="1800" dirty="0">
                <a:latin typeface="Arial" panose="020B0604020202020204" pitchFamily="34" charset="0"/>
                <a:cs typeface="Arial" panose="020B0604020202020204" pitchFamily="34" charset="0"/>
              </a:rPr>
              <a:t>Turno         </a:t>
            </a:r>
            <a:r>
              <a:rPr lang="es-MX" altLang="es-MX" sz="1800" dirty="0" err="1">
                <a:latin typeface="Arial" panose="020B0604020202020204" pitchFamily="34" charset="0"/>
                <a:cs typeface="Arial" panose="020B0604020202020204" pitchFamily="34" charset="0"/>
              </a:rPr>
              <a:t>char</a:t>
            </a:r>
            <a:r>
              <a:rPr lang="es-MX" altLang="es-MX" sz="1800" dirty="0">
                <a:latin typeface="Arial" panose="020B0604020202020204" pitchFamily="34" charset="0"/>
                <a:cs typeface="Arial" panose="020B0604020202020204" pitchFamily="34" charset="0"/>
              </a:rPr>
              <a:t> (1),</a:t>
            </a:r>
          </a:p>
          <a:p>
            <a:pPr eaLnBrk="1" hangingPunct="1">
              <a:spcBef>
                <a:spcPct val="0"/>
              </a:spcBef>
              <a:buClrTx/>
              <a:buSzTx/>
              <a:buFontTx/>
              <a:buNone/>
            </a:pPr>
            <a:r>
              <a:rPr lang="es-MX" altLang="es-MX" sz="1800" dirty="0">
                <a:latin typeface="Arial" panose="020B0604020202020204" pitchFamily="34" charset="0"/>
                <a:cs typeface="Arial" panose="020B0604020202020204" pitchFamily="34" charset="0"/>
              </a:rPr>
              <a:t>Hora-entra </a:t>
            </a:r>
            <a:r>
              <a:rPr lang="es-MX" altLang="es-MX" sz="1800" dirty="0" err="1">
                <a:latin typeface="Arial" panose="020B0604020202020204" pitchFamily="34" charset="0"/>
                <a:cs typeface="Arial" panose="020B0604020202020204" pitchFamily="34" charset="0"/>
              </a:rPr>
              <a:t>char</a:t>
            </a:r>
            <a:r>
              <a:rPr lang="es-MX" altLang="es-MX" sz="1800" dirty="0">
                <a:latin typeface="Arial" panose="020B0604020202020204" pitchFamily="34" charset="0"/>
                <a:cs typeface="Arial" panose="020B0604020202020204" pitchFamily="34" charset="0"/>
              </a:rPr>
              <a:t>(5),</a:t>
            </a:r>
          </a:p>
          <a:p>
            <a:pPr eaLnBrk="1" hangingPunct="1">
              <a:spcBef>
                <a:spcPct val="0"/>
              </a:spcBef>
              <a:buClrTx/>
              <a:buSzTx/>
              <a:buFontTx/>
              <a:buNone/>
            </a:pPr>
            <a:r>
              <a:rPr lang="es-MX" altLang="es-MX" sz="1800" dirty="0">
                <a:latin typeface="Arial" panose="020B0604020202020204" pitchFamily="34" charset="0"/>
                <a:cs typeface="Arial" panose="020B0604020202020204" pitchFamily="34" charset="0"/>
              </a:rPr>
              <a:t>Hora-sale  </a:t>
            </a:r>
            <a:r>
              <a:rPr lang="es-MX" altLang="es-MX" sz="1800" dirty="0" err="1">
                <a:latin typeface="Arial" panose="020B0604020202020204" pitchFamily="34" charset="0"/>
                <a:cs typeface="Arial" panose="020B0604020202020204" pitchFamily="34" charset="0"/>
              </a:rPr>
              <a:t>char</a:t>
            </a:r>
            <a:r>
              <a:rPr lang="es-MX" altLang="es-MX" sz="1800" dirty="0">
                <a:latin typeface="Arial" panose="020B0604020202020204" pitchFamily="34" charset="0"/>
                <a:cs typeface="Arial" panose="020B0604020202020204" pitchFamily="34" charset="0"/>
              </a:rPr>
              <a:t>(5),</a:t>
            </a:r>
          </a:p>
          <a:p>
            <a:pPr eaLnBrk="1" hangingPunct="1">
              <a:spcBef>
                <a:spcPct val="0"/>
              </a:spcBef>
              <a:buClrTx/>
              <a:buSzTx/>
              <a:buFontTx/>
              <a:buNone/>
            </a:pPr>
            <a:r>
              <a:rPr lang="es-MX" altLang="es-MX" sz="1800" dirty="0">
                <a:latin typeface="Arial" panose="020B0604020202020204" pitchFamily="34" charset="0"/>
                <a:cs typeface="Arial" panose="020B0604020202020204" pitchFamily="34" charset="0"/>
              </a:rPr>
              <a:t>PRIMARY KEY (</a:t>
            </a:r>
            <a:r>
              <a:rPr lang="es-MX" altLang="es-MX" sz="1800" dirty="0" err="1">
                <a:latin typeface="Arial" panose="020B0604020202020204" pitchFamily="34" charset="0"/>
                <a:cs typeface="Arial" panose="020B0604020202020204" pitchFamily="34" charset="0"/>
              </a:rPr>
              <a:t>clvprof</a:t>
            </a:r>
            <a:r>
              <a:rPr lang="es-MX" altLang="es-MX" sz="1800" dirty="0">
                <a:latin typeface="Arial" panose="020B0604020202020204" pitchFamily="34" charset="0"/>
                <a:cs typeface="Arial" panose="020B0604020202020204" pitchFamily="34" charset="0"/>
              </a:rPr>
              <a:t>, día, turno)</a:t>
            </a:r>
          </a:p>
          <a:p>
            <a:pPr eaLnBrk="1" hangingPunct="1">
              <a:spcBef>
                <a:spcPct val="0"/>
              </a:spcBef>
              <a:buClrTx/>
              <a:buSzTx/>
              <a:buFontTx/>
              <a:buNone/>
            </a:pPr>
            <a:r>
              <a:rPr lang="es-MX" altLang="es-MX" sz="18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099167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09297"/>
            <a:ext cx="10245091" cy="691540"/>
          </a:xfrm>
        </p:spPr>
        <p:txBody>
          <a:bodyPr/>
          <a:lstStyle/>
          <a:p>
            <a:r>
              <a:rPr lang="es-MX" b="1" dirty="0">
                <a:solidFill>
                  <a:schemeClr val="accent1">
                    <a:lumMod val="50000"/>
                  </a:schemeClr>
                </a:solidFill>
              </a:rPr>
              <a:t>Unidad 1. Introducción a las Bases de Datos</a:t>
            </a:r>
          </a:p>
        </p:txBody>
      </p:sp>
      <p:sp>
        <p:nvSpPr>
          <p:cNvPr id="3" name="Marcador de contenido 2"/>
          <p:cNvSpPr>
            <a:spLocks noGrp="1"/>
          </p:cNvSpPr>
          <p:nvPr>
            <p:ph sz="quarter" idx="13"/>
          </p:nvPr>
        </p:nvSpPr>
        <p:spPr/>
        <p:txBody>
          <a:bodyPr/>
          <a:lstStyle/>
          <a:p>
            <a:pPr marL="342900" indent="-342900">
              <a:spcBef>
                <a:spcPts val="600"/>
              </a:spcBef>
              <a:buFont typeface="Arial" panose="020B0604020202020204" pitchFamily="34" charset="0"/>
              <a:buChar char="•"/>
              <a:defRPr/>
            </a:pPr>
            <a:r>
              <a:rPr lang="en-US" sz="2200" b="1" dirty="0">
                <a:solidFill>
                  <a:schemeClr val="accent1">
                    <a:lumMod val="50000"/>
                  </a:schemeClr>
                </a:solidFill>
              </a:rPr>
              <a:t>Los </a:t>
            </a:r>
            <a:r>
              <a:rPr lang="en-US" sz="2200" b="1" dirty="0" err="1">
                <a:solidFill>
                  <a:schemeClr val="accent1">
                    <a:lumMod val="50000"/>
                  </a:schemeClr>
                </a:solidFill>
              </a:rPr>
              <a:t>Sistemas</a:t>
            </a:r>
            <a:r>
              <a:rPr lang="en-US" sz="2200" b="1" dirty="0">
                <a:solidFill>
                  <a:schemeClr val="accent1">
                    <a:lumMod val="50000"/>
                  </a:schemeClr>
                </a:solidFill>
              </a:rPr>
              <a:t> de bases de </a:t>
            </a:r>
            <a:r>
              <a:rPr lang="en-US" sz="2200" b="1" dirty="0" err="1">
                <a:solidFill>
                  <a:schemeClr val="accent1">
                    <a:lumMod val="50000"/>
                  </a:schemeClr>
                </a:solidFill>
              </a:rPr>
              <a:t>datos</a:t>
            </a:r>
            <a:endParaRPr lang="en-US" sz="2200" b="1" dirty="0">
              <a:solidFill>
                <a:schemeClr val="accent1">
                  <a:lumMod val="50000"/>
                </a:schemeClr>
              </a:solidFill>
            </a:endParaRPr>
          </a:p>
          <a:p>
            <a:pPr marL="1028683" lvl="1" indent="-342900">
              <a:spcBef>
                <a:spcPts val="600"/>
              </a:spcBef>
              <a:defRPr/>
            </a:pPr>
            <a:r>
              <a:rPr lang="en-US" sz="2200" dirty="0" err="1">
                <a:solidFill>
                  <a:schemeClr val="accent1">
                    <a:lumMod val="50000"/>
                  </a:schemeClr>
                </a:solidFill>
              </a:rPr>
              <a:t>Propósito</a:t>
            </a:r>
            <a:r>
              <a:rPr lang="en-US" sz="2200" dirty="0">
                <a:solidFill>
                  <a:schemeClr val="accent1">
                    <a:lumMod val="50000"/>
                  </a:schemeClr>
                </a:solidFill>
              </a:rPr>
              <a:t> de </a:t>
            </a:r>
            <a:r>
              <a:rPr lang="en-US" sz="2200" dirty="0" err="1">
                <a:solidFill>
                  <a:schemeClr val="accent1">
                    <a:lumMod val="50000"/>
                  </a:schemeClr>
                </a:solidFill>
              </a:rPr>
              <a:t>los</a:t>
            </a:r>
            <a:r>
              <a:rPr lang="en-US" sz="2200" dirty="0">
                <a:solidFill>
                  <a:schemeClr val="accent1">
                    <a:lumMod val="50000"/>
                  </a:schemeClr>
                </a:solidFill>
              </a:rPr>
              <a:t> </a:t>
            </a:r>
            <a:r>
              <a:rPr lang="en-US" sz="2200" dirty="0" err="1">
                <a:solidFill>
                  <a:schemeClr val="accent1">
                    <a:lumMod val="50000"/>
                  </a:schemeClr>
                </a:solidFill>
              </a:rPr>
              <a:t>Sistemas</a:t>
            </a:r>
            <a:r>
              <a:rPr lang="en-US" sz="2200" dirty="0">
                <a:solidFill>
                  <a:schemeClr val="accent1">
                    <a:lumMod val="50000"/>
                  </a:schemeClr>
                </a:solidFill>
              </a:rPr>
              <a:t> de Bases de </a:t>
            </a:r>
            <a:r>
              <a:rPr lang="en-US" sz="2200" dirty="0" err="1">
                <a:solidFill>
                  <a:schemeClr val="accent1">
                    <a:lumMod val="50000"/>
                  </a:schemeClr>
                </a:solidFill>
              </a:rPr>
              <a:t>datos</a:t>
            </a:r>
            <a:endParaRPr lang="en-US" sz="2200" dirty="0">
              <a:solidFill>
                <a:schemeClr val="accent1">
                  <a:lumMod val="50000"/>
                </a:schemeClr>
              </a:solidFill>
            </a:endParaRPr>
          </a:p>
          <a:p>
            <a:pPr marL="1028683" lvl="1" indent="-342900">
              <a:spcBef>
                <a:spcPts val="600"/>
              </a:spcBef>
              <a:defRPr/>
            </a:pPr>
            <a:r>
              <a:rPr lang="en-US" sz="2200" dirty="0" err="1">
                <a:solidFill>
                  <a:schemeClr val="accent1">
                    <a:lumMod val="50000"/>
                  </a:schemeClr>
                </a:solidFill>
              </a:rPr>
              <a:t>Datos</a:t>
            </a:r>
            <a:r>
              <a:rPr lang="en-US" sz="2200" dirty="0">
                <a:solidFill>
                  <a:schemeClr val="accent1">
                    <a:lumMod val="50000"/>
                  </a:schemeClr>
                </a:solidFill>
              </a:rPr>
              <a:t> vs </a:t>
            </a:r>
            <a:r>
              <a:rPr lang="en-US" sz="2200" dirty="0" err="1">
                <a:solidFill>
                  <a:schemeClr val="accent1">
                    <a:lumMod val="50000"/>
                  </a:schemeClr>
                </a:solidFill>
              </a:rPr>
              <a:t>Información</a:t>
            </a:r>
            <a:endParaRPr lang="en-US" sz="2200" dirty="0">
              <a:solidFill>
                <a:schemeClr val="accent1">
                  <a:lumMod val="50000"/>
                </a:schemeClr>
              </a:solidFill>
            </a:endParaRPr>
          </a:p>
          <a:p>
            <a:pPr marL="1028683" lvl="1" indent="-342900">
              <a:spcBef>
                <a:spcPts val="600"/>
              </a:spcBef>
              <a:defRPr/>
            </a:pPr>
            <a:r>
              <a:rPr lang="en-US" sz="2200" dirty="0" err="1">
                <a:solidFill>
                  <a:schemeClr val="accent1">
                    <a:lumMod val="50000"/>
                  </a:schemeClr>
                </a:solidFill>
              </a:rPr>
              <a:t>Componentes</a:t>
            </a:r>
            <a:r>
              <a:rPr lang="en-US" sz="2200" dirty="0">
                <a:solidFill>
                  <a:schemeClr val="accent1">
                    <a:lumMod val="50000"/>
                  </a:schemeClr>
                </a:solidFill>
              </a:rPr>
              <a:t> de un SBD</a:t>
            </a:r>
          </a:p>
          <a:p>
            <a:pPr marL="1028683" lvl="1" indent="-342900">
              <a:spcBef>
                <a:spcPts val="600"/>
              </a:spcBef>
              <a:defRPr/>
            </a:pPr>
            <a:r>
              <a:rPr lang="en-US" sz="2200" dirty="0">
                <a:solidFill>
                  <a:schemeClr val="accent1">
                    <a:lumMod val="50000"/>
                  </a:schemeClr>
                </a:solidFill>
              </a:rPr>
              <a:t>Bases de </a:t>
            </a:r>
            <a:r>
              <a:rPr lang="en-US" sz="2200" dirty="0" err="1">
                <a:solidFill>
                  <a:schemeClr val="accent1">
                    <a:lumMod val="50000"/>
                  </a:schemeClr>
                </a:solidFill>
              </a:rPr>
              <a:t>datos</a:t>
            </a:r>
            <a:r>
              <a:rPr lang="en-US" sz="2200" dirty="0">
                <a:solidFill>
                  <a:schemeClr val="accent1">
                    <a:lumMod val="50000"/>
                  </a:schemeClr>
                </a:solidFill>
              </a:rPr>
              <a:t> y Sistema </a:t>
            </a:r>
            <a:r>
              <a:rPr lang="en-US" sz="2200" dirty="0" err="1">
                <a:solidFill>
                  <a:schemeClr val="accent1">
                    <a:lumMod val="50000"/>
                  </a:schemeClr>
                </a:solidFill>
              </a:rPr>
              <a:t>Manejador</a:t>
            </a:r>
            <a:r>
              <a:rPr lang="en-US" sz="2200" dirty="0">
                <a:solidFill>
                  <a:schemeClr val="accent1">
                    <a:lumMod val="50000"/>
                  </a:schemeClr>
                </a:solidFill>
              </a:rPr>
              <a:t> de Bases de </a:t>
            </a:r>
            <a:r>
              <a:rPr lang="en-US" sz="2200" dirty="0" err="1">
                <a:solidFill>
                  <a:schemeClr val="accent1">
                    <a:lumMod val="50000"/>
                  </a:schemeClr>
                </a:solidFill>
              </a:rPr>
              <a:t>Datos</a:t>
            </a:r>
            <a:r>
              <a:rPr lang="en-US" sz="2200" dirty="0">
                <a:solidFill>
                  <a:schemeClr val="accent1">
                    <a:lumMod val="50000"/>
                  </a:schemeClr>
                </a:solidFill>
              </a:rPr>
              <a:t> </a:t>
            </a:r>
          </a:p>
          <a:p>
            <a:pPr marL="342900" indent="-342900">
              <a:spcBef>
                <a:spcPts val="600"/>
              </a:spcBef>
              <a:buFont typeface="Arial" panose="020B0604020202020204" pitchFamily="34" charset="0"/>
              <a:buChar char="•"/>
              <a:defRPr/>
            </a:pPr>
            <a:r>
              <a:rPr lang="en-US" sz="2200" b="1" dirty="0" err="1">
                <a:solidFill>
                  <a:schemeClr val="accent1">
                    <a:lumMod val="50000"/>
                  </a:schemeClr>
                </a:solidFill>
              </a:rPr>
              <a:t>Evolución</a:t>
            </a:r>
            <a:r>
              <a:rPr lang="en-US" sz="2200" b="1" dirty="0">
                <a:solidFill>
                  <a:schemeClr val="accent1">
                    <a:lumMod val="50000"/>
                  </a:schemeClr>
                </a:solidFill>
              </a:rPr>
              <a:t> de </a:t>
            </a:r>
            <a:r>
              <a:rPr lang="en-US" sz="2200" b="1" dirty="0" err="1">
                <a:solidFill>
                  <a:schemeClr val="accent1">
                    <a:lumMod val="50000"/>
                  </a:schemeClr>
                </a:solidFill>
              </a:rPr>
              <a:t>los</a:t>
            </a:r>
            <a:r>
              <a:rPr lang="en-US" sz="2200" b="1" dirty="0">
                <a:solidFill>
                  <a:schemeClr val="accent1">
                    <a:lumMod val="50000"/>
                  </a:schemeClr>
                </a:solidFill>
              </a:rPr>
              <a:t> SBD (ADA-1)</a:t>
            </a:r>
          </a:p>
          <a:p>
            <a:pPr marL="1028683" lvl="1" indent="-342900">
              <a:spcBef>
                <a:spcPts val="600"/>
              </a:spcBef>
              <a:defRPr/>
            </a:pPr>
            <a:r>
              <a:rPr lang="en-US" sz="2200" dirty="0" err="1">
                <a:solidFill>
                  <a:schemeClr val="accent1">
                    <a:lumMod val="50000"/>
                  </a:schemeClr>
                </a:solidFill>
              </a:rPr>
              <a:t>Sistemas</a:t>
            </a:r>
            <a:r>
              <a:rPr lang="en-US" sz="2200" dirty="0">
                <a:solidFill>
                  <a:schemeClr val="accent1">
                    <a:lumMod val="50000"/>
                  </a:schemeClr>
                </a:solidFill>
              </a:rPr>
              <a:t> de </a:t>
            </a:r>
            <a:r>
              <a:rPr lang="en-US" sz="2200" dirty="0" err="1">
                <a:solidFill>
                  <a:schemeClr val="accent1">
                    <a:lumMod val="50000"/>
                  </a:schemeClr>
                </a:solidFill>
              </a:rPr>
              <a:t>Archivos</a:t>
            </a:r>
            <a:endParaRPr lang="en-US" sz="2200" dirty="0">
              <a:solidFill>
                <a:schemeClr val="accent1">
                  <a:lumMod val="50000"/>
                </a:schemeClr>
              </a:solidFill>
            </a:endParaRPr>
          </a:p>
          <a:p>
            <a:pPr marL="1028683" lvl="1" indent="-342900">
              <a:spcBef>
                <a:spcPts val="600"/>
              </a:spcBef>
              <a:defRPr/>
            </a:pPr>
            <a:r>
              <a:rPr lang="en-US" sz="2200" dirty="0">
                <a:solidFill>
                  <a:schemeClr val="accent1">
                    <a:lumMod val="50000"/>
                  </a:schemeClr>
                </a:solidFill>
              </a:rPr>
              <a:t>El </a:t>
            </a:r>
            <a:r>
              <a:rPr lang="en-US" sz="2200" dirty="0" err="1">
                <a:solidFill>
                  <a:schemeClr val="accent1">
                    <a:lumMod val="50000"/>
                  </a:schemeClr>
                </a:solidFill>
              </a:rPr>
              <a:t>entorno</a:t>
            </a:r>
            <a:r>
              <a:rPr lang="en-US" sz="2200" dirty="0">
                <a:solidFill>
                  <a:schemeClr val="accent1">
                    <a:lumMod val="50000"/>
                  </a:schemeClr>
                </a:solidFill>
              </a:rPr>
              <a:t> de bases de </a:t>
            </a:r>
            <a:r>
              <a:rPr lang="en-US" sz="2200" dirty="0" err="1">
                <a:solidFill>
                  <a:schemeClr val="accent1">
                    <a:lumMod val="50000"/>
                  </a:schemeClr>
                </a:solidFill>
              </a:rPr>
              <a:t>datos</a:t>
            </a:r>
            <a:endParaRPr lang="en-US" sz="2200" dirty="0">
              <a:solidFill>
                <a:schemeClr val="accent1">
                  <a:lumMod val="50000"/>
                </a:schemeClr>
              </a:solidFill>
            </a:endParaRPr>
          </a:p>
          <a:p>
            <a:pPr marL="342900" indent="-342900">
              <a:spcBef>
                <a:spcPts val="600"/>
              </a:spcBef>
              <a:buFont typeface="Arial" panose="020B0604020202020204" pitchFamily="34" charset="0"/>
              <a:buChar char="•"/>
              <a:defRPr/>
            </a:pPr>
            <a:r>
              <a:rPr lang="en-US" sz="2200" b="1" dirty="0" err="1">
                <a:solidFill>
                  <a:schemeClr val="accent1">
                    <a:lumMod val="50000"/>
                  </a:schemeClr>
                </a:solidFill>
              </a:rPr>
              <a:t>Modelos</a:t>
            </a:r>
            <a:r>
              <a:rPr lang="en-US" sz="2200" b="1" dirty="0">
                <a:solidFill>
                  <a:schemeClr val="accent1">
                    <a:lumMod val="50000"/>
                  </a:schemeClr>
                </a:solidFill>
              </a:rPr>
              <a:t> de </a:t>
            </a:r>
            <a:r>
              <a:rPr lang="en-US" sz="2200" b="1" dirty="0" err="1">
                <a:solidFill>
                  <a:schemeClr val="accent1">
                    <a:lumMod val="50000"/>
                  </a:schemeClr>
                </a:solidFill>
              </a:rPr>
              <a:t>datos</a:t>
            </a:r>
            <a:r>
              <a:rPr lang="en-US" sz="2200" b="1" dirty="0">
                <a:solidFill>
                  <a:schemeClr val="accent1">
                    <a:lumMod val="50000"/>
                  </a:schemeClr>
                </a:solidFill>
              </a:rPr>
              <a:t> y </a:t>
            </a:r>
            <a:r>
              <a:rPr lang="en-US" sz="2200" b="1" dirty="0" err="1">
                <a:solidFill>
                  <a:schemeClr val="accent1">
                    <a:lumMod val="50000"/>
                  </a:schemeClr>
                </a:solidFill>
              </a:rPr>
              <a:t>terminología</a:t>
            </a:r>
            <a:r>
              <a:rPr lang="en-US" sz="2200" b="1" dirty="0">
                <a:solidFill>
                  <a:schemeClr val="accent1">
                    <a:lumMod val="50000"/>
                  </a:schemeClr>
                </a:solidFill>
              </a:rPr>
              <a:t> (ADA-2)</a:t>
            </a:r>
          </a:p>
          <a:p>
            <a:pPr marL="342900" indent="-342900">
              <a:spcBef>
                <a:spcPts val="600"/>
              </a:spcBef>
              <a:buFont typeface="Arial" panose="020B0604020202020204" pitchFamily="34" charset="0"/>
              <a:buChar char="•"/>
              <a:defRPr/>
            </a:pPr>
            <a:r>
              <a:rPr lang="en-US" sz="2200" b="1" dirty="0">
                <a:solidFill>
                  <a:schemeClr val="accent1">
                    <a:lumMod val="50000"/>
                  </a:schemeClr>
                </a:solidFill>
              </a:rPr>
              <a:t>El </a:t>
            </a:r>
            <a:r>
              <a:rPr lang="en-US" sz="2200" b="1" dirty="0" err="1">
                <a:solidFill>
                  <a:schemeClr val="accent1">
                    <a:lumMod val="50000"/>
                  </a:schemeClr>
                </a:solidFill>
              </a:rPr>
              <a:t>Ciclo</a:t>
            </a:r>
            <a:r>
              <a:rPr lang="en-US" sz="2200" b="1" dirty="0">
                <a:solidFill>
                  <a:schemeClr val="accent1">
                    <a:lumMod val="50000"/>
                  </a:schemeClr>
                </a:solidFill>
              </a:rPr>
              <a:t> de Vida de Bases de </a:t>
            </a:r>
            <a:r>
              <a:rPr lang="en-US" sz="2200" b="1" dirty="0" err="1">
                <a:solidFill>
                  <a:schemeClr val="accent1">
                    <a:lumMod val="50000"/>
                  </a:schemeClr>
                </a:solidFill>
              </a:rPr>
              <a:t>Datos</a:t>
            </a:r>
            <a:endParaRPr lang="en-US" sz="2200" b="1" dirty="0">
              <a:solidFill>
                <a:schemeClr val="accent1">
                  <a:lumMod val="50000"/>
                </a:schemeClr>
              </a:solidFill>
            </a:endParaRPr>
          </a:p>
          <a:p>
            <a:pPr marL="342900" indent="-342900">
              <a:spcBef>
                <a:spcPts val="600"/>
              </a:spcBef>
              <a:buFont typeface="Arial" panose="020B0604020202020204" pitchFamily="34" charset="0"/>
              <a:buChar char="•"/>
              <a:defRPr/>
            </a:pPr>
            <a:r>
              <a:rPr lang="en-US" sz="2200" b="1" dirty="0" err="1">
                <a:solidFill>
                  <a:schemeClr val="accent1">
                    <a:lumMod val="50000"/>
                  </a:schemeClr>
                </a:solidFill>
              </a:rPr>
              <a:t>Arquitectura</a:t>
            </a:r>
            <a:r>
              <a:rPr lang="en-US" sz="2200" b="1" dirty="0">
                <a:solidFill>
                  <a:schemeClr val="accent1">
                    <a:lumMod val="50000"/>
                  </a:schemeClr>
                </a:solidFill>
              </a:rPr>
              <a:t> de Bases de </a:t>
            </a:r>
            <a:r>
              <a:rPr lang="en-US" sz="2200" b="1" dirty="0" err="1">
                <a:solidFill>
                  <a:schemeClr val="accent1">
                    <a:lumMod val="50000"/>
                  </a:schemeClr>
                </a:solidFill>
              </a:rPr>
              <a:t>datos</a:t>
            </a:r>
            <a:endParaRPr lang="en-US" sz="2200" b="1" dirty="0">
              <a:solidFill>
                <a:schemeClr val="accent1">
                  <a:lumMod val="50000"/>
                </a:schemeClr>
              </a:solidFill>
            </a:endParaRPr>
          </a:p>
          <a:p>
            <a:pPr marL="342900" indent="-342900">
              <a:spcBef>
                <a:spcPts val="600"/>
              </a:spcBef>
              <a:buFont typeface="Arial" panose="020B0604020202020204" pitchFamily="34" charset="0"/>
              <a:buChar char="•"/>
              <a:defRPr/>
            </a:pPr>
            <a:endParaRPr lang="en-US" sz="2200" dirty="0">
              <a:solidFill>
                <a:schemeClr val="accent1">
                  <a:lumMod val="50000"/>
                </a:schemeClr>
              </a:solidFill>
            </a:endParaRPr>
          </a:p>
          <a:p>
            <a:endParaRPr lang="es-MX" dirty="0"/>
          </a:p>
        </p:txBody>
      </p:sp>
    </p:spTree>
    <p:extLst>
      <p:ext uri="{BB962C8B-B14F-4D97-AF65-F5344CB8AC3E}">
        <p14:creationId xmlns:p14="http://schemas.microsoft.com/office/powerpoint/2010/main" val="20103371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88274" y="901337"/>
            <a:ext cx="10465527" cy="599499"/>
          </a:xfrm>
        </p:spPr>
        <p:txBody>
          <a:bodyPr/>
          <a:lstStyle/>
          <a:p>
            <a:r>
              <a:rPr lang="es-MX" b="1" dirty="0">
                <a:solidFill>
                  <a:schemeClr val="accent1">
                    <a:lumMod val="50000"/>
                  </a:schemeClr>
                </a:solidFill>
              </a:rPr>
              <a:t>Introducción</a:t>
            </a:r>
          </a:p>
        </p:txBody>
      </p:sp>
      <p:sp>
        <p:nvSpPr>
          <p:cNvPr id="3" name="Marcador de contenido 2"/>
          <p:cNvSpPr>
            <a:spLocks noGrp="1"/>
          </p:cNvSpPr>
          <p:nvPr>
            <p:ph sz="quarter" idx="13"/>
          </p:nvPr>
        </p:nvSpPr>
        <p:spPr/>
        <p:txBody>
          <a:bodyPr/>
          <a:lstStyle/>
          <a:p>
            <a:pPr marL="342900" indent="-342900">
              <a:buFont typeface="Arial" panose="020B0604020202020204" pitchFamily="34" charset="0"/>
              <a:buChar char="•"/>
            </a:pPr>
            <a:r>
              <a:rPr lang="es-MX" dirty="0">
                <a:solidFill>
                  <a:schemeClr val="accent1">
                    <a:lumMod val="50000"/>
                  </a:schemeClr>
                </a:solidFill>
              </a:rPr>
              <a:t>Entorno Empresarial</a:t>
            </a:r>
          </a:p>
          <a:p>
            <a:pPr marL="342900" indent="-342900">
              <a:buFont typeface="Arial" panose="020B0604020202020204" pitchFamily="34" charset="0"/>
              <a:buChar char="•"/>
            </a:pPr>
            <a:r>
              <a:rPr lang="es-MX" dirty="0">
                <a:solidFill>
                  <a:schemeClr val="accent1">
                    <a:lumMod val="50000"/>
                  </a:schemeClr>
                </a:solidFill>
              </a:rPr>
              <a:t>Los Sistemas de Información:</a:t>
            </a:r>
          </a:p>
          <a:p>
            <a:r>
              <a:rPr lang="es-MX" i="1" dirty="0"/>
              <a:t>	“Tomar buenas decisiones depende de buena información”</a:t>
            </a:r>
          </a:p>
          <a:p>
            <a:pPr marL="342900" indent="-342900">
              <a:buFont typeface="Arial" panose="020B0604020202020204" pitchFamily="34" charset="0"/>
              <a:buChar char="•"/>
            </a:pPr>
            <a:r>
              <a:rPr lang="es-MX" dirty="0">
                <a:solidFill>
                  <a:schemeClr val="accent1">
                    <a:lumMod val="50000"/>
                  </a:schemeClr>
                </a:solidFill>
              </a:rPr>
              <a:t>Registro de las operaciones:</a:t>
            </a:r>
            <a:r>
              <a:rPr lang="es-MX" dirty="0"/>
              <a:t> volumen de datos</a:t>
            </a:r>
          </a:p>
          <a:p>
            <a:pPr marL="342900" indent="-342900">
              <a:buFont typeface="Arial" panose="020B0604020202020204" pitchFamily="34" charset="0"/>
              <a:buChar char="•"/>
            </a:pPr>
            <a:r>
              <a:rPr lang="es-MX" dirty="0">
                <a:solidFill>
                  <a:schemeClr val="accent1">
                    <a:lumMod val="50000"/>
                  </a:schemeClr>
                </a:solidFill>
              </a:rPr>
              <a:t>Uso de Bases de datos:</a:t>
            </a:r>
            <a:r>
              <a:rPr lang="es-MX" dirty="0"/>
              <a:t> Registro y recuperación</a:t>
            </a:r>
          </a:p>
          <a:p>
            <a:pPr marL="342900" indent="-342900">
              <a:buFont typeface="Arial" panose="020B0604020202020204" pitchFamily="34" charset="0"/>
              <a:buChar char="•"/>
            </a:pPr>
            <a:endParaRPr lang="es-MX" dirty="0"/>
          </a:p>
          <a:p>
            <a:pPr marL="342900" indent="-342900">
              <a:buFont typeface="Arial" panose="020B0604020202020204" pitchFamily="34" charset="0"/>
              <a:buChar char="•"/>
            </a:pPr>
            <a:r>
              <a:rPr lang="es-MX" dirty="0">
                <a:solidFill>
                  <a:schemeClr val="accent1">
                    <a:lumMod val="50000"/>
                  </a:schemeClr>
                </a:solidFill>
              </a:rPr>
              <a:t>Desarrollo de aplicaciones:</a:t>
            </a:r>
            <a:r>
              <a:rPr lang="es-MX" dirty="0"/>
              <a:t> Software de aplicaciones</a:t>
            </a:r>
          </a:p>
          <a:p>
            <a:pPr marL="342900" indent="-342900">
              <a:buFont typeface="Arial" panose="020B0604020202020204" pitchFamily="34" charset="0"/>
              <a:buChar char="•"/>
            </a:pPr>
            <a:r>
              <a:rPr lang="es-MX" dirty="0">
                <a:solidFill>
                  <a:schemeClr val="accent1">
                    <a:lumMod val="50000"/>
                  </a:schemeClr>
                </a:solidFill>
              </a:rPr>
              <a:t>Software de bases de datos</a:t>
            </a:r>
          </a:p>
          <a:p>
            <a:endParaRPr lang="es-MX" dirty="0"/>
          </a:p>
          <a:p>
            <a:endParaRPr lang="es-MX" dirty="0"/>
          </a:p>
          <a:p>
            <a:endParaRPr lang="es-MX" i="1" dirty="0"/>
          </a:p>
        </p:txBody>
      </p:sp>
    </p:spTree>
    <p:extLst>
      <p:ext uri="{BB962C8B-B14F-4D97-AF65-F5344CB8AC3E}">
        <p14:creationId xmlns:p14="http://schemas.microsoft.com/office/powerpoint/2010/main" val="1536401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40827"/>
            <a:ext cx="10245091" cy="660009"/>
          </a:xfrm>
        </p:spPr>
        <p:txBody>
          <a:bodyPr/>
          <a:lstStyle/>
          <a:p>
            <a:r>
              <a:rPr lang="en-US" b="1" dirty="0">
                <a:solidFill>
                  <a:schemeClr val="accent1">
                    <a:lumMod val="50000"/>
                  </a:schemeClr>
                </a:solidFill>
              </a:rPr>
              <a:t>Los </a:t>
            </a:r>
            <a:r>
              <a:rPr lang="en-US" b="1" dirty="0" err="1">
                <a:solidFill>
                  <a:schemeClr val="accent1">
                    <a:lumMod val="50000"/>
                  </a:schemeClr>
                </a:solidFill>
              </a:rPr>
              <a:t>Sistemas</a:t>
            </a:r>
            <a:r>
              <a:rPr lang="en-US" b="1" dirty="0">
                <a:solidFill>
                  <a:schemeClr val="accent1">
                    <a:lumMod val="50000"/>
                  </a:schemeClr>
                </a:solidFill>
              </a:rPr>
              <a:t> de Bases de </a:t>
            </a:r>
            <a:r>
              <a:rPr lang="en-US" b="1" dirty="0" err="1">
                <a:solidFill>
                  <a:schemeClr val="accent1">
                    <a:lumMod val="50000"/>
                  </a:schemeClr>
                </a:solidFill>
              </a:rPr>
              <a:t>Datos</a:t>
            </a:r>
            <a:r>
              <a:rPr lang="en-US" b="1" dirty="0">
                <a:solidFill>
                  <a:schemeClr val="accent1">
                    <a:lumMod val="50000"/>
                  </a:schemeClr>
                </a:solidFill>
              </a:rPr>
              <a:t> (SBD)</a:t>
            </a:r>
            <a:endParaRPr lang="es-MX" b="1" dirty="0">
              <a:solidFill>
                <a:schemeClr val="accent1">
                  <a:lumMod val="50000"/>
                </a:schemeClr>
              </a:solidFill>
            </a:endParaRPr>
          </a:p>
        </p:txBody>
      </p:sp>
      <p:sp>
        <p:nvSpPr>
          <p:cNvPr id="3" name="Marcador de contenido 2"/>
          <p:cNvSpPr>
            <a:spLocks noGrp="1"/>
          </p:cNvSpPr>
          <p:nvPr>
            <p:ph sz="quarter" idx="13"/>
          </p:nvPr>
        </p:nvSpPr>
        <p:spPr/>
        <p:txBody>
          <a:bodyPr/>
          <a:lstStyle/>
          <a:p>
            <a:pPr>
              <a:spcBef>
                <a:spcPts val="600"/>
              </a:spcBef>
              <a:defRPr/>
            </a:pPr>
            <a:r>
              <a:rPr lang="en-US" dirty="0"/>
              <a:t>El SBD </a:t>
            </a:r>
            <a:r>
              <a:rPr lang="en-US" dirty="0" err="1"/>
              <a:t>contiene</a:t>
            </a:r>
            <a:r>
              <a:rPr lang="en-US" dirty="0"/>
              <a:t> </a:t>
            </a:r>
            <a:r>
              <a:rPr lang="en-US" dirty="0" err="1"/>
              <a:t>información</a:t>
            </a:r>
            <a:r>
              <a:rPr lang="en-US" dirty="0"/>
              <a:t> </a:t>
            </a:r>
            <a:r>
              <a:rPr lang="en-US" dirty="0" err="1"/>
              <a:t>sobre</a:t>
            </a:r>
            <a:r>
              <a:rPr lang="en-US" dirty="0"/>
              <a:t> </a:t>
            </a:r>
            <a:r>
              <a:rPr lang="en-US" dirty="0" err="1"/>
              <a:t>una</a:t>
            </a:r>
            <a:r>
              <a:rPr lang="en-US" dirty="0"/>
              <a:t> </a:t>
            </a:r>
            <a:r>
              <a:rPr lang="en-US" dirty="0" err="1"/>
              <a:t>empresa</a:t>
            </a:r>
            <a:r>
              <a:rPr lang="en-US" dirty="0"/>
              <a:t> particular.</a:t>
            </a:r>
          </a:p>
          <a:p>
            <a:pPr lvl="1">
              <a:spcBef>
                <a:spcPts val="600"/>
              </a:spcBef>
              <a:defRPr/>
            </a:pPr>
            <a:r>
              <a:rPr lang="en-US" dirty="0" err="1">
                <a:solidFill>
                  <a:schemeClr val="accent1">
                    <a:lumMod val="50000"/>
                  </a:schemeClr>
                </a:solidFill>
                <a:latin typeface="Arial" pitchFamily="34" charset="0"/>
                <a:cs typeface="Arial" pitchFamily="34" charset="0"/>
              </a:rPr>
              <a:t>Colección</a:t>
            </a:r>
            <a:r>
              <a:rPr lang="en-US" dirty="0">
                <a:solidFill>
                  <a:schemeClr val="accent1">
                    <a:lumMod val="50000"/>
                  </a:schemeClr>
                </a:solidFill>
                <a:latin typeface="Arial" pitchFamily="34" charset="0"/>
                <a:cs typeface="Arial" pitchFamily="34" charset="0"/>
              </a:rPr>
              <a:t> de </a:t>
            </a:r>
            <a:r>
              <a:rPr lang="en-US" dirty="0" err="1">
                <a:solidFill>
                  <a:schemeClr val="accent1">
                    <a:lumMod val="50000"/>
                  </a:schemeClr>
                </a:solidFill>
                <a:latin typeface="Arial" pitchFamily="34" charset="0"/>
                <a:cs typeface="Arial" pitchFamily="34" charset="0"/>
              </a:rPr>
              <a:t>datos</a:t>
            </a:r>
            <a:r>
              <a:rPr lang="en-US" dirty="0">
                <a:solidFill>
                  <a:schemeClr val="accent1">
                    <a:lumMod val="50000"/>
                  </a:schemeClr>
                </a:solidFill>
                <a:latin typeface="Arial" pitchFamily="34" charset="0"/>
                <a:cs typeface="Arial" pitchFamily="34" charset="0"/>
              </a:rPr>
              <a:t> </a:t>
            </a:r>
            <a:r>
              <a:rPr lang="en-US" dirty="0" err="1">
                <a:solidFill>
                  <a:schemeClr val="accent1">
                    <a:lumMod val="50000"/>
                  </a:schemeClr>
                </a:solidFill>
                <a:latin typeface="Arial" pitchFamily="34" charset="0"/>
                <a:cs typeface="Arial" pitchFamily="34" charset="0"/>
              </a:rPr>
              <a:t>interrelacionados</a:t>
            </a:r>
            <a:endParaRPr lang="en-US" dirty="0">
              <a:solidFill>
                <a:schemeClr val="accent1">
                  <a:lumMod val="50000"/>
                </a:schemeClr>
              </a:solidFill>
              <a:latin typeface="Arial" pitchFamily="34" charset="0"/>
              <a:cs typeface="Arial" pitchFamily="34" charset="0"/>
            </a:endParaRPr>
          </a:p>
          <a:p>
            <a:pPr marL="457189" lvl="1" indent="0">
              <a:spcBef>
                <a:spcPts val="600"/>
              </a:spcBef>
              <a:buNone/>
              <a:defRPr/>
            </a:pPr>
            <a:r>
              <a:rPr lang="en-US" dirty="0">
                <a:latin typeface="Arial" pitchFamily="34" charset="0"/>
                <a:cs typeface="Arial" pitchFamily="34" charset="0"/>
              </a:rPr>
              <a:t>	</a:t>
            </a:r>
            <a:r>
              <a:rPr lang="en-US" dirty="0" err="1">
                <a:latin typeface="Arial" pitchFamily="34" charset="0"/>
                <a:cs typeface="Arial" pitchFamily="34" charset="0"/>
              </a:rPr>
              <a:t>Entidades</a:t>
            </a:r>
            <a:r>
              <a:rPr lang="en-US" dirty="0">
                <a:latin typeface="Arial" pitchFamily="34" charset="0"/>
                <a:cs typeface="Arial" pitchFamily="34" charset="0"/>
              </a:rPr>
              <a:t>, </a:t>
            </a:r>
            <a:r>
              <a:rPr lang="en-US" dirty="0" err="1">
                <a:latin typeface="Arial" pitchFamily="34" charset="0"/>
                <a:cs typeface="Arial" pitchFamily="34" charset="0"/>
              </a:rPr>
              <a:t>atributos</a:t>
            </a:r>
            <a:r>
              <a:rPr lang="en-US" dirty="0">
                <a:latin typeface="Arial" pitchFamily="34" charset="0"/>
                <a:cs typeface="Arial" pitchFamily="34" charset="0"/>
              </a:rPr>
              <a:t> e </a:t>
            </a:r>
            <a:r>
              <a:rPr lang="en-US" dirty="0" err="1">
                <a:latin typeface="Arial" pitchFamily="34" charset="0"/>
                <a:cs typeface="Arial" pitchFamily="34" charset="0"/>
              </a:rPr>
              <a:t>interrelaciones</a:t>
            </a:r>
            <a:r>
              <a:rPr lang="en-US" dirty="0">
                <a:latin typeface="Arial" pitchFamily="34" charset="0"/>
                <a:cs typeface="Arial" pitchFamily="34" charset="0"/>
              </a:rPr>
              <a:t>.</a:t>
            </a:r>
          </a:p>
          <a:p>
            <a:pPr lvl="1">
              <a:spcBef>
                <a:spcPts val="600"/>
              </a:spcBef>
              <a:defRPr/>
            </a:pPr>
            <a:r>
              <a:rPr lang="en-US" dirty="0" err="1">
                <a:solidFill>
                  <a:schemeClr val="accent1">
                    <a:lumMod val="50000"/>
                  </a:schemeClr>
                </a:solidFill>
                <a:latin typeface="Arial" pitchFamily="34" charset="0"/>
                <a:cs typeface="Arial" pitchFamily="34" charset="0"/>
              </a:rPr>
              <a:t>Conjunto</a:t>
            </a:r>
            <a:r>
              <a:rPr lang="en-US" dirty="0">
                <a:solidFill>
                  <a:schemeClr val="accent1">
                    <a:lumMod val="50000"/>
                  </a:schemeClr>
                </a:solidFill>
                <a:latin typeface="Arial" pitchFamily="34" charset="0"/>
                <a:cs typeface="Arial" pitchFamily="34" charset="0"/>
              </a:rPr>
              <a:t> de </a:t>
            </a:r>
            <a:r>
              <a:rPr lang="en-US" dirty="0" err="1">
                <a:solidFill>
                  <a:schemeClr val="accent1">
                    <a:lumMod val="50000"/>
                  </a:schemeClr>
                </a:solidFill>
                <a:latin typeface="Arial" pitchFamily="34" charset="0"/>
                <a:cs typeface="Arial" pitchFamily="34" charset="0"/>
              </a:rPr>
              <a:t>programas</a:t>
            </a:r>
            <a:r>
              <a:rPr lang="en-US" dirty="0">
                <a:solidFill>
                  <a:schemeClr val="accent1">
                    <a:lumMod val="50000"/>
                  </a:schemeClr>
                </a:solidFill>
                <a:latin typeface="Arial" pitchFamily="34" charset="0"/>
                <a:cs typeface="Arial" pitchFamily="34" charset="0"/>
              </a:rPr>
              <a:t> para el </a:t>
            </a:r>
            <a:r>
              <a:rPr lang="en-US" dirty="0" err="1">
                <a:solidFill>
                  <a:schemeClr val="accent1">
                    <a:lumMod val="50000"/>
                  </a:schemeClr>
                </a:solidFill>
                <a:latin typeface="Arial" pitchFamily="34" charset="0"/>
                <a:cs typeface="Arial" pitchFamily="34" charset="0"/>
              </a:rPr>
              <a:t>acceso</a:t>
            </a:r>
            <a:r>
              <a:rPr lang="en-US" dirty="0">
                <a:solidFill>
                  <a:schemeClr val="accent1">
                    <a:lumMod val="50000"/>
                  </a:schemeClr>
                </a:solidFill>
                <a:latin typeface="Arial" pitchFamily="34" charset="0"/>
                <a:cs typeface="Arial" pitchFamily="34" charset="0"/>
              </a:rPr>
              <a:t> a </a:t>
            </a:r>
            <a:r>
              <a:rPr lang="en-US" dirty="0" err="1">
                <a:solidFill>
                  <a:schemeClr val="accent1">
                    <a:lumMod val="50000"/>
                  </a:schemeClr>
                </a:solidFill>
                <a:latin typeface="Arial" pitchFamily="34" charset="0"/>
                <a:cs typeface="Arial" pitchFamily="34" charset="0"/>
              </a:rPr>
              <a:t>los</a:t>
            </a:r>
            <a:r>
              <a:rPr lang="en-US" dirty="0">
                <a:solidFill>
                  <a:schemeClr val="accent1">
                    <a:lumMod val="50000"/>
                  </a:schemeClr>
                </a:solidFill>
                <a:latin typeface="Arial" pitchFamily="34" charset="0"/>
                <a:cs typeface="Arial" pitchFamily="34" charset="0"/>
              </a:rPr>
              <a:t> </a:t>
            </a:r>
            <a:r>
              <a:rPr lang="en-US" dirty="0" err="1">
                <a:solidFill>
                  <a:schemeClr val="accent1">
                    <a:lumMod val="50000"/>
                  </a:schemeClr>
                </a:solidFill>
                <a:latin typeface="Arial" pitchFamily="34" charset="0"/>
                <a:cs typeface="Arial" pitchFamily="34" charset="0"/>
              </a:rPr>
              <a:t>datos</a:t>
            </a:r>
            <a:r>
              <a:rPr lang="en-US" dirty="0">
                <a:solidFill>
                  <a:schemeClr val="accent1">
                    <a:lumMod val="50000"/>
                  </a:schemeClr>
                </a:solidFill>
                <a:latin typeface="Arial" pitchFamily="34" charset="0"/>
                <a:cs typeface="Arial" pitchFamily="34" charset="0"/>
              </a:rPr>
              <a:t> </a:t>
            </a:r>
          </a:p>
          <a:p>
            <a:pPr marL="457189" lvl="1" indent="0">
              <a:spcBef>
                <a:spcPts val="600"/>
              </a:spcBef>
              <a:buNone/>
              <a:defRPr/>
            </a:pPr>
            <a:r>
              <a:rPr lang="en-US" dirty="0">
                <a:latin typeface="Arial" pitchFamily="34" charset="0"/>
                <a:cs typeface="Arial" pitchFamily="34" charset="0"/>
              </a:rPr>
              <a:t>	Software de </a:t>
            </a:r>
            <a:r>
              <a:rPr lang="en-US" dirty="0" err="1">
                <a:latin typeface="Arial" pitchFamily="34" charset="0"/>
                <a:cs typeface="Arial" pitchFamily="34" charset="0"/>
              </a:rPr>
              <a:t>aplicación</a:t>
            </a:r>
            <a:r>
              <a:rPr lang="en-US" dirty="0">
                <a:latin typeface="Arial" pitchFamily="34" charset="0"/>
                <a:cs typeface="Arial" pitchFamily="34" charset="0"/>
              </a:rPr>
              <a:t> + SMBD</a:t>
            </a:r>
          </a:p>
          <a:p>
            <a:pPr lvl="1">
              <a:spcBef>
                <a:spcPts val="600"/>
              </a:spcBef>
              <a:defRPr/>
            </a:pPr>
            <a:r>
              <a:rPr lang="en-US" dirty="0">
                <a:latin typeface="Arial" pitchFamily="34" charset="0"/>
                <a:cs typeface="Arial" pitchFamily="34" charset="0"/>
              </a:rPr>
              <a:t>Un </a:t>
            </a:r>
            <a:r>
              <a:rPr lang="en-US" dirty="0" err="1">
                <a:latin typeface="Arial" pitchFamily="34" charset="0"/>
                <a:cs typeface="Arial" pitchFamily="34" charset="0"/>
              </a:rPr>
              <a:t>ambiente</a:t>
            </a:r>
            <a:r>
              <a:rPr lang="en-US" dirty="0">
                <a:latin typeface="Arial" pitchFamily="34" charset="0"/>
                <a:cs typeface="Arial" pitchFamily="34" charset="0"/>
              </a:rPr>
              <a:t>  de </a:t>
            </a:r>
            <a:r>
              <a:rPr lang="en-US" dirty="0" err="1">
                <a:latin typeface="Arial" pitchFamily="34" charset="0"/>
                <a:cs typeface="Arial" pitchFamily="34" charset="0"/>
              </a:rPr>
              <a:t>uso</a:t>
            </a:r>
            <a:r>
              <a:rPr lang="en-US" dirty="0">
                <a:latin typeface="Arial" pitchFamily="34" charset="0"/>
                <a:cs typeface="Arial" pitchFamily="34" charset="0"/>
              </a:rPr>
              <a:t> </a:t>
            </a:r>
            <a:r>
              <a:rPr lang="en-US" b="1" i="1" dirty="0" err="1">
                <a:solidFill>
                  <a:schemeClr val="accent1">
                    <a:lumMod val="50000"/>
                  </a:schemeClr>
                </a:solidFill>
                <a:latin typeface="Arial" pitchFamily="34" charset="0"/>
                <a:cs typeface="Arial" pitchFamily="34" charset="0"/>
              </a:rPr>
              <a:t>conveniente</a:t>
            </a:r>
            <a:r>
              <a:rPr lang="en-US" b="1" dirty="0">
                <a:solidFill>
                  <a:schemeClr val="accent1">
                    <a:lumMod val="50000"/>
                  </a:schemeClr>
                </a:solidFill>
                <a:latin typeface="Arial" pitchFamily="34" charset="0"/>
                <a:cs typeface="Arial" pitchFamily="34" charset="0"/>
              </a:rPr>
              <a:t> y </a:t>
            </a:r>
            <a:r>
              <a:rPr lang="en-US" b="1" i="1" dirty="0" err="1">
                <a:solidFill>
                  <a:schemeClr val="accent1">
                    <a:lumMod val="50000"/>
                  </a:schemeClr>
                </a:solidFill>
                <a:latin typeface="Arial" pitchFamily="34" charset="0"/>
                <a:cs typeface="Arial" pitchFamily="34" charset="0"/>
              </a:rPr>
              <a:t>eficiente</a:t>
            </a:r>
            <a:endParaRPr lang="en-US" b="1" dirty="0">
              <a:solidFill>
                <a:schemeClr val="accent1">
                  <a:lumMod val="50000"/>
                </a:schemeClr>
              </a:solidFill>
              <a:latin typeface="Arial" pitchFamily="34" charset="0"/>
              <a:cs typeface="Arial" pitchFamily="34" charset="0"/>
            </a:endParaRPr>
          </a:p>
          <a:p>
            <a:r>
              <a:rPr lang="es-MX" dirty="0"/>
              <a:t>	Diccionario de datos + Índices + Administración de la BD +</a:t>
            </a:r>
          </a:p>
          <a:p>
            <a:r>
              <a:rPr lang="es-MX" dirty="0"/>
              <a:t>	Usuarios + Integración y Compartición de datos</a:t>
            </a:r>
          </a:p>
        </p:txBody>
      </p:sp>
    </p:spTree>
    <p:extLst>
      <p:ext uri="{BB962C8B-B14F-4D97-AF65-F5344CB8AC3E}">
        <p14:creationId xmlns:p14="http://schemas.microsoft.com/office/powerpoint/2010/main" val="23143495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redondeado 3"/>
          <p:cNvSpPr/>
          <p:nvPr/>
        </p:nvSpPr>
        <p:spPr>
          <a:xfrm>
            <a:off x="1497578" y="4950372"/>
            <a:ext cx="8256021" cy="55704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Título 1"/>
          <p:cNvSpPr>
            <a:spLocks noGrp="1"/>
          </p:cNvSpPr>
          <p:nvPr>
            <p:ph type="title"/>
          </p:nvPr>
        </p:nvSpPr>
        <p:spPr>
          <a:xfrm>
            <a:off x="1108709" y="882869"/>
            <a:ext cx="10245091" cy="617968"/>
          </a:xfrm>
        </p:spPr>
        <p:txBody>
          <a:bodyPr/>
          <a:lstStyle/>
          <a:p>
            <a:r>
              <a:rPr lang="en-US" b="1" dirty="0">
                <a:solidFill>
                  <a:schemeClr val="accent1">
                    <a:lumMod val="50000"/>
                  </a:schemeClr>
                </a:solidFill>
              </a:rPr>
              <a:t>Los </a:t>
            </a:r>
            <a:r>
              <a:rPr lang="en-US" b="1" dirty="0" err="1">
                <a:solidFill>
                  <a:schemeClr val="accent1">
                    <a:lumMod val="50000"/>
                  </a:schemeClr>
                </a:solidFill>
              </a:rPr>
              <a:t>Sistemas</a:t>
            </a:r>
            <a:r>
              <a:rPr lang="en-US" b="1" dirty="0">
                <a:solidFill>
                  <a:schemeClr val="accent1">
                    <a:lumMod val="50000"/>
                  </a:schemeClr>
                </a:solidFill>
              </a:rPr>
              <a:t> de Bases de </a:t>
            </a:r>
            <a:r>
              <a:rPr lang="en-US" b="1" dirty="0" err="1">
                <a:solidFill>
                  <a:schemeClr val="accent1">
                    <a:lumMod val="50000"/>
                  </a:schemeClr>
                </a:solidFill>
              </a:rPr>
              <a:t>Datos</a:t>
            </a:r>
            <a:r>
              <a:rPr lang="en-US" b="1" dirty="0">
                <a:solidFill>
                  <a:schemeClr val="accent1">
                    <a:lumMod val="50000"/>
                  </a:schemeClr>
                </a:solidFill>
              </a:rPr>
              <a:t> (SBD)</a:t>
            </a:r>
            <a:endParaRPr lang="es-MX" dirty="0"/>
          </a:p>
        </p:txBody>
      </p:sp>
      <p:sp>
        <p:nvSpPr>
          <p:cNvPr id="3" name="Marcador de contenido 2"/>
          <p:cNvSpPr>
            <a:spLocks noGrp="1"/>
          </p:cNvSpPr>
          <p:nvPr>
            <p:ph sz="quarter" idx="13"/>
          </p:nvPr>
        </p:nvSpPr>
        <p:spPr/>
        <p:txBody>
          <a:bodyPr/>
          <a:lstStyle/>
          <a:p>
            <a:pPr>
              <a:defRPr/>
            </a:pPr>
            <a:r>
              <a:rPr lang="en-US" sz="2000" b="1" dirty="0" err="1">
                <a:solidFill>
                  <a:schemeClr val="accent1">
                    <a:lumMod val="50000"/>
                  </a:schemeClr>
                </a:solidFill>
              </a:rPr>
              <a:t>Aplicaciones</a:t>
            </a:r>
            <a:r>
              <a:rPr lang="en-US" sz="2000" b="1" dirty="0">
                <a:solidFill>
                  <a:schemeClr val="accent1">
                    <a:lumMod val="50000"/>
                  </a:schemeClr>
                </a:solidFill>
              </a:rPr>
              <a:t> de Bases de </a:t>
            </a:r>
            <a:r>
              <a:rPr lang="en-US" sz="2000" b="1" dirty="0" err="1">
                <a:solidFill>
                  <a:schemeClr val="accent1">
                    <a:lumMod val="50000"/>
                  </a:schemeClr>
                </a:solidFill>
              </a:rPr>
              <a:t>datos</a:t>
            </a:r>
            <a:r>
              <a:rPr lang="en-US" sz="2000" b="1" dirty="0">
                <a:solidFill>
                  <a:schemeClr val="accent1">
                    <a:lumMod val="50000"/>
                  </a:schemeClr>
                </a:solidFill>
              </a:rPr>
              <a:t>:</a:t>
            </a:r>
          </a:p>
          <a:p>
            <a:pPr lvl="1">
              <a:defRPr/>
            </a:pPr>
            <a:r>
              <a:rPr lang="en-US" sz="1800" dirty="0" err="1">
                <a:latin typeface="Arial" pitchFamily="34" charset="0"/>
                <a:cs typeface="Arial" pitchFamily="34" charset="0"/>
              </a:rPr>
              <a:t>Bancos</a:t>
            </a:r>
            <a:r>
              <a:rPr lang="en-US" sz="1800" dirty="0">
                <a:latin typeface="Arial" pitchFamily="34" charset="0"/>
                <a:cs typeface="Arial" pitchFamily="34" charset="0"/>
              </a:rPr>
              <a:t>: </a:t>
            </a:r>
            <a:r>
              <a:rPr lang="en-US" sz="1800" dirty="0" err="1">
                <a:latin typeface="Arial" pitchFamily="34" charset="0"/>
                <a:cs typeface="Arial" pitchFamily="34" charset="0"/>
              </a:rPr>
              <a:t>todas</a:t>
            </a:r>
            <a:r>
              <a:rPr lang="en-US" sz="1800" dirty="0">
                <a:latin typeface="Arial" pitchFamily="34" charset="0"/>
                <a:cs typeface="Arial" pitchFamily="34" charset="0"/>
              </a:rPr>
              <a:t> las </a:t>
            </a:r>
            <a:r>
              <a:rPr lang="en-US" sz="1800" dirty="0" err="1">
                <a:latin typeface="Arial" pitchFamily="34" charset="0"/>
                <a:cs typeface="Arial" pitchFamily="34" charset="0"/>
              </a:rPr>
              <a:t>transacciones</a:t>
            </a:r>
            <a:endParaRPr lang="en-US" sz="1800" dirty="0">
              <a:latin typeface="Arial" pitchFamily="34" charset="0"/>
              <a:cs typeface="Arial" pitchFamily="34" charset="0"/>
            </a:endParaRPr>
          </a:p>
          <a:p>
            <a:pPr lvl="1">
              <a:defRPr/>
            </a:pPr>
            <a:r>
              <a:rPr lang="en-US" sz="1800" dirty="0" err="1">
                <a:latin typeface="Arial" pitchFamily="34" charset="0"/>
                <a:cs typeface="Arial" pitchFamily="34" charset="0"/>
              </a:rPr>
              <a:t>Líneas</a:t>
            </a:r>
            <a:r>
              <a:rPr lang="en-US" sz="1800" dirty="0">
                <a:latin typeface="Arial" pitchFamily="34" charset="0"/>
                <a:cs typeface="Arial" pitchFamily="34" charset="0"/>
              </a:rPr>
              <a:t> </a:t>
            </a:r>
            <a:r>
              <a:rPr lang="en-US" sz="1800" dirty="0" err="1">
                <a:latin typeface="Arial" pitchFamily="34" charset="0"/>
                <a:cs typeface="Arial" pitchFamily="34" charset="0"/>
              </a:rPr>
              <a:t>Aéreas</a:t>
            </a:r>
            <a:r>
              <a:rPr lang="en-US" sz="1800" dirty="0">
                <a:latin typeface="Arial" pitchFamily="34" charset="0"/>
                <a:cs typeface="Arial" pitchFamily="34" charset="0"/>
              </a:rPr>
              <a:t>: </a:t>
            </a:r>
            <a:r>
              <a:rPr lang="en-US" sz="1800" dirty="0" err="1">
                <a:latin typeface="Arial" pitchFamily="34" charset="0"/>
                <a:cs typeface="Arial" pitchFamily="34" charset="0"/>
              </a:rPr>
              <a:t>reservaciones</a:t>
            </a:r>
            <a:r>
              <a:rPr lang="en-US" sz="1800" dirty="0">
                <a:latin typeface="Arial" pitchFamily="34" charset="0"/>
                <a:cs typeface="Arial" pitchFamily="34" charset="0"/>
              </a:rPr>
              <a:t>, </a:t>
            </a:r>
            <a:r>
              <a:rPr lang="en-US" sz="1800" dirty="0" err="1">
                <a:latin typeface="Arial" pitchFamily="34" charset="0"/>
                <a:cs typeface="Arial" pitchFamily="34" charset="0"/>
              </a:rPr>
              <a:t>horarios</a:t>
            </a:r>
            <a:endParaRPr lang="en-US" sz="1800" dirty="0">
              <a:latin typeface="Arial" pitchFamily="34" charset="0"/>
              <a:cs typeface="Arial" pitchFamily="34" charset="0"/>
            </a:endParaRPr>
          </a:p>
          <a:p>
            <a:pPr lvl="1">
              <a:defRPr/>
            </a:pPr>
            <a:r>
              <a:rPr lang="en-US" sz="1800" dirty="0" err="1">
                <a:latin typeface="Arial" pitchFamily="34" charset="0"/>
                <a:cs typeface="Arial" pitchFamily="34" charset="0"/>
              </a:rPr>
              <a:t>Universidades</a:t>
            </a:r>
            <a:r>
              <a:rPr lang="en-US" sz="1800" dirty="0">
                <a:latin typeface="Arial" pitchFamily="34" charset="0"/>
                <a:cs typeface="Arial" pitchFamily="34" charset="0"/>
              </a:rPr>
              <a:t>:  </a:t>
            </a:r>
            <a:r>
              <a:rPr lang="en-US" sz="1800" dirty="0" err="1">
                <a:latin typeface="Arial" pitchFamily="34" charset="0"/>
                <a:cs typeface="Arial" pitchFamily="34" charset="0"/>
              </a:rPr>
              <a:t>registro</a:t>
            </a:r>
            <a:r>
              <a:rPr lang="en-US" sz="1800" dirty="0">
                <a:latin typeface="Arial" pitchFamily="34" charset="0"/>
                <a:cs typeface="Arial" pitchFamily="34" charset="0"/>
              </a:rPr>
              <a:t>, </a:t>
            </a:r>
            <a:r>
              <a:rPr lang="en-US" sz="1800" dirty="0" err="1">
                <a:latin typeface="Arial" pitchFamily="34" charset="0"/>
                <a:cs typeface="Arial" pitchFamily="34" charset="0"/>
              </a:rPr>
              <a:t>cursos</a:t>
            </a:r>
            <a:endParaRPr lang="en-US" sz="1800" dirty="0">
              <a:latin typeface="Arial" pitchFamily="34" charset="0"/>
              <a:cs typeface="Arial" pitchFamily="34" charset="0"/>
            </a:endParaRPr>
          </a:p>
          <a:p>
            <a:pPr lvl="1">
              <a:defRPr/>
            </a:pPr>
            <a:r>
              <a:rPr lang="en-US" sz="1800" dirty="0">
                <a:latin typeface="Arial" pitchFamily="34" charset="0"/>
                <a:cs typeface="Arial" pitchFamily="34" charset="0"/>
              </a:rPr>
              <a:t>Ventas: </a:t>
            </a:r>
            <a:r>
              <a:rPr lang="en-US" sz="1800" dirty="0" err="1">
                <a:latin typeface="Arial" pitchFamily="34" charset="0"/>
                <a:cs typeface="Arial" pitchFamily="34" charset="0"/>
              </a:rPr>
              <a:t>clientes</a:t>
            </a:r>
            <a:r>
              <a:rPr lang="en-US" sz="1800" dirty="0">
                <a:latin typeface="Arial" pitchFamily="34" charset="0"/>
                <a:cs typeface="Arial" pitchFamily="34" charset="0"/>
              </a:rPr>
              <a:t>, </a:t>
            </a:r>
            <a:r>
              <a:rPr lang="en-US" sz="1800" dirty="0" err="1">
                <a:latin typeface="Arial" pitchFamily="34" charset="0"/>
                <a:cs typeface="Arial" pitchFamily="34" charset="0"/>
              </a:rPr>
              <a:t>productos</a:t>
            </a:r>
            <a:r>
              <a:rPr lang="en-US" sz="1800" dirty="0">
                <a:latin typeface="Arial" pitchFamily="34" charset="0"/>
                <a:cs typeface="Arial" pitchFamily="34" charset="0"/>
              </a:rPr>
              <a:t>, </a:t>
            </a:r>
            <a:r>
              <a:rPr lang="en-US" sz="1800" dirty="0" err="1">
                <a:latin typeface="Arial" pitchFamily="34" charset="0"/>
                <a:cs typeface="Arial" pitchFamily="34" charset="0"/>
              </a:rPr>
              <a:t>compras</a:t>
            </a:r>
            <a:endParaRPr lang="en-US" sz="1800" dirty="0">
              <a:latin typeface="Arial" pitchFamily="34" charset="0"/>
              <a:cs typeface="Arial" pitchFamily="34" charset="0"/>
            </a:endParaRPr>
          </a:p>
          <a:p>
            <a:pPr lvl="1">
              <a:defRPr/>
            </a:pPr>
            <a:r>
              <a:rPr lang="en-US" sz="1800" dirty="0">
                <a:latin typeface="Arial" pitchFamily="34" charset="0"/>
                <a:cs typeface="Arial" pitchFamily="34" charset="0"/>
              </a:rPr>
              <a:t>Ventas </a:t>
            </a:r>
            <a:r>
              <a:rPr lang="en-US" sz="1800" dirty="0" err="1">
                <a:latin typeface="Arial" pitchFamily="34" charset="0"/>
                <a:cs typeface="Arial" pitchFamily="34" charset="0"/>
              </a:rPr>
              <a:t>en</a:t>
            </a:r>
            <a:r>
              <a:rPr lang="en-US" sz="1800" dirty="0">
                <a:latin typeface="Arial" pitchFamily="34" charset="0"/>
                <a:cs typeface="Arial" pitchFamily="34" charset="0"/>
              </a:rPr>
              <a:t> </a:t>
            </a:r>
            <a:r>
              <a:rPr lang="en-US" sz="1800" dirty="0" err="1">
                <a:latin typeface="Arial" pitchFamily="34" charset="0"/>
                <a:cs typeface="Arial" pitchFamily="34" charset="0"/>
              </a:rPr>
              <a:t>línea</a:t>
            </a:r>
            <a:r>
              <a:rPr lang="en-US" sz="1800" dirty="0">
                <a:latin typeface="Arial" pitchFamily="34" charset="0"/>
                <a:cs typeface="Arial" pitchFamily="34" charset="0"/>
              </a:rPr>
              <a:t>: </a:t>
            </a:r>
            <a:r>
              <a:rPr lang="en-US" sz="1800" dirty="0" err="1">
                <a:latin typeface="Arial" pitchFamily="34" charset="0"/>
                <a:cs typeface="Arial" pitchFamily="34" charset="0"/>
              </a:rPr>
              <a:t>seguimiento</a:t>
            </a:r>
            <a:r>
              <a:rPr lang="en-US" sz="1800" dirty="0">
                <a:latin typeface="Arial" pitchFamily="34" charset="0"/>
                <a:cs typeface="Arial" pitchFamily="34" charset="0"/>
              </a:rPr>
              <a:t> de </a:t>
            </a:r>
            <a:r>
              <a:rPr lang="en-US" sz="1800" dirty="0" err="1">
                <a:latin typeface="Arial" pitchFamily="34" charset="0"/>
                <a:cs typeface="Arial" pitchFamily="34" charset="0"/>
              </a:rPr>
              <a:t>órdenes</a:t>
            </a:r>
            <a:r>
              <a:rPr lang="en-US" sz="1800" dirty="0">
                <a:latin typeface="Arial" pitchFamily="34" charset="0"/>
                <a:cs typeface="Arial" pitchFamily="34" charset="0"/>
              </a:rPr>
              <a:t>, </a:t>
            </a:r>
            <a:r>
              <a:rPr lang="en-US" sz="1800" dirty="0" err="1">
                <a:latin typeface="Arial" pitchFamily="34" charset="0"/>
                <a:cs typeface="Arial" pitchFamily="34" charset="0"/>
              </a:rPr>
              <a:t>recomendaciones</a:t>
            </a:r>
            <a:r>
              <a:rPr lang="en-US" sz="1800" dirty="0">
                <a:latin typeface="Arial" pitchFamily="34" charset="0"/>
                <a:cs typeface="Arial" pitchFamily="34" charset="0"/>
              </a:rPr>
              <a:t> a </a:t>
            </a:r>
            <a:r>
              <a:rPr lang="en-US" sz="1800" dirty="0" err="1">
                <a:latin typeface="Arial" pitchFamily="34" charset="0"/>
                <a:cs typeface="Arial" pitchFamily="34" charset="0"/>
              </a:rPr>
              <a:t>clientes</a:t>
            </a:r>
            <a:endParaRPr lang="en-US" sz="1800" dirty="0">
              <a:latin typeface="Arial" pitchFamily="34" charset="0"/>
              <a:cs typeface="Arial" pitchFamily="34" charset="0"/>
            </a:endParaRPr>
          </a:p>
          <a:p>
            <a:pPr lvl="1">
              <a:defRPr/>
            </a:pPr>
            <a:r>
              <a:rPr lang="en-US" sz="1800" dirty="0" err="1">
                <a:latin typeface="Arial" pitchFamily="34" charset="0"/>
                <a:cs typeface="Arial" pitchFamily="34" charset="0"/>
              </a:rPr>
              <a:t>Manufactura</a:t>
            </a:r>
            <a:r>
              <a:rPr lang="en-US" sz="1800" dirty="0">
                <a:latin typeface="Arial" pitchFamily="34" charset="0"/>
                <a:cs typeface="Arial" pitchFamily="34" charset="0"/>
              </a:rPr>
              <a:t>: </a:t>
            </a:r>
            <a:r>
              <a:rPr lang="en-US" sz="1800" dirty="0" err="1">
                <a:latin typeface="Arial" pitchFamily="34" charset="0"/>
                <a:cs typeface="Arial" pitchFamily="34" charset="0"/>
              </a:rPr>
              <a:t>producción</a:t>
            </a:r>
            <a:r>
              <a:rPr lang="en-US" sz="1800" dirty="0">
                <a:latin typeface="Arial" pitchFamily="34" charset="0"/>
                <a:cs typeface="Arial" pitchFamily="34" charset="0"/>
              </a:rPr>
              <a:t>, </a:t>
            </a:r>
            <a:r>
              <a:rPr lang="en-US" sz="1800" dirty="0" err="1">
                <a:latin typeface="Arial" pitchFamily="34" charset="0"/>
                <a:cs typeface="Arial" pitchFamily="34" charset="0"/>
              </a:rPr>
              <a:t>inventarios</a:t>
            </a:r>
            <a:r>
              <a:rPr lang="en-US" sz="1800" dirty="0">
                <a:latin typeface="Arial" pitchFamily="34" charset="0"/>
                <a:cs typeface="Arial" pitchFamily="34" charset="0"/>
              </a:rPr>
              <a:t>, </a:t>
            </a:r>
            <a:r>
              <a:rPr lang="en-US" sz="1800" dirty="0" err="1">
                <a:latin typeface="Arial" pitchFamily="34" charset="0"/>
                <a:cs typeface="Arial" pitchFamily="34" charset="0"/>
              </a:rPr>
              <a:t>órdenes</a:t>
            </a:r>
            <a:r>
              <a:rPr lang="en-US" sz="1800" dirty="0">
                <a:latin typeface="Arial" pitchFamily="34" charset="0"/>
                <a:cs typeface="Arial" pitchFamily="34" charset="0"/>
              </a:rPr>
              <a:t>, </a:t>
            </a:r>
            <a:r>
              <a:rPr lang="en-US" sz="1800" dirty="0" err="1">
                <a:latin typeface="Arial" pitchFamily="34" charset="0"/>
                <a:cs typeface="Arial" pitchFamily="34" charset="0"/>
              </a:rPr>
              <a:t>cadenas</a:t>
            </a:r>
            <a:r>
              <a:rPr lang="en-US" sz="1800" dirty="0">
                <a:latin typeface="Arial" pitchFamily="34" charset="0"/>
                <a:cs typeface="Arial" pitchFamily="34" charset="0"/>
              </a:rPr>
              <a:t> de </a:t>
            </a:r>
            <a:r>
              <a:rPr lang="en-US" sz="1800" dirty="0" err="1">
                <a:latin typeface="Arial" pitchFamily="34" charset="0"/>
                <a:cs typeface="Arial" pitchFamily="34" charset="0"/>
              </a:rPr>
              <a:t>suministro</a:t>
            </a:r>
            <a:endParaRPr lang="en-US" sz="1800" dirty="0">
              <a:latin typeface="Arial" pitchFamily="34" charset="0"/>
              <a:cs typeface="Arial" pitchFamily="34" charset="0"/>
            </a:endParaRPr>
          </a:p>
          <a:p>
            <a:pPr lvl="1">
              <a:defRPr/>
            </a:pPr>
            <a:r>
              <a:rPr lang="en-US" sz="1800" dirty="0" err="1">
                <a:latin typeface="Arial" pitchFamily="34" charset="0"/>
                <a:cs typeface="Arial" pitchFamily="34" charset="0"/>
              </a:rPr>
              <a:t>Recursos</a:t>
            </a:r>
            <a:r>
              <a:rPr lang="en-US" sz="1800" dirty="0">
                <a:latin typeface="Arial" pitchFamily="34" charset="0"/>
                <a:cs typeface="Arial" pitchFamily="34" charset="0"/>
              </a:rPr>
              <a:t> </a:t>
            </a:r>
            <a:r>
              <a:rPr lang="en-US" sz="1800" dirty="0" err="1">
                <a:latin typeface="Arial" pitchFamily="34" charset="0"/>
                <a:cs typeface="Arial" pitchFamily="34" charset="0"/>
              </a:rPr>
              <a:t>Humanos</a:t>
            </a:r>
            <a:r>
              <a:rPr lang="en-US" sz="1800" dirty="0">
                <a:latin typeface="Arial" pitchFamily="34" charset="0"/>
                <a:cs typeface="Arial" pitchFamily="34" charset="0"/>
              </a:rPr>
              <a:t>:  </a:t>
            </a:r>
            <a:r>
              <a:rPr lang="en-US" sz="1800" dirty="0" err="1">
                <a:latin typeface="Arial" pitchFamily="34" charset="0"/>
                <a:cs typeface="Arial" pitchFamily="34" charset="0"/>
              </a:rPr>
              <a:t>registro</a:t>
            </a:r>
            <a:r>
              <a:rPr lang="en-US" sz="1800" dirty="0">
                <a:latin typeface="Arial" pitchFamily="34" charset="0"/>
                <a:cs typeface="Arial" pitchFamily="34" charset="0"/>
              </a:rPr>
              <a:t> de </a:t>
            </a:r>
            <a:r>
              <a:rPr lang="en-US" sz="1800" dirty="0" err="1">
                <a:latin typeface="Arial" pitchFamily="34" charset="0"/>
                <a:cs typeface="Arial" pitchFamily="34" charset="0"/>
              </a:rPr>
              <a:t>empleados</a:t>
            </a:r>
            <a:r>
              <a:rPr lang="en-US" sz="1800" dirty="0">
                <a:latin typeface="Arial" pitchFamily="34" charset="0"/>
                <a:cs typeface="Arial" pitchFamily="34" charset="0"/>
              </a:rPr>
              <a:t>, </a:t>
            </a:r>
            <a:r>
              <a:rPr lang="en-US" sz="1800" dirty="0" err="1">
                <a:latin typeface="Arial" pitchFamily="34" charset="0"/>
                <a:cs typeface="Arial" pitchFamily="34" charset="0"/>
              </a:rPr>
              <a:t>salarios</a:t>
            </a:r>
            <a:r>
              <a:rPr lang="en-US" sz="1800" dirty="0">
                <a:latin typeface="Arial" pitchFamily="34" charset="0"/>
                <a:cs typeface="Arial" pitchFamily="34" charset="0"/>
              </a:rPr>
              <a:t>, </a:t>
            </a:r>
            <a:r>
              <a:rPr lang="en-US" sz="1800" dirty="0" err="1">
                <a:latin typeface="Arial" pitchFamily="34" charset="0"/>
                <a:cs typeface="Arial" pitchFamily="34" charset="0"/>
              </a:rPr>
              <a:t>deducciones</a:t>
            </a:r>
            <a:r>
              <a:rPr lang="en-US" sz="1800" dirty="0">
                <a:latin typeface="Arial" pitchFamily="34" charset="0"/>
                <a:cs typeface="Arial" pitchFamily="34" charset="0"/>
              </a:rPr>
              <a:t> de </a:t>
            </a:r>
            <a:r>
              <a:rPr lang="en-US" sz="1800" dirty="0" err="1">
                <a:latin typeface="Arial" pitchFamily="34" charset="0"/>
                <a:cs typeface="Arial" pitchFamily="34" charset="0"/>
              </a:rPr>
              <a:t>impuestos</a:t>
            </a:r>
            <a:endParaRPr lang="en-US" sz="1800" dirty="0">
              <a:latin typeface="Arial" pitchFamily="34" charset="0"/>
              <a:cs typeface="Arial" pitchFamily="34" charset="0"/>
            </a:endParaRPr>
          </a:p>
          <a:p>
            <a:pPr lvl="1">
              <a:defRPr/>
            </a:pPr>
            <a:endParaRPr lang="en-US" sz="1800" dirty="0">
              <a:latin typeface="Arial" pitchFamily="34" charset="0"/>
              <a:cs typeface="Arial" pitchFamily="34" charset="0"/>
            </a:endParaRPr>
          </a:p>
          <a:p>
            <a:pPr lvl="1">
              <a:defRPr/>
            </a:pPr>
            <a:endParaRPr lang="en-US" sz="1800" dirty="0">
              <a:latin typeface="Arial" pitchFamily="34" charset="0"/>
              <a:cs typeface="Arial" pitchFamily="34" charset="0"/>
            </a:endParaRPr>
          </a:p>
          <a:p>
            <a:pPr>
              <a:defRPr/>
            </a:pPr>
            <a:r>
              <a:rPr lang="en-US" sz="2000" b="1" dirty="0">
                <a:solidFill>
                  <a:schemeClr val="bg1"/>
                </a:solidFill>
              </a:rPr>
              <a:t>        Las Bases de </a:t>
            </a:r>
            <a:r>
              <a:rPr lang="en-US" sz="2000" b="1" dirty="0" err="1">
                <a:solidFill>
                  <a:schemeClr val="bg1"/>
                </a:solidFill>
              </a:rPr>
              <a:t>datos</a:t>
            </a:r>
            <a:r>
              <a:rPr lang="en-US" sz="2000" b="1" dirty="0">
                <a:solidFill>
                  <a:schemeClr val="bg1"/>
                </a:solidFill>
              </a:rPr>
              <a:t> </a:t>
            </a:r>
            <a:r>
              <a:rPr lang="en-US" sz="2000" b="1" dirty="0" err="1">
                <a:solidFill>
                  <a:schemeClr val="bg1"/>
                </a:solidFill>
              </a:rPr>
              <a:t>tocan</a:t>
            </a:r>
            <a:r>
              <a:rPr lang="en-US" sz="2000" b="1" dirty="0">
                <a:solidFill>
                  <a:schemeClr val="bg1"/>
                </a:solidFill>
              </a:rPr>
              <a:t> </a:t>
            </a:r>
            <a:r>
              <a:rPr lang="en-US" sz="2000" b="1" dirty="0" err="1">
                <a:solidFill>
                  <a:schemeClr val="bg1"/>
                </a:solidFill>
              </a:rPr>
              <a:t>muchos</a:t>
            </a:r>
            <a:r>
              <a:rPr lang="en-US" sz="2000" b="1" dirty="0">
                <a:solidFill>
                  <a:schemeClr val="bg1"/>
                </a:solidFill>
              </a:rPr>
              <a:t> </a:t>
            </a:r>
            <a:r>
              <a:rPr lang="en-US" sz="2000" b="1" dirty="0" err="1">
                <a:solidFill>
                  <a:schemeClr val="bg1"/>
                </a:solidFill>
              </a:rPr>
              <a:t>aspectos</a:t>
            </a:r>
            <a:r>
              <a:rPr lang="en-US" sz="2000" b="1" dirty="0">
                <a:solidFill>
                  <a:schemeClr val="bg1"/>
                </a:solidFill>
              </a:rPr>
              <a:t> de </a:t>
            </a:r>
            <a:r>
              <a:rPr lang="en-US" sz="2000" b="1" dirty="0" err="1">
                <a:solidFill>
                  <a:schemeClr val="bg1"/>
                </a:solidFill>
              </a:rPr>
              <a:t>nuestras</a:t>
            </a:r>
            <a:r>
              <a:rPr lang="en-US" sz="2000" b="1" dirty="0">
                <a:solidFill>
                  <a:schemeClr val="bg1"/>
                </a:solidFill>
              </a:rPr>
              <a:t> </a:t>
            </a:r>
            <a:r>
              <a:rPr lang="en-US" sz="2000" b="1" dirty="0" err="1">
                <a:solidFill>
                  <a:schemeClr val="bg1"/>
                </a:solidFill>
              </a:rPr>
              <a:t>vidas</a:t>
            </a:r>
            <a:endParaRPr lang="en-US" sz="2000" b="1" dirty="0">
              <a:solidFill>
                <a:schemeClr val="bg1"/>
              </a:solidFill>
            </a:endParaRPr>
          </a:p>
          <a:p>
            <a:endParaRPr lang="es-MX" dirty="0"/>
          </a:p>
        </p:txBody>
      </p:sp>
    </p:spTree>
    <p:extLst>
      <p:ext uri="{BB962C8B-B14F-4D97-AF65-F5344CB8AC3E}">
        <p14:creationId xmlns:p14="http://schemas.microsoft.com/office/powerpoint/2010/main" val="30829246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redondeado 3"/>
          <p:cNvSpPr/>
          <p:nvPr/>
        </p:nvSpPr>
        <p:spPr>
          <a:xfrm>
            <a:off x="1282267" y="4172614"/>
            <a:ext cx="10205545" cy="185349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Título 1"/>
          <p:cNvSpPr>
            <a:spLocks noGrp="1"/>
          </p:cNvSpPr>
          <p:nvPr>
            <p:ph type="title"/>
          </p:nvPr>
        </p:nvSpPr>
        <p:spPr>
          <a:xfrm>
            <a:off x="1108709" y="854241"/>
            <a:ext cx="10245091" cy="646595"/>
          </a:xfrm>
        </p:spPr>
        <p:txBody>
          <a:bodyPr/>
          <a:lstStyle/>
          <a:p>
            <a:r>
              <a:rPr lang="en-US" b="1" dirty="0">
                <a:solidFill>
                  <a:schemeClr val="accent1">
                    <a:lumMod val="50000"/>
                  </a:schemeClr>
                </a:solidFill>
              </a:rPr>
              <a:t>Los </a:t>
            </a:r>
            <a:r>
              <a:rPr lang="en-US" b="1" dirty="0" err="1">
                <a:solidFill>
                  <a:schemeClr val="accent1">
                    <a:lumMod val="50000"/>
                  </a:schemeClr>
                </a:solidFill>
              </a:rPr>
              <a:t>Sistemas</a:t>
            </a:r>
            <a:r>
              <a:rPr lang="en-US" b="1" dirty="0">
                <a:solidFill>
                  <a:schemeClr val="accent1">
                    <a:lumMod val="50000"/>
                  </a:schemeClr>
                </a:solidFill>
              </a:rPr>
              <a:t> de Bases de </a:t>
            </a:r>
            <a:r>
              <a:rPr lang="en-US" b="1" dirty="0" err="1">
                <a:solidFill>
                  <a:schemeClr val="accent1">
                    <a:lumMod val="50000"/>
                  </a:schemeClr>
                </a:solidFill>
              </a:rPr>
              <a:t>Datos</a:t>
            </a:r>
            <a:r>
              <a:rPr lang="en-US" b="1" dirty="0">
                <a:solidFill>
                  <a:schemeClr val="accent1">
                    <a:lumMod val="50000"/>
                  </a:schemeClr>
                </a:solidFill>
              </a:rPr>
              <a:t> (SBD)</a:t>
            </a:r>
            <a:endParaRPr lang="es-MX" dirty="0"/>
          </a:p>
        </p:txBody>
      </p:sp>
      <p:sp>
        <p:nvSpPr>
          <p:cNvPr id="3" name="Marcador de contenido 2"/>
          <p:cNvSpPr>
            <a:spLocks noGrp="1"/>
          </p:cNvSpPr>
          <p:nvPr>
            <p:ph sz="quarter" idx="13"/>
          </p:nvPr>
        </p:nvSpPr>
        <p:spPr/>
        <p:txBody>
          <a:bodyPr/>
          <a:lstStyle/>
          <a:p>
            <a:pPr>
              <a:defRPr/>
            </a:pPr>
            <a:r>
              <a:rPr lang="en-US" b="1" dirty="0" err="1">
                <a:solidFill>
                  <a:schemeClr val="accent1">
                    <a:lumMod val="75000"/>
                  </a:schemeClr>
                </a:solidFill>
              </a:rPr>
              <a:t>Datos</a:t>
            </a:r>
            <a:endParaRPr lang="en-US" b="1" dirty="0">
              <a:solidFill>
                <a:schemeClr val="accent1">
                  <a:lumMod val="75000"/>
                </a:schemeClr>
              </a:solidFill>
            </a:endParaRPr>
          </a:p>
          <a:p>
            <a:pPr>
              <a:defRPr/>
            </a:pPr>
            <a:r>
              <a:rPr lang="en-US" dirty="0"/>
              <a:t>     </a:t>
            </a:r>
            <a:r>
              <a:rPr lang="en-US" dirty="0" err="1"/>
              <a:t>Representan</a:t>
            </a:r>
            <a:r>
              <a:rPr lang="en-US" dirty="0"/>
              <a:t> </a:t>
            </a:r>
            <a:r>
              <a:rPr lang="en-US" dirty="0" err="1"/>
              <a:t>hechos</a:t>
            </a:r>
            <a:r>
              <a:rPr lang="en-US" dirty="0"/>
              <a:t>; </a:t>
            </a:r>
            <a:r>
              <a:rPr lang="en-US" dirty="0" err="1"/>
              <a:t>construyen</a:t>
            </a:r>
            <a:r>
              <a:rPr lang="en-US" dirty="0"/>
              <a:t> </a:t>
            </a:r>
            <a:r>
              <a:rPr lang="en-US" dirty="0" err="1"/>
              <a:t>bloques</a:t>
            </a:r>
            <a:r>
              <a:rPr lang="en-US" dirty="0"/>
              <a:t> de </a:t>
            </a:r>
            <a:r>
              <a:rPr lang="en-US" dirty="0" err="1"/>
              <a:t>infomación</a:t>
            </a:r>
            <a:endParaRPr lang="en-US" dirty="0"/>
          </a:p>
          <a:p>
            <a:pPr>
              <a:defRPr/>
            </a:pPr>
            <a:r>
              <a:rPr lang="en-US" dirty="0"/>
              <a:t>     </a:t>
            </a:r>
            <a:r>
              <a:rPr lang="en-US" dirty="0" err="1"/>
              <a:t>Información</a:t>
            </a:r>
            <a:r>
              <a:rPr lang="en-US" dirty="0"/>
              <a:t> no </a:t>
            </a:r>
            <a:r>
              <a:rPr lang="en-US" dirty="0" err="1"/>
              <a:t>procesada</a:t>
            </a:r>
            <a:r>
              <a:rPr lang="en-US" dirty="0"/>
              <a:t>.</a:t>
            </a:r>
          </a:p>
          <a:p>
            <a:pPr>
              <a:defRPr/>
            </a:pPr>
            <a:r>
              <a:rPr lang="en-US" b="1" dirty="0" err="1">
                <a:solidFill>
                  <a:schemeClr val="accent1">
                    <a:lumMod val="75000"/>
                  </a:schemeClr>
                </a:solidFill>
              </a:rPr>
              <a:t>Información</a:t>
            </a:r>
            <a:endParaRPr lang="en-US" b="1" dirty="0">
              <a:solidFill>
                <a:schemeClr val="accent1">
                  <a:lumMod val="75000"/>
                </a:schemeClr>
              </a:solidFill>
            </a:endParaRPr>
          </a:p>
          <a:p>
            <a:pPr>
              <a:defRPr/>
            </a:pPr>
            <a:r>
              <a:rPr lang="en-US" dirty="0"/>
              <a:t>      </a:t>
            </a:r>
            <a:r>
              <a:rPr lang="en-US" dirty="0" err="1"/>
              <a:t>Datos</a:t>
            </a:r>
            <a:r>
              <a:rPr lang="en-US" dirty="0"/>
              <a:t> </a:t>
            </a:r>
            <a:r>
              <a:rPr lang="en-US" dirty="0" err="1"/>
              <a:t>procesados</a:t>
            </a:r>
            <a:r>
              <a:rPr lang="en-US" dirty="0"/>
              <a:t> que </a:t>
            </a:r>
            <a:r>
              <a:rPr lang="en-US" dirty="0" err="1"/>
              <a:t>tienen</a:t>
            </a:r>
            <a:r>
              <a:rPr lang="en-US" dirty="0"/>
              <a:t> un </a:t>
            </a:r>
            <a:r>
              <a:rPr lang="en-US" dirty="0" err="1"/>
              <a:t>significado</a:t>
            </a:r>
            <a:r>
              <a:rPr lang="en-US" dirty="0"/>
              <a:t>.</a:t>
            </a:r>
          </a:p>
          <a:p>
            <a:pPr>
              <a:defRPr/>
            </a:pPr>
            <a:endParaRPr lang="en-US" sz="1400" dirty="0"/>
          </a:p>
          <a:p>
            <a:pPr>
              <a:spcBef>
                <a:spcPts val="0"/>
              </a:spcBef>
              <a:defRPr/>
            </a:pPr>
            <a:r>
              <a:rPr lang="en-US" dirty="0">
                <a:solidFill>
                  <a:schemeClr val="bg1"/>
                </a:solidFill>
              </a:rPr>
              <a:t>     La </a:t>
            </a:r>
            <a:r>
              <a:rPr lang="en-US" dirty="0" err="1">
                <a:solidFill>
                  <a:schemeClr val="bg1"/>
                </a:solidFill>
              </a:rPr>
              <a:t>Información</a:t>
            </a:r>
            <a:r>
              <a:rPr lang="en-US" dirty="0">
                <a:solidFill>
                  <a:schemeClr val="bg1"/>
                </a:solidFill>
              </a:rPr>
              <a:t> exacta, </a:t>
            </a:r>
            <a:r>
              <a:rPr lang="en-US" dirty="0" err="1">
                <a:solidFill>
                  <a:schemeClr val="bg1"/>
                </a:solidFill>
              </a:rPr>
              <a:t>relevante</a:t>
            </a:r>
            <a:r>
              <a:rPr lang="en-US" dirty="0">
                <a:solidFill>
                  <a:schemeClr val="bg1"/>
                </a:solidFill>
              </a:rPr>
              <a:t>, y </a:t>
            </a:r>
            <a:r>
              <a:rPr lang="en-US" dirty="0" err="1">
                <a:solidFill>
                  <a:schemeClr val="bg1"/>
                </a:solidFill>
              </a:rPr>
              <a:t>oportuna</a:t>
            </a:r>
            <a:r>
              <a:rPr lang="en-US" dirty="0">
                <a:solidFill>
                  <a:schemeClr val="bg1"/>
                </a:solidFill>
              </a:rPr>
              <a:t> </a:t>
            </a:r>
            <a:r>
              <a:rPr lang="en-US" dirty="0" err="1">
                <a:solidFill>
                  <a:schemeClr val="bg1"/>
                </a:solidFill>
              </a:rPr>
              <a:t>es</a:t>
            </a:r>
            <a:r>
              <a:rPr lang="en-US" dirty="0">
                <a:solidFill>
                  <a:schemeClr val="bg1"/>
                </a:solidFill>
              </a:rPr>
              <a:t> vital para la </a:t>
            </a:r>
            <a:r>
              <a:rPr lang="en-US" dirty="0" err="1">
                <a:solidFill>
                  <a:schemeClr val="bg1"/>
                </a:solidFill>
              </a:rPr>
              <a:t>toma</a:t>
            </a:r>
            <a:r>
              <a:rPr lang="en-US" dirty="0">
                <a:solidFill>
                  <a:schemeClr val="bg1"/>
                </a:solidFill>
              </a:rPr>
              <a:t> de</a:t>
            </a:r>
          </a:p>
          <a:p>
            <a:pPr>
              <a:spcBef>
                <a:spcPts val="0"/>
              </a:spcBef>
              <a:defRPr/>
            </a:pPr>
            <a:r>
              <a:rPr lang="en-US" dirty="0">
                <a:solidFill>
                  <a:schemeClr val="bg1"/>
                </a:solidFill>
              </a:rPr>
              <a:t>     </a:t>
            </a:r>
            <a:r>
              <a:rPr lang="en-US" dirty="0" err="1">
                <a:solidFill>
                  <a:schemeClr val="bg1"/>
                </a:solidFill>
              </a:rPr>
              <a:t>decisiones</a:t>
            </a:r>
            <a:endParaRPr lang="en-US" dirty="0">
              <a:solidFill>
                <a:schemeClr val="bg1"/>
              </a:solidFill>
            </a:endParaRPr>
          </a:p>
          <a:p>
            <a:pPr>
              <a:spcBef>
                <a:spcPts val="0"/>
              </a:spcBef>
              <a:defRPr/>
            </a:pPr>
            <a:endParaRPr lang="en-US" sz="900" dirty="0">
              <a:solidFill>
                <a:schemeClr val="bg1"/>
              </a:solidFill>
            </a:endParaRPr>
          </a:p>
          <a:p>
            <a:pPr>
              <a:spcBef>
                <a:spcPts val="0"/>
              </a:spcBef>
              <a:defRPr/>
            </a:pPr>
            <a:r>
              <a:rPr lang="en-US" dirty="0">
                <a:solidFill>
                  <a:schemeClr val="bg1"/>
                </a:solidFill>
              </a:rPr>
              <a:t>     La </a:t>
            </a:r>
            <a:r>
              <a:rPr lang="en-US" dirty="0" err="1">
                <a:solidFill>
                  <a:schemeClr val="bg1"/>
                </a:solidFill>
              </a:rPr>
              <a:t>buena</a:t>
            </a:r>
            <a:r>
              <a:rPr lang="en-US" dirty="0">
                <a:solidFill>
                  <a:schemeClr val="bg1"/>
                </a:solidFill>
              </a:rPr>
              <a:t> </a:t>
            </a:r>
            <a:r>
              <a:rPr lang="en-US" dirty="0" err="1">
                <a:solidFill>
                  <a:schemeClr val="bg1"/>
                </a:solidFill>
              </a:rPr>
              <a:t>toma</a:t>
            </a:r>
            <a:r>
              <a:rPr lang="en-US" dirty="0">
                <a:solidFill>
                  <a:schemeClr val="bg1"/>
                </a:solidFill>
              </a:rPr>
              <a:t> de </a:t>
            </a:r>
            <a:r>
              <a:rPr lang="en-US" dirty="0" err="1">
                <a:solidFill>
                  <a:schemeClr val="bg1"/>
                </a:solidFill>
              </a:rPr>
              <a:t>decisiones</a:t>
            </a:r>
            <a:r>
              <a:rPr lang="en-US" dirty="0">
                <a:solidFill>
                  <a:schemeClr val="bg1"/>
                </a:solidFill>
              </a:rPr>
              <a:t> </a:t>
            </a:r>
            <a:r>
              <a:rPr lang="en-US" dirty="0" err="1">
                <a:solidFill>
                  <a:schemeClr val="bg1"/>
                </a:solidFill>
              </a:rPr>
              <a:t>es</a:t>
            </a:r>
            <a:r>
              <a:rPr lang="en-US" dirty="0">
                <a:solidFill>
                  <a:schemeClr val="bg1"/>
                </a:solidFill>
              </a:rPr>
              <a:t> clave para la </a:t>
            </a:r>
            <a:r>
              <a:rPr lang="en-US" dirty="0" err="1">
                <a:solidFill>
                  <a:schemeClr val="bg1"/>
                </a:solidFill>
              </a:rPr>
              <a:t>supervivencia</a:t>
            </a:r>
            <a:r>
              <a:rPr lang="en-US" dirty="0">
                <a:solidFill>
                  <a:schemeClr val="bg1"/>
                </a:solidFill>
              </a:rPr>
              <a:t> de las</a:t>
            </a:r>
          </a:p>
          <a:p>
            <a:pPr>
              <a:spcBef>
                <a:spcPts val="0"/>
              </a:spcBef>
              <a:defRPr/>
            </a:pPr>
            <a:r>
              <a:rPr lang="en-US" dirty="0">
                <a:solidFill>
                  <a:schemeClr val="bg1"/>
                </a:solidFill>
              </a:rPr>
              <a:t>     </a:t>
            </a:r>
            <a:r>
              <a:rPr lang="en-US" dirty="0" err="1">
                <a:solidFill>
                  <a:schemeClr val="bg1"/>
                </a:solidFill>
              </a:rPr>
              <a:t>empresas</a:t>
            </a:r>
            <a:r>
              <a:rPr lang="en-US" dirty="0">
                <a:solidFill>
                  <a:schemeClr val="bg1"/>
                </a:solidFill>
              </a:rPr>
              <a:t> </a:t>
            </a:r>
            <a:r>
              <a:rPr lang="en-US" dirty="0" err="1">
                <a:solidFill>
                  <a:schemeClr val="bg1"/>
                </a:solidFill>
              </a:rPr>
              <a:t>en</a:t>
            </a:r>
            <a:r>
              <a:rPr lang="en-US" dirty="0">
                <a:solidFill>
                  <a:schemeClr val="bg1"/>
                </a:solidFill>
              </a:rPr>
              <a:t> un </a:t>
            </a:r>
            <a:r>
              <a:rPr lang="en-US" dirty="0" err="1">
                <a:solidFill>
                  <a:schemeClr val="bg1"/>
                </a:solidFill>
              </a:rPr>
              <a:t>ambiente</a:t>
            </a:r>
            <a:r>
              <a:rPr lang="en-US" dirty="0">
                <a:solidFill>
                  <a:schemeClr val="bg1"/>
                </a:solidFill>
              </a:rPr>
              <a:t> global</a:t>
            </a:r>
            <a:endParaRPr lang="es-MX" sz="2000" dirty="0">
              <a:solidFill>
                <a:schemeClr val="bg1"/>
              </a:solidFill>
            </a:endParaRPr>
          </a:p>
        </p:txBody>
      </p:sp>
    </p:spTree>
    <p:extLst>
      <p:ext uri="{BB962C8B-B14F-4D97-AF65-F5344CB8AC3E}">
        <p14:creationId xmlns:p14="http://schemas.microsoft.com/office/powerpoint/2010/main" val="16551495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51337"/>
            <a:ext cx="10245091" cy="649499"/>
          </a:xfrm>
        </p:spPr>
        <p:txBody>
          <a:bodyPr/>
          <a:lstStyle/>
          <a:p>
            <a:r>
              <a:rPr lang="es-ES" b="1" dirty="0">
                <a:solidFill>
                  <a:schemeClr val="accent1">
                    <a:lumMod val="50000"/>
                  </a:schemeClr>
                </a:solidFill>
                <a:latin typeface="Arial" charset="0"/>
              </a:rPr>
              <a:t>Componentes de un Sistema de base de datos</a:t>
            </a:r>
            <a:endParaRPr lang="es-MX" b="1" dirty="0">
              <a:solidFill>
                <a:schemeClr val="accent1">
                  <a:lumMod val="50000"/>
                </a:schemeClr>
              </a:solidFill>
            </a:endParaRPr>
          </a:p>
        </p:txBody>
      </p:sp>
      <p:sp>
        <p:nvSpPr>
          <p:cNvPr id="3" name="Marcador de contenido 2"/>
          <p:cNvSpPr>
            <a:spLocks noGrp="1"/>
          </p:cNvSpPr>
          <p:nvPr>
            <p:ph sz="quarter" idx="13"/>
          </p:nvPr>
        </p:nvSpPr>
        <p:spPr/>
        <p:txBody>
          <a:bodyPr/>
          <a:lstStyle/>
          <a:p>
            <a:pPr>
              <a:spcBef>
                <a:spcPts val="600"/>
              </a:spcBef>
              <a:buClr>
                <a:schemeClr val="tx1"/>
              </a:buClr>
              <a:defRPr/>
            </a:pPr>
            <a:r>
              <a:rPr lang="es-MX" b="1" dirty="0">
                <a:latin typeface="Arial" charset="0"/>
              </a:rPr>
              <a:t>Es un sistema de cómputo cuyo propósito es mantener </a:t>
            </a:r>
            <a:r>
              <a:rPr lang="es-MX" b="1" i="1" dirty="0">
                <a:solidFill>
                  <a:schemeClr val="hlink"/>
                </a:solidFill>
                <a:latin typeface="Arial" charset="0"/>
              </a:rPr>
              <a:t>información</a:t>
            </a:r>
            <a:r>
              <a:rPr lang="es-MX" b="1" dirty="0">
                <a:latin typeface="Arial" charset="0"/>
              </a:rPr>
              <a:t> y hacer que esté disponible cuando se necesite.</a:t>
            </a:r>
          </a:p>
          <a:p>
            <a:pPr>
              <a:spcBef>
                <a:spcPts val="600"/>
              </a:spcBef>
              <a:buClr>
                <a:schemeClr val="tx1"/>
              </a:buClr>
              <a:defRPr/>
            </a:pPr>
            <a:endParaRPr lang="es-MX" b="1" dirty="0">
              <a:latin typeface="Arial" charset="0"/>
            </a:endParaRPr>
          </a:p>
          <a:p>
            <a:endParaRPr lang="es-MX" dirty="0"/>
          </a:p>
        </p:txBody>
      </p:sp>
      <p:graphicFrame>
        <p:nvGraphicFramePr>
          <p:cNvPr id="4" name="Diagrama 3">
            <a:extLst>
              <a:ext uri="{FF2B5EF4-FFF2-40B4-BE49-F238E27FC236}">
                <a16:creationId xmlns:a16="http://schemas.microsoft.com/office/drawing/2014/main" id="{ED358A6C-647D-59A8-8EC9-85E6B8476C40}"/>
              </a:ext>
            </a:extLst>
          </p:cNvPr>
          <p:cNvGraphicFramePr/>
          <p:nvPr>
            <p:extLst>
              <p:ext uri="{D42A27DB-BD31-4B8C-83A1-F6EECF244321}">
                <p14:modId xmlns:p14="http://schemas.microsoft.com/office/powerpoint/2010/main" val="3070325238"/>
              </p:ext>
            </p:extLst>
          </p:nvPr>
        </p:nvGraphicFramePr>
        <p:xfrm>
          <a:off x="2704834" y="2630630"/>
          <a:ext cx="7052840" cy="39295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817952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40827"/>
            <a:ext cx="10245091" cy="660009"/>
          </a:xfrm>
        </p:spPr>
        <p:txBody>
          <a:bodyPr/>
          <a:lstStyle/>
          <a:p>
            <a:r>
              <a:rPr lang="en-US" b="1" dirty="0" err="1">
                <a:solidFill>
                  <a:schemeClr val="accent1">
                    <a:lumMod val="50000"/>
                  </a:schemeClr>
                </a:solidFill>
              </a:rPr>
              <a:t>Datos</a:t>
            </a:r>
            <a:r>
              <a:rPr lang="en-US" b="1" dirty="0">
                <a:solidFill>
                  <a:schemeClr val="accent1">
                    <a:lumMod val="50000"/>
                  </a:schemeClr>
                </a:solidFill>
              </a:rPr>
              <a:t> Vs. </a:t>
            </a:r>
            <a:r>
              <a:rPr lang="en-US" b="1" dirty="0" err="1">
                <a:solidFill>
                  <a:schemeClr val="accent1">
                    <a:lumMod val="50000"/>
                  </a:schemeClr>
                </a:solidFill>
              </a:rPr>
              <a:t>Información</a:t>
            </a:r>
            <a:endParaRPr lang="es-MX" b="1" dirty="0"/>
          </a:p>
        </p:txBody>
      </p:sp>
      <p:pic>
        <p:nvPicPr>
          <p:cNvPr id="4" name="Picture 1028" descr="Fig01-01"/>
          <p:cNvPicPr>
            <a:picLocks noChangeAspect="1" noChangeArrowheads="1"/>
          </p:cNvPicPr>
          <p:nvPr/>
        </p:nvPicPr>
        <p:blipFill>
          <a:blip r:embed="rId2">
            <a:extLst>
              <a:ext uri="{28A0092B-C50C-407E-A947-70E740481C1C}">
                <a14:useLocalDpi xmlns:a14="http://schemas.microsoft.com/office/drawing/2010/main" val="0"/>
              </a:ext>
            </a:extLst>
          </a:blip>
          <a:srcRect t="10880" r="59184" b="49986"/>
          <a:stretch>
            <a:fillRect/>
          </a:stretch>
        </p:blipFill>
        <p:spPr bwMode="auto">
          <a:xfrm>
            <a:off x="2854545" y="2122379"/>
            <a:ext cx="4027517" cy="3761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029" descr="Fig01-01"/>
          <p:cNvPicPr>
            <a:picLocks noChangeAspect="1" noChangeArrowheads="1"/>
          </p:cNvPicPr>
          <p:nvPr/>
        </p:nvPicPr>
        <p:blipFill>
          <a:blip r:embed="rId2">
            <a:extLst>
              <a:ext uri="{28A0092B-C50C-407E-A947-70E740481C1C}">
                <a14:useLocalDpi xmlns:a14="http://schemas.microsoft.com/office/drawing/2010/main" val="0"/>
              </a:ext>
            </a:extLst>
          </a:blip>
          <a:srcRect l="50014" t="10880" b="49986"/>
          <a:stretch>
            <a:fillRect/>
          </a:stretch>
        </p:blipFill>
        <p:spPr bwMode="auto">
          <a:xfrm>
            <a:off x="6882062" y="2122379"/>
            <a:ext cx="4962279" cy="3780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ángulo 5"/>
          <p:cNvSpPr/>
          <p:nvPr/>
        </p:nvSpPr>
        <p:spPr>
          <a:xfrm>
            <a:off x="709866" y="2122379"/>
            <a:ext cx="1973179" cy="36046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 name="CuadroTexto 2"/>
          <p:cNvSpPr txBox="1"/>
          <p:nvPr/>
        </p:nvSpPr>
        <p:spPr>
          <a:xfrm>
            <a:off x="709866" y="2122379"/>
            <a:ext cx="1973179" cy="3416320"/>
          </a:xfrm>
          <a:prstGeom prst="rect">
            <a:avLst/>
          </a:prstGeom>
          <a:noFill/>
        </p:spPr>
        <p:txBody>
          <a:bodyPr wrap="square" rtlCol="0">
            <a:spAutoFit/>
          </a:bodyPr>
          <a:lstStyle/>
          <a:p>
            <a:r>
              <a:rPr lang="es-MX" b="1" dirty="0">
                <a:solidFill>
                  <a:schemeClr val="bg1"/>
                </a:solidFill>
              </a:rPr>
              <a:t>Dato</a:t>
            </a:r>
          </a:p>
          <a:p>
            <a:r>
              <a:rPr lang="es-MX" dirty="0">
                <a:solidFill>
                  <a:schemeClr val="bg1"/>
                </a:solidFill>
              </a:rPr>
              <a:t>Representa un hecho</a:t>
            </a:r>
          </a:p>
          <a:p>
            <a:endParaRPr lang="es-MX" dirty="0">
              <a:solidFill>
                <a:schemeClr val="bg1"/>
              </a:solidFill>
            </a:endParaRPr>
          </a:p>
          <a:p>
            <a:endParaRPr lang="es-MX" dirty="0">
              <a:solidFill>
                <a:schemeClr val="bg1"/>
              </a:solidFill>
            </a:endParaRPr>
          </a:p>
          <a:p>
            <a:endParaRPr lang="es-MX" dirty="0">
              <a:solidFill>
                <a:schemeClr val="bg1"/>
              </a:solidFill>
            </a:endParaRPr>
          </a:p>
          <a:p>
            <a:r>
              <a:rPr lang="es-MX" b="1" dirty="0">
                <a:solidFill>
                  <a:schemeClr val="bg1"/>
                </a:solidFill>
              </a:rPr>
              <a:t>Información</a:t>
            </a:r>
          </a:p>
          <a:p>
            <a:r>
              <a:rPr lang="es-MX" dirty="0">
                <a:solidFill>
                  <a:schemeClr val="bg1"/>
                </a:solidFill>
              </a:rPr>
              <a:t>Son producto de datos relacionados; permiten la toma de decisiones.</a:t>
            </a:r>
          </a:p>
        </p:txBody>
      </p:sp>
    </p:spTree>
    <p:extLst>
      <p:ext uri="{BB962C8B-B14F-4D97-AF65-F5344CB8AC3E}">
        <p14:creationId xmlns:p14="http://schemas.microsoft.com/office/powerpoint/2010/main" val="12192117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72359"/>
            <a:ext cx="10245091" cy="628478"/>
          </a:xfrm>
        </p:spPr>
        <p:txBody>
          <a:bodyPr/>
          <a:lstStyle/>
          <a:p>
            <a:r>
              <a:rPr lang="en-US" b="1" dirty="0" err="1">
                <a:solidFill>
                  <a:schemeClr val="accent1">
                    <a:lumMod val="50000"/>
                  </a:schemeClr>
                </a:solidFill>
              </a:rPr>
              <a:t>Transformación</a:t>
            </a:r>
            <a:r>
              <a:rPr lang="en-US" b="1" dirty="0">
                <a:solidFill>
                  <a:schemeClr val="accent1">
                    <a:lumMod val="50000"/>
                  </a:schemeClr>
                </a:solidFill>
              </a:rPr>
              <a:t> de </a:t>
            </a:r>
            <a:r>
              <a:rPr lang="en-US" b="1" dirty="0" err="1">
                <a:solidFill>
                  <a:schemeClr val="accent1">
                    <a:lumMod val="50000"/>
                  </a:schemeClr>
                </a:solidFill>
              </a:rPr>
              <a:t>Datos</a:t>
            </a:r>
            <a:r>
              <a:rPr lang="en-US" b="1" dirty="0">
                <a:solidFill>
                  <a:schemeClr val="accent1">
                    <a:lumMod val="50000"/>
                  </a:schemeClr>
                </a:solidFill>
              </a:rPr>
              <a:t> </a:t>
            </a:r>
            <a:r>
              <a:rPr lang="en-US" b="1" dirty="0" err="1">
                <a:solidFill>
                  <a:schemeClr val="accent1">
                    <a:lumMod val="50000"/>
                  </a:schemeClr>
                </a:solidFill>
              </a:rPr>
              <a:t>en</a:t>
            </a:r>
            <a:r>
              <a:rPr lang="en-US" b="1" dirty="0">
                <a:solidFill>
                  <a:schemeClr val="accent1">
                    <a:lumMod val="50000"/>
                  </a:schemeClr>
                </a:solidFill>
              </a:rPr>
              <a:t> </a:t>
            </a:r>
            <a:r>
              <a:rPr lang="en-US" b="1" dirty="0" err="1">
                <a:solidFill>
                  <a:schemeClr val="accent1">
                    <a:lumMod val="50000"/>
                  </a:schemeClr>
                </a:solidFill>
              </a:rPr>
              <a:t>Información</a:t>
            </a:r>
            <a:endParaRPr lang="es-MX" dirty="0"/>
          </a:p>
        </p:txBody>
      </p:sp>
      <p:pic>
        <p:nvPicPr>
          <p:cNvPr id="4" name="Picture 1029" descr="Fig01-01"/>
          <p:cNvPicPr>
            <a:picLocks noChangeAspect="1" noChangeArrowheads="1"/>
          </p:cNvPicPr>
          <p:nvPr/>
        </p:nvPicPr>
        <p:blipFill>
          <a:blip r:embed="rId2">
            <a:extLst>
              <a:ext uri="{28A0092B-C50C-407E-A947-70E740481C1C}">
                <a14:useLocalDpi xmlns:a14="http://schemas.microsoft.com/office/drawing/2010/main" val="0"/>
              </a:ext>
            </a:extLst>
          </a:blip>
          <a:srcRect t="50014" r="56557" b="1405"/>
          <a:stretch>
            <a:fillRect/>
          </a:stretch>
        </p:blipFill>
        <p:spPr bwMode="auto">
          <a:xfrm>
            <a:off x="1897117" y="1845934"/>
            <a:ext cx="3989388"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029" descr="Fig01-01"/>
          <p:cNvPicPr>
            <a:picLocks noChangeAspect="1" noChangeArrowheads="1"/>
          </p:cNvPicPr>
          <p:nvPr/>
        </p:nvPicPr>
        <p:blipFill>
          <a:blip r:embed="rId2">
            <a:extLst>
              <a:ext uri="{28A0092B-C50C-407E-A947-70E740481C1C}">
                <a14:useLocalDpi xmlns:a14="http://schemas.microsoft.com/office/drawing/2010/main" val="0"/>
              </a:ext>
            </a:extLst>
          </a:blip>
          <a:srcRect l="52641" t="50014"/>
          <a:stretch>
            <a:fillRect/>
          </a:stretch>
        </p:blipFill>
        <p:spPr bwMode="auto">
          <a:xfrm>
            <a:off x="5886506" y="1845934"/>
            <a:ext cx="4225925"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088087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30317"/>
            <a:ext cx="10245091" cy="670520"/>
          </a:xfrm>
        </p:spPr>
        <p:txBody>
          <a:bodyPr/>
          <a:lstStyle/>
          <a:p>
            <a:r>
              <a:rPr lang="es-ES" b="1" dirty="0">
                <a:solidFill>
                  <a:schemeClr val="accent1">
                    <a:lumMod val="50000"/>
                  </a:schemeClr>
                </a:solidFill>
                <a:latin typeface="Arial" charset="0"/>
              </a:rPr>
              <a:t>Características de los Sistemas de bases de datos</a:t>
            </a:r>
            <a:endParaRPr lang="es-MX" b="1" dirty="0">
              <a:solidFill>
                <a:schemeClr val="accent1">
                  <a:lumMod val="50000"/>
                </a:schemeClr>
              </a:solidFill>
            </a:endParaRPr>
          </a:p>
        </p:txBody>
      </p:sp>
      <p:graphicFrame>
        <p:nvGraphicFramePr>
          <p:cNvPr id="4" name="Diagrama 3">
            <a:extLst>
              <a:ext uri="{FF2B5EF4-FFF2-40B4-BE49-F238E27FC236}">
                <a16:creationId xmlns:a16="http://schemas.microsoft.com/office/drawing/2014/main" id="{7EC28BB6-18F0-C87C-3A0B-5162E1E7B884}"/>
              </a:ext>
            </a:extLst>
          </p:cNvPr>
          <p:cNvGraphicFramePr/>
          <p:nvPr>
            <p:extLst>
              <p:ext uri="{D42A27DB-BD31-4B8C-83A1-F6EECF244321}">
                <p14:modId xmlns:p14="http://schemas.microsoft.com/office/powerpoint/2010/main" val="3426273842"/>
              </p:ext>
            </p:extLst>
          </p:nvPr>
        </p:nvGraphicFramePr>
        <p:xfrm>
          <a:off x="2442258" y="1989464"/>
          <a:ext cx="7046410" cy="40382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543699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745957"/>
            <a:ext cx="10245091" cy="754879"/>
          </a:xfrm>
        </p:spPr>
        <p:txBody>
          <a:bodyPr/>
          <a:lstStyle/>
          <a:p>
            <a:r>
              <a:rPr lang="es-ES" b="1" dirty="0">
                <a:solidFill>
                  <a:schemeClr val="accent1">
                    <a:lumMod val="50000"/>
                  </a:schemeClr>
                </a:solidFill>
                <a:latin typeface="Arial" charset="0"/>
              </a:rPr>
              <a:t>Base de datos (BD)</a:t>
            </a:r>
            <a:endParaRPr lang="es-MX" b="1" dirty="0">
              <a:solidFill>
                <a:schemeClr val="accent1">
                  <a:lumMod val="50000"/>
                </a:schemeClr>
              </a:solidFill>
            </a:endParaRPr>
          </a:p>
        </p:txBody>
      </p:sp>
      <p:sp>
        <p:nvSpPr>
          <p:cNvPr id="3" name="Marcador de contenido 2"/>
          <p:cNvSpPr>
            <a:spLocks noGrp="1"/>
          </p:cNvSpPr>
          <p:nvPr>
            <p:ph sz="quarter" idx="13"/>
          </p:nvPr>
        </p:nvSpPr>
        <p:spPr/>
        <p:txBody>
          <a:bodyPr/>
          <a:lstStyle/>
          <a:p>
            <a:pPr>
              <a:spcBef>
                <a:spcPts val="600"/>
              </a:spcBef>
              <a:buClr>
                <a:schemeClr val="tx1"/>
              </a:buClr>
              <a:defRPr/>
            </a:pPr>
            <a:r>
              <a:rPr lang="es-MX" b="1" dirty="0">
                <a:latin typeface="Arial" charset="0"/>
              </a:rPr>
              <a:t>Una Base de datos es una estructura de datos </a:t>
            </a:r>
            <a:r>
              <a:rPr lang="es-MX" b="1" dirty="0">
                <a:solidFill>
                  <a:schemeClr val="accent1">
                    <a:lumMod val="50000"/>
                  </a:schemeClr>
                </a:solidFill>
                <a:latin typeface="Arial" charset="0"/>
              </a:rPr>
              <a:t>compartida</a:t>
            </a:r>
            <a:r>
              <a:rPr lang="es-MX" b="1" dirty="0">
                <a:latin typeface="Arial" charset="0"/>
              </a:rPr>
              <a:t> e </a:t>
            </a:r>
            <a:r>
              <a:rPr lang="es-MX" b="1" dirty="0">
                <a:solidFill>
                  <a:schemeClr val="accent1">
                    <a:lumMod val="50000"/>
                  </a:schemeClr>
                </a:solidFill>
                <a:latin typeface="Arial" charset="0"/>
              </a:rPr>
              <a:t>integrada</a:t>
            </a:r>
            <a:r>
              <a:rPr lang="es-MX" b="1" dirty="0">
                <a:latin typeface="Arial" charset="0"/>
              </a:rPr>
              <a:t>, que almacena datos del usuario y </a:t>
            </a:r>
            <a:r>
              <a:rPr lang="es-MX" b="1" dirty="0">
                <a:solidFill>
                  <a:schemeClr val="accent1">
                    <a:lumMod val="50000"/>
                  </a:schemeClr>
                </a:solidFill>
                <a:latin typeface="Arial" charset="0"/>
              </a:rPr>
              <a:t>metadatos</a:t>
            </a:r>
            <a:r>
              <a:rPr lang="es-MX" b="1" dirty="0">
                <a:latin typeface="Arial" charset="0"/>
              </a:rPr>
              <a:t> (datos sobre los datos)</a:t>
            </a:r>
          </a:p>
          <a:p>
            <a:pPr>
              <a:spcBef>
                <a:spcPts val="600"/>
              </a:spcBef>
              <a:buClr>
                <a:schemeClr val="tx1"/>
              </a:buClr>
              <a:defRPr/>
            </a:pPr>
            <a:endParaRPr lang="es-MX" sz="1100" b="1" dirty="0">
              <a:solidFill>
                <a:schemeClr val="hlink"/>
              </a:solidFill>
              <a:latin typeface="Arial" charset="0"/>
            </a:endParaRPr>
          </a:p>
          <a:p>
            <a:pPr>
              <a:spcBef>
                <a:spcPts val="600"/>
              </a:spcBef>
              <a:buClr>
                <a:schemeClr val="tx1"/>
              </a:buClr>
              <a:defRPr/>
            </a:pPr>
            <a:r>
              <a:rPr lang="es-MX" b="1" dirty="0">
                <a:solidFill>
                  <a:schemeClr val="hlink"/>
                </a:solidFill>
                <a:latin typeface="Arial" charset="0"/>
              </a:rPr>
              <a:t>Entidades</a:t>
            </a:r>
          </a:p>
          <a:p>
            <a:pPr>
              <a:spcBef>
                <a:spcPts val="600"/>
              </a:spcBef>
              <a:buClr>
                <a:schemeClr val="tx1"/>
              </a:buClr>
              <a:defRPr/>
            </a:pPr>
            <a:r>
              <a:rPr lang="es-MX" b="1" dirty="0">
                <a:latin typeface="Arial" charset="0"/>
              </a:rPr>
              <a:t>Objetos de estudio (sobre los que se quiere almacenar información)</a:t>
            </a:r>
          </a:p>
          <a:p>
            <a:pPr>
              <a:spcBef>
                <a:spcPts val="600"/>
              </a:spcBef>
              <a:buClr>
                <a:schemeClr val="tx1"/>
              </a:buClr>
              <a:defRPr/>
            </a:pPr>
            <a:r>
              <a:rPr lang="es-ES" b="1" dirty="0">
                <a:solidFill>
                  <a:schemeClr val="hlink"/>
                </a:solidFill>
                <a:latin typeface="Arial" charset="0"/>
              </a:rPr>
              <a:t>Propiedades (atributos)</a:t>
            </a:r>
          </a:p>
          <a:p>
            <a:pPr>
              <a:spcBef>
                <a:spcPts val="600"/>
              </a:spcBef>
              <a:buClr>
                <a:schemeClr val="tx1"/>
              </a:buClr>
              <a:defRPr/>
            </a:pPr>
            <a:r>
              <a:rPr lang="es-ES" b="1" dirty="0">
                <a:latin typeface="Arial" charset="0"/>
              </a:rPr>
              <a:t>        Son las características que definen a una entidad.</a:t>
            </a:r>
          </a:p>
          <a:p>
            <a:pPr>
              <a:spcBef>
                <a:spcPts val="600"/>
              </a:spcBef>
              <a:buClr>
                <a:schemeClr val="tx1"/>
              </a:buClr>
              <a:defRPr/>
            </a:pPr>
            <a:endParaRPr lang="es-MX" b="1" dirty="0">
              <a:solidFill>
                <a:schemeClr val="hlink"/>
              </a:solidFill>
              <a:latin typeface="Arial" charset="0"/>
            </a:endParaRPr>
          </a:p>
          <a:p>
            <a:pPr>
              <a:spcBef>
                <a:spcPts val="600"/>
              </a:spcBef>
              <a:buClr>
                <a:schemeClr val="tx1"/>
              </a:buClr>
              <a:defRPr/>
            </a:pPr>
            <a:r>
              <a:rPr lang="es-MX" b="1" dirty="0">
                <a:solidFill>
                  <a:schemeClr val="hlink"/>
                </a:solidFill>
                <a:latin typeface="Arial" charset="0"/>
              </a:rPr>
              <a:t>Interrelaciones</a:t>
            </a:r>
          </a:p>
          <a:p>
            <a:pPr>
              <a:spcBef>
                <a:spcPts val="600"/>
              </a:spcBef>
              <a:buClr>
                <a:schemeClr val="tx1"/>
              </a:buClr>
              <a:defRPr/>
            </a:pPr>
            <a:r>
              <a:rPr lang="es-MX" b="1" dirty="0">
                <a:latin typeface="Arial" charset="0"/>
              </a:rPr>
              <a:t>Son las asociaciones entre las diferentes entidades. </a:t>
            </a:r>
          </a:p>
          <a:p>
            <a:pPr>
              <a:spcBef>
                <a:spcPts val="600"/>
              </a:spcBef>
              <a:buClr>
                <a:schemeClr val="tx1"/>
              </a:buClr>
              <a:defRPr/>
            </a:pPr>
            <a:r>
              <a:rPr lang="es-MX" b="1" dirty="0">
                <a:latin typeface="Arial" charset="0"/>
              </a:rPr>
              <a:t>Interrelaciones binarias, ternarias.</a:t>
            </a:r>
          </a:p>
          <a:p>
            <a:pPr>
              <a:spcBef>
                <a:spcPts val="600"/>
              </a:spcBef>
              <a:buClr>
                <a:schemeClr val="tx1"/>
              </a:buClr>
              <a:defRPr/>
            </a:pPr>
            <a:endParaRPr lang="es-MX" sz="1200" b="1" dirty="0">
              <a:latin typeface="Arial" charset="0"/>
            </a:endParaRPr>
          </a:p>
          <a:p>
            <a:endParaRPr lang="es-MX" dirty="0"/>
          </a:p>
        </p:txBody>
      </p:sp>
    </p:spTree>
    <p:extLst>
      <p:ext uri="{BB962C8B-B14F-4D97-AF65-F5344CB8AC3E}">
        <p14:creationId xmlns:p14="http://schemas.microsoft.com/office/powerpoint/2010/main" val="6584666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770021"/>
            <a:ext cx="10245091" cy="730816"/>
          </a:xfrm>
        </p:spPr>
        <p:txBody>
          <a:bodyPr/>
          <a:lstStyle/>
          <a:p>
            <a:r>
              <a:rPr lang="es-ES" b="1" dirty="0">
                <a:solidFill>
                  <a:schemeClr val="accent1">
                    <a:lumMod val="50000"/>
                  </a:schemeClr>
                </a:solidFill>
                <a:latin typeface="Arial" charset="0"/>
              </a:rPr>
              <a:t>Base de datos (BD)</a:t>
            </a:r>
            <a:endParaRPr lang="es-MX" dirty="0"/>
          </a:p>
        </p:txBody>
      </p:sp>
      <p:sp>
        <p:nvSpPr>
          <p:cNvPr id="3" name="Marcador de contenido 2"/>
          <p:cNvSpPr>
            <a:spLocks noGrp="1"/>
          </p:cNvSpPr>
          <p:nvPr>
            <p:ph sz="quarter" idx="13"/>
          </p:nvPr>
        </p:nvSpPr>
        <p:spPr/>
        <p:txBody>
          <a:bodyPr/>
          <a:lstStyle/>
          <a:p>
            <a:pPr>
              <a:lnSpc>
                <a:spcPct val="80000"/>
              </a:lnSpc>
              <a:defRPr/>
            </a:pPr>
            <a:r>
              <a:rPr lang="en-US" b="1" dirty="0" err="1">
                <a:latin typeface="Arial" charset="0"/>
              </a:rPr>
              <a:t>Definiciones</a:t>
            </a:r>
            <a:r>
              <a:rPr lang="en-US" b="1" dirty="0">
                <a:latin typeface="Arial" charset="0"/>
              </a:rPr>
              <a:t>:</a:t>
            </a:r>
          </a:p>
          <a:p>
            <a:pPr>
              <a:lnSpc>
                <a:spcPct val="80000"/>
              </a:lnSpc>
              <a:buClr>
                <a:schemeClr val="tx1"/>
              </a:buClr>
              <a:defRPr/>
            </a:pPr>
            <a:r>
              <a:rPr lang="en-US" sz="2000" b="1" dirty="0">
                <a:solidFill>
                  <a:schemeClr val="accent1">
                    <a:lumMod val="50000"/>
                  </a:schemeClr>
                </a:solidFill>
                <a:latin typeface="Arial" charset="0"/>
              </a:rPr>
              <a:t>(Date, C.J.)</a:t>
            </a:r>
          </a:p>
          <a:p>
            <a:pPr>
              <a:lnSpc>
                <a:spcPct val="80000"/>
              </a:lnSpc>
              <a:buFontTx/>
              <a:buChar char="•"/>
              <a:defRPr/>
            </a:pPr>
            <a:r>
              <a:rPr lang="en-US" sz="1800" b="1" dirty="0">
                <a:latin typeface="Arial" charset="0"/>
              </a:rPr>
              <a:t>Es un </a:t>
            </a:r>
            <a:r>
              <a:rPr lang="en-US" sz="1800" b="1" dirty="0" err="1">
                <a:latin typeface="Arial" charset="0"/>
              </a:rPr>
              <a:t>depósito</a:t>
            </a:r>
            <a:r>
              <a:rPr lang="en-US" sz="1800" b="1" dirty="0">
                <a:latin typeface="Arial" charset="0"/>
              </a:rPr>
              <a:t> de </a:t>
            </a:r>
            <a:r>
              <a:rPr lang="en-US" sz="1800" b="1" dirty="0" err="1">
                <a:latin typeface="Arial" charset="0"/>
              </a:rPr>
              <a:t>información</a:t>
            </a:r>
            <a:endParaRPr lang="en-US" sz="1800" b="1" dirty="0">
              <a:latin typeface="Arial" charset="0"/>
            </a:endParaRPr>
          </a:p>
          <a:p>
            <a:pPr>
              <a:lnSpc>
                <a:spcPct val="80000"/>
              </a:lnSpc>
              <a:buFontTx/>
              <a:buChar char="•"/>
              <a:defRPr/>
            </a:pPr>
            <a:r>
              <a:rPr lang="en-US" sz="1800" b="1" dirty="0">
                <a:latin typeface="Arial" charset="0"/>
              </a:rPr>
              <a:t>Es un conjunto de </a:t>
            </a:r>
            <a:r>
              <a:rPr lang="en-US" sz="1800" b="1" dirty="0" err="1">
                <a:latin typeface="Arial" charset="0"/>
              </a:rPr>
              <a:t>datos</a:t>
            </a:r>
            <a:r>
              <a:rPr lang="en-US" sz="1800" b="1" dirty="0">
                <a:latin typeface="Arial" charset="0"/>
              </a:rPr>
              <a:t> </a:t>
            </a:r>
            <a:r>
              <a:rPr lang="en-US" sz="1800" b="1" dirty="0" err="1">
                <a:latin typeface="Arial" charset="0"/>
              </a:rPr>
              <a:t>persistentes</a:t>
            </a:r>
            <a:r>
              <a:rPr lang="en-US" sz="1800" b="1" dirty="0">
                <a:latin typeface="Arial" charset="0"/>
              </a:rPr>
              <a:t> que </a:t>
            </a:r>
            <a:r>
              <a:rPr lang="en-US" sz="1800" b="1" dirty="0" err="1">
                <a:latin typeface="Arial" charset="0"/>
              </a:rPr>
              <a:t>utilizan</a:t>
            </a:r>
            <a:r>
              <a:rPr lang="en-US" sz="1800" b="1" dirty="0">
                <a:latin typeface="Arial" charset="0"/>
              </a:rPr>
              <a:t> las </a:t>
            </a:r>
            <a:r>
              <a:rPr lang="en-US" sz="1800" b="1" dirty="0" err="1">
                <a:latin typeface="Arial" charset="0"/>
              </a:rPr>
              <a:t>sistemas</a:t>
            </a:r>
            <a:r>
              <a:rPr lang="en-US" sz="1800" b="1" dirty="0">
                <a:latin typeface="Arial" charset="0"/>
              </a:rPr>
              <a:t> de </a:t>
            </a:r>
            <a:r>
              <a:rPr lang="en-US" sz="1800" b="1" dirty="0" err="1">
                <a:latin typeface="Arial" charset="0"/>
              </a:rPr>
              <a:t>aplicación</a:t>
            </a:r>
            <a:r>
              <a:rPr lang="en-US" sz="1800" b="1" dirty="0">
                <a:latin typeface="Arial" charset="0"/>
              </a:rPr>
              <a:t> de </a:t>
            </a:r>
            <a:r>
              <a:rPr lang="en-US" sz="1800" b="1" dirty="0" err="1">
                <a:latin typeface="Arial" charset="0"/>
              </a:rPr>
              <a:t>algunas</a:t>
            </a:r>
            <a:r>
              <a:rPr lang="en-US" sz="1800" b="1" dirty="0">
                <a:latin typeface="Arial" charset="0"/>
              </a:rPr>
              <a:t> </a:t>
            </a:r>
            <a:r>
              <a:rPr lang="en-US" sz="1800" b="1" dirty="0" err="1">
                <a:latin typeface="Arial" charset="0"/>
              </a:rPr>
              <a:t>empresas</a:t>
            </a:r>
            <a:r>
              <a:rPr lang="en-US" sz="1800" b="1" dirty="0">
                <a:latin typeface="Arial" charset="0"/>
              </a:rPr>
              <a:t> (8</a:t>
            </a:r>
            <a:r>
              <a:rPr lang="en-US" sz="1800" b="1" baseline="30000" dirty="0">
                <a:latin typeface="Arial" charset="0"/>
              </a:rPr>
              <a:t>th</a:t>
            </a:r>
            <a:r>
              <a:rPr lang="en-US" sz="1800" b="1" dirty="0">
                <a:latin typeface="Arial" charset="0"/>
              </a:rPr>
              <a:t> ed.)</a:t>
            </a:r>
            <a:endParaRPr lang="en-US" sz="1400" b="1" dirty="0">
              <a:latin typeface="Arial" charset="0"/>
            </a:endParaRPr>
          </a:p>
          <a:p>
            <a:pPr>
              <a:lnSpc>
                <a:spcPct val="80000"/>
              </a:lnSpc>
              <a:defRPr/>
            </a:pPr>
            <a:r>
              <a:rPr lang="en-US" sz="2000" b="1" dirty="0">
                <a:solidFill>
                  <a:schemeClr val="accent1">
                    <a:lumMod val="50000"/>
                  </a:schemeClr>
                </a:solidFill>
                <a:latin typeface="Arial" charset="0"/>
              </a:rPr>
              <a:t>(</a:t>
            </a:r>
            <a:r>
              <a:rPr lang="en-US" sz="2000" b="1" dirty="0" err="1">
                <a:solidFill>
                  <a:schemeClr val="accent1">
                    <a:lumMod val="50000"/>
                  </a:schemeClr>
                </a:solidFill>
                <a:latin typeface="Arial" charset="0"/>
              </a:rPr>
              <a:t>Silverschatz</a:t>
            </a:r>
            <a:r>
              <a:rPr lang="en-US" sz="2000" b="1" dirty="0">
                <a:solidFill>
                  <a:schemeClr val="accent1">
                    <a:lumMod val="50000"/>
                  </a:schemeClr>
                </a:solidFill>
                <a:latin typeface="Arial" charset="0"/>
              </a:rPr>
              <a:t>)</a:t>
            </a:r>
          </a:p>
          <a:p>
            <a:pPr>
              <a:lnSpc>
                <a:spcPct val="80000"/>
              </a:lnSpc>
              <a:buClr>
                <a:schemeClr val="tx1"/>
              </a:buClr>
              <a:defRPr/>
            </a:pPr>
            <a:r>
              <a:rPr lang="en-US" sz="1800" b="1" dirty="0" err="1">
                <a:latin typeface="Arial" charset="0"/>
              </a:rPr>
              <a:t>Colección</a:t>
            </a:r>
            <a:r>
              <a:rPr lang="en-US" sz="1800" b="1" dirty="0">
                <a:latin typeface="Arial" charset="0"/>
              </a:rPr>
              <a:t> de </a:t>
            </a:r>
            <a:r>
              <a:rPr lang="en-US" sz="1800" b="1" dirty="0" err="1">
                <a:latin typeface="Arial" charset="0"/>
              </a:rPr>
              <a:t>datos</a:t>
            </a:r>
            <a:r>
              <a:rPr lang="en-US" sz="1800" b="1" dirty="0">
                <a:latin typeface="Arial" charset="0"/>
              </a:rPr>
              <a:t> </a:t>
            </a:r>
            <a:r>
              <a:rPr lang="en-US" sz="1800" b="1" dirty="0" err="1">
                <a:latin typeface="Arial" charset="0"/>
              </a:rPr>
              <a:t>interrelacionados</a:t>
            </a:r>
            <a:r>
              <a:rPr lang="en-US" sz="1800" b="1" dirty="0">
                <a:latin typeface="Arial" charset="0"/>
              </a:rPr>
              <a:t>, que </a:t>
            </a:r>
            <a:r>
              <a:rPr lang="en-US" sz="1800" b="1" dirty="0" err="1">
                <a:latin typeface="Arial" charset="0"/>
              </a:rPr>
              <a:t>utiliza</a:t>
            </a:r>
            <a:r>
              <a:rPr lang="en-US" sz="1800" b="1" dirty="0">
                <a:latin typeface="Arial" charset="0"/>
              </a:rPr>
              <a:t> un </a:t>
            </a:r>
            <a:r>
              <a:rPr lang="en-US" sz="1800" b="1" dirty="0" err="1">
                <a:latin typeface="Arial" charset="0"/>
              </a:rPr>
              <a:t>conjunto</a:t>
            </a:r>
            <a:r>
              <a:rPr lang="en-US" sz="1800" b="1" dirty="0">
                <a:latin typeface="Arial" charset="0"/>
              </a:rPr>
              <a:t> de </a:t>
            </a:r>
            <a:r>
              <a:rPr lang="en-US" sz="1800" b="1" dirty="0" err="1">
                <a:latin typeface="Arial" charset="0"/>
              </a:rPr>
              <a:t>programas</a:t>
            </a:r>
            <a:r>
              <a:rPr lang="en-US" sz="1800" b="1" dirty="0">
                <a:latin typeface="Arial" charset="0"/>
              </a:rPr>
              <a:t> para el </a:t>
            </a:r>
            <a:r>
              <a:rPr lang="en-US" sz="1800" b="1" dirty="0" err="1">
                <a:latin typeface="Arial" charset="0"/>
              </a:rPr>
              <a:t>acceso</a:t>
            </a:r>
            <a:r>
              <a:rPr lang="en-US" sz="1800" b="1" dirty="0">
                <a:latin typeface="Arial" charset="0"/>
              </a:rPr>
              <a:t> de </a:t>
            </a:r>
            <a:r>
              <a:rPr lang="en-US" sz="1800" b="1" dirty="0" err="1">
                <a:latin typeface="Arial" charset="0"/>
              </a:rPr>
              <a:t>los</a:t>
            </a:r>
            <a:r>
              <a:rPr lang="en-US" sz="1800" b="1" dirty="0">
                <a:latin typeface="Arial" charset="0"/>
              </a:rPr>
              <a:t> </a:t>
            </a:r>
            <a:r>
              <a:rPr lang="en-US" sz="1800" b="1" dirty="0" err="1">
                <a:latin typeface="Arial" charset="0"/>
              </a:rPr>
              <a:t>datos</a:t>
            </a:r>
            <a:r>
              <a:rPr lang="en-US" sz="1800" b="1" dirty="0">
                <a:latin typeface="Arial" charset="0"/>
              </a:rPr>
              <a:t>. </a:t>
            </a:r>
            <a:r>
              <a:rPr lang="en-US" sz="1800" b="1" dirty="0" err="1">
                <a:latin typeface="Arial" charset="0"/>
              </a:rPr>
              <a:t>Una</a:t>
            </a:r>
            <a:r>
              <a:rPr lang="en-US" sz="1800" b="1" dirty="0">
                <a:latin typeface="Arial" charset="0"/>
              </a:rPr>
              <a:t> BD </a:t>
            </a:r>
            <a:r>
              <a:rPr lang="en-US" sz="1800" b="1" dirty="0" err="1">
                <a:latin typeface="Arial" charset="0"/>
              </a:rPr>
              <a:t>contiene</a:t>
            </a:r>
            <a:r>
              <a:rPr lang="en-US" sz="1800" b="1" dirty="0">
                <a:latin typeface="Arial" charset="0"/>
              </a:rPr>
              <a:t> </a:t>
            </a:r>
            <a:r>
              <a:rPr lang="en-US" sz="1800" b="1" dirty="0" err="1">
                <a:latin typeface="Arial" charset="0"/>
              </a:rPr>
              <a:t>información</a:t>
            </a:r>
            <a:r>
              <a:rPr lang="en-US" sz="1800" b="1" dirty="0">
                <a:latin typeface="Arial" charset="0"/>
              </a:rPr>
              <a:t> </a:t>
            </a:r>
            <a:r>
              <a:rPr lang="en-US" sz="1800" b="1" dirty="0" err="1">
                <a:latin typeface="Arial" charset="0"/>
              </a:rPr>
              <a:t>sobre</a:t>
            </a:r>
            <a:r>
              <a:rPr lang="en-US" sz="1800" b="1" dirty="0">
                <a:latin typeface="Arial" charset="0"/>
              </a:rPr>
              <a:t> </a:t>
            </a:r>
            <a:r>
              <a:rPr lang="en-US" sz="1800" b="1" dirty="0" err="1">
                <a:latin typeface="Arial" charset="0"/>
              </a:rPr>
              <a:t>una</a:t>
            </a:r>
            <a:r>
              <a:rPr lang="en-US" sz="1800" b="1" dirty="0">
                <a:latin typeface="Arial" charset="0"/>
              </a:rPr>
              <a:t> </a:t>
            </a:r>
            <a:r>
              <a:rPr lang="en-US" sz="1800" b="1" dirty="0" err="1">
                <a:latin typeface="Arial" charset="0"/>
              </a:rPr>
              <a:t>empresa</a:t>
            </a:r>
            <a:r>
              <a:rPr lang="en-US" sz="1800" b="1" dirty="0">
                <a:latin typeface="Arial" charset="0"/>
              </a:rPr>
              <a:t> particular, y  </a:t>
            </a:r>
            <a:r>
              <a:rPr lang="en-US" sz="1800" b="1" dirty="0" err="1">
                <a:latin typeface="Arial" charset="0"/>
              </a:rPr>
              <a:t>provee</a:t>
            </a:r>
            <a:r>
              <a:rPr lang="en-US" sz="1800" b="1" dirty="0">
                <a:latin typeface="Arial" charset="0"/>
              </a:rPr>
              <a:t> un </a:t>
            </a:r>
            <a:r>
              <a:rPr lang="en-US" sz="1800" b="1" dirty="0" err="1">
                <a:latin typeface="Arial" charset="0"/>
              </a:rPr>
              <a:t>ambiente</a:t>
            </a:r>
            <a:r>
              <a:rPr lang="en-US" sz="1800" b="1" dirty="0">
                <a:latin typeface="Arial" charset="0"/>
              </a:rPr>
              <a:t> de </a:t>
            </a:r>
            <a:r>
              <a:rPr lang="en-US" sz="1800" b="1" dirty="0" err="1">
                <a:latin typeface="Arial" charset="0"/>
              </a:rPr>
              <a:t>uso</a:t>
            </a:r>
            <a:r>
              <a:rPr lang="en-US" sz="1800" b="1" dirty="0">
                <a:latin typeface="Arial" charset="0"/>
              </a:rPr>
              <a:t> </a:t>
            </a:r>
            <a:r>
              <a:rPr lang="en-US" sz="1800" b="1" i="1" dirty="0" err="1">
                <a:latin typeface="Arial" charset="0"/>
              </a:rPr>
              <a:t>conveniente</a:t>
            </a:r>
            <a:r>
              <a:rPr lang="en-US" sz="1800" b="1" dirty="0">
                <a:latin typeface="Arial" charset="0"/>
              </a:rPr>
              <a:t> y </a:t>
            </a:r>
            <a:r>
              <a:rPr lang="en-US" sz="1800" b="1" i="1" dirty="0" err="1">
                <a:latin typeface="Arial" charset="0"/>
              </a:rPr>
              <a:t>eficiente</a:t>
            </a:r>
            <a:r>
              <a:rPr lang="en-US" sz="1800" b="1" dirty="0">
                <a:latin typeface="Arial" charset="0"/>
              </a:rPr>
              <a:t>.</a:t>
            </a:r>
            <a:endParaRPr lang="en-US" sz="1800" b="1" dirty="0">
              <a:solidFill>
                <a:srgbClr val="FFFF00"/>
              </a:solidFill>
              <a:latin typeface="Arial" charset="0"/>
            </a:endParaRPr>
          </a:p>
          <a:p>
            <a:pPr>
              <a:lnSpc>
                <a:spcPct val="80000"/>
              </a:lnSpc>
              <a:buClr>
                <a:schemeClr val="tx1"/>
              </a:buClr>
              <a:defRPr/>
            </a:pPr>
            <a:endParaRPr lang="en-US" sz="1400" b="1" dirty="0">
              <a:solidFill>
                <a:srgbClr val="FFFF00"/>
              </a:solidFill>
              <a:latin typeface="Arial" charset="0"/>
            </a:endParaRPr>
          </a:p>
          <a:p>
            <a:pPr>
              <a:lnSpc>
                <a:spcPct val="80000"/>
              </a:lnSpc>
              <a:buClr>
                <a:schemeClr val="tx1"/>
              </a:buClr>
              <a:defRPr/>
            </a:pPr>
            <a:r>
              <a:rPr lang="en-US" sz="2000" b="1" dirty="0">
                <a:solidFill>
                  <a:schemeClr val="accent1">
                    <a:lumMod val="50000"/>
                  </a:schemeClr>
                </a:solidFill>
                <a:latin typeface="Arial" charset="0"/>
              </a:rPr>
              <a:t>(McFadden, </a:t>
            </a:r>
            <a:r>
              <a:rPr lang="en-US" sz="2000" b="1" dirty="0" err="1">
                <a:solidFill>
                  <a:schemeClr val="accent1">
                    <a:lumMod val="50000"/>
                  </a:schemeClr>
                </a:solidFill>
                <a:latin typeface="Arial" charset="0"/>
              </a:rPr>
              <a:t>Hoffen</a:t>
            </a:r>
            <a:r>
              <a:rPr lang="en-US" sz="2000" b="1" dirty="0">
                <a:solidFill>
                  <a:schemeClr val="accent1">
                    <a:lumMod val="50000"/>
                  </a:schemeClr>
                </a:solidFill>
                <a:latin typeface="Arial" charset="0"/>
              </a:rPr>
              <a:t>)</a:t>
            </a:r>
          </a:p>
          <a:p>
            <a:pPr>
              <a:lnSpc>
                <a:spcPct val="80000"/>
              </a:lnSpc>
              <a:buClr>
                <a:schemeClr val="tx1"/>
              </a:buClr>
              <a:defRPr/>
            </a:pPr>
            <a:r>
              <a:rPr lang="en-US" sz="1800" b="1" dirty="0" err="1">
                <a:latin typeface="Arial" charset="0"/>
              </a:rPr>
              <a:t>Es</a:t>
            </a:r>
            <a:r>
              <a:rPr lang="en-US" sz="1800" b="1" dirty="0">
                <a:latin typeface="Arial" charset="0"/>
              </a:rPr>
              <a:t> </a:t>
            </a:r>
            <a:r>
              <a:rPr lang="en-US" sz="1800" b="1" dirty="0" err="1">
                <a:latin typeface="Arial" charset="0"/>
              </a:rPr>
              <a:t>una</a:t>
            </a:r>
            <a:r>
              <a:rPr lang="en-US" sz="1800" b="1" dirty="0">
                <a:latin typeface="Arial" charset="0"/>
              </a:rPr>
              <a:t> </a:t>
            </a:r>
            <a:r>
              <a:rPr lang="en-US" sz="1800" b="1" dirty="0" err="1">
                <a:latin typeface="Arial" charset="0"/>
              </a:rPr>
              <a:t>colección</a:t>
            </a:r>
            <a:r>
              <a:rPr lang="en-US" sz="1800" b="1" dirty="0">
                <a:latin typeface="Arial" charset="0"/>
              </a:rPr>
              <a:t> </a:t>
            </a:r>
            <a:r>
              <a:rPr lang="en-US" sz="1800" b="1" dirty="0" err="1">
                <a:latin typeface="Arial" charset="0"/>
              </a:rPr>
              <a:t>integrada</a:t>
            </a:r>
            <a:r>
              <a:rPr lang="en-US" sz="1800" b="1" dirty="0">
                <a:latin typeface="Arial" charset="0"/>
              </a:rPr>
              <a:t> de </a:t>
            </a:r>
            <a:r>
              <a:rPr lang="en-US" sz="1800" b="1" dirty="0" err="1">
                <a:latin typeface="Arial" charset="0"/>
              </a:rPr>
              <a:t>datos</a:t>
            </a:r>
            <a:r>
              <a:rPr lang="en-US" sz="1800" b="1" dirty="0">
                <a:latin typeface="Arial" charset="0"/>
              </a:rPr>
              <a:t>, </a:t>
            </a:r>
            <a:r>
              <a:rPr lang="en-US" sz="1800" b="1" dirty="0" err="1">
                <a:latin typeface="Arial" charset="0"/>
              </a:rPr>
              <a:t>organizada</a:t>
            </a:r>
            <a:r>
              <a:rPr lang="en-US" sz="1800" b="1" dirty="0">
                <a:latin typeface="Arial" charset="0"/>
              </a:rPr>
              <a:t> para </a:t>
            </a:r>
            <a:r>
              <a:rPr lang="en-US" sz="1800" b="1" dirty="0" err="1">
                <a:latin typeface="Arial" charset="0"/>
              </a:rPr>
              <a:t>satisfacer</a:t>
            </a:r>
            <a:r>
              <a:rPr lang="en-US" sz="1800" b="1" dirty="0">
                <a:latin typeface="Arial" charset="0"/>
              </a:rPr>
              <a:t> las </a:t>
            </a:r>
            <a:r>
              <a:rPr lang="en-US" sz="1800" b="1" dirty="0" err="1">
                <a:latin typeface="Arial" charset="0"/>
              </a:rPr>
              <a:t>necesidades</a:t>
            </a:r>
            <a:r>
              <a:rPr lang="en-US" sz="1800" b="1" dirty="0">
                <a:latin typeface="Arial" charset="0"/>
              </a:rPr>
              <a:t> de </a:t>
            </a:r>
            <a:r>
              <a:rPr lang="en-US" sz="1800" b="1" dirty="0" err="1">
                <a:latin typeface="Arial" charset="0"/>
              </a:rPr>
              <a:t>múltiples</a:t>
            </a:r>
            <a:r>
              <a:rPr lang="en-US" sz="1800" b="1" dirty="0">
                <a:latin typeface="Arial" charset="0"/>
              </a:rPr>
              <a:t> </a:t>
            </a:r>
            <a:r>
              <a:rPr lang="en-US" sz="1800" b="1" dirty="0" err="1">
                <a:latin typeface="Arial" charset="0"/>
              </a:rPr>
              <a:t>usuarios</a:t>
            </a:r>
            <a:r>
              <a:rPr lang="en-US" sz="1800" b="1" dirty="0">
                <a:latin typeface="Arial" charset="0"/>
              </a:rPr>
              <a:t> </a:t>
            </a:r>
            <a:r>
              <a:rPr lang="en-US" sz="1800" b="1" dirty="0" err="1">
                <a:latin typeface="Arial" charset="0"/>
              </a:rPr>
              <a:t>en</a:t>
            </a:r>
            <a:r>
              <a:rPr lang="en-US" sz="1800" b="1" dirty="0">
                <a:latin typeface="Arial" charset="0"/>
              </a:rPr>
              <a:t> </a:t>
            </a:r>
            <a:r>
              <a:rPr lang="en-US" sz="1800" b="1" dirty="0" err="1">
                <a:latin typeface="Arial" charset="0"/>
              </a:rPr>
              <a:t>una</a:t>
            </a:r>
            <a:r>
              <a:rPr lang="en-US" sz="1800" b="1" dirty="0">
                <a:latin typeface="Arial" charset="0"/>
              </a:rPr>
              <a:t> </a:t>
            </a:r>
            <a:r>
              <a:rPr lang="en-US" sz="1800" b="1" dirty="0" err="1">
                <a:latin typeface="Arial" charset="0"/>
              </a:rPr>
              <a:t>organización</a:t>
            </a:r>
            <a:r>
              <a:rPr lang="en-US" sz="1800" b="1" dirty="0">
                <a:latin typeface="Arial" charset="0"/>
              </a:rPr>
              <a:t>.</a:t>
            </a:r>
          </a:p>
          <a:p>
            <a:pPr lvl="1">
              <a:lnSpc>
                <a:spcPct val="80000"/>
              </a:lnSpc>
              <a:buClr>
                <a:schemeClr val="tx1"/>
              </a:buClr>
              <a:buNone/>
              <a:defRPr/>
            </a:pPr>
            <a:endParaRPr lang="en-US" sz="1400" b="1" dirty="0">
              <a:latin typeface="Arial" charset="0"/>
            </a:endParaRPr>
          </a:p>
          <a:p>
            <a:pPr lvl="1">
              <a:lnSpc>
                <a:spcPct val="80000"/>
              </a:lnSpc>
              <a:buClr>
                <a:schemeClr val="tx1"/>
              </a:buClr>
              <a:buNone/>
              <a:defRPr/>
            </a:pPr>
            <a:endParaRPr lang="en-US" sz="1200" b="1" dirty="0">
              <a:latin typeface="Arial" charset="0"/>
            </a:endParaRPr>
          </a:p>
          <a:p>
            <a:pPr lvl="1">
              <a:lnSpc>
                <a:spcPct val="80000"/>
              </a:lnSpc>
              <a:buClr>
                <a:schemeClr val="tx1"/>
              </a:buClr>
              <a:buNone/>
              <a:defRPr/>
            </a:pPr>
            <a:r>
              <a:rPr lang="en-US" sz="2000" b="1" dirty="0">
                <a:solidFill>
                  <a:schemeClr val="accent1">
                    <a:lumMod val="50000"/>
                  </a:schemeClr>
                </a:solidFill>
                <a:latin typeface="Arial" charset="0"/>
              </a:rPr>
              <a:t>           </a:t>
            </a:r>
            <a:r>
              <a:rPr lang="en-US" b="1" dirty="0">
                <a:solidFill>
                  <a:schemeClr val="accent1">
                    <a:lumMod val="50000"/>
                  </a:schemeClr>
                </a:solidFill>
                <a:latin typeface="Arial" charset="0"/>
              </a:rPr>
              <a:t>Las BD </a:t>
            </a:r>
            <a:r>
              <a:rPr lang="en-US" b="1" dirty="0" err="1">
                <a:solidFill>
                  <a:schemeClr val="accent1">
                    <a:lumMod val="50000"/>
                  </a:schemeClr>
                </a:solidFill>
                <a:latin typeface="Arial" charset="0"/>
              </a:rPr>
              <a:t>registran</a:t>
            </a:r>
            <a:r>
              <a:rPr lang="en-US" b="1" dirty="0">
                <a:solidFill>
                  <a:schemeClr val="accent1">
                    <a:lumMod val="50000"/>
                  </a:schemeClr>
                </a:solidFill>
                <a:latin typeface="Arial" charset="0"/>
              </a:rPr>
              <a:t> </a:t>
            </a:r>
            <a:r>
              <a:rPr lang="en-US" b="1" dirty="0" err="1">
                <a:solidFill>
                  <a:schemeClr val="accent1">
                    <a:lumMod val="50000"/>
                  </a:schemeClr>
                </a:solidFill>
                <a:latin typeface="Arial" charset="0"/>
              </a:rPr>
              <a:t>muchos</a:t>
            </a:r>
            <a:r>
              <a:rPr lang="en-US" b="1" dirty="0">
                <a:solidFill>
                  <a:schemeClr val="accent1">
                    <a:lumMod val="50000"/>
                  </a:schemeClr>
                </a:solidFill>
                <a:latin typeface="Arial" charset="0"/>
              </a:rPr>
              <a:t> </a:t>
            </a:r>
            <a:r>
              <a:rPr lang="en-US" b="1" dirty="0" err="1">
                <a:solidFill>
                  <a:schemeClr val="accent1">
                    <a:lumMod val="50000"/>
                  </a:schemeClr>
                </a:solidFill>
                <a:latin typeface="Arial" charset="0"/>
              </a:rPr>
              <a:t>aspectos</a:t>
            </a:r>
            <a:r>
              <a:rPr lang="en-US" b="1" dirty="0">
                <a:solidFill>
                  <a:schemeClr val="accent1">
                    <a:lumMod val="50000"/>
                  </a:schemeClr>
                </a:solidFill>
                <a:latin typeface="Arial" charset="0"/>
              </a:rPr>
              <a:t> de la </a:t>
            </a:r>
            <a:r>
              <a:rPr lang="en-US" b="1" dirty="0" err="1">
                <a:solidFill>
                  <a:schemeClr val="accent1">
                    <a:lumMod val="50000"/>
                  </a:schemeClr>
                </a:solidFill>
                <a:latin typeface="Arial" charset="0"/>
              </a:rPr>
              <a:t>vida</a:t>
            </a:r>
            <a:r>
              <a:rPr lang="en-US" b="1" dirty="0">
                <a:solidFill>
                  <a:schemeClr val="accent1">
                    <a:lumMod val="50000"/>
                  </a:schemeClr>
                </a:solidFill>
                <a:latin typeface="Arial" charset="0"/>
              </a:rPr>
              <a:t> </a:t>
            </a:r>
            <a:r>
              <a:rPr lang="en-US" b="1" dirty="0" err="1">
                <a:solidFill>
                  <a:schemeClr val="accent1">
                    <a:lumMod val="50000"/>
                  </a:schemeClr>
                </a:solidFill>
                <a:latin typeface="Arial" charset="0"/>
              </a:rPr>
              <a:t>moderna</a:t>
            </a:r>
            <a:endParaRPr lang="es-ES" b="1" dirty="0">
              <a:solidFill>
                <a:schemeClr val="accent1">
                  <a:lumMod val="50000"/>
                </a:schemeClr>
              </a:solidFill>
              <a:latin typeface="Arial" charset="0"/>
            </a:endParaRPr>
          </a:p>
          <a:p>
            <a:endParaRPr lang="es-MX" dirty="0">
              <a:solidFill>
                <a:schemeClr val="accent1">
                  <a:lumMod val="50000"/>
                </a:schemeClr>
              </a:solidFill>
            </a:endParaRPr>
          </a:p>
        </p:txBody>
      </p:sp>
    </p:spTree>
    <p:extLst>
      <p:ext uri="{BB962C8B-B14F-4D97-AF65-F5344CB8AC3E}">
        <p14:creationId xmlns:p14="http://schemas.microsoft.com/office/powerpoint/2010/main" val="1158232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1000"/>
                                        <p:tgtEl>
                                          <p:spTgt spid="3">
                                            <p:txEl>
                                              <p:pRg st="4" end="4"/>
                                            </p:txEl>
                                          </p:spTgt>
                                        </p:tgtEl>
                                      </p:cBhvr>
                                    </p:animEffect>
                                    <p:anim calcmode="lin" valueType="num">
                                      <p:cBhvr>
                                        <p:cTn id="1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7" dur="1000" fill="hold"/>
                                        <p:tgtEl>
                                          <p:spTgt spid="3">
                                            <p:txEl>
                                              <p:pRg st="4" end="4"/>
                                            </p:txEl>
                                          </p:spTgt>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1000"/>
                                        <p:tgtEl>
                                          <p:spTgt spid="3">
                                            <p:txEl>
                                              <p:pRg st="5" end="5"/>
                                            </p:txEl>
                                          </p:spTgt>
                                        </p:tgtEl>
                                      </p:cBhvr>
                                    </p:animEffect>
                                    <p:anim calcmode="lin" valueType="num">
                                      <p:cBhvr>
                                        <p:cTn id="21"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wipe(down)">
                                      <p:cBhvr>
                                        <p:cTn id="27" dur="500"/>
                                        <p:tgtEl>
                                          <p:spTgt spid="3">
                                            <p:txEl>
                                              <p:pRg st="7" end="7"/>
                                            </p:txEl>
                                          </p:spTgt>
                                        </p:tgtEl>
                                      </p:cBhvr>
                                    </p:animEffect>
                                  </p:childTnLst>
                                </p:cTn>
                              </p:par>
                              <p:par>
                                <p:cTn id="28" presetID="22" presetClass="entr" presetSubtype="4" fill="hold" nodeType="with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animEffect transition="in" filter="wipe(down)">
                                      <p:cBhvr>
                                        <p:cTn id="30"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30179"/>
            <a:ext cx="10245091" cy="670658"/>
          </a:xfrm>
        </p:spPr>
        <p:txBody>
          <a:bodyPr/>
          <a:lstStyle/>
          <a:p>
            <a:r>
              <a:rPr lang="es-ES" b="1" dirty="0">
                <a:solidFill>
                  <a:schemeClr val="accent1">
                    <a:lumMod val="50000"/>
                  </a:schemeClr>
                </a:solidFill>
                <a:latin typeface="Arial" charset="0"/>
              </a:rPr>
              <a:t>Base de datos (BD)</a:t>
            </a:r>
            <a:endParaRPr lang="es-MX" dirty="0"/>
          </a:p>
        </p:txBody>
      </p:sp>
      <p:sp>
        <p:nvSpPr>
          <p:cNvPr id="3" name="Marcador de contenido 2"/>
          <p:cNvSpPr>
            <a:spLocks noGrp="1"/>
          </p:cNvSpPr>
          <p:nvPr>
            <p:ph sz="quarter" idx="13"/>
          </p:nvPr>
        </p:nvSpPr>
        <p:spPr/>
        <p:txBody>
          <a:bodyPr/>
          <a:lstStyle/>
          <a:p>
            <a:pPr>
              <a:buClr>
                <a:schemeClr val="tx1"/>
              </a:buClr>
              <a:defRPr/>
            </a:pPr>
            <a:r>
              <a:rPr lang="es-MX" b="1" dirty="0">
                <a:solidFill>
                  <a:schemeClr val="accent1">
                    <a:lumMod val="50000"/>
                  </a:schemeClr>
                </a:solidFill>
                <a:latin typeface="Arial" charset="0"/>
              </a:rPr>
              <a:t>Martin, James</a:t>
            </a:r>
          </a:p>
          <a:p>
            <a:pPr>
              <a:buClr>
                <a:schemeClr val="tx1"/>
              </a:buClr>
              <a:defRPr/>
            </a:pPr>
            <a:r>
              <a:rPr lang="es-MX" b="1" dirty="0">
                <a:latin typeface="Arial" charset="0"/>
              </a:rPr>
              <a:t>   Es una colección de datos interrelacionados, </a:t>
            </a:r>
          </a:p>
          <a:p>
            <a:pPr>
              <a:buClr>
                <a:schemeClr val="tx1"/>
              </a:buClr>
              <a:defRPr/>
            </a:pPr>
            <a:r>
              <a:rPr lang="es-MX" b="1" dirty="0">
                <a:latin typeface="Arial" charset="0"/>
              </a:rPr>
              <a:t>   </a:t>
            </a:r>
            <a:r>
              <a:rPr lang="es-MX" b="1" dirty="0">
                <a:solidFill>
                  <a:srgbClr val="FF0000"/>
                </a:solidFill>
                <a:latin typeface="Arial" charset="0"/>
              </a:rPr>
              <a:t>(asociados con la operación de una empresa),</a:t>
            </a:r>
          </a:p>
          <a:p>
            <a:pPr>
              <a:buClr>
                <a:schemeClr val="tx1"/>
              </a:buClr>
              <a:defRPr/>
            </a:pPr>
            <a:r>
              <a:rPr lang="es-MX" b="1" dirty="0">
                <a:latin typeface="Arial" charset="0"/>
              </a:rPr>
              <a:t>   almacenados en conjunto, </a:t>
            </a:r>
          </a:p>
          <a:p>
            <a:pPr>
              <a:buClr>
                <a:schemeClr val="tx1"/>
              </a:buClr>
              <a:defRPr/>
            </a:pPr>
            <a:r>
              <a:rPr lang="es-MX" b="1" dirty="0">
                <a:latin typeface="Arial" charset="0"/>
              </a:rPr>
              <a:t>   sin redundancias innecesarias o perjudiciales, </a:t>
            </a:r>
          </a:p>
          <a:p>
            <a:pPr>
              <a:buClr>
                <a:schemeClr val="tx1"/>
              </a:buClr>
              <a:defRPr/>
            </a:pPr>
            <a:r>
              <a:rPr lang="es-MX" b="1" dirty="0">
                <a:latin typeface="Arial" charset="0"/>
              </a:rPr>
              <a:t>   que sirve a una o más aplicaciones de la mejor manera posible, y </a:t>
            </a:r>
          </a:p>
          <a:p>
            <a:pPr>
              <a:buClr>
                <a:schemeClr val="tx1"/>
              </a:buClr>
              <a:defRPr/>
            </a:pPr>
            <a:r>
              <a:rPr lang="es-MX" b="1" dirty="0">
                <a:latin typeface="Arial" charset="0"/>
              </a:rPr>
              <a:t>   que utiliza métodos bien definidos para el acceso a los datos.</a:t>
            </a:r>
            <a:endParaRPr lang="es-ES" b="1" dirty="0">
              <a:latin typeface="Arial" charset="0"/>
            </a:endParaRPr>
          </a:p>
          <a:p>
            <a:endParaRPr lang="es-MX" dirty="0"/>
          </a:p>
        </p:txBody>
      </p:sp>
    </p:spTree>
    <p:extLst>
      <p:ext uri="{BB962C8B-B14F-4D97-AF65-F5344CB8AC3E}">
        <p14:creationId xmlns:p14="http://schemas.microsoft.com/office/powerpoint/2010/main" val="3139151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arn(inVertic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down)">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a:solidFill>
                  <a:schemeClr val="accent1">
                    <a:lumMod val="50000"/>
                  </a:schemeClr>
                </a:solidFill>
                <a:latin typeface="Arial" charset="0"/>
              </a:rPr>
              <a:t>Base de datos (BD) – instancia</a:t>
            </a:r>
            <a:endParaRPr lang="es-MX" dirty="0"/>
          </a:p>
        </p:txBody>
      </p:sp>
      <p:sp>
        <p:nvSpPr>
          <p:cNvPr id="4" name="Rectangle 3"/>
          <p:cNvSpPr txBox="1">
            <a:spLocks noChangeArrowheads="1"/>
          </p:cNvSpPr>
          <p:nvPr/>
        </p:nvSpPr>
        <p:spPr>
          <a:xfrm>
            <a:off x="2091557" y="1744717"/>
            <a:ext cx="7866993" cy="4944844"/>
          </a:xfr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sz="2000" b="1" dirty="0" err="1">
                <a:latin typeface="Arial" pitchFamily="34" charset="0"/>
                <a:cs typeface="Arial" pitchFamily="34" charset="0"/>
              </a:rPr>
              <a:t>Alumnos</a:t>
            </a:r>
            <a:r>
              <a:rPr lang="en-US" sz="2000" b="1" dirty="0">
                <a:latin typeface="Arial" pitchFamily="34" charset="0"/>
                <a:cs typeface="Arial" pitchFamily="34" charset="0"/>
              </a:rPr>
              <a:t>   </a:t>
            </a:r>
            <a:r>
              <a:rPr lang="en-US" sz="2000" dirty="0">
                <a:latin typeface="Arial" pitchFamily="34" charset="0"/>
                <a:cs typeface="Arial" pitchFamily="34" charset="0"/>
              </a:rPr>
              <a:t>                                                </a:t>
            </a:r>
            <a:r>
              <a:rPr lang="en-US" sz="2000" b="1" dirty="0" err="1">
                <a:latin typeface="Arial" pitchFamily="34" charset="0"/>
                <a:cs typeface="Arial" pitchFamily="34" charset="0"/>
              </a:rPr>
              <a:t>Calificaciones</a:t>
            </a:r>
            <a:r>
              <a:rPr lang="en-US" sz="2000" b="1" dirty="0">
                <a:latin typeface="Arial" pitchFamily="34" charset="0"/>
                <a:cs typeface="Arial" pitchFamily="34" charset="0"/>
              </a:rPr>
              <a:t> </a:t>
            </a:r>
            <a:r>
              <a:rPr lang="en-US" sz="2000" dirty="0">
                <a:latin typeface="Arial" pitchFamily="34" charset="0"/>
                <a:cs typeface="Arial" pitchFamily="34" charset="0"/>
              </a:rPr>
              <a:t>    </a:t>
            </a:r>
          </a:p>
          <a:p>
            <a:pPr>
              <a:defRPr/>
            </a:pPr>
            <a:endParaRPr lang="en-US" sz="2400" dirty="0">
              <a:latin typeface="Arial" pitchFamily="34" charset="0"/>
              <a:cs typeface="Arial" pitchFamily="34" charset="0"/>
            </a:endParaRPr>
          </a:p>
          <a:p>
            <a:pPr>
              <a:defRPr/>
            </a:pPr>
            <a:endParaRPr lang="en-US" sz="2400" dirty="0">
              <a:latin typeface="Arial" pitchFamily="34" charset="0"/>
              <a:cs typeface="Arial" pitchFamily="34" charset="0"/>
            </a:endParaRPr>
          </a:p>
          <a:p>
            <a:pPr>
              <a:defRPr/>
            </a:pPr>
            <a:endParaRPr lang="en-US" sz="2400" dirty="0">
              <a:latin typeface="Arial" pitchFamily="34" charset="0"/>
              <a:cs typeface="Arial" pitchFamily="34" charset="0"/>
            </a:endParaRPr>
          </a:p>
          <a:p>
            <a:pPr>
              <a:defRPr/>
            </a:pPr>
            <a:endParaRPr lang="en-US" sz="2400" dirty="0">
              <a:latin typeface="Arial" pitchFamily="34" charset="0"/>
              <a:cs typeface="Arial" pitchFamily="34" charset="0"/>
            </a:endParaRPr>
          </a:p>
          <a:p>
            <a:pPr>
              <a:defRPr/>
            </a:pPr>
            <a:endParaRPr lang="en-US" sz="2400" dirty="0">
              <a:latin typeface="Arial" pitchFamily="34" charset="0"/>
              <a:cs typeface="Arial" pitchFamily="34" charset="0"/>
            </a:endParaRPr>
          </a:p>
          <a:p>
            <a:pPr>
              <a:defRPr/>
            </a:pPr>
            <a:endParaRPr lang="en-US" sz="2400" dirty="0">
              <a:latin typeface="Arial" pitchFamily="34" charset="0"/>
              <a:cs typeface="Arial" pitchFamily="34" charset="0"/>
            </a:endParaRPr>
          </a:p>
          <a:p>
            <a:pPr>
              <a:defRPr/>
            </a:pPr>
            <a:endParaRPr lang="en-US" sz="2400" dirty="0">
              <a:latin typeface="Arial" pitchFamily="34" charset="0"/>
              <a:cs typeface="Arial" pitchFamily="34" charset="0"/>
            </a:endParaRPr>
          </a:p>
          <a:p>
            <a:pPr>
              <a:defRPr/>
            </a:pPr>
            <a:r>
              <a:rPr lang="en-US" sz="2000" b="1" dirty="0" err="1">
                <a:latin typeface="Arial" pitchFamily="34" charset="0"/>
                <a:cs typeface="Arial" pitchFamily="34" charset="0"/>
              </a:rPr>
              <a:t>Materias</a:t>
            </a:r>
            <a:endParaRPr lang="en-US" sz="2000" b="1" dirty="0">
              <a:latin typeface="Arial" pitchFamily="34" charset="0"/>
              <a:cs typeface="Arial" pitchFamily="34" charset="0"/>
            </a:endParaRPr>
          </a:p>
        </p:txBody>
      </p:sp>
      <p:graphicFrame>
        <p:nvGraphicFramePr>
          <p:cNvPr id="5" name="1 Tabla"/>
          <p:cNvGraphicFramePr>
            <a:graphicFrameLocks noGrp="1"/>
          </p:cNvGraphicFramePr>
          <p:nvPr>
            <p:extLst>
              <p:ext uri="{D42A27DB-BD31-4B8C-83A1-F6EECF244321}">
                <p14:modId xmlns:p14="http://schemas.microsoft.com/office/powerpoint/2010/main" val="2842418966"/>
              </p:ext>
            </p:extLst>
          </p:nvPr>
        </p:nvGraphicFramePr>
        <p:xfrm>
          <a:off x="2091557" y="2121175"/>
          <a:ext cx="3784776" cy="2682320"/>
        </p:xfrm>
        <a:graphic>
          <a:graphicData uri="http://schemas.openxmlformats.org/drawingml/2006/table">
            <a:tbl>
              <a:tblPr firstRow="1" bandRow="1">
                <a:tableStyleId>{5C22544A-7EE6-4342-B048-85BDC9FD1C3A}</a:tableStyleId>
              </a:tblPr>
              <a:tblGrid>
                <a:gridCol w="1169840">
                  <a:extLst>
                    <a:ext uri="{9D8B030D-6E8A-4147-A177-3AD203B41FA5}">
                      <a16:colId xmlns:a16="http://schemas.microsoft.com/office/drawing/2014/main" val="20000"/>
                    </a:ext>
                  </a:extLst>
                </a:gridCol>
                <a:gridCol w="1101026">
                  <a:extLst>
                    <a:ext uri="{9D8B030D-6E8A-4147-A177-3AD203B41FA5}">
                      <a16:colId xmlns:a16="http://schemas.microsoft.com/office/drawing/2014/main" val="20001"/>
                    </a:ext>
                  </a:extLst>
                </a:gridCol>
                <a:gridCol w="1513910">
                  <a:extLst>
                    <a:ext uri="{9D8B030D-6E8A-4147-A177-3AD203B41FA5}">
                      <a16:colId xmlns:a16="http://schemas.microsoft.com/office/drawing/2014/main" val="20002"/>
                    </a:ext>
                  </a:extLst>
                </a:gridCol>
              </a:tblGrid>
              <a:tr h="318336">
                <a:tc>
                  <a:txBody>
                    <a:bodyPr/>
                    <a:lstStyle/>
                    <a:p>
                      <a:r>
                        <a:rPr lang="es-MX" sz="1600" dirty="0">
                          <a:latin typeface="Arial" pitchFamily="34" charset="0"/>
                          <a:cs typeface="Arial" pitchFamily="34" charset="0"/>
                        </a:rPr>
                        <a:t>Matricula</a:t>
                      </a:r>
                    </a:p>
                  </a:txBody>
                  <a:tcPr marL="91412" marR="91412" marT="45725" marB="45725"/>
                </a:tc>
                <a:tc>
                  <a:txBody>
                    <a:bodyPr/>
                    <a:lstStyle/>
                    <a:p>
                      <a:r>
                        <a:rPr lang="es-MX" sz="1600" dirty="0">
                          <a:latin typeface="Arial" pitchFamily="34" charset="0"/>
                          <a:cs typeface="Arial" pitchFamily="34" charset="0"/>
                        </a:rPr>
                        <a:t>Nombre</a:t>
                      </a:r>
                    </a:p>
                  </a:txBody>
                  <a:tcPr marL="91412" marR="91412" marT="45725" marB="45725"/>
                </a:tc>
                <a:tc>
                  <a:txBody>
                    <a:bodyPr/>
                    <a:lstStyle/>
                    <a:p>
                      <a:r>
                        <a:rPr lang="es-MX" sz="1600" dirty="0">
                          <a:latin typeface="Arial" pitchFamily="34" charset="0"/>
                          <a:cs typeface="Arial" pitchFamily="34" charset="0"/>
                        </a:rPr>
                        <a:t>Dirección</a:t>
                      </a:r>
                    </a:p>
                  </a:txBody>
                  <a:tcPr marL="91412" marR="91412" marT="45725" marB="45725"/>
                </a:tc>
                <a:extLst>
                  <a:ext uri="{0D108BD9-81ED-4DB2-BD59-A6C34878D82A}">
                    <a16:rowId xmlns:a16="http://schemas.microsoft.com/office/drawing/2014/main" val="10000"/>
                  </a:ext>
                </a:extLst>
              </a:tr>
              <a:tr h="318336">
                <a:tc>
                  <a:txBody>
                    <a:bodyPr/>
                    <a:lstStyle/>
                    <a:p>
                      <a:r>
                        <a:rPr lang="es-MX" sz="1600" dirty="0">
                          <a:latin typeface="Arial" pitchFamily="34" charset="0"/>
                          <a:cs typeface="Arial" pitchFamily="34" charset="0"/>
                        </a:rPr>
                        <a:t>111111</a:t>
                      </a:r>
                    </a:p>
                  </a:txBody>
                  <a:tcPr marL="91412" marR="91412" marT="45725" marB="45725"/>
                </a:tc>
                <a:tc>
                  <a:txBody>
                    <a:bodyPr/>
                    <a:lstStyle/>
                    <a:p>
                      <a:r>
                        <a:rPr lang="es-MX" sz="1600" dirty="0">
                          <a:latin typeface="Arial" pitchFamily="34" charset="0"/>
                          <a:cs typeface="Arial" pitchFamily="34" charset="0"/>
                        </a:rPr>
                        <a:t>Juan</a:t>
                      </a:r>
                    </a:p>
                  </a:txBody>
                  <a:tcPr marL="91412" marR="91412" marT="45725" marB="45725"/>
                </a:tc>
                <a:tc>
                  <a:txBody>
                    <a:bodyPr/>
                    <a:lstStyle/>
                    <a:p>
                      <a:r>
                        <a:rPr lang="es-MX" sz="1600" dirty="0">
                          <a:latin typeface="Arial" pitchFamily="34" charset="0"/>
                          <a:cs typeface="Arial" pitchFamily="34" charset="0"/>
                        </a:rPr>
                        <a:t>C</a:t>
                      </a:r>
                      <a:r>
                        <a:rPr lang="es-MX" sz="1600" baseline="0" dirty="0">
                          <a:latin typeface="Arial" pitchFamily="34" charset="0"/>
                          <a:cs typeface="Arial" pitchFamily="34" charset="0"/>
                        </a:rPr>
                        <a:t> 16 No. 456</a:t>
                      </a:r>
                      <a:endParaRPr lang="es-MX" sz="1600" dirty="0">
                        <a:latin typeface="Arial" pitchFamily="34" charset="0"/>
                        <a:cs typeface="Arial" pitchFamily="34" charset="0"/>
                      </a:endParaRPr>
                    </a:p>
                  </a:txBody>
                  <a:tcPr marL="91412" marR="91412" marT="45725" marB="45725"/>
                </a:tc>
                <a:extLst>
                  <a:ext uri="{0D108BD9-81ED-4DB2-BD59-A6C34878D82A}">
                    <a16:rowId xmlns:a16="http://schemas.microsoft.com/office/drawing/2014/main" val="10001"/>
                  </a:ext>
                </a:extLst>
              </a:tr>
              <a:tr h="318336">
                <a:tc>
                  <a:txBody>
                    <a:bodyPr/>
                    <a:lstStyle/>
                    <a:p>
                      <a:r>
                        <a:rPr lang="es-MX" sz="1600" dirty="0">
                          <a:latin typeface="Arial" pitchFamily="34" charset="0"/>
                          <a:cs typeface="Arial" pitchFamily="34" charset="0"/>
                        </a:rPr>
                        <a:t>222222</a:t>
                      </a:r>
                    </a:p>
                  </a:txBody>
                  <a:tcPr marL="91412" marR="91412" marT="45725" marB="45725"/>
                </a:tc>
                <a:tc>
                  <a:txBody>
                    <a:bodyPr/>
                    <a:lstStyle/>
                    <a:p>
                      <a:r>
                        <a:rPr lang="es-MX" sz="1600" dirty="0">
                          <a:latin typeface="Arial" pitchFamily="34" charset="0"/>
                          <a:cs typeface="Arial" pitchFamily="34" charset="0"/>
                        </a:rPr>
                        <a:t>Karla</a:t>
                      </a:r>
                    </a:p>
                  </a:txBody>
                  <a:tcPr marL="91412" marR="91412" marT="45725" marB="45725"/>
                </a:tc>
                <a:tc>
                  <a:txBody>
                    <a:bodyPr/>
                    <a:lstStyle/>
                    <a:p>
                      <a:r>
                        <a:rPr lang="es-MX" sz="1600" dirty="0">
                          <a:latin typeface="Arial" pitchFamily="34" charset="0"/>
                          <a:cs typeface="Arial" pitchFamily="34" charset="0"/>
                        </a:rPr>
                        <a:t>C 43 No. 123</a:t>
                      </a:r>
                    </a:p>
                  </a:txBody>
                  <a:tcPr marL="91412" marR="91412" marT="45725" marB="45725"/>
                </a:tc>
                <a:extLst>
                  <a:ext uri="{0D108BD9-81ED-4DB2-BD59-A6C34878D82A}">
                    <a16:rowId xmlns:a16="http://schemas.microsoft.com/office/drawing/2014/main" val="10002"/>
                  </a:ext>
                </a:extLst>
              </a:tr>
              <a:tr h="318336">
                <a:tc>
                  <a:txBody>
                    <a:bodyPr/>
                    <a:lstStyle/>
                    <a:p>
                      <a:r>
                        <a:rPr lang="es-MX" sz="1600" dirty="0">
                          <a:latin typeface="Arial" pitchFamily="34" charset="0"/>
                          <a:cs typeface="Arial" pitchFamily="34" charset="0"/>
                        </a:rPr>
                        <a:t>333333</a:t>
                      </a:r>
                    </a:p>
                  </a:txBody>
                  <a:tcPr marL="91412" marR="91412" marT="45725" marB="45725"/>
                </a:tc>
                <a:tc>
                  <a:txBody>
                    <a:bodyPr/>
                    <a:lstStyle/>
                    <a:p>
                      <a:r>
                        <a:rPr lang="es-ES" sz="1600" dirty="0">
                          <a:latin typeface="Arial" pitchFamily="34" charset="0"/>
                          <a:cs typeface="Arial" pitchFamily="34" charset="0"/>
                        </a:rPr>
                        <a:t>C</a:t>
                      </a:r>
                      <a:r>
                        <a:rPr lang="es-MX" sz="1600">
                          <a:latin typeface="Arial" pitchFamily="34" charset="0"/>
                          <a:cs typeface="Arial" pitchFamily="34" charset="0"/>
                        </a:rPr>
                        <a:t>armen</a:t>
                      </a:r>
                      <a:endParaRPr lang="es-MX" sz="1600" dirty="0">
                        <a:latin typeface="Arial" pitchFamily="34" charset="0"/>
                        <a:cs typeface="Arial" pitchFamily="34" charset="0"/>
                      </a:endParaRPr>
                    </a:p>
                  </a:txBody>
                  <a:tcPr marL="91412" marR="91412" marT="45725" marB="45725"/>
                </a:tc>
                <a:tc>
                  <a:txBody>
                    <a:bodyPr/>
                    <a:lstStyle/>
                    <a:p>
                      <a:r>
                        <a:rPr lang="es-MX" sz="1600" dirty="0">
                          <a:latin typeface="Arial" pitchFamily="34" charset="0"/>
                          <a:cs typeface="Arial" pitchFamily="34" charset="0"/>
                        </a:rPr>
                        <a:t>C 24 No. 321</a:t>
                      </a:r>
                    </a:p>
                  </a:txBody>
                  <a:tcPr marL="91412" marR="91412" marT="45725" marB="45725"/>
                </a:tc>
                <a:extLst>
                  <a:ext uri="{0D108BD9-81ED-4DB2-BD59-A6C34878D82A}">
                    <a16:rowId xmlns:a16="http://schemas.microsoft.com/office/drawing/2014/main" val="10003"/>
                  </a:ext>
                </a:extLst>
              </a:tr>
              <a:tr h="318336">
                <a:tc>
                  <a:txBody>
                    <a:bodyPr/>
                    <a:lstStyle/>
                    <a:p>
                      <a:r>
                        <a:rPr lang="es-MX" sz="1600" dirty="0">
                          <a:latin typeface="Arial" pitchFamily="34" charset="0"/>
                          <a:cs typeface="Arial" pitchFamily="34" charset="0"/>
                        </a:rPr>
                        <a:t>444444</a:t>
                      </a:r>
                    </a:p>
                  </a:txBody>
                  <a:tcPr marL="91412" marR="91412" marT="45725" marB="45725"/>
                </a:tc>
                <a:tc>
                  <a:txBody>
                    <a:bodyPr/>
                    <a:lstStyle/>
                    <a:p>
                      <a:r>
                        <a:rPr lang="es-MX" sz="1600" dirty="0">
                          <a:latin typeface="Arial" pitchFamily="34" charset="0"/>
                          <a:cs typeface="Arial" pitchFamily="34" charset="0"/>
                        </a:rPr>
                        <a:t>Pedro</a:t>
                      </a:r>
                    </a:p>
                  </a:txBody>
                  <a:tcPr marL="91412" marR="91412" marT="45725" marB="45725"/>
                </a:tc>
                <a:tc>
                  <a:txBody>
                    <a:bodyPr/>
                    <a:lstStyle/>
                    <a:p>
                      <a:r>
                        <a:rPr lang="es-MX" sz="1600" dirty="0">
                          <a:latin typeface="Arial" pitchFamily="34" charset="0"/>
                          <a:cs typeface="Arial" pitchFamily="34" charset="0"/>
                        </a:rPr>
                        <a:t>C 11 No. 445</a:t>
                      </a:r>
                    </a:p>
                  </a:txBody>
                  <a:tcPr marL="91412" marR="91412" marT="45725" marB="45725"/>
                </a:tc>
                <a:extLst>
                  <a:ext uri="{0D108BD9-81ED-4DB2-BD59-A6C34878D82A}">
                    <a16:rowId xmlns:a16="http://schemas.microsoft.com/office/drawing/2014/main" val="10004"/>
                  </a:ext>
                </a:extLst>
              </a:tr>
              <a:tr h="318336">
                <a:tc>
                  <a:txBody>
                    <a:bodyPr/>
                    <a:lstStyle/>
                    <a:p>
                      <a:r>
                        <a:rPr lang="es-MX" sz="1600" dirty="0">
                          <a:latin typeface="Arial" pitchFamily="34" charset="0"/>
                          <a:cs typeface="Arial" pitchFamily="34" charset="0"/>
                        </a:rPr>
                        <a:t>555555</a:t>
                      </a:r>
                    </a:p>
                  </a:txBody>
                  <a:tcPr marL="91412" marR="91412" marT="45725" marB="45725"/>
                </a:tc>
                <a:tc>
                  <a:txBody>
                    <a:bodyPr/>
                    <a:lstStyle/>
                    <a:p>
                      <a:r>
                        <a:rPr lang="es-MX" sz="1600" dirty="0">
                          <a:latin typeface="Arial" pitchFamily="34" charset="0"/>
                          <a:cs typeface="Arial" pitchFamily="34" charset="0"/>
                        </a:rPr>
                        <a:t>Hugo</a:t>
                      </a:r>
                    </a:p>
                  </a:txBody>
                  <a:tcPr marL="91412" marR="91412" marT="45725" marB="45725"/>
                </a:tc>
                <a:tc>
                  <a:txBody>
                    <a:bodyPr/>
                    <a:lstStyle/>
                    <a:p>
                      <a:r>
                        <a:rPr lang="es-MX" sz="1600" dirty="0">
                          <a:latin typeface="Arial" pitchFamily="34" charset="0"/>
                          <a:cs typeface="Arial" pitchFamily="34" charset="0"/>
                        </a:rPr>
                        <a:t>C 17 No. 889</a:t>
                      </a:r>
                    </a:p>
                  </a:txBody>
                  <a:tcPr marL="91412" marR="91412" marT="45725" marB="45725"/>
                </a:tc>
                <a:extLst>
                  <a:ext uri="{0D108BD9-81ED-4DB2-BD59-A6C34878D82A}">
                    <a16:rowId xmlns:a16="http://schemas.microsoft.com/office/drawing/2014/main" val="10005"/>
                  </a:ext>
                </a:extLst>
              </a:tr>
              <a:tr h="318336">
                <a:tc>
                  <a:txBody>
                    <a:bodyPr/>
                    <a:lstStyle/>
                    <a:p>
                      <a:r>
                        <a:rPr lang="es-MX" sz="1600" dirty="0">
                          <a:latin typeface="Arial" pitchFamily="34" charset="0"/>
                          <a:cs typeface="Arial" pitchFamily="34" charset="0"/>
                        </a:rPr>
                        <a:t>666666</a:t>
                      </a:r>
                    </a:p>
                  </a:txBody>
                  <a:tcPr marL="91412" marR="91412" marT="45725" marB="45725"/>
                </a:tc>
                <a:tc>
                  <a:txBody>
                    <a:bodyPr/>
                    <a:lstStyle/>
                    <a:p>
                      <a:r>
                        <a:rPr lang="es-MX" sz="1600" dirty="0">
                          <a:latin typeface="Arial" pitchFamily="34" charset="0"/>
                          <a:cs typeface="Arial" pitchFamily="34" charset="0"/>
                        </a:rPr>
                        <a:t>Luisa</a:t>
                      </a:r>
                    </a:p>
                  </a:txBody>
                  <a:tcPr marL="91412" marR="91412" marT="45725" marB="45725"/>
                </a:tc>
                <a:tc>
                  <a:txBody>
                    <a:bodyPr/>
                    <a:lstStyle/>
                    <a:p>
                      <a:r>
                        <a:rPr lang="es-MX" sz="1600" dirty="0">
                          <a:latin typeface="Arial" pitchFamily="34" charset="0"/>
                          <a:cs typeface="Arial" pitchFamily="34" charset="0"/>
                        </a:rPr>
                        <a:t>C 24 No. 876</a:t>
                      </a:r>
                    </a:p>
                  </a:txBody>
                  <a:tcPr marL="91412" marR="91412" marT="45725" marB="45725"/>
                </a:tc>
                <a:extLst>
                  <a:ext uri="{0D108BD9-81ED-4DB2-BD59-A6C34878D82A}">
                    <a16:rowId xmlns:a16="http://schemas.microsoft.com/office/drawing/2014/main" val="10006"/>
                  </a:ext>
                </a:extLst>
              </a:tr>
              <a:tr h="318336">
                <a:tc>
                  <a:txBody>
                    <a:bodyPr/>
                    <a:lstStyle/>
                    <a:p>
                      <a:r>
                        <a:rPr lang="es-MX" sz="1600" dirty="0">
                          <a:latin typeface="Arial" pitchFamily="34" charset="0"/>
                          <a:cs typeface="Arial" pitchFamily="34" charset="0"/>
                        </a:rPr>
                        <a:t>777777</a:t>
                      </a:r>
                    </a:p>
                  </a:txBody>
                  <a:tcPr marL="91412" marR="91412" marT="45725" marB="45725"/>
                </a:tc>
                <a:tc>
                  <a:txBody>
                    <a:bodyPr/>
                    <a:lstStyle/>
                    <a:p>
                      <a:r>
                        <a:rPr lang="es-MX" sz="1600" dirty="0">
                          <a:latin typeface="Arial" pitchFamily="34" charset="0"/>
                          <a:cs typeface="Arial" pitchFamily="34" charset="0"/>
                        </a:rPr>
                        <a:t>Ileana</a:t>
                      </a:r>
                    </a:p>
                  </a:txBody>
                  <a:tcPr marL="91412" marR="91412" marT="45725" marB="45725"/>
                </a:tc>
                <a:tc>
                  <a:txBody>
                    <a:bodyPr/>
                    <a:lstStyle/>
                    <a:p>
                      <a:r>
                        <a:rPr lang="es-MX" sz="1600" dirty="0">
                          <a:latin typeface="Arial" pitchFamily="34" charset="0"/>
                          <a:cs typeface="Arial" pitchFamily="34" charset="0"/>
                        </a:rPr>
                        <a:t>C 43 No. 156</a:t>
                      </a:r>
                    </a:p>
                  </a:txBody>
                  <a:tcPr marL="91412" marR="91412" marT="45725" marB="45725"/>
                </a:tc>
                <a:extLst>
                  <a:ext uri="{0D108BD9-81ED-4DB2-BD59-A6C34878D82A}">
                    <a16:rowId xmlns:a16="http://schemas.microsoft.com/office/drawing/2014/main" val="10007"/>
                  </a:ext>
                </a:extLst>
              </a:tr>
            </a:tbl>
          </a:graphicData>
        </a:graphic>
      </p:graphicFrame>
      <p:graphicFrame>
        <p:nvGraphicFramePr>
          <p:cNvPr id="6" name="2 Tabla"/>
          <p:cNvGraphicFramePr>
            <a:graphicFrameLocks noGrp="1"/>
          </p:cNvGraphicFramePr>
          <p:nvPr>
            <p:extLst>
              <p:ext uri="{D42A27DB-BD31-4B8C-83A1-F6EECF244321}">
                <p14:modId xmlns:p14="http://schemas.microsoft.com/office/powerpoint/2010/main" val="305749839"/>
              </p:ext>
            </p:extLst>
          </p:nvPr>
        </p:nvGraphicFramePr>
        <p:xfrm>
          <a:off x="7132816" y="2205495"/>
          <a:ext cx="3716487" cy="4023288"/>
        </p:xfrm>
        <a:graphic>
          <a:graphicData uri="http://schemas.openxmlformats.org/drawingml/2006/table">
            <a:tbl>
              <a:tblPr firstRow="1" bandRow="1">
                <a:tableStyleId>{5C22544A-7EE6-4342-B048-85BDC9FD1C3A}</a:tableStyleId>
              </a:tblPr>
              <a:tblGrid>
                <a:gridCol w="1170005">
                  <a:extLst>
                    <a:ext uri="{9D8B030D-6E8A-4147-A177-3AD203B41FA5}">
                      <a16:colId xmlns:a16="http://schemas.microsoft.com/office/drawing/2014/main" val="20000"/>
                    </a:ext>
                  </a:extLst>
                </a:gridCol>
                <a:gridCol w="1101181">
                  <a:extLst>
                    <a:ext uri="{9D8B030D-6E8A-4147-A177-3AD203B41FA5}">
                      <a16:colId xmlns:a16="http://schemas.microsoft.com/office/drawing/2014/main" val="20001"/>
                    </a:ext>
                  </a:extLst>
                </a:gridCol>
                <a:gridCol w="1445301">
                  <a:extLst>
                    <a:ext uri="{9D8B030D-6E8A-4147-A177-3AD203B41FA5}">
                      <a16:colId xmlns:a16="http://schemas.microsoft.com/office/drawing/2014/main" val="20002"/>
                    </a:ext>
                  </a:extLst>
                </a:gridCol>
              </a:tblGrid>
              <a:tr h="318279">
                <a:tc>
                  <a:txBody>
                    <a:bodyPr/>
                    <a:lstStyle/>
                    <a:p>
                      <a:r>
                        <a:rPr lang="es-MX" sz="1600" dirty="0">
                          <a:latin typeface="Arial" pitchFamily="34" charset="0"/>
                          <a:cs typeface="Arial" pitchFamily="34" charset="0"/>
                        </a:rPr>
                        <a:t>Matricula</a:t>
                      </a:r>
                    </a:p>
                  </a:txBody>
                  <a:tcPr marL="91425" marR="91425" marT="45717" marB="45717"/>
                </a:tc>
                <a:tc>
                  <a:txBody>
                    <a:bodyPr/>
                    <a:lstStyle/>
                    <a:p>
                      <a:r>
                        <a:rPr lang="es-MX" sz="1600" dirty="0" err="1">
                          <a:latin typeface="Arial" pitchFamily="34" charset="0"/>
                          <a:cs typeface="Arial" pitchFamily="34" charset="0"/>
                        </a:rPr>
                        <a:t>CveMat</a:t>
                      </a:r>
                      <a:endParaRPr lang="es-MX" sz="1600" dirty="0">
                        <a:latin typeface="Arial" pitchFamily="34" charset="0"/>
                        <a:cs typeface="Arial" pitchFamily="34" charset="0"/>
                      </a:endParaRPr>
                    </a:p>
                  </a:txBody>
                  <a:tcPr marL="91425" marR="91425" marT="45717" marB="45717"/>
                </a:tc>
                <a:tc>
                  <a:txBody>
                    <a:bodyPr/>
                    <a:lstStyle/>
                    <a:p>
                      <a:r>
                        <a:rPr lang="es-MX" sz="1600" dirty="0">
                          <a:latin typeface="Arial" pitchFamily="34" charset="0"/>
                          <a:cs typeface="Arial" pitchFamily="34" charset="0"/>
                        </a:rPr>
                        <a:t>Calificación</a:t>
                      </a:r>
                    </a:p>
                  </a:txBody>
                  <a:tcPr marL="91425" marR="91425" marT="45717" marB="45717"/>
                </a:tc>
                <a:extLst>
                  <a:ext uri="{0D108BD9-81ED-4DB2-BD59-A6C34878D82A}">
                    <a16:rowId xmlns:a16="http://schemas.microsoft.com/office/drawing/2014/main" val="10000"/>
                  </a:ext>
                </a:extLst>
              </a:tr>
              <a:tr h="318279">
                <a:tc>
                  <a:txBody>
                    <a:bodyPr/>
                    <a:lstStyle/>
                    <a:p>
                      <a:r>
                        <a:rPr lang="es-MX" sz="1600" dirty="0">
                          <a:latin typeface="Arial" pitchFamily="34" charset="0"/>
                          <a:cs typeface="Arial" pitchFamily="34" charset="0"/>
                        </a:rPr>
                        <a:t>111111</a:t>
                      </a:r>
                    </a:p>
                  </a:txBody>
                  <a:tcPr marL="91425" marR="91425" marT="45717" marB="45717"/>
                </a:tc>
                <a:tc>
                  <a:txBody>
                    <a:bodyPr/>
                    <a:lstStyle/>
                    <a:p>
                      <a:r>
                        <a:rPr lang="es-MX" sz="1600" dirty="0">
                          <a:latin typeface="Arial" pitchFamily="34" charset="0"/>
                          <a:cs typeface="Arial" pitchFamily="34" charset="0"/>
                        </a:rPr>
                        <a:t>M0011</a:t>
                      </a:r>
                    </a:p>
                  </a:txBody>
                  <a:tcPr marL="91425" marR="91425" marT="45717" marB="45717"/>
                </a:tc>
                <a:tc>
                  <a:txBody>
                    <a:bodyPr/>
                    <a:lstStyle/>
                    <a:p>
                      <a:pPr algn="ctr"/>
                      <a:r>
                        <a:rPr lang="es-MX" sz="1600" dirty="0">
                          <a:latin typeface="Arial" pitchFamily="34" charset="0"/>
                          <a:cs typeface="Arial" pitchFamily="34" charset="0"/>
                        </a:rPr>
                        <a:t>90</a:t>
                      </a:r>
                    </a:p>
                  </a:txBody>
                  <a:tcPr marL="91425" marR="91425" marT="45717" marB="45717"/>
                </a:tc>
                <a:extLst>
                  <a:ext uri="{0D108BD9-81ED-4DB2-BD59-A6C34878D82A}">
                    <a16:rowId xmlns:a16="http://schemas.microsoft.com/office/drawing/2014/main" val="10001"/>
                  </a:ext>
                </a:extLst>
              </a:tr>
              <a:tr h="318279">
                <a:tc>
                  <a:txBody>
                    <a:bodyPr/>
                    <a:lstStyle/>
                    <a:p>
                      <a:r>
                        <a:rPr lang="es-MX" sz="1600" dirty="0">
                          <a:latin typeface="Arial" pitchFamily="34" charset="0"/>
                          <a:cs typeface="Arial" pitchFamily="34" charset="0"/>
                        </a:rPr>
                        <a:t>111111</a:t>
                      </a:r>
                    </a:p>
                  </a:txBody>
                  <a:tcPr marL="91425" marR="91425" marT="45717" marB="45717"/>
                </a:tc>
                <a:tc>
                  <a:txBody>
                    <a:bodyPr/>
                    <a:lstStyle/>
                    <a:p>
                      <a:r>
                        <a:rPr lang="es-MX" sz="1600" dirty="0">
                          <a:latin typeface="Arial" pitchFamily="34" charset="0"/>
                          <a:cs typeface="Arial" pitchFamily="34" charset="0"/>
                        </a:rPr>
                        <a:t>M0034</a:t>
                      </a:r>
                    </a:p>
                  </a:txBody>
                  <a:tcPr marL="91425" marR="91425" marT="45717" marB="45717"/>
                </a:tc>
                <a:tc>
                  <a:txBody>
                    <a:bodyPr/>
                    <a:lstStyle/>
                    <a:p>
                      <a:pPr algn="ctr"/>
                      <a:r>
                        <a:rPr lang="es-MX" sz="1600" dirty="0">
                          <a:latin typeface="Arial" pitchFamily="34" charset="0"/>
                          <a:cs typeface="Arial" pitchFamily="34" charset="0"/>
                        </a:rPr>
                        <a:t>87</a:t>
                      </a:r>
                    </a:p>
                  </a:txBody>
                  <a:tcPr marL="91425" marR="91425" marT="45717" marB="45717"/>
                </a:tc>
                <a:extLst>
                  <a:ext uri="{0D108BD9-81ED-4DB2-BD59-A6C34878D82A}">
                    <a16:rowId xmlns:a16="http://schemas.microsoft.com/office/drawing/2014/main" val="10002"/>
                  </a:ext>
                </a:extLst>
              </a:tr>
              <a:tr h="318279">
                <a:tc>
                  <a:txBody>
                    <a:bodyPr/>
                    <a:lstStyle/>
                    <a:p>
                      <a:r>
                        <a:rPr lang="es-MX" sz="1600" dirty="0">
                          <a:latin typeface="Arial" pitchFamily="34" charset="0"/>
                          <a:cs typeface="Arial" pitchFamily="34" charset="0"/>
                        </a:rPr>
                        <a:t>111111</a:t>
                      </a:r>
                    </a:p>
                  </a:txBody>
                  <a:tcPr marL="91425" marR="91425" marT="45717" marB="45717"/>
                </a:tc>
                <a:tc>
                  <a:txBody>
                    <a:bodyPr/>
                    <a:lstStyle/>
                    <a:p>
                      <a:r>
                        <a:rPr lang="es-MX" sz="1600" dirty="0">
                          <a:latin typeface="Arial" pitchFamily="34" charset="0"/>
                          <a:cs typeface="Arial" pitchFamily="34" charset="0"/>
                        </a:rPr>
                        <a:t>M0055</a:t>
                      </a:r>
                    </a:p>
                  </a:txBody>
                  <a:tcPr marL="91425" marR="91425" marT="45717" marB="45717"/>
                </a:tc>
                <a:tc>
                  <a:txBody>
                    <a:bodyPr/>
                    <a:lstStyle/>
                    <a:p>
                      <a:pPr algn="ctr"/>
                      <a:r>
                        <a:rPr lang="es-MX" sz="1600" dirty="0">
                          <a:latin typeface="Arial" pitchFamily="34" charset="0"/>
                          <a:cs typeface="Arial" pitchFamily="34" charset="0"/>
                        </a:rPr>
                        <a:t>78</a:t>
                      </a:r>
                    </a:p>
                  </a:txBody>
                  <a:tcPr marL="91425" marR="91425" marT="45717" marB="45717"/>
                </a:tc>
                <a:extLst>
                  <a:ext uri="{0D108BD9-81ED-4DB2-BD59-A6C34878D82A}">
                    <a16:rowId xmlns:a16="http://schemas.microsoft.com/office/drawing/2014/main" val="10003"/>
                  </a:ext>
                </a:extLst>
              </a:tr>
              <a:tr h="318279">
                <a:tc>
                  <a:txBody>
                    <a:bodyPr/>
                    <a:lstStyle/>
                    <a:p>
                      <a:r>
                        <a:rPr lang="es-MX" sz="1600" dirty="0">
                          <a:latin typeface="Arial" pitchFamily="34" charset="0"/>
                          <a:cs typeface="Arial" pitchFamily="34" charset="0"/>
                        </a:rPr>
                        <a:t>777777</a:t>
                      </a:r>
                    </a:p>
                  </a:txBody>
                  <a:tcPr marL="91425" marR="91425" marT="45717" marB="45717"/>
                </a:tc>
                <a:tc>
                  <a:txBody>
                    <a:bodyPr/>
                    <a:lstStyle/>
                    <a:p>
                      <a:r>
                        <a:rPr lang="es-MX" sz="1600" dirty="0">
                          <a:latin typeface="Arial" pitchFamily="34" charset="0"/>
                          <a:cs typeface="Arial" pitchFamily="34" charset="0"/>
                        </a:rPr>
                        <a:t>M0011</a:t>
                      </a:r>
                    </a:p>
                  </a:txBody>
                  <a:tcPr marL="91425" marR="91425" marT="45717" marB="45717"/>
                </a:tc>
                <a:tc>
                  <a:txBody>
                    <a:bodyPr/>
                    <a:lstStyle/>
                    <a:p>
                      <a:pPr algn="ctr"/>
                      <a:r>
                        <a:rPr lang="es-MX" sz="1600" dirty="0">
                          <a:latin typeface="Arial" pitchFamily="34" charset="0"/>
                          <a:cs typeface="Arial" pitchFamily="34" charset="0"/>
                        </a:rPr>
                        <a:t>76</a:t>
                      </a:r>
                    </a:p>
                  </a:txBody>
                  <a:tcPr marL="91425" marR="91425" marT="45717" marB="45717"/>
                </a:tc>
                <a:extLst>
                  <a:ext uri="{0D108BD9-81ED-4DB2-BD59-A6C34878D82A}">
                    <a16:rowId xmlns:a16="http://schemas.microsoft.com/office/drawing/2014/main" val="10004"/>
                  </a:ext>
                </a:extLst>
              </a:tr>
              <a:tr h="318279">
                <a:tc>
                  <a:txBody>
                    <a:bodyPr/>
                    <a:lstStyle/>
                    <a:p>
                      <a:r>
                        <a:rPr lang="es-MX" sz="1600" dirty="0">
                          <a:latin typeface="Arial" pitchFamily="34" charset="0"/>
                          <a:cs typeface="Arial" pitchFamily="34" charset="0"/>
                        </a:rPr>
                        <a:t>777777</a:t>
                      </a:r>
                    </a:p>
                  </a:txBody>
                  <a:tcPr marL="91425" marR="91425" marT="45717" marB="45717"/>
                </a:tc>
                <a:tc>
                  <a:txBody>
                    <a:bodyPr/>
                    <a:lstStyle/>
                    <a:p>
                      <a:r>
                        <a:rPr lang="es-MX" sz="1600" dirty="0">
                          <a:latin typeface="Arial" pitchFamily="34" charset="0"/>
                          <a:cs typeface="Arial" pitchFamily="34" charset="0"/>
                        </a:rPr>
                        <a:t>M0034</a:t>
                      </a:r>
                    </a:p>
                  </a:txBody>
                  <a:tcPr marL="91425" marR="91425" marT="45717" marB="45717"/>
                </a:tc>
                <a:tc>
                  <a:txBody>
                    <a:bodyPr/>
                    <a:lstStyle/>
                    <a:p>
                      <a:pPr algn="ctr"/>
                      <a:r>
                        <a:rPr lang="es-MX" sz="1600" dirty="0">
                          <a:latin typeface="Arial" pitchFamily="34" charset="0"/>
                          <a:cs typeface="Arial" pitchFamily="34" charset="0"/>
                        </a:rPr>
                        <a:t>95</a:t>
                      </a:r>
                    </a:p>
                  </a:txBody>
                  <a:tcPr marL="91425" marR="91425" marT="45717" marB="45717"/>
                </a:tc>
                <a:extLst>
                  <a:ext uri="{0D108BD9-81ED-4DB2-BD59-A6C34878D82A}">
                    <a16:rowId xmlns:a16="http://schemas.microsoft.com/office/drawing/2014/main" val="10005"/>
                  </a:ext>
                </a:extLst>
              </a:tr>
              <a:tr h="318279">
                <a:tc>
                  <a:txBody>
                    <a:bodyPr/>
                    <a:lstStyle/>
                    <a:p>
                      <a:r>
                        <a:rPr lang="es-MX" sz="1600" dirty="0">
                          <a:latin typeface="Arial" pitchFamily="34" charset="0"/>
                          <a:cs typeface="Arial" pitchFamily="34" charset="0"/>
                        </a:rPr>
                        <a:t>222222</a:t>
                      </a:r>
                    </a:p>
                  </a:txBody>
                  <a:tcPr marL="91425" marR="91425" marT="45717" marB="45717"/>
                </a:tc>
                <a:tc>
                  <a:txBody>
                    <a:bodyPr/>
                    <a:lstStyle/>
                    <a:p>
                      <a:r>
                        <a:rPr lang="es-MX" sz="1600" dirty="0">
                          <a:latin typeface="Arial" pitchFamily="34" charset="0"/>
                          <a:cs typeface="Arial" pitchFamily="34" charset="0"/>
                        </a:rPr>
                        <a:t>M0033</a:t>
                      </a:r>
                    </a:p>
                  </a:txBody>
                  <a:tcPr marL="91425" marR="91425" marT="45717" marB="45717"/>
                </a:tc>
                <a:tc>
                  <a:txBody>
                    <a:bodyPr/>
                    <a:lstStyle/>
                    <a:p>
                      <a:pPr algn="ctr"/>
                      <a:r>
                        <a:rPr lang="es-MX" sz="1600" dirty="0">
                          <a:latin typeface="Arial" pitchFamily="34" charset="0"/>
                          <a:cs typeface="Arial" pitchFamily="34" charset="0"/>
                        </a:rPr>
                        <a:t>92</a:t>
                      </a:r>
                    </a:p>
                  </a:txBody>
                  <a:tcPr marL="91425" marR="91425" marT="45717" marB="45717"/>
                </a:tc>
                <a:extLst>
                  <a:ext uri="{0D108BD9-81ED-4DB2-BD59-A6C34878D82A}">
                    <a16:rowId xmlns:a16="http://schemas.microsoft.com/office/drawing/2014/main" val="10006"/>
                  </a:ext>
                </a:extLst>
              </a:tr>
              <a:tr h="318279">
                <a:tc>
                  <a:txBody>
                    <a:bodyPr/>
                    <a:lstStyle/>
                    <a:p>
                      <a:r>
                        <a:rPr lang="es-MX" sz="1600" dirty="0">
                          <a:latin typeface="Arial" pitchFamily="34" charset="0"/>
                          <a:cs typeface="Arial" pitchFamily="34" charset="0"/>
                        </a:rPr>
                        <a:t>222222</a:t>
                      </a:r>
                    </a:p>
                  </a:txBody>
                  <a:tcPr marL="91425" marR="91425" marT="45717" marB="45717"/>
                </a:tc>
                <a:tc>
                  <a:txBody>
                    <a:bodyPr/>
                    <a:lstStyle/>
                    <a:p>
                      <a:r>
                        <a:rPr lang="es-MX" sz="1600" dirty="0">
                          <a:latin typeface="Arial" pitchFamily="34" charset="0"/>
                          <a:cs typeface="Arial" pitchFamily="34" charset="0"/>
                        </a:rPr>
                        <a:t>M0055</a:t>
                      </a:r>
                    </a:p>
                  </a:txBody>
                  <a:tcPr marL="91425" marR="91425" marT="45717" marB="45717"/>
                </a:tc>
                <a:tc>
                  <a:txBody>
                    <a:bodyPr/>
                    <a:lstStyle/>
                    <a:p>
                      <a:pPr algn="ctr"/>
                      <a:r>
                        <a:rPr lang="es-MX" sz="1600" dirty="0">
                          <a:latin typeface="Arial" pitchFamily="34" charset="0"/>
                          <a:cs typeface="Arial" pitchFamily="34" charset="0"/>
                        </a:rPr>
                        <a:t>88</a:t>
                      </a:r>
                    </a:p>
                  </a:txBody>
                  <a:tcPr marL="91425" marR="91425" marT="45717" marB="45717"/>
                </a:tc>
                <a:extLst>
                  <a:ext uri="{0D108BD9-81ED-4DB2-BD59-A6C34878D82A}">
                    <a16:rowId xmlns:a16="http://schemas.microsoft.com/office/drawing/2014/main" val="10007"/>
                  </a:ext>
                </a:extLst>
              </a:tr>
              <a:tr h="318279">
                <a:tc>
                  <a:txBody>
                    <a:bodyPr/>
                    <a:lstStyle/>
                    <a:p>
                      <a:r>
                        <a:rPr lang="es-MX" sz="1600" dirty="0">
                          <a:latin typeface="Arial" pitchFamily="34" charset="0"/>
                          <a:cs typeface="Arial" pitchFamily="34" charset="0"/>
                        </a:rPr>
                        <a:t>444444</a:t>
                      </a:r>
                    </a:p>
                  </a:txBody>
                  <a:tcPr marL="91425" marR="91425" marT="45717" marB="45717"/>
                </a:tc>
                <a:tc>
                  <a:txBody>
                    <a:bodyPr/>
                    <a:lstStyle/>
                    <a:p>
                      <a:r>
                        <a:rPr lang="es-MX" sz="1600" dirty="0">
                          <a:latin typeface="Arial" pitchFamily="34" charset="0"/>
                          <a:cs typeface="Arial" pitchFamily="34" charset="0"/>
                        </a:rPr>
                        <a:t>M0034</a:t>
                      </a:r>
                    </a:p>
                  </a:txBody>
                  <a:tcPr marL="91425" marR="91425" marT="45717" marB="45717"/>
                </a:tc>
                <a:tc>
                  <a:txBody>
                    <a:bodyPr/>
                    <a:lstStyle/>
                    <a:p>
                      <a:pPr algn="ctr"/>
                      <a:r>
                        <a:rPr lang="es-MX" sz="1600" dirty="0">
                          <a:latin typeface="Arial" pitchFamily="34" charset="0"/>
                          <a:cs typeface="Arial" pitchFamily="34" charset="0"/>
                        </a:rPr>
                        <a:t>94</a:t>
                      </a:r>
                    </a:p>
                  </a:txBody>
                  <a:tcPr marL="91425" marR="91425" marT="45717" marB="45717"/>
                </a:tc>
                <a:extLst>
                  <a:ext uri="{0D108BD9-81ED-4DB2-BD59-A6C34878D82A}">
                    <a16:rowId xmlns:a16="http://schemas.microsoft.com/office/drawing/2014/main" val="10008"/>
                  </a:ext>
                </a:extLst>
              </a:tr>
              <a:tr h="318279">
                <a:tc>
                  <a:txBody>
                    <a:bodyPr/>
                    <a:lstStyle/>
                    <a:p>
                      <a:r>
                        <a:rPr lang="es-MX" sz="1600" dirty="0">
                          <a:latin typeface="Arial" pitchFamily="34" charset="0"/>
                          <a:cs typeface="Arial" pitchFamily="34" charset="0"/>
                        </a:rPr>
                        <a:t>444444</a:t>
                      </a:r>
                    </a:p>
                  </a:txBody>
                  <a:tcPr marL="91425" marR="91425" marT="45717" marB="45717"/>
                </a:tc>
                <a:tc>
                  <a:txBody>
                    <a:bodyPr/>
                    <a:lstStyle/>
                    <a:p>
                      <a:r>
                        <a:rPr lang="es-MX" sz="1600" dirty="0">
                          <a:latin typeface="Arial" pitchFamily="34" charset="0"/>
                          <a:cs typeface="Arial" pitchFamily="34" charset="0"/>
                        </a:rPr>
                        <a:t>M0055</a:t>
                      </a:r>
                    </a:p>
                  </a:txBody>
                  <a:tcPr marL="91425" marR="91425" marT="45717" marB="45717"/>
                </a:tc>
                <a:tc>
                  <a:txBody>
                    <a:bodyPr/>
                    <a:lstStyle/>
                    <a:p>
                      <a:pPr algn="ctr"/>
                      <a:r>
                        <a:rPr lang="es-MX" sz="1600" dirty="0">
                          <a:latin typeface="Arial" pitchFamily="34" charset="0"/>
                          <a:cs typeface="Arial" pitchFamily="34" charset="0"/>
                        </a:rPr>
                        <a:t>67</a:t>
                      </a:r>
                    </a:p>
                  </a:txBody>
                  <a:tcPr marL="91425" marR="91425" marT="45717" marB="45717"/>
                </a:tc>
                <a:extLst>
                  <a:ext uri="{0D108BD9-81ED-4DB2-BD59-A6C34878D82A}">
                    <a16:rowId xmlns:a16="http://schemas.microsoft.com/office/drawing/2014/main" val="10009"/>
                  </a:ext>
                </a:extLst>
              </a:tr>
              <a:tr h="318279">
                <a:tc>
                  <a:txBody>
                    <a:bodyPr/>
                    <a:lstStyle/>
                    <a:p>
                      <a:r>
                        <a:rPr lang="es-MX" sz="1600" dirty="0">
                          <a:latin typeface="Arial" pitchFamily="34" charset="0"/>
                          <a:cs typeface="Arial" pitchFamily="34" charset="0"/>
                        </a:rPr>
                        <a:t>666666</a:t>
                      </a:r>
                    </a:p>
                  </a:txBody>
                  <a:tcPr marL="91425" marR="91425" marT="45717" marB="45717"/>
                </a:tc>
                <a:tc>
                  <a:txBody>
                    <a:bodyPr/>
                    <a:lstStyle/>
                    <a:p>
                      <a:r>
                        <a:rPr lang="es-MX" sz="1600" dirty="0">
                          <a:latin typeface="Arial" pitchFamily="34" charset="0"/>
                          <a:cs typeface="Arial" pitchFamily="34" charset="0"/>
                        </a:rPr>
                        <a:t>M0011</a:t>
                      </a:r>
                    </a:p>
                  </a:txBody>
                  <a:tcPr marL="91425" marR="91425" marT="45717" marB="45717"/>
                </a:tc>
                <a:tc>
                  <a:txBody>
                    <a:bodyPr/>
                    <a:lstStyle/>
                    <a:p>
                      <a:pPr algn="ctr"/>
                      <a:r>
                        <a:rPr lang="es-MX" sz="1600" dirty="0">
                          <a:latin typeface="Arial" pitchFamily="34" charset="0"/>
                          <a:cs typeface="Arial" pitchFamily="34" charset="0"/>
                        </a:rPr>
                        <a:t>78</a:t>
                      </a:r>
                    </a:p>
                  </a:txBody>
                  <a:tcPr marL="91425" marR="91425" marT="45717" marB="45717"/>
                </a:tc>
                <a:extLst>
                  <a:ext uri="{0D108BD9-81ED-4DB2-BD59-A6C34878D82A}">
                    <a16:rowId xmlns:a16="http://schemas.microsoft.com/office/drawing/2014/main" val="10010"/>
                  </a:ext>
                </a:extLst>
              </a:tr>
              <a:tr h="318279">
                <a:tc>
                  <a:txBody>
                    <a:bodyPr/>
                    <a:lstStyle/>
                    <a:p>
                      <a:r>
                        <a:rPr lang="es-MX" sz="1600" dirty="0">
                          <a:latin typeface="Arial" pitchFamily="34" charset="0"/>
                          <a:cs typeface="Arial" pitchFamily="34" charset="0"/>
                        </a:rPr>
                        <a:t>333333</a:t>
                      </a:r>
                    </a:p>
                  </a:txBody>
                  <a:tcPr marL="91425" marR="91425" marT="45717" marB="45717"/>
                </a:tc>
                <a:tc>
                  <a:txBody>
                    <a:bodyPr/>
                    <a:lstStyle/>
                    <a:p>
                      <a:r>
                        <a:rPr lang="es-MX" sz="1600" dirty="0">
                          <a:latin typeface="Arial" pitchFamily="34" charset="0"/>
                          <a:cs typeface="Arial" pitchFamily="34" charset="0"/>
                        </a:rPr>
                        <a:t>M0033</a:t>
                      </a:r>
                    </a:p>
                  </a:txBody>
                  <a:tcPr marL="91425" marR="91425" marT="45717" marB="45717"/>
                </a:tc>
                <a:tc>
                  <a:txBody>
                    <a:bodyPr/>
                    <a:lstStyle/>
                    <a:p>
                      <a:pPr algn="ctr"/>
                      <a:r>
                        <a:rPr lang="es-MX" sz="1600" dirty="0">
                          <a:latin typeface="Arial" pitchFamily="34" charset="0"/>
                          <a:cs typeface="Arial" pitchFamily="34" charset="0"/>
                        </a:rPr>
                        <a:t>80</a:t>
                      </a:r>
                    </a:p>
                  </a:txBody>
                  <a:tcPr marL="91425" marR="91425" marT="45717" marB="45717"/>
                </a:tc>
                <a:extLst>
                  <a:ext uri="{0D108BD9-81ED-4DB2-BD59-A6C34878D82A}">
                    <a16:rowId xmlns:a16="http://schemas.microsoft.com/office/drawing/2014/main" val="10011"/>
                  </a:ext>
                </a:extLst>
              </a:tr>
            </a:tbl>
          </a:graphicData>
        </a:graphic>
      </p:graphicFrame>
      <p:graphicFrame>
        <p:nvGraphicFramePr>
          <p:cNvPr id="7" name="3 Tabla"/>
          <p:cNvGraphicFramePr>
            <a:graphicFrameLocks noGrp="1"/>
          </p:cNvGraphicFramePr>
          <p:nvPr>
            <p:extLst>
              <p:ext uri="{D42A27DB-BD31-4B8C-83A1-F6EECF244321}">
                <p14:modId xmlns:p14="http://schemas.microsoft.com/office/powerpoint/2010/main" val="672487995"/>
              </p:ext>
            </p:extLst>
          </p:nvPr>
        </p:nvGraphicFramePr>
        <p:xfrm>
          <a:off x="3729306" y="4925435"/>
          <a:ext cx="3027517" cy="1676400"/>
        </p:xfrm>
        <a:graphic>
          <a:graphicData uri="http://schemas.openxmlformats.org/drawingml/2006/table">
            <a:tbl>
              <a:tblPr firstRow="1" bandRow="1">
                <a:tableStyleId>{5C22544A-7EE6-4342-B048-85BDC9FD1C3A}</a:tableStyleId>
              </a:tblPr>
              <a:tblGrid>
                <a:gridCol w="963301">
                  <a:extLst>
                    <a:ext uri="{9D8B030D-6E8A-4147-A177-3AD203B41FA5}">
                      <a16:colId xmlns:a16="http://schemas.microsoft.com/office/drawing/2014/main" val="20000"/>
                    </a:ext>
                  </a:extLst>
                </a:gridCol>
                <a:gridCol w="1100915">
                  <a:extLst>
                    <a:ext uri="{9D8B030D-6E8A-4147-A177-3AD203B41FA5}">
                      <a16:colId xmlns:a16="http://schemas.microsoft.com/office/drawing/2014/main" val="20001"/>
                    </a:ext>
                  </a:extLst>
                </a:gridCol>
                <a:gridCol w="963301">
                  <a:extLst>
                    <a:ext uri="{9D8B030D-6E8A-4147-A177-3AD203B41FA5}">
                      <a16:colId xmlns:a16="http://schemas.microsoft.com/office/drawing/2014/main" val="20002"/>
                    </a:ext>
                  </a:extLst>
                </a:gridCol>
              </a:tblGrid>
              <a:tr h="318302">
                <a:tc>
                  <a:txBody>
                    <a:bodyPr/>
                    <a:lstStyle/>
                    <a:p>
                      <a:r>
                        <a:rPr lang="es-MX" sz="1600" dirty="0" err="1">
                          <a:latin typeface="Arial" pitchFamily="34" charset="0"/>
                          <a:cs typeface="Arial" pitchFamily="34" charset="0"/>
                        </a:rPr>
                        <a:t>CveMat</a:t>
                      </a:r>
                      <a:r>
                        <a:rPr lang="es-MX" sz="1600" dirty="0">
                          <a:latin typeface="Arial" pitchFamily="34" charset="0"/>
                          <a:cs typeface="Arial" pitchFamily="34" charset="0"/>
                        </a:rPr>
                        <a:t> </a:t>
                      </a:r>
                    </a:p>
                  </a:txBody>
                  <a:tcPr marL="91403" marR="91403"/>
                </a:tc>
                <a:tc>
                  <a:txBody>
                    <a:bodyPr/>
                    <a:lstStyle/>
                    <a:p>
                      <a:r>
                        <a:rPr lang="es-MX" sz="1600" dirty="0" err="1">
                          <a:latin typeface="Arial" pitchFamily="34" charset="0"/>
                          <a:cs typeface="Arial" pitchFamily="34" charset="0"/>
                        </a:rPr>
                        <a:t>NomMat</a:t>
                      </a:r>
                      <a:endParaRPr lang="es-MX" sz="1600" dirty="0">
                        <a:latin typeface="Arial" pitchFamily="34" charset="0"/>
                        <a:cs typeface="Arial" pitchFamily="34" charset="0"/>
                      </a:endParaRPr>
                    </a:p>
                  </a:txBody>
                  <a:tcPr marL="91403" marR="91403"/>
                </a:tc>
                <a:tc>
                  <a:txBody>
                    <a:bodyPr/>
                    <a:lstStyle/>
                    <a:p>
                      <a:r>
                        <a:rPr lang="es-MX" sz="1600" dirty="0" err="1">
                          <a:latin typeface="Arial" pitchFamily="34" charset="0"/>
                          <a:cs typeface="Arial" pitchFamily="34" charset="0"/>
                        </a:rPr>
                        <a:t>Ncred</a:t>
                      </a:r>
                      <a:endParaRPr lang="es-MX" sz="1600" dirty="0">
                        <a:latin typeface="Arial" pitchFamily="34" charset="0"/>
                        <a:cs typeface="Arial" pitchFamily="34" charset="0"/>
                      </a:endParaRPr>
                    </a:p>
                  </a:txBody>
                  <a:tcPr marL="91403" marR="91403"/>
                </a:tc>
                <a:extLst>
                  <a:ext uri="{0D108BD9-81ED-4DB2-BD59-A6C34878D82A}">
                    <a16:rowId xmlns:a16="http://schemas.microsoft.com/office/drawing/2014/main" val="10000"/>
                  </a:ext>
                </a:extLst>
              </a:tr>
              <a:tr h="318302">
                <a:tc>
                  <a:txBody>
                    <a:bodyPr/>
                    <a:lstStyle/>
                    <a:p>
                      <a:r>
                        <a:rPr lang="es-MX" sz="1600" dirty="0">
                          <a:latin typeface="Arial" pitchFamily="34" charset="0"/>
                          <a:cs typeface="Arial" pitchFamily="34" charset="0"/>
                        </a:rPr>
                        <a:t>M0011</a:t>
                      </a:r>
                    </a:p>
                  </a:txBody>
                  <a:tcPr marL="91403" marR="91403"/>
                </a:tc>
                <a:tc>
                  <a:txBody>
                    <a:bodyPr/>
                    <a:lstStyle/>
                    <a:p>
                      <a:r>
                        <a:rPr lang="es-MX" sz="1600" dirty="0">
                          <a:latin typeface="Arial" pitchFamily="34" charset="0"/>
                          <a:cs typeface="Arial" pitchFamily="34" charset="0"/>
                        </a:rPr>
                        <a:t>BD</a:t>
                      </a:r>
                    </a:p>
                  </a:txBody>
                  <a:tcPr marL="91403" marR="91403"/>
                </a:tc>
                <a:tc>
                  <a:txBody>
                    <a:bodyPr/>
                    <a:lstStyle/>
                    <a:p>
                      <a:pPr algn="ctr"/>
                      <a:r>
                        <a:rPr lang="es-MX" sz="1600" dirty="0">
                          <a:latin typeface="Arial" pitchFamily="34" charset="0"/>
                          <a:cs typeface="Arial" pitchFamily="34" charset="0"/>
                        </a:rPr>
                        <a:t>12</a:t>
                      </a:r>
                    </a:p>
                  </a:txBody>
                  <a:tcPr marL="91403" marR="91403"/>
                </a:tc>
                <a:extLst>
                  <a:ext uri="{0D108BD9-81ED-4DB2-BD59-A6C34878D82A}">
                    <a16:rowId xmlns:a16="http://schemas.microsoft.com/office/drawing/2014/main" val="10001"/>
                  </a:ext>
                </a:extLst>
              </a:tr>
              <a:tr h="318302">
                <a:tc>
                  <a:txBody>
                    <a:bodyPr/>
                    <a:lstStyle/>
                    <a:p>
                      <a:r>
                        <a:rPr lang="es-MX" sz="1600" dirty="0">
                          <a:latin typeface="Arial" pitchFamily="34" charset="0"/>
                          <a:cs typeface="Arial" pitchFamily="34" charset="0"/>
                        </a:rPr>
                        <a:t>M0034</a:t>
                      </a:r>
                    </a:p>
                  </a:txBody>
                  <a:tcPr marL="91403" marR="91403"/>
                </a:tc>
                <a:tc>
                  <a:txBody>
                    <a:bodyPr/>
                    <a:lstStyle/>
                    <a:p>
                      <a:r>
                        <a:rPr lang="es-MX" sz="1600" dirty="0">
                          <a:latin typeface="Arial" pitchFamily="34" charset="0"/>
                          <a:cs typeface="Arial" pitchFamily="34" charset="0"/>
                        </a:rPr>
                        <a:t>SO</a:t>
                      </a:r>
                    </a:p>
                  </a:txBody>
                  <a:tcPr marL="91403" marR="91403"/>
                </a:tc>
                <a:tc>
                  <a:txBody>
                    <a:bodyPr/>
                    <a:lstStyle/>
                    <a:p>
                      <a:pPr algn="ctr"/>
                      <a:r>
                        <a:rPr lang="es-MX" sz="1600" dirty="0">
                          <a:latin typeface="Arial" pitchFamily="34" charset="0"/>
                          <a:cs typeface="Arial" pitchFamily="34" charset="0"/>
                        </a:rPr>
                        <a:t>10</a:t>
                      </a:r>
                    </a:p>
                  </a:txBody>
                  <a:tcPr marL="91403" marR="91403"/>
                </a:tc>
                <a:extLst>
                  <a:ext uri="{0D108BD9-81ED-4DB2-BD59-A6C34878D82A}">
                    <a16:rowId xmlns:a16="http://schemas.microsoft.com/office/drawing/2014/main" val="10002"/>
                  </a:ext>
                </a:extLst>
              </a:tr>
              <a:tr h="318302">
                <a:tc>
                  <a:txBody>
                    <a:bodyPr/>
                    <a:lstStyle/>
                    <a:p>
                      <a:r>
                        <a:rPr lang="es-MX" sz="1600" dirty="0">
                          <a:latin typeface="Arial" pitchFamily="34" charset="0"/>
                          <a:cs typeface="Arial" pitchFamily="34" charset="0"/>
                        </a:rPr>
                        <a:t>M0033</a:t>
                      </a:r>
                    </a:p>
                  </a:txBody>
                  <a:tcPr marL="91403" marR="91403"/>
                </a:tc>
                <a:tc>
                  <a:txBody>
                    <a:bodyPr/>
                    <a:lstStyle/>
                    <a:p>
                      <a:r>
                        <a:rPr lang="es-MX" sz="1600" dirty="0" err="1">
                          <a:latin typeface="Arial" pitchFamily="34" charset="0"/>
                          <a:cs typeface="Arial" pitchFamily="34" charset="0"/>
                        </a:rPr>
                        <a:t>DSw</a:t>
                      </a:r>
                      <a:endParaRPr lang="es-MX" sz="1600" dirty="0">
                        <a:latin typeface="Arial" pitchFamily="34" charset="0"/>
                        <a:cs typeface="Arial" pitchFamily="34" charset="0"/>
                      </a:endParaRPr>
                    </a:p>
                  </a:txBody>
                  <a:tcPr marL="91403" marR="91403"/>
                </a:tc>
                <a:tc>
                  <a:txBody>
                    <a:bodyPr/>
                    <a:lstStyle/>
                    <a:p>
                      <a:pPr algn="ctr"/>
                      <a:r>
                        <a:rPr lang="es-MX" sz="1600" dirty="0">
                          <a:latin typeface="Arial" pitchFamily="34" charset="0"/>
                          <a:cs typeface="Arial" pitchFamily="34" charset="0"/>
                        </a:rPr>
                        <a:t>8</a:t>
                      </a:r>
                    </a:p>
                  </a:txBody>
                  <a:tcPr marL="91403" marR="91403"/>
                </a:tc>
                <a:extLst>
                  <a:ext uri="{0D108BD9-81ED-4DB2-BD59-A6C34878D82A}">
                    <a16:rowId xmlns:a16="http://schemas.microsoft.com/office/drawing/2014/main" val="10003"/>
                  </a:ext>
                </a:extLst>
              </a:tr>
              <a:tr h="318302">
                <a:tc>
                  <a:txBody>
                    <a:bodyPr/>
                    <a:lstStyle/>
                    <a:p>
                      <a:r>
                        <a:rPr lang="es-MX" sz="1600" dirty="0">
                          <a:latin typeface="Arial" pitchFamily="34" charset="0"/>
                          <a:cs typeface="Arial" pitchFamily="34" charset="0"/>
                        </a:rPr>
                        <a:t>M0055</a:t>
                      </a:r>
                    </a:p>
                  </a:txBody>
                  <a:tcPr marL="91403" marR="91403"/>
                </a:tc>
                <a:tc>
                  <a:txBody>
                    <a:bodyPr/>
                    <a:lstStyle/>
                    <a:p>
                      <a:r>
                        <a:rPr lang="es-MX" sz="1600" dirty="0">
                          <a:latin typeface="Arial" pitchFamily="34" charset="0"/>
                          <a:cs typeface="Arial" pitchFamily="34" charset="0"/>
                        </a:rPr>
                        <a:t>TC</a:t>
                      </a:r>
                    </a:p>
                  </a:txBody>
                  <a:tcPr marL="91403" marR="91403"/>
                </a:tc>
                <a:tc>
                  <a:txBody>
                    <a:bodyPr/>
                    <a:lstStyle/>
                    <a:p>
                      <a:pPr algn="ctr"/>
                      <a:r>
                        <a:rPr lang="es-MX" sz="1600" dirty="0">
                          <a:latin typeface="Arial" pitchFamily="34" charset="0"/>
                          <a:cs typeface="Arial" pitchFamily="34" charset="0"/>
                        </a:rPr>
                        <a:t>10</a:t>
                      </a:r>
                    </a:p>
                  </a:txBody>
                  <a:tcPr marL="91403" marR="91403"/>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4774880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dirty="0">
                <a:solidFill>
                  <a:schemeClr val="accent1">
                    <a:lumMod val="50000"/>
                  </a:schemeClr>
                </a:solidFill>
              </a:rPr>
              <a:t>Sistema Manejador de Bases de Datos (SMBD)</a:t>
            </a:r>
          </a:p>
        </p:txBody>
      </p:sp>
      <p:sp>
        <p:nvSpPr>
          <p:cNvPr id="3" name="Marcador de contenido 2"/>
          <p:cNvSpPr>
            <a:spLocks noGrp="1"/>
          </p:cNvSpPr>
          <p:nvPr>
            <p:ph sz="quarter" idx="13"/>
          </p:nvPr>
        </p:nvSpPr>
        <p:spPr/>
        <p:txBody>
          <a:bodyPr/>
          <a:lstStyle/>
          <a:p>
            <a:pPr>
              <a:buClr>
                <a:schemeClr val="tx1"/>
              </a:buClr>
              <a:defRPr/>
            </a:pPr>
            <a:r>
              <a:rPr lang="es-MX" b="1" dirty="0">
                <a:latin typeface="Arial" charset="0"/>
              </a:rPr>
              <a:t>Es una colección de programas que administra la estructura de la BD y controla el acceso a los datos, </a:t>
            </a:r>
          </a:p>
          <a:p>
            <a:pPr>
              <a:buClr>
                <a:schemeClr val="tx1"/>
              </a:buClr>
              <a:defRPr/>
            </a:pPr>
            <a:endParaRPr lang="es-MX" b="1" dirty="0">
              <a:latin typeface="Arial" charset="0"/>
            </a:endParaRPr>
          </a:p>
          <a:p>
            <a:pPr>
              <a:buClr>
                <a:schemeClr val="tx1"/>
              </a:buClr>
              <a:defRPr/>
            </a:pPr>
            <a:r>
              <a:rPr lang="es-MX" b="1" dirty="0">
                <a:latin typeface="Arial" charset="0"/>
              </a:rPr>
              <a:t>   Hace posible compartir los datos entre las diferentes aplicaciones de los usuarios, </a:t>
            </a:r>
          </a:p>
          <a:p>
            <a:pPr>
              <a:buClr>
                <a:schemeClr val="tx1"/>
              </a:buClr>
              <a:defRPr/>
            </a:pPr>
            <a:endParaRPr lang="es-MX" b="1" dirty="0">
              <a:latin typeface="Arial" charset="0"/>
            </a:endParaRPr>
          </a:p>
          <a:p>
            <a:pPr>
              <a:buClr>
                <a:schemeClr val="tx1"/>
              </a:buClr>
              <a:defRPr/>
            </a:pPr>
            <a:r>
              <a:rPr lang="es-MX" b="1" dirty="0">
                <a:latin typeface="Arial" charset="0"/>
              </a:rPr>
              <a:t>   Hace que la administración de los datos sea más efectiva y eficiente, y ...</a:t>
            </a:r>
            <a:endParaRPr lang="es-ES" b="1" dirty="0">
              <a:latin typeface="Arial" charset="0"/>
            </a:endParaRPr>
          </a:p>
          <a:p>
            <a:endParaRPr lang="es-MX" dirty="0"/>
          </a:p>
        </p:txBody>
      </p:sp>
    </p:spTree>
    <p:extLst>
      <p:ext uri="{BB962C8B-B14F-4D97-AF65-F5344CB8AC3E}">
        <p14:creationId xmlns:p14="http://schemas.microsoft.com/office/powerpoint/2010/main" val="18189091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a:solidFill>
                  <a:schemeClr val="accent1">
                    <a:lumMod val="50000"/>
                  </a:schemeClr>
                </a:solidFill>
                <a:latin typeface="Arial" charset="0"/>
              </a:rPr>
              <a:t>Rol y Ventajas del SMBD</a:t>
            </a:r>
            <a:endParaRPr lang="es-MX" b="1" dirty="0">
              <a:solidFill>
                <a:schemeClr val="accent1">
                  <a:lumMod val="50000"/>
                </a:schemeClr>
              </a:solidFill>
            </a:endParaRPr>
          </a:p>
        </p:txBody>
      </p:sp>
      <p:sp>
        <p:nvSpPr>
          <p:cNvPr id="3" name="Marcador de contenido 2"/>
          <p:cNvSpPr>
            <a:spLocks noGrp="1"/>
          </p:cNvSpPr>
          <p:nvPr>
            <p:ph sz="quarter" idx="13"/>
          </p:nvPr>
        </p:nvSpPr>
        <p:spPr/>
        <p:txBody>
          <a:bodyPr/>
          <a:lstStyle/>
          <a:p>
            <a:pPr>
              <a:buClr>
                <a:schemeClr val="tx1"/>
              </a:buClr>
              <a:defRPr/>
            </a:pPr>
            <a:r>
              <a:rPr lang="es-MX" dirty="0">
                <a:latin typeface="Arial" charset="0"/>
              </a:rPr>
              <a:t>Los usuarios finales tienen un mejor acceso a datos bien administrados:</a:t>
            </a:r>
          </a:p>
          <a:p>
            <a:pPr>
              <a:buClr>
                <a:schemeClr val="tx1"/>
              </a:buClr>
              <a:defRPr/>
            </a:pPr>
            <a:endParaRPr lang="es-MX" dirty="0">
              <a:latin typeface="Arial" charset="0"/>
            </a:endParaRPr>
          </a:p>
          <a:p>
            <a:pPr marL="342900" indent="-342900">
              <a:buClr>
                <a:schemeClr val="tx1"/>
              </a:buClr>
              <a:buFont typeface="Arial" panose="020B0604020202020204" pitchFamily="34" charset="0"/>
              <a:buChar char="•"/>
              <a:defRPr/>
            </a:pPr>
            <a:r>
              <a:rPr lang="es-MX" dirty="0">
                <a:latin typeface="Arial" charset="0"/>
              </a:rPr>
              <a:t>Promueve la vista integrada de las operaciones de la empresa.</a:t>
            </a:r>
          </a:p>
          <a:p>
            <a:pPr marL="342900" indent="-342900">
              <a:buClr>
                <a:schemeClr val="tx1"/>
              </a:buClr>
              <a:buFont typeface="Arial" panose="020B0604020202020204" pitchFamily="34" charset="0"/>
              <a:buChar char="•"/>
              <a:defRPr/>
            </a:pPr>
            <a:r>
              <a:rPr lang="es-MX" dirty="0">
                <a:latin typeface="Arial" charset="0"/>
              </a:rPr>
              <a:t>Se reduce ampliamente la posibilidad de inconsistencia de los datos.</a:t>
            </a:r>
          </a:p>
          <a:p>
            <a:pPr marL="342900" indent="-342900">
              <a:buClr>
                <a:schemeClr val="tx1"/>
              </a:buClr>
              <a:buFont typeface="Arial" panose="020B0604020202020204" pitchFamily="34" charset="0"/>
              <a:buChar char="•"/>
              <a:defRPr/>
            </a:pPr>
            <a:r>
              <a:rPr lang="es-MX" dirty="0">
                <a:latin typeface="Arial" charset="0"/>
              </a:rPr>
              <a:t>Hace posible producir respuestas rápidas a consultas no planeadas.</a:t>
            </a:r>
          </a:p>
          <a:p>
            <a:endParaRPr lang="es-MX" dirty="0"/>
          </a:p>
        </p:txBody>
      </p:sp>
    </p:spTree>
    <p:extLst>
      <p:ext uri="{BB962C8B-B14F-4D97-AF65-F5344CB8AC3E}">
        <p14:creationId xmlns:p14="http://schemas.microsoft.com/office/powerpoint/2010/main" val="8133380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a:solidFill>
                  <a:schemeClr val="accent1">
                    <a:lumMod val="50000"/>
                  </a:schemeClr>
                </a:solidFill>
                <a:latin typeface="Arial" charset="0"/>
              </a:rPr>
              <a:t>Rol y Ventajas del SMBD</a:t>
            </a:r>
            <a:endParaRPr lang="es-MX" b="1" dirty="0">
              <a:solidFill>
                <a:schemeClr val="accent1">
                  <a:lumMod val="50000"/>
                </a:schemeClr>
              </a:solidFill>
            </a:endParaRPr>
          </a:p>
        </p:txBody>
      </p:sp>
      <p:pic>
        <p:nvPicPr>
          <p:cNvPr id="4" name="Picture 13" descr="Fig01-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1711" y="1919507"/>
            <a:ext cx="8277225" cy="446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661214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93379"/>
            <a:ext cx="10245091" cy="607458"/>
          </a:xfrm>
        </p:spPr>
        <p:txBody>
          <a:bodyPr/>
          <a:lstStyle/>
          <a:p>
            <a:r>
              <a:rPr lang="es-ES" b="1" dirty="0">
                <a:solidFill>
                  <a:schemeClr val="accent1">
                    <a:lumMod val="50000"/>
                  </a:schemeClr>
                </a:solidFill>
                <a:latin typeface="Arial" charset="0"/>
              </a:rPr>
              <a:t>Raíces históricas: sistemas de archivos</a:t>
            </a:r>
            <a:endParaRPr lang="es-MX" b="1" dirty="0">
              <a:solidFill>
                <a:schemeClr val="accent1">
                  <a:lumMod val="50000"/>
                </a:schemeClr>
              </a:solidFill>
            </a:endParaRPr>
          </a:p>
        </p:txBody>
      </p:sp>
      <p:sp>
        <p:nvSpPr>
          <p:cNvPr id="3" name="Marcador de contenido 2"/>
          <p:cNvSpPr>
            <a:spLocks noGrp="1"/>
          </p:cNvSpPr>
          <p:nvPr>
            <p:ph sz="quarter" idx="13"/>
          </p:nvPr>
        </p:nvSpPr>
        <p:spPr/>
        <p:txBody>
          <a:bodyPr/>
          <a:lstStyle/>
          <a:p>
            <a:pPr>
              <a:defRPr/>
            </a:pPr>
            <a:r>
              <a:rPr lang="es-ES" b="1" dirty="0">
                <a:latin typeface="Arial" charset="0"/>
              </a:rPr>
              <a:t>Los sistemas de procesamiento de archivos</a:t>
            </a:r>
          </a:p>
          <a:p>
            <a:pPr>
              <a:buClr>
                <a:schemeClr val="tx1"/>
              </a:buClr>
              <a:defRPr/>
            </a:pPr>
            <a:r>
              <a:rPr lang="es-ES" dirty="0">
                <a:latin typeface="Arial" charset="0"/>
              </a:rPr>
              <a:t>Se basa enfoca en las necesidades de procesamiento de datos de los departamentos individuales.</a:t>
            </a:r>
          </a:p>
          <a:p>
            <a:pPr>
              <a:buClr>
                <a:schemeClr val="tx1"/>
              </a:buClr>
              <a:defRPr/>
            </a:pPr>
            <a:r>
              <a:rPr lang="es-ES" dirty="0">
                <a:latin typeface="Arial" charset="0"/>
              </a:rPr>
              <a:t>El GD responde a las necesidades de los usuarios desarrollando un programa para las aplicaciones particulares.</a:t>
            </a:r>
          </a:p>
          <a:p>
            <a:pPr>
              <a:buClr>
                <a:schemeClr val="tx1"/>
              </a:buClr>
              <a:defRPr/>
            </a:pPr>
            <a:r>
              <a:rPr lang="es-ES" dirty="0">
                <a:latin typeface="Arial" charset="0"/>
              </a:rPr>
              <a:t>Cada nueva aplicación se diseña con su propio conjunto de archivos.</a:t>
            </a:r>
          </a:p>
          <a:p>
            <a:pPr>
              <a:buClr>
                <a:schemeClr val="tx1"/>
              </a:buClr>
              <a:defRPr/>
            </a:pPr>
            <a:r>
              <a:rPr lang="es-ES" dirty="0">
                <a:latin typeface="Arial" charset="0"/>
              </a:rPr>
              <a:t>Muchos de estos datos ya se encuentran en archivos existentes.</a:t>
            </a:r>
          </a:p>
          <a:p>
            <a:endParaRPr lang="es-MX" dirty="0"/>
          </a:p>
        </p:txBody>
      </p:sp>
    </p:spTree>
    <p:extLst>
      <p:ext uri="{BB962C8B-B14F-4D97-AF65-F5344CB8AC3E}">
        <p14:creationId xmlns:p14="http://schemas.microsoft.com/office/powerpoint/2010/main" val="7659421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76299"/>
            <a:ext cx="10245091" cy="624537"/>
          </a:xfrm>
        </p:spPr>
        <p:txBody>
          <a:bodyPr/>
          <a:lstStyle/>
          <a:p>
            <a:r>
              <a:rPr lang="es-MX" b="1" i="1" dirty="0">
                <a:solidFill>
                  <a:schemeClr val="accent1">
                    <a:lumMod val="50000"/>
                  </a:schemeClr>
                </a:solidFill>
              </a:rPr>
              <a:t>Sistema de archivos simple</a:t>
            </a:r>
          </a:p>
        </p:txBody>
      </p:sp>
      <p:pic>
        <p:nvPicPr>
          <p:cNvPr id="4" name="Picture 13" descr="Fig01-05"/>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2843213" y="1660525"/>
            <a:ext cx="7229475" cy="489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50892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78305"/>
            <a:ext cx="10245091" cy="622532"/>
          </a:xfrm>
        </p:spPr>
        <p:txBody>
          <a:bodyPr/>
          <a:lstStyle/>
          <a:p>
            <a:r>
              <a:rPr lang="es-MX" b="1" dirty="0">
                <a:solidFill>
                  <a:schemeClr val="accent1">
                    <a:lumMod val="50000"/>
                  </a:schemeClr>
                </a:solidFill>
              </a:rPr>
              <a:t>Sistema de Archivos: Problemas en el desarrollo</a:t>
            </a:r>
          </a:p>
        </p:txBody>
      </p:sp>
      <p:sp>
        <p:nvSpPr>
          <p:cNvPr id="3" name="Marcador de contenido 2"/>
          <p:cNvSpPr>
            <a:spLocks noGrp="1"/>
          </p:cNvSpPr>
          <p:nvPr>
            <p:ph sz="quarter" idx="13"/>
          </p:nvPr>
        </p:nvSpPr>
        <p:spPr/>
        <p:txBody>
          <a:bodyPr/>
          <a:lstStyle/>
          <a:p>
            <a:pPr>
              <a:defRPr/>
            </a:pPr>
            <a:r>
              <a:rPr lang="es-MX" dirty="0"/>
              <a:t>Cada tarea requiere programación extensiva en Lenguajes de tercera generación (3GL)</a:t>
            </a:r>
          </a:p>
          <a:p>
            <a:pPr>
              <a:defRPr/>
            </a:pPr>
            <a:r>
              <a:rPr lang="es-MX" dirty="0"/>
              <a:t>   El programador debe especificar la tarea y cómo debe realizarse.</a:t>
            </a:r>
          </a:p>
          <a:p>
            <a:pPr>
              <a:defRPr/>
            </a:pPr>
            <a:r>
              <a:rPr lang="es-MX" dirty="0"/>
              <a:t>Las Bases de datos modernas usan lenguajes  4GL</a:t>
            </a:r>
          </a:p>
          <a:p>
            <a:pPr>
              <a:defRPr/>
            </a:pPr>
            <a:r>
              <a:rPr lang="es-MX" dirty="0"/>
              <a:t>    Permite a los usuarios especificar lo que se quiere, pero sin detallar como se hará.</a:t>
            </a:r>
          </a:p>
          <a:p>
            <a:endParaRPr lang="es-MX" dirty="0"/>
          </a:p>
        </p:txBody>
      </p:sp>
    </p:spTree>
    <p:extLst>
      <p:ext uri="{BB962C8B-B14F-4D97-AF65-F5344CB8AC3E}">
        <p14:creationId xmlns:p14="http://schemas.microsoft.com/office/powerpoint/2010/main" val="171593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18147"/>
            <a:ext cx="10245091" cy="682689"/>
          </a:xfrm>
        </p:spPr>
        <p:txBody>
          <a:bodyPr/>
          <a:lstStyle/>
          <a:p>
            <a:r>
              <a:rPr lang="es-MX" b="1" dirty="0">
                <a:solidFill>
                  <a:schemeClr val="accent1">
                    <a:lumMod val="50000"/>
                  </a:schemeClr>
                </a:solidFill>
              </a:rPr>
              <a:t>Sistema de Archivos: Problemas en el desarrollo</a:t>
            </a:r>
          </a:p>
        </p:txBody>
      </p:sp>
      <p:pic>
        <p:nvPicPr>
          <p:cNvPr id="4" name="Picture 4" descr="Tbl01-03"/>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147763" y="1901825"/>
            <a:ext cx="9767887" cy="424763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8988479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42211"/>
            <a:ext cx="10245091" cy="658626"/>
          </a:xfrm>
        </p:spPr>
        <p:txBody>
          <a:bodyPr/>
          <a:lstStyle/>
          <a:p>
            <a:r>
              <a:rPr lang="es-MX" b="1" dirty="0">
                <a:solidFill>
                  <a:schemeClr val="accent1">
                    <a:lumMod val="50000"/>
                  </a:schemeClr>
                </a:solidFill>
              </a:rPr>
              <a:t>Sistema de Archivos: Problemas en el desarrollo</a:t>
            </a:r>
          </a:p>
        </p:txBody>
      </p:sp>
      <p:sp>
        <p:nvSpPr>
          <p:cNvPr id="3" name="Marcador de contenido 2"/>
          <p:cNvSpPr>
            <a:spLocks noGrp="1"/>
          </p:cNvSpPr>
          <p:nvPr>
            <p:ph sz="quarter" idx="13"/>
          </p:nvPr>
        </p:nvSpPr>
        <p:spPr/>
        <p:txBody>
          <a:bodyPr/>
          <a:lstStyle/>
          <a:p>
            <a:pPr>
              <a:defRPr/>
            </a:pPr>
            <a:r>
              <a:rPr lang="es-MX" dirty="0"/>
              <a:t>Actividades de alto nivel que consumen mucho tiempo</a:t>
            </a:r>
          </a:p>
          <a:p>
            <a:pPr>
              <a:defRPr/>
            </a:pPr>
            <a:r>
              <a:rPr lang="es-MX" dirty="0"/>
              <a:t>Se dificulta la administración del sistema a medida que se incrementa el número de archivos.</a:t>
            </a:r>
          </a:p>
          <a:p>
            <a:pPr>
              <a:defRPr/>
            </a:pPr>
            <a:r>
              <a:rPr lang="es-MX" dirty="0"/>
              <a:t>Se dificultan los cambios en la estructura del sistema de archivos.</a:t>
            </a:r>
          </a:p>
          <a:p>
            <a:pPr>
              <a:defRPr/>
            </a:pPr>
            <a:r>
              <a:rPr lang="es-MX" dirty="0"/>
              <a:t>La modificación de la estructura de archivos requiere cambios en todos los programas que usan los datos de ese archivo.</a:t>
            </a:r>
          </a:p>
          <a:p>
            <a:endParaRPr lang="es-MX" dirty="0"/>
          </a:p>
        </p:txBody>
      </p:sp>
    </p:spTree>
    <p:extLst>
      <p:ext uri="{BB962C8B-B14F-4D97-AF65-F5344CB8AC3E}">
        <p14:creationId xmlns:p14="http://schemas.microsoft.com/office/powerpoint/2010/main" val="31833970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19149"/>
            <a:ext cx="10245091" cy="681687"/>
          </a:xfrm>
        </p:spPr>
        <p:txBody>
          <a:bodyPr/>
          <a:lstStyle/>
          <a:p>
            <a:r>
              <a:rPr lang="en-US" b="1" dirty="0" err="1">
                <a:solidFill>
                  <a:schemeClr val="accent1">
                    <a:lumMod val="50000"/>
                  </a:schemeClr>
                </a:solidFill>
              </a:rPr>
              <a:t>Ventajas</a:t>
            </a:r>
            <a:r>
              <a:rPr lang="en-US" b="1" dirty="0">
                <a:solidFill>
                  <a:schemeClr val="accent1">
                    <a:lumMod val="50000"/>
                  </a:schemeClr>
                </a:solidFill>
              </a:rPr>
              <a:t> de las Bases de </a:t>
            </a:r>
            <a:r>
              <a:rPr lang="en-US" b="1" dirty="0" err="1">
                <a:solidFill>
                  <a:schemeClr val="accent1">
                    <a:lumMod val="50000"/>
                  </a:schemeClr>
                </a:solidFill>
              </a:rPr>
              <a:t>Datos</a:t>
            </a:r>
            <a:endParaRPr lang="es-MX" b="1" dirty="0">
              <a:solidFill>
                <a:schemeClr val="accent1">
                  <a:lumMod val="50000"/>
                </a:schemeClr>
              </a:solidFill>
            </a:endParaRPr>
          </a:p>
        </p:txBody>
      </p:sp>
      <p:sp>
        <p:nvSpPr>
          <p:cNvPr id="3" name="Marcador de contenido 2"/>
          <p:cNvSpPr>
            <a:spLocks noGrp="1"/>
          </p:cNvSpPr>
          <p:nvPr>
            <p:ph sz="quarter" idx="13"/>
          </p:nvPr>
        </p:nvSpPr>
        <p:spPr/>
        <p:txBody>
          <a:bodyPr/>
          <a:lstStyle/>
          <a:p>
            <a:pPr>
              <a:defRPr/>
            </a:pPr>
            <a:r>
              <a:rPr lang="en-US" sz="2000" dirty="0"/>
              <a:t>Las </a:t>
            </a:r>
            <a:r>
              <a:rPr lang="en-US" sz="2000" dirty="0" err="1"/>
              <a:t>primeras</a:t>
            </a:r>
            <a:r>
              <a:rPr lang="en-US" sz="2000" dirty="0"/>
              <a:t> </a:t>
            </a:r>
            <a:r>
              <a:rPr lang="en-US" sz="2000" dirty="0" err="1"/>
              <a:t>aplicaciones</a:t>
            </a:r>
            <a:r>
              <a:rPr lang="en-US" sz="2000" dirty="0"/>
              <a:t> de bases de </a:t>
            </a:r>
            <a:r>
              <a:rPr lang="en-US" sz="2000" dirty="0" err="1"/>
              <a:t>datos</a:t>
            </a:r>
            <a:r>
              <a:rPr lang="en-US" sz="2000" dirty="0"/>
              <a:t> se </a:t>
            </a:r>
            <a:r>
              <a:rPr lang="en-US" sz="2000" dirty="0" err="1"/>
              <a:t>construyeron</a:t>
            </a:r>
            <a:r>
              <a:rPr lang="en-US" sz="2000" dirty="0"/>
              <a:t> </a:t>
            </a:r>
            <a:r>
              <a:rPr lang="en-US" sz="2000" dirty="0" err="1"/>
              <a:t>sobre</a:t>
            </a:r>
            <a:r>
              <a:rPr lang="en-US" sz="2000" dirty="0"/>
              <a:t> el </a:t>
            </a:r>
            <a:r>
              <a:rPr lang="en-US" sz="2000" dirty="0" err="1"/>
              <a:t>sistema</a:t>
            </a:r>
            <a:r>
              <a:rPr lang="en-US" sz="2000" dirty="0"/>
              <a:t> de </a:t>
            </a:r>
            <a:r>
              <a:rPr lang="en-US" sz="2000" dirty="0" err="1"/>
              <a:t>archivos</a:t>
            </a:r>
            <a:endParaRPr lang="en-US" sz="2000" dirty="0"/>
          </a:p>
          <a:p>
            <a:pPr>
              <a:defRPr/>
            </a:pPr>
            <a:r>
              <a:rPr lang="en-US" sz="2000" dirty="0" err="1"/>
              <a:t>Aspectos</a:t>
            </a:r>
            <a:r>
              <a:rPr lang="en-US" sz="2000" dirty="0"/>
              <a:t> del </a:t>
            </a:r>
            <a:r>
              <a:rPr lang="en-US" sz="2000" dirty="0" err="1"/>
              <a:t>uso</a:t>
            </a:r>
            <a:r>
              <a:rPr lang="en-US" sz="2000" dirty="0"/>
              <a:t> del </a:t>
            </a:r>
            <a:r>
              <a:rPr lang="en-US" sz="2000" dirty="0" err="1"/>
              <a:t>sistema</a:t>
            </a:r>
            <a:r>
              <a:rPr lang="en-US" sz="2000" dirty="0"/>
              <a:t> de </a:t>
            </a:r>
            <a:r>
              <a:rPr lang="en-US" sz="2000" dirty="0" err="1"/>
              <a:t>archivos</a:t>
            </a:r>
            <a:r>
              <a:rPr lang="en-US" sz="2000" dirty="0"/>
              <a:t> para </a:t>
            </a:r>
            <a:r>
              <a:rPr lang="en-US" sz="2000" dirty="0" err="1"/>
              <a:t>almacenar</a:t>
            </a:r>
            <a:r>
              <a:rPr lang="en-US" sz="2000" dirty="0"/>
              <a:t> </a:t>
            </a:r>
            <a:r>
              <a:rPr lang="en-US" sz="2000" dirty="0" err="1"/>
              <a:t>datos</a:t>
            </a:r>
            <a:r>
              <a:rPr lang="en-US" sz="2000" dirty="0"/>
              <a:t>:</a:t>
            </a:r>
          </a:p>
          <a:p>
            <a:pPr lvl="1">
              <a:defRPr/>
            </a:pPr>
            <a:r>
              <a:rPr lang="en-US" sz="2000" dirty="0" err="1">
                <a:latin typeface="Arial" pitchFamily="34" charset="0"/>
                <a:cs typeface="Arial" pitchFamily="34" charset="0"/>
              </a:rPr>
              <a:t>Redundancia</a:t>
            </a:r>
            <a:r>
              <a:rPr lang="en-US" sz="2000" dirty="0">
                <a:latin typeface="Arial" pitchFamily="34" charset="0"/>
                <a:cs typeface="Arial" pitchFamily="34" charset="0"/>
              </a:rPr>
              <a:t> e </a:t>
            </a:r>
            <a:r>
              <a:rPr lang="en-US" sz="2000" dirty="0" err="1">
                <a:latin typeface="Arial" pitchFamily="34" charset="0"/>
                <a:cs typeface="Arial" pitchFamily="34" charset="0"/>
              </a:rPr>
              <a:t>inconsistencia</a:t>
            </a:r>
            <a:r>
              <a:rPr lang="en-US" sz="2000" dirty="0">
                <a:latin typeface="Arial" pitchFamily="34" charset="0"/>
                <a:cs typeface="Arial" pitchFamily="34" charset="0"/>
              </a:rPr>
              <a:t> de </a:t>
            </a:r>
            <a:r>
              <a:rPr lang="en-US" sz="2000" dirty="0" err="1">
                <a:latin typeface="Arial" pitchFamily="34" charset="0"/>
                <a:cs typeface="Arial" pitchFamily="34" charset="0"/>
              </a:rPr>
              <a:t>Datos</a:t>
            </a:r>
            <a:endParaRPr lang="en-US" sz="2000" dirty="0">
              <a:latin typeface="Arial" pitchFamily="34" charset="0"/>
              <a:cs typeface="Arial" pitchFamily="34" charset="0"/>
            </a:endParaRPr>
          </a:p>
          <a:p>
            <a:pPr lvl="2">
              <a:defRPr/>
            </a:pPr>
            <a:r>
              <a:rPr lang="en-US" dirty="0" err="1">
                <a:latin typeface="Arial" pitchFamily="34" charset="0"/>
                <a:cs typeface="Arial" pitchFamily="34" charset="0"/>
              </a:rPr>
              <a:t>Múltiples</a:t>
            </a:r>
            <a:r>
              <a:rPr lang="en-US" dirty="0">
                <a:latin typeface="Arial" pitchFamily="34" charset="0"/>
                <a:cs typeface="Arial" pitchFamily="34" charset="0"/>
              </a:rPr>
              <a:t> </a:t>
            </a:r>
            <a:r>
              <a:rPr lang="en-US" dirty="0" err="1">
                <a:latin typeface="Arial" pitchFamily="34" charset="0"/>
                <a:cs typeface="Arial" pitchFamily="34" charset="0"/>
              </a:rPr>
              <a:t>formatos</a:t>
            </a:r>
            <a:r>
              <a:rPr lang="en-US" dirty="0">
                <a:latin typeface="Arial" pitchFamily="34" charset="0"/>
                <a:cs typeface="Arial" pitchFamily="34" charset="0"/>
              </a:rPr>
              <a:t> de </a:t>
            </a:r>
            <a:r>
              <a:rPr lang="en-US" dirty="0" err="1">
                <a:latin typeface="Arial" pitchFamily="34" charset="0"/>
                <a:cs typeface="Arial" pitchFamily="34" charset="0"/>
              </a:rPr>
              <a:t>archivos</a:t>
            </a:r>
            <a:r>
              <a:rPr lang="en-US" dirty="0">
                <a:latin typeface="Arial" pitchFamily="34" charset="0"/>
                <a:cs typeface="Arial" pitchFamily="34" charset="0"/>
              </a:rPr>
              <a:t>, </a:t>
            </a:r>
            <a:r>
              <a:rPr lang="en-US" dirty="0" err="1">
                <a:latin typeface="Arial" pitchFamily="34" charset="0"/>
                <a:cs typeface="Arial" pitchFamily="34" charset="0"/>
              </a:rPr>
              <a:t>información</a:t>
            </a:r>
            <a:r>
              <a:rPr lang="en-US" dirty="0">
                <a:latin typeface="Arial" pitchFamily="34" charset="0"/>
                <a:cs typeface="Arial" pitchFamily="34" charset="0"/>
              </a:rPr>
              <a:t> </a:t>
            </a:r>
            <a:r>
              <a:rPr lang="en-US" dirty="0" err="1">
                <a:latin typeface="Arial" pitchFamily="34" charset="0"/>
                <a:cs typeface="Arial" pitchFamily="34" charset="0"/>
              </a:rPr>
              <a:t>duplicada</a:t>
            </a:r>
            <a:r>
              <a:rPr lang="en-US" dirty="0">
                <a:latin typeface="Arial" pitchFamily="34" charset="0"/>
                <a:cs typeface="Arial" pitchFamily="34" charset="0"/>
              </a:rPr>
              <a:t> </a:t>
            </a:r>
            <a:r>
              <a:rPr lang="en-US" dirty="0" err="1">
                <a:latin typeface="Arial" pitchFamily="34" charset="0"/>
                <a:cs typeface="Arial" pitchFamily="34" charset="0"/>
              </a:rPr>
              <a:t>en</a:t>
            </a:r>
            <a:r>
              <a:rPr lang="en-US" dirty="0">
                <a:latin typeface="Arial" pitchFamily="34" charset="0"/>
                <a:cs typeface="Arial" pitchFamily="34" charset="0"/>
              </a:rPr>
              <a:t> </a:t>
            </a:r>
            <a:r>
              <a:rPr lang="en-US" dirty="0" err="1">
                <a:latin typeface="Arial" pitchFamily="34" charset="0"/>
                <a:cs typeface="Arial" pitchFamily="34" charset="0"/>
              </a:rPr>
              <a:t>diferentes</a:t>
            </a:r>
            <a:r>
              <a:rPr lang="en-US" dirty="0">
                <a:latin typeface="Arial" pitchFamily="34" charset="0"/>
                <a:cs typeface="Arial" pitchFamily="34" charset="0"/>
              </a:rPr>
              <a:t> </a:t>
            </a:r>
            <a:r>
              <a:rPr lang="en-US" dirty="0" err="1">
                <a:latin typeface="Arial" pitchFamily="34" charset="0"/>
                <a:cs typeface="Arial" pitchFamily="34" charset="0"/>
              </a:rPr>
              <a:t>archivos</a:t>
            </a:r>
            <a:endParaRPr lang="en-US" dirty="0">
              <a:latin typeface="Arial" pitchFamily="34" charset="0"/>
              <a:cs typeface="Arial" pitchFamily="34" charset="0"/>
            </a:endParaRPr>
          </a:p>
          <a:p>
            <a:pPr lvl="1">
              <a:defRPr/>
            </a:pPr>
            <a:r>
              <a:rPr lang="en-US" sz="2000" dirty="0" err="1">
                <a:latin typeface="Arial" pitchFamily="34" charset="0"/>
                <a:cs typeface="Arial" pitchFamily="34" charset="0"/>
              </a:rPr>
              <a:t>Dificultad</a:t>
            </a:r>
            <a:r>
              <a:rPr lang="en-US" sz="2000" dirty="0">
                <a:latin typeface="Arial" pitchFamily="34" charset="0"/>
                <a:cs typeface="Arial" pitchFamily="34" charset="0"/>
              </a:rPr>
              <a:t> </a:t>
            </a:r>
            <a:r>
              <a:rPr lang="en-US" sz="2000" dirty="0" err="1">
                <a:latin typeface="Arial" pitchFamily="34" charset="0"/>
                <a:cs typeface="Arial" pitchFamily="34" charset="0"/>
              </a:rPr>
              <a:t>en</a:t>
            </a:r>
            <a:r>
              <a:rPr lang="en-US" sz="2000" dirty="0">
                <a:latin typeface="Arial" pitchFamily="34" charset="0"/>
                <a:cs typeface="Arial" pitchFamily="34" charset="0"/>
              </a:rPr>
              <a:t> el </a:t>
            </a:r>
            <a:r>
              <a:rPr lang="en-US" sz="2000" dirty="0" err="1">
                <a:latin typeface="Arial" pitchFamily="34" charset="0"/>
                <a:cs typeface="Arial" pitchFamily="34" charset="0"/>
              </a:rPr>
              <a:t>acceso</a:t>
            </a:r>
            <a:r>
              <a:rPr lang="en-US" sz="2000" dirty="0">
                <a:latin typeface="Arial" pitchFamily="34" charset="0"/>
                <a:cs typeface="Arial" pitchFamily="34" charset="0"/>
              </a:rPr>
              <a:t> a </a:t>
            </a:r>
            <a:r>
              <a:rPr lang="en-US" sz="2000" dirty="0" err="1">
                <a:latin typeface="Arial" pitchFamily="34" charset="0"/>
                <a:cs typeface="Arial" pitchFamily="34" charset="0"/>
              </a:rPr>
              <a:t>los</a:t>
            </a:r>
            <a:r>
              <a:rPr lang="en-US" sz="2000" dirty="0">
                <a:latin typeface="Arial" pitchFamily="34" charset="0"/>
                <a:cs typeface="Arial" pitchFamily="34" charset="0"/>
              </a:rPr>
              <a:t> </a:t>
            </a:r>
            <a:r>
              <a:rPr lang="en-US" sz="2000" dirty="0" err="1">
                <a:latin typeface="Arial" pitchFamily="34" charset="0"/>
                <a:cs typeface="Arial" pitchFamily="34" charset="0"/>
              </a:rPr>
              <a:t>datos</a:t>
            </a:r>
            <a:r>
              <a:rPr lang="en-US" sz="2000" dirty="0">
                <a:latin typeface="Arial" pitchFamily="34" charset="0"/>
                <a:cs typeface="Arial" pitchFamily="34" charset="0"/>
              </a:rPr>
              <a:t> </a:t>
            </a:r>
          </a:p>
          <a:p>
            <a:pPr lvl="2">
              <a:defRPr/>
            </a:pPr>
            <a:r>
              <a:rPr lang="en-US" dirty="0" err="1">
                <a:latin typeface="Arial" pitchFamily="34" charset="0"/>
                <a:cs typeface="Arial" pitchFamily="34" charset="0"/>
              </a:rPr>
              <a:t>Necesidad</a:t>
            </a:r>
            <a:r>
              <a:rPr lang="en-US" dirty="0">
                <a:latin typeface="Arial" pitchFamily="34" charset="0"/>
                <a:cs typeface="Arial" pitchFamily="34" charset="0"/>
              </a:rPr>
              <a:t> de </a:t>
            </a:r>
            <a:r>
              <a:rPr lang="en-US" dirty="0" err="1">
                <a:latin typeface="Arial" pitchFamily="34" charset="0"/>
                <a:cs typeface="Arial" pitchFamily="34" charset="0"/>
              </a:rPr>
              <a:t>escribir</a:t>
            </a:r>
            <a:r>
              <a:rPr lang="en-US" dirty="0">
                <a:latin typeface="Arial" pitchFamily="34" charset="0"/>
                <a:cs typeface="Arial" pitchFamily="34" charset="0"/>
              </a:rPr>
              <a:t> </a:t>
            </a:r>
            <a:r>
              <a:rPr lang="en-US" dirty="0" err="1">
                <a:latin typeface="Arial" pitchFamily="34" charset="0"/>
                <a:cs typeface="Arial" pitchFamily="34" charset="0"/>
              </a:rPr>
              <a:t>programas</a:t>
            </a:r>
            <a:r>
              <a:rPr lang="en-US" dirty="0">
                <a:latin typeface="Arial" pitchFamily="34" charset="0"/>
                <a:cs typeface="Arial" pitchFamily="34" charset="0"/>
              </a:rPr>
              <a:t> </a:t>
            </a:r>
            <a:r>
              <a:rPr lang="en-US" dirty="0" err="1">
                <a:latin typeface="Arial" pitchFamily="34" charset="0"/>
                <a:cs typeface="Arial" pitchFamily="34" charset="0"/>
              </a:rPr>
              <a:t>nuevos</a:t>
            </a:r>
            <a:r>
              <a:rPr lang="en-US" dirty="0">
                <a:latin typeface="Arial" pitchFamily="34" charset="0"/>
                <a:cs typeface="Arial" pitchFamily="34" charset="0"/>
              </a:rPr>
              <a:t> </a:t>
            </a:r>
            <a:r>
              <a:rPr lang="en-US" dirty="0" err="1">
                <a:latin typeface="Arial" pitchFamily="34" charset="0"/>
                <a:cs typeface="Arial" pitchFamily="34" charset="0"/>
              </a:rPr>
              <a:t>cuando</a:t>
            </a:r>
            <a:r>
              <a:rPr lang="en-US" dirty="0">
                <a:latin typeface="Arial" pitchFamily="34" charset="0"/>
                <a:cs typeface="Arial" pitchFamily="34" charset="0"/>
              </a:rPr>
              <a:t> se </a:t>
            </a:r>
            <a:r>
              <a:rPr lang="en-US" dirty="0" err="1">
                <a:latin typeface="Arial" pitchFamily="34" charset="0"/>
                <a:cs typeface="Arial" pitchFamily="34" charset="0"/>
              </a:rPr>
              <a:t>requiere</a:t>
            </a:r>
            <a:r>
              <a:rPr lang="en-US" dirty="0">
                <a:latin typeface="Arial" pitchFamily="34" charset="0"/>
                <a:cs typeface="Arial" pitchFamily="34" charset="0"/>
              </a:rPr>
              <a:t> </a:t>
            </a:r>
            <a:r>
              <a:rPr lang="en-US" dirty="0" err="1">
                <a:latin typeface="Arial" pitchFamily="34" charset="0"/>
                <a:cs typeface="Arial" pitchFamily="34" charset="0"/>
              </a:rPr>
              <a:t>una</a:t>
            </a:r>
            <a:r>
              <a:rPr lang="en-US" dirty="0">
                <a:latin typeface="Arial" pitchFamily="34" charset="0"/>
                <a:cs typeface="Arial" pitchFamily="34" charset="0"/>
              </a:rPr>
              <a:t> </a:t>
            </a:r>
            <a:r>
              <a:rPr lang="en-US" dirty="0" err="1">
                <a:latin typeface="Arial" pitchFamily="34" charset="0"/>
                <a:cs typeface="Arial" pitchFamily="34" charset="0"/>
              </a:rPr>
              <a:t>tarea</a:t>
            </a:r>
            <a:r>
              <a:rPr lang="en-US" dirty="0">
                <a:latin typeface="Arial" pitchFamily="34" charset="0"/>
                <a:cs typeface="Arial" pitchFamily="34" charset="0"/>
              </a:rPr>
              <a:t> </a:t>
            </a:r>
            <a:r>
              <a:rPr lang="en-US" dirty="0" err="1">
                <a:latin typeface="Arial" pitchFamily="34" charset="0"/>
                <a:cs typeface="Arial" pitchFamily="34" charset="0"/>
              </a:rPr>
              <a:t>nueva</a:t>
            </a:r>
            <a:endParaRPr lang="en-US" dirty="0">
              <a:latin typeface="Arial" pitchFamily="34" charset="0"/>
              <a:cs typeface="Arial" pitchFamily="34" charset="0"/>
            </a:endParaRPr>
          </a:p>
          <a:p>
            <a:pPr lvl="1">
              <a:defRPr/>
            </a:pPr>
            <a:r>
              <a:rPr lang="en-US" sz="2000" dirty="0" err="1">
                <a:latin typeface="Arial" pitchFamily="34" charset="0"/>
                <a:cs typeface="Arial" pitchFamily="34" charset="0"/>
              </a:rPr>
              <a:t>Aislamiento</a:t>
            </a:r>
            <a:r>
              <a:rPr lang="en-US" sz="2000" dirty="0">
                <a:latin typeface="Arial" pitchFamily="34" charset="0"/>
                <a:cs typeface="Arial" pitchFamily="34" charset="0"/>
              </a:rPr>
              <a:t> de </a:t>
            </a:r>
            <a:r>
              <a:rPr lang="en-US" sz="2000" dirty="0" err="1">
                <a:latin typeface="Arial" pitchFamily="34" charset="0"/>
                <a:cs typeface="Arial" pitchFamily="34" charset="0"/>
              </a:rPr>
              <a:t>Datos</a:t>
            </a:r>
            <a:r>
              <a:rPr lang="en-US" sz="2000" dirty="0">
                <a:latin typeface="Arial" pitchFamily="34" charset="0"/>
                <a:cs typeface="Arial" pitchFamily="34" charset="0"/>
              </a:rPr>
              <a:t> — </a:t>
            </a:r>
            <a:r>
              <a:rPr lang="en-US" sz="2000" dirty="0" err="1">
                <a:latin typeface="Arial" pitchFamily="34" charset="0"/>
                <a:cs typeface="Arial" pitchFamily="34" charset="0"/>
              </a:rPr>
              <a:t>múltiples</a:t>
            </a:r>
            <a:r>
              <a:rPr lang="en-US" sz="2000" dirty="0">
                <a:latin typeface="Arial" pitchFamily="34" charset="0"/>
                <a:cs typeface="Arial" pitchFamily="34" charset="0"/>
              </a:rPr>
              <a:t> </a:t>
            </a:r>
            <a:r>
              <a:rPr lang="en-US" sz="2000" dirty="0" err="1">
                <a:latin typeface="Arial" pitchFamily="34" charset="0"/>
                <a:cs typeface="Arial" pitchFamily="34" charset="0"/>
              </a:rPr>
              <a:t>archivos</a:t>
            </a:r>
            <a:r>
              <a:rPr lang="en-US" sz="2000" dirty="0">
                <a:latin typeface="Arial" pitchFamily="34" charset="0"/>
                <a:cs typeface="Arial" pitchFamily="34" charset="0"/>
              </a:rPr>
              <a:t> y </a:t>
            </a:r>
            <a:r>
              <a:rPr lang="en-US" sz="2000" dirty="0" err="1">
                <a:latin typeface="Arial" pitchFamily="34" charset="0"/>
                <a:cs typeface="Arial" pitchFamily="34" charset="0"/>
              </a:rPr>
              <a:t>formatos</a:t>
            </a:r>
            <a:r>
              <a:rPr lang="en-US" sz="2000" dirty="0">
                <a:latin typeface="Arial" pitchFamily="34" charset="0"/>
                <a:cs typeface="Arial" pitchFamily="34" charset="0"/>
              </a:rPr>
              <a:t>. El </a:t>
            </a:r>
            <a:r>
              <a:rPr lang="en-US" sz="2000" dirty="0" err="1">
                <a:latin typeface="Arial" pitchFamily="34" charset="0"/>
                <a:cs typeface="Arial" pitchFamily="34" charset="0"/>
              </a:rPr>
              <a:t>acceso</a:t>
            </a:r>
            <a:r>
              <a:rPr lang="en-US" sz="2000" dirty="0">
                <a:latin typeface="Arial" pitchFamily="34" charset="0"/>
                <a:cs typeface="Arial" pitchFamily="34" charset="0"/>
              </a:rPr>
              <a:t> a </a:t>
            </a:r>
            <a:r>
              <a:rPr lang="en-US" sz="2000" dirty="0" err="1">
                <a:latin typeface="Arial" pitchFamily="34" charset="0"/>
                <a:cs typeface="Arial" pitchFamily="34" charset="0"/>
              </a:rPr>
              <a:t>los</a:t>
            </a:r>
            <a:r>
              <a:rPr lang="en-US" sz="2000" dirty="0">
                <a:latin typeface="Arial" pitchFamily="34" charset="0"/>
                <a:cs typeface="Arial" pitchFamily="34" charset="0"/>
              </a:rPr>
              <a:t> </a:t>
            </a:r>
            <a:r>
              <a:rPr lang="en-US" sz="2000" dirty="0" err="1">
                <a:latin typeface="Arial" pitchFamily="34" charset="0"/>
                <a:cs typeface="Arial" pitchFamily="34" charset="0"/>
              </a:rPr>
              <a:t>datos</a:t>
            </a:r>
            <a:r>
              <a:rPr lang="en-US" sz="2000" dirty="0">
                <a:latin typeface="Arial" pitchFamily="34" charset="0"/>
                <a:cs typeface="Arial" pitchFamily="34" charset="0"/>
              </a:rPr>
              <a:t> </a:t>
            </a:r>
            <a:r>
              <a:rPr lang="en-US" sz="2000" dirty="0" err="1">
                <a:latin typeface="Arial" pitchFamily="34" charset="0"/>
                <a:cs typeface="Arial" pitchFamily="34" charset="0"/>
              </a:rPr>
              <a:t>depende</a:t>
            </a:r>
            <a:r>
              <a:rPr lang="en-US" sz="2000" dirty="0">
                <a:latin typeface="Arial" pitchFamily="34" charset="0"/>
                <a:cs typeface="Arial" pitchFamily="34" charset="0"/>
              </a:rPr>
              <a:t> de la </a:t>
            </a:r>
            <a:r>
              <a:rPr lang="en-US" sz="2000" dirty="0" err="1">
                <a:latin typeface="Arial" pitchFamily="34" charset="0"/>
                <a:cs typeface="Arial" pitchFamily="34" charset="0"/>
              </a:rPr>
              <a:t>estructura</a:t>
            </a:r>
            <a:r>
              <a:rPr lang="en-US" sz="2000" dirty="0">
                <a:latin typeface="Arial" pitchFamily="34" charset="0"/>
                <a:cs typeface="Arial" pitchFamily="34" charset="0"/>
              </a:rPr>
              <a:t> del </a:t>
            </a:r>
            <a:r>
              <a:rPr lang="en-US" sz="2000" dirty="0" err="1">
                <a:latin typeface="Arial" pitchFamily="34" charset="0"/>
                <a:cs typeface="Arial" pitchFamily="34" charset="0"/>
              </a:rPr>
              <a:t>archivo</a:t>
            </a:r>
            <a:r>
              <a:rPr lang="en-US" sz="2000" dirty="0">
                <a:latin typeface="Arial" pitchFamily="34" charset="0"/>
                <a:cs typeface="Arial" pitchFamily="34" charset="0"/>
              </a:rPr>
              <a:t>.</a:t>
            </a:r>
          </a:p>
          <a:p>
            <a:endParaRPr lang="es-MX" dirty="0"/>
          </a:p>
        </p:txBody>
      </p:sp>
    </p:spTree>
    <p:extLst>
      <p:ext uri="{BB962C8B-B14F-4D97-AF65-F5344CB8AC3E}">
        <p14:creationId xmlns:p14="http://schemas.microsoft.com/office/powerpoint/2010/main" val="21989716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19149"/>
            <a:ext cx="10245091" cy="681687"/>
          </a:xfrm>
        </p:spPr>
        <p:txBody>
          <a:bodyPr/>
          <a:lstStyle/>
          <a:p>
            <a:r>
              <a:rPr lang="en-US" b="1" dirty="0" err="1">
                <a:solidFill>
                  <a:schemeClr val="accent1">
                    <a:lumMod val="50000"/>
                  </a:schemeClr>
                </a:solidFill>
              </a:rPr>
              <a:t>Ventajas</a:t>
            </a:r>
            <a:r>
              <a:rPr lang="en-US" b="1" dirty="0">
                <a:solidFill>
                  <a:schemeClr val="accent1">
                    <a:lumMod val="50000"/>
                  </a:schemeClr>
                </a:solidFill>
              </a:rPr>
              <a:t> de las Bases de </a:t>
            </a:r>
            <a:r>
              <a:rPr lang="en-US" b="1" dirty="0" err="1">
                <a:solidFill>
                  <a:schemeClr val="accent1">
                    <a:lumMod val="50000"/>
                  </a:schemeClr>
                </a:solidFill>
              </a:rPr>
              <a:t>Datos</a:t>
            </a:r>
            <a:endParaRPr lang="es-MX" b="1" dirty="0">
              <a:solidFill>
                <a:schemeClr val="accent1">
                  <a:lumMod val="50000"/>
                </a:schemeClr>
              </a:solidFill>
            </a:endParaRPr>
          </a:p>
        </p:txBody>
      </p:sp>
      <p:sp>
        <p:nvSpPr>
          <p:cNvPr id="3" name="Marcador de contenido 2"/>
          <p:cNvSpPr>
            <a:spLocks noGrp="1"/>
          </p:cNvSpPr>
          <p:nvPr>
            <p:ph sz="quarter" idx="13"/>
          </p:nvPr>
        </p:nvSpPr>
        <p:spPr/>
        <p:txBody>
          <a:bodyPr/>
          <a:lstStyle/>
          <a:p>
            <a:pPr lvl="1">
              <a:defRPr/>
            </a:pPr>
            <a:r>
              <a:rPr lang="en-US" sz="2000" b="1" dirty="0" err="1">
                <a:latin typeface="Arial" pitchFamily="34" charset="0"/>
                <a:cs typeface="Arial" pitchFamily="34" charset="0"/>
              </a:rPr>
              <a:t>Problemas</a:t>
            </a:r>
            <a:r>
              <a:rPr lang="en-US" sz="2000" b="1" dirty="0">
                <a:latin typeface="Arial" pitchFamily="34" charset="0"/>
                <a:cs typeface="Arial" pitchFamily="34" charset="0"/>
              </a:rPr>
              <a:t> de </a:t>
            </a:r>
            <a:r>
              <a:rPr lang="en-US" sz="2000" b="1" dirty="0" err="1">
                <a:latin typeface="Arial" pitchFamily="34" charset="0"/>
                <a:cs typeface="Arial" pitchFamily="34" charset="0"/>
              </a:rPr>
              <a:t>Integridad</a:t>
            </a:r>
            <a:endParaRPr lang="en-US" sz="2000" b="1" dirty="0">
              <a:latin typeface="Arial" pitchFamily="34" charset="0"/>
              <a:cs typeface="Arial" pitchFamily="34" charset="0"/>
            </a:endParaRPr>
          </a:p>
          <a:p>
            <a:pPr lvl="2">
              <a:defRPr/>
            </a:pPr>
            <a:r>
              <a:rPr lang="en-US" dirty="0" err="1">
                <a:latin typeface="Arial" pitchFamily="34" charset="0"/>
                <a:cs typeface="Arial" pitchFamily="34" charset="0"/>
              </a:rPr>
              <a:t>Restricciones</a:t>
            </a:r>
            <a:r>
              <a:rPr lang="en-US" dirty="0">
                <a:latin typeface="Arial" pitchFamily="34" charset="0"/>
                <a:cs typeface="Arial" pitchFamily="34" charset="0"/>
              </a:rPr>
              <a:t> de </a:t>
            </a:r>
            <a:r>
              <a:rPr lang="en-US" dirty="0" err="1">
                <a:latin typeface="Arial" pitchFamily="34" charset="0"/>
                <a:cs typeface="Arial" pitchFamily="34" charset="0"/>
              </a:rPr>
              <a:t>Integridad</a:t>
            </a:r>
            <a:r>
              <a:rPr lang="en-US" dirty="0">
                <a:latin typeface="Arial" pitchFamily="34" charset="0"/>
                <a:cs typeface="Arial" pitchFamily="34" charset="0"/>
              </a:rPr>
              <a:t>  (</a:t>
            </a:r>
            <a:r>
              <a:rPr lang="en-US" dirty="0" err="1">
                <a:latin typeface="Arial" pitchFamily="34" charset="0"/>
                <a:cs typeface="Arial" pitchFamily="34" charset="0"/>
              </a:rPr>
              <a:t>p.e.</a:t>
            </a:r>
            <a:r>
              <a:rPr lang="en-US" dirty="0">
                <a:latin typeface="Arial" pitchFamily="34" charset="0"/>
                <a:cs typeface="Arial" pitchFamily="34" charset="0"/>
              </a:rPr>
              <a:t> </a:t>
            </a:r>
            <a:r>
              <a:rPr lang="en-US" dirty="0" err="1">
                <a:latin typeface="Arial" pitchFamily="34" charset="0"/>
                <a:cs typeface="Arial" pitchFamily="34" charset="0"/>
              </a:rPr>
              <a:t>account_balance</a:t>
            </a:r>
            <a:r>
              <a:rPr lang="en-US" dirty="0">
                <a:latin typeface="Arial" pitchFamily="34" charset="0"/>
                <a:cs typeface="Arial" pitchFamily="34" charset="0"/>
              </a:rPr>
              <a:t> &gt; 0) se “</a:t>
            </a:r>
            <a:r>
              <a:rPr lang="en-US" dirty="0" err="1">
                <a:latin typeface="Arial" pitchFamily="34" charset="0"/>
                <a:cs typeface="Arial" pitchFamily="34" charset="0"/>
              </a:rPr>
              <a:t>entierra</a:t>
            </a:r>
            <a:r>
              <a:rPr lang="en-US" dirty="0">
                <a:latin typeface="Arial" pitchFamily="34" charset="0"/>
                <a:cs typeface="Arial" pitchFamily="34" charset="0"/>
              </a:rPr>
              <a:t>” </a:t>
            </a:r>
            <a:r>
              <a:rPr lang="en-US" dirty="0" err="1">
                <a:latin typeface="Arial" pitchFamily="34" charset="0"/>
                <a:cs typeface="Arial" pitchFamily="34" charset="0"/>
              </a:rPr>
              <a:t>en</a:t>
            </a:r>
            <a:r>
              <a:rPr lang="en-US" dirty="0">
                <a:latin typeface="Arial" pitchFamily="34" charset="0"/>
                <a:cs typeface="Arial" pitchFamily="34" charset="0"/>
              </a:rPr>
              <a:t> el </a:t>
            </a:r>
            <a:r>
              <a:rPr lang="en-US" dirty="0" err="1">
                <a:latin typeface="Arial" pitchFamily="34" charset="0"/>
                <a:cs typeface="Arial" pitchFamily="34" charset="0"/>
              </a:rPr>
              <a:t>código</a:t>
            </a:r>
            <a:r>
              <a:rPr lang="en-US" dirty="0">
                <a:latin typeface="Arial" pitchFamily="34" charset="0"/>
                <a:cs typeface="Arial" pitchFamily="34" charset="0"/>
              </a:rPr>
              <a:t> </a:t>
            </a:r>
            <a:r>
              <a:rPr lang="en-US" dirty="0" err="1">
                <a:latin typeface="Arial" pitchFamily="34" charset="0"/>
                <a:cs typeface="Arial" pitchFamily="34" charset="0"/>
              </a:rPr>
              <a:t>en</a:t>
            </a:r>
            <a:r>
              <a:rPr lang="en-US" dirty="0">
                <a:latin typeface="Arial" pitchFamily="34" charset="0"/>
                <a:cs typeface="Arial" pitchFamily="34" charset="0"/>
              </a:rPr>
              <a:t> </a:t>
            </a:r>
            <a:r>
              <a:rPr lang="en-US" dirty="0" err="1">
                <a:latin typeface="Arial" pitchFamily="34" charset="0"/>
                <a:cs typeface="Arial" pitchFamily="34" charset="0"/>
              </a:rPr>
              <a:t>lugar</a:t>
            </a:r>
            <a:r>
              <a:rPr lang="en-US" dirty="0">
                <a:latin typeface="Arial" pitchFamily="34" charset="0"/>
                <a:cs typeface="Arial" pitchFamily="34" charset="0"/>
              </a:rPr>
              <a:t> de </a:t>
            </a:r>
            <a:r>
              <a:rPr lang="en-US" dirty="0" err="1">
                <a:latin typeface="Arial" pitchFamily="34" charset="0"/>
                <a:cs typeface="Arial" pitchFamily="34" charset="0"/>
              </a:rPr>
              <a:t>hacerse</a:t>
            </a:r>
            <a:r>
              <a:rPr lang="en-US" dirty="0">
                <a:latin typeface="Arial" pitchFamily="34" charset="0"/>
                <a:cs typeface="Arial" pitchFamily="34" charset="0"/>
              </a:rPr>
              <a:t> </a:t>
            </a:r>
            <a:r>
              <a:rPr lang="en-US" dirty="0" err="1">
                <a:latin typeface="Arial" pitchFamily="34" charset="0"/>
                <a:cs typeface="Arial" pitchFamily="34" charset="0"/>
              </a:rPr>
              <a:t>explícito</a:t>
            </a:r>
            <a:endParaRPr lang="en-US" dirty="0">
              <a:latin typeface="Arial" pitchFamily="34" charset="0"/>
              <a:cs typeface="Arial" pitchFamily="34" charset="0"/>
            </a:endParaRPr>
          </a:p>
          <a:p>
            <a:pPr lvl="2">
              <a:defRPr/>
            </a:pPr>
            <a:r>
              <a:rPr lang="en-US" dirty="0" err="1">
                <a:latin typeface="Arial" pitchFamily="34" charset="0"/>
                <a:cs typeface="Arial" pitchFamily="34" charset="0"/>
              </a:rPr>
              <a:t>Difiícil</a:t>
            </a:r>
            <a:r>
              <a:rPr lang="en-US" dirty="0">
                <a:latin typeface="Arial" pitchFamily="34" charset="0"/>
                <a:cs typeface="Arial" pitchFamily="34" charset="0"/>
              </a:rPr>
              <a:t> </a:t>
            </a:r>
            <a:r>
              <a:rPr lang="en-US" dirty="0" err="1">
                <a:latin typeface="Arial" pitchFamily="34" charset="0"/>
                <a:cs typeface="Arial" pitchFamily="34" charset="0"/>
              </a:rPr>
              <a:t>agregar</a:t>
            </a:r>
            <a:r>
              <a:rPr lang="en-US" dirty="0">
                <a:latin typeface="Arial" pitchFamily="34" charset="0"/>
                <a:cs typeface="Arial" pitchFamily="34" charset="0"/>
              </a:rPr>
              <a:t> </a:t>
            </a:r>
            <a:r>
              <a:rPr lang="en-US" dirty="0" err="1">
                <a:latin typeface="Arial" pitchFamily="34" charset="0"/>
                <a:cs typeface="Arial" pitchFamily="34" charset="0"/>
              </a:rPr>
              <a:t>nuevas</a:t>
            </a:r>
            <a:r>
              <a:rPr lang="en-US" dirty="0">
                <a:latin typeface="Arial" pitchFamily="34" charset="0"/>
                <a:cs typeface="Arial" pitchFamily="34" charset="0"/>
              </a:rPr>
              <a:t> </a:t>
            </a:r>
            <a:r>
              <a:rPr lang="en-US" dirty="0" err="1">
                <a:latin typeface="Arial" pitchFamily="34" charset="0"/>
                <a:cs typeface="Arial" pitchFamily="34" charset="0"/>
              </a:rPr>
              <a:t>restricciones</a:t>
            </a:r>
            <a:r>
              <a:rPr lang="en-US" dirty="0">
                <a:latin typeface="Arial" pitchFamily="34" charset="0"/>
                <a:cs typeface="Arial" pitchFamily="34" charset="0"/>
              </a:rPr>
              <a:t> o </a:t>
            </a:r>
            <a:r>
              <a:rPr lang="en-US" dirty="0" err="1">
                <a:latin typeface="Arial" pitchFamily="34" charset="0"/>
                <a:cs typeface="Arial" pitchFamily="34" charset="0"/>
              </a:rPr>
              <a:t>modificar</a:t>
            </a:r>
            <a:r>
              <a:rPr lang="en-US" dirty="0">
                <a:latin typeface="Arial" pitchFamily="34" charset="0"/>
                <a:cs typeface="Arial" pitchFamily="34" charset="0"/>
              </a:rPr>
              <a:t> las </a:t>
            </a:r>
            <a:r>
              <a:rPr lang="en-US" dirty="0" err="1">
                <a:latin typeface="Arial" pitchFamily="34" charset="0"/>
                <a:cs typeface="Arial" pitchFamily="34" charset="0"/>
              </a:rPr>
              <a:t>existentes</a:t>
            </a:r>
            <a:r>
              <a:rPr lang="en-US" dirty="0">
                <a:latin typeface="Arial" pitchFamily="34" charset="0"/>
                <a:cs typeface="Arial" pitchFamily="34" charset="0"/>
              </a:rPr>
              <a:t>.</a:t>
            </a:r>
          </a:p>
          <a:p>
            <a:pPr lvl="1">
              <a:defRPr/>
            </a:pPr>
            <a:r>
              <a:rPr lang="en-US" sz="2000" b="1" dirty="0" err="1">
                <a:latin typeface="Arial" pitchFamily="34" charset="0"/>
                <a:cs typeface="Arial" pitchFamily="34" charset="0"/>
              </a:rPr>
              <a:t>Atomicidad</a:t>
            </a:r>
            <a:r>
              <a:rPr lang="en-US" sz="2000" b="1" dirty="0">
                <a:latin typeface="Arial" pitchFamily="34" charset="0"/>
                <a:cs typeface="Arial" pitchFamily="34" charset="0"/>
              </a:rPr>
              <a:t> de </a:t>
            </a:r>
            <a:r>
              <a:rPr lang="en-US" sz="2000" b="1" dirty="0" err="1">
                <a:latin typeface="Arial" pitchFamily="34" charset="0"/>
                <a:cs typeface="Arial" pitchFamily="34" charset="0"/>
              </a:rPr>
              <a:t>actualización</a:t>
            </a:r>
            <a:endParaRPr lang="en-US" sz="2000" b="1" dirty="0">
              <a:latin typeface="Arial" pitchFamily="34" charset="0"/>
              <a:cs typeface="Arial" pitchFamily="34" charset="0"/>
            </a:endParaRPr>
          </a:p>
          <a:p>
            <a:pPr lvl="2">
              <a:defRPr/>
            </a:pPr>
            <a:r>
              <a:rPr lang="en-US" dirty="0">
                <a:latin typeface="Arial" pitchFamily="34" charset="0"/>
                <a:cs typeface="Arial" pitchFamily="34" charset="0"/>
              </a:rPr>
              <a:t>Las </a:t>
            </a:r>
            <a:r>
              <a:rPr lang="en-US" dirty="0" err="1">
                <a:latin typeface="Arial" pitchFamily="34" charset="0"/>
                <a:cs typeface="Arial" pitchFamily="34" charset="0"/>
              </a:rPr>
              <a:t>fallas</a:t>
            </a:r>
            <a:r>
              <a:rPr lang="en-US" dirty="0">
                <a:latin typeface="Arial" pitchFamily="34" charset="0"/>
                <a:cs typeface="Arial" pitchFamily="34" charset="0"/>
              </a:rPr>
              <a:t> </a:t>
            </a:r>
            <a:r>
              <a:rPr lang="en-US" dirty="0" err="1">
                <a:latin typeface="Arial" pitchFamily="34" charset="0"/>
                <a:cs typeface="Arial" pitchFamily="34" charset="0"/>
              </a:rPr>
              <a:t>pueden</a:t>
            </a:r>
            <a:r>
              <a:rPr lang="en-US" dirty="0">
                <a:latin typeface="Arial" pitchFamily="34" charset="0"/>
                <a:cs typeface="Arial" pitchFamily="34" charset="0"/>
              </a:rPr>
              <a:t> </a:t>
            </a:r>
            <a:r>
              <a:rPr lang="en-US" dirty="0" err="1">
                <a:latin typeface="Arial" pitchFamily="34" charset="0"/>
                <a:cs typeface="Arial" pitchFamily="34" charset="0"/>
              </a:rPr>
              <a:t>dejar</a:t>
            </a:r>
            <a:r>
              <a:rPr lang="en-US" dirty="0">
                <a:latin typeface="Arial" pitchFamily="34" charset="0"/>
                <a:cs typeface="Arial" pitchFamily="34" charset="0"/>
              </a:rPr>
              <a:t> la base de </a:t>
            </a:r>
            <a:r>
              <a:rPr lang="en-US" dirty="0" err="1">
                <a:latin typeface="Arial" pitchFamily="34" charset="0"/>
                <a:cs typeface="Arial" pitchFamily="34" charset="0"/>
              </a:rPr>
              <a:t>datos</a:t>
            </a:r>
            <a:r>
              <a:rPr lang="en-US" dirty="0">
                <a:latin typeface="Arial" pitchFamily="34" charset="0"/>
                <a:cs typeface="Arial" pitchFamily="34" charset="0"/>
              </a:rPr>
              <a:t> </a:t>
            </a:r>
            <a:r>
              <a:rPr lang="en-US" dirty="0" err="1">
                <a:latin typeface="Arial" pitchFamily="34" charset="0"/>
                <a:cs typeface="Arial" pitchFamily="34" charset="0"/>
              </a:rPr>
              <a:t>en</a:t>
            </a:r>
            <a:r>
              <a:rPr lang="en-US" dirty="0">
                <a:latin typeface="Arial" pitchFamily="34" charset="0"/>
                <a:cs typeface="Arial" pitchFamily="34" charset="0"/>
              </a:rPr>
              <a:t> un </a:t>
            </a:r>
            <a:r>
              <a:rPr lang="en-US" dirty="0" err="1">
                <a:latin typeface="Arial" pitchFamily="34" charset="0"/>
                <a:cs typeface="Arial" pitchFamily="34" charset="0"/>
              </a:rPr>
              <a:t>estado</a:t>
            </a:r>
            <a:r>
              <a:rPr lang="en-US" dirty="0">
                <a:latin typeface="Arial" pitchFamily="34" charset="0"/>
                <a:cs typeface="Arial" pitchFamily="34" charset="0"/>
              </a:rPr>
              <a:t> </a:t>
            </a:r>
            <a:r>
              <a:rPr lang="en-US" dirty="0" err="1">
                <a:latin typeface="Arial" pitchFamily="34" charset="0"/>
                <a:cs typeface="Arial" pitchFamily="34" charset="0"/>
              </a:rPr>
              <a:t>inconsistente</a:t>
            </a:r>
            <a:r>
              <a:rPr lang="en-US" dirty="0">
                <a:latin typeface="Arial" pitchFamily="34" charset="0"/>
                <a:cs typeface="Arial" pitchFamily="34" charset="0"/>
              </a:rPr>
              <a:t> con </a:t>
            </a:r>
            <a:r>
              <a:rPr lang="en-US" dirty="0" err="1">
                <a:latin typeface="Arial" pitchFamily="34" charset="0"/>
                <a:cs typeface="Arial" pitchFamily="34" charset="0"/>
              </a:rPr>
              <a:t>actualizaciones</a:t>
            </a:r>
            <a:r>
              <a:rPr lang="en-US" dirty="0">
                <a:latin typeface="Arial" pitchFamily="34" charset="0"/>
                <a:cs typeface="Arial" pitchFamily="34" charset="0"/>
              </a:rPr>
              <a:t> </a:t>
            </a:r>
            <a:r>
              <a:rPr lang="en-US" dirty="0" err="1">
                <a:latin typeface="Arial" pitchFamily="34" charset="0"/>
                <a:cs typeface="Arial" pitchFamily="34" charset="0"/>
              </a:rPr>
              <a:t>parciales</a:t>
            </a:r>
            <a:r>
              <a:rPr lang="en-US" dirty="0">
                <a:latin typeface="Arial" pitchFamily="34" charset="0"/>
                <a:cs typeface="Arial" pitchFamily="34" charset="0"/>
              </a:rPr>
              <a:t>.</a:t>
            </a:r>
          </a:p>
          <a:p>
            <a:pPr lvl="2">
              <a:defRPr/>
            </a:pPr>
            <a:r>
              <a:rPr lang="en-US" dirty="0" err="1">
                <a:latin typeface="Arial" pitchFamily="34" charset="0"/>
                <a:cs typeface="Arial" pitchFamily="34" charset="0"/>
              </a:rPr>
              <a:t>Ejemplo</a:t>
            </a:r>
            <a:r>
              <a:rPr lang="en-US" dirty="0">
                <a:latin typeface="Arial" pitchFamily="34" charset="0"/>
                <a:cs typeface="Arial" pitchFamily="34" charset="0"/>
              </a:rPr>
              <a:t>: La </a:t>
            </a:r>
            <a:r>
              <a:rPr lang="en-US" dirty="0" err="1">
                <a:latin typeface="Arial" pitchFamily="34" charset="0"/>
                <a:cs typeface="Arial" pitchFamily="34" charset="0"/>
              </a:rPr>
              <a:t>transferencia</a:t>
            </a:r>
            <a:r>
              <a:rPr lang="en-US" dirty="0">
                <a:latin typeface="Arial" pitchFamily="34" charset="0"/>
                <a:cs typeface="Arial" pitchFamily="34" charset="0"/>
              </a:rPr>
              <a:t> de </a:t>
            </a:r>
            <a:r>
              <a:rPr lang="en-US" dirty="0" err="1">
                <a:latin typeface="Arial" pitchFamily="34" charset="0"/>
                <a:cs typeface="Arial" pitchFamily="34" charset="0"/>
              </a:rPr>
              <a:t>fondos</a:t>
            </a:r>
            <a:r>
              <a:rPr lang="en-US" dirty="0">
                <a:latin typeface="Arial" pitchFamily="34" charset="0"/>
                <a:cs typeface="Arial" pitchFamily="34" charset="0"/>
              </a:rPr>
              <a:t> de </a:t>
            </a:r>
            <a:r>
              <a:rPr lang="en-US" dirty="0" err="1">
                <a:latin typeface="Arial" pitchFamily="34" charset="0"/>
                <a:cs typeface="Arial" pitchFamily="34" charset="0"/>
              </a:rPr>
              <a:t>una</a:t>
            </a:r>
            <a:r>
              <a:rPr lang="en-US" dirty="0">
                <a:latin typeface="Arial" pitchFamily="34" charset="0"/>
                <a:cs typeface="Arial" pitchFamily="34" charset="0"/>
              </a:rPr>
              <a:t> </a:t>
            </a:r>
            <a:r>
              <a:rPr lang="en-US" dirty="0" err="1">
                <a:latin typeface="Arial" pitchFamily="34" charset="0"/>
                <a:cs typeface="Arial" pitchFamily="34" charset="0"/>
              </a:rPr>
              <a:t>cuenta</a:t>
            </a:r>
            <a:r>
              <a:rPr lang="en-US" dirty="0">
                <a:latin typeface="Arial" pitchFamily="34" charset="0"/>
                <a:cs typeface="Arial" pitchFamily="34" charset="0"/>
              </a:rPr>
              <a:t> a </a:t>
            </a:r>
            <a:r>
              <a:rPr lang="en-US" dirty="0" err="1">
                <a:latin typeface="Arial" pitchFamily="34" charset="0"/>
                <a:cs typeface="Arial" pitchFamily="34" charset="0"/>
              </a:rPr>
              <a:t>otra</a:t>
            </a:r>
            <a:r>
              <a:rPr lang="en-US" dirty="0">
                <a:latin typeface="Arial" pitchFamily="34" charset="0"/>
                <a:cs typeface="Arial" pitchFamily="34" charset="0"/>
              </a:rPr>
              <a:t> </a:t>
            </a:r>
            <a:r>
              <a:rPr lang="en-US" dirty="0" err="1">
                <a:latin typeface="Arial" pitchFamily="34" charset="0"/>
                <a:cs typeface="Arial" pitchFamily="34" charset="0"/>
              </a:rPr>
              <a:t>debería</a:t>
            </a:r>
            <a:r>
              <a:rPr lang="en-US" dirty="0">
                <a:latin typeface="Arial" pitchFamily="34" charset="0"/>
                <a:cs typeface="Arial" pitchFamily="34" charset="0"/>
              </a:rPr>
              <a:t> </a:t>
            </a:r>
            <a:r>
              <a:rPr lang="en-US" dirty="0" err="1">
                <a:latin typeface="Arial" pitchFamily="34" charset="0"/>
                <a:cs typeface="Arial" pitchFamily="34" charset="0"/>
              </a:rPr>
              <a:t>terminarse</a:t>
            </a:r>
            <a:r>
              <a:rPr lang="en-US" dirty="0">
                <a:latin typeface="Arial" pitchFamily="34" charset="0"/>
                <a:cs typeface="Arial" pitchFamily="34" charset="0"/>
              </a:rPr>
              <a:t> o no </a:t>
            </a:r>
            <a:r>
              <a:rPr lang="en-US" dirty="0" err="1">
                <a:latin typeface="Arial" pitchFamily="34" charset="0"/>
                <a:cs typeface="Arial" pitchFamily="34" charset="0"/>
              </a:rPr>
              <a:t>ocurrir</a:t>
            </a:r>
            <a:r>
              <a:rPr lang="en-US" dirty="0">
                <a:latin typeface="Arial" pitchFamily="34" charset="0"/>
                <a:cs typeface="Arial" pitchFamily="34" charset="0"/>
              </a:rPr>
              <a:t>.</a:t>
            </a:r>
          </a:p>
          <a:p>
            <a:pPr lvl="2">
              <a:defRPr/>
            </a:pPr>
            <a:endParaRPr lang="en-US" dirty="0">
              <a:latin typeface="Arial" pitchFamily="34" charset="0"/>
              <a:cs typeface="Arial" pitchFamily="34" charset="0"/>
            </a:endParaRPr>
          </a:p>
          <a:p>
            <a:endParaRPr lang="es-MX" dirty="0"/>
          </a:p>
        </p:txBody>
      </p:sp>
    </p:spTree>
    <p:extLst>
      <p:ext uri="{BB962C8B-B14F-4D97-AF65-F5344CB8AC3E}">
        <p14:creationId xmlns:p14="http://schemas.microsoft.com/office/powerpoint/2010/main" val="8465722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781049"/>
            <a:ext cx="10245091" cy="719787"/>
          </a:xfrm>
        </p:spPr>
        <p:txBody>
          <a:bodyPr/>
          <a:lstStyle/>
          <a:p>
            <a:r>
              <a:rPr lang="en-US" b="1" dirty="0" err="1">
                <a:solidFill>
                  <a:schemeClr val="accent1">
                    <a:lumMod val="50000"/>
                  </a:schemeClr>
                </a:solidFill>
              </a:rPr>
              <a:t>Ventajas</a:t>
            </a:r>
            <a:r>
              <a:rPr lang="en-US" b="1" dirty="0">
                <a:solidFill>
                  <a:schemeClr val="accent1">
                    <a:lumMod val="50000"/>
                  </a:schemeClr>
                </a:solidFill>
              </a:rPr>
              <a:t> de las Bases de </a:t>
            </a:r>
            <a:r>
              <a:rPr lang="en-US" b="1" dirty="0" err="1">
                <a:solidFill>
                  <a:schemeClr val="accent1">
                    <a:lumMod val="50000"/>
                  </a:schemeClr>
                </a:solidFill>
              </a:rPr>
              <a:t>Datos</a:t>
            </a:r>
            <a:endParaRPr lang="es-MX" b="1" dirty="0">
              <a:solidFill>
                <a:schemeClr val="accent1">
                  <a:lumMod val="50000"/>
                </a:schemeClr>
              </a:solidFill>
            </a:endParaRPr>
          </a:p>
        </p:txBody>
      </p:sp>
      <p:sp>
        <p:nvSpPr>
          <p:cNvPr id="3" name="Marcador de contenido 2"/>
          <p:cNvSpPr>
            <a:spLocks noGrp="1"/>
          </p:cNvSpPr>
          <p:nvPr>
            <p:ph sz="quarter" idx="13"/>
          </p:nvPr>
        </p:nvSpPr>
        <p:spPr/>
        <p:txBody>
          <a:bodyPr/>
          <a:lstStyle/>
          <a:p>
            <a:pPr lvl="1">
              <a:defRPr/>
            </a:pPr>
            <a:r>
              <a:rPr lang="en-US" sz="2000" b="1" dirty="0">
                <a:latin typeface="Arial" pitchFamily="34" charset="0"/>
                <a:cs typeface="Arial" pitchFamily="34" charset="0"/>
              </a:rPr>
              <a:t>El </a:t>
            </a:r>
            <a:r>
              <a:rPr lang="en-US" sz="2000" b="1" dirty="0" err="1">
                <a:latin typeface="Arial" pitchFamily="34" charset="0"/>
                <a:cs typeface="Arial" pitchFamily="34" charset="0"/>
              </a:rPr>
              <a:t>acceso</a:t>
            </a:r>
            <a:r>
              <a:rPr lang="en-US" sz="2000" b="1" dirty="0">
                <a:latin typeface="Arial" pitchFamily="34" charset="0"/>
                <a:cs typeface="Arial" pitchFamily="34" charset="0"/>
              </a:rPr>
              <a:t> </a:t>
            </a:r>
            <a:r>
              <a:rPr lang="en-US" sz="2000" b="1" dirty="0" err="1">
                <a:latin typeface="Arial" pitchFamily="34" charset="0"/>
                <a:cs typeface="Arial" pitchFamily="34" charset="0"/>
              </a:rPr>
              <a:t>Concurrente</a:t>
            </a:r>
            <a:r>
              <a:rPr lang="en-US" sz="2000" b="1" dirty="0">
                <a:latin typeface="Arial" pitchFamily="34" charset="0"/>
                <a:cs typeface="Arial" pitchFamily="34" charset="0"/>
              </a:rPr>
              <a:t> </a:t>
            </a:r>
            <a:r>
              <a:rPr lang="en-US" sz="2000" b="1" dirty="0" err="1">
                <a:latin typeface="Arial" pitchFamily="34" charset="0"/>
                <a:cs typeface="Arial" pitchFamily="34" charset="0"/>
              </a:rPr>
              <a:t>por</a:t>
            </a:r>
            <a:r>
              <a:rPr lang="en-US" sz="2000" b="1" dirty="0">
                <a:latin typeface="Arial" pitchFamily="34" charset="0"/>
                <a:cs typeface="Arial" pitchFamily="34" charset="0"/>
              </a:rPr>
              <a:t> </a:t>
            </a:r>
            <a:r>
              <a:rPr lang="en-US" sz="2000" b="1" dirty="0" err="1">
                <a:latin typeface="Arial" pitchFamily="34" charset="0"/>
                <a:cs typeface="Arial" pitchFamily="34" charset="0"/>
              </a:rPr>
              <a:t>múltiples</a:t>
            </a:r>
            <a:r>
              <a:rPr lang="en-US" sz="2000" b="1" dirty="0">
                <a:latin typeface="Arial" pitchFamily="34" charset="0"/>
                <a:cs typeface="Arial" pitchFamily="34" charset="0"/>
              </a:rPr>
              <a:t> </a:t>
            </a:r>
            <a:r>
              <a:rPr lang="en-US" sz="2000" b="1" dirty="0" err="1">
                <a:latin typeface="Arial" pitchFamily="34" charset="0"/>
                <a:cs typeface="Arial" pitchFamily="34" charset="0"/>
              </a:rPr>
              <a:t>usuarios</a:t>
            </a:r>
            <a:endParaRPr lang="en-US" sz="2000" b="1" dirty="0">
              <a:latin typeface="Arial" pitchFamily="34" charset="0"/>
              <a:cs typeface="Arial" pitchFamily="34" charset="0"/>
            </a:endParaRPr>
          </a:p>
          <a:p>
            <a:pPr lvl="2">
              <a:defRPr/>
            </a:pPr>
            <a:r>
              <a:rPr lang="en-US" dirty="0">
                <a:latin typeface="Arial" pitchFamily="34" charset="0"/>
                <a:cs typeface="Arial" pitchFamily="34" charset="0"/>
              </a:rPr>
              <a:t>Se </a:t>
            </a:r>
            <a:r>
              <a:rPr lang="en-US" dirty="0" err="1">
                <a:latin typeface="Arial" pitchFamily="34" charset="0"/>
                <a:cs typeface="Arial" pitchFamily="34" charset="0"/>
              </a:rPr>
              <a:t>requiere</a:t>
            </a:r>
            <a:r>
              <a:rPr lang="en-US" dirty="0">
                <a:latin typeface="Arial" pitchFamily="34" charset="0"/>
                <a:cs typeface="Arial" pitchFamily="34" charset="0"/>
              </a:rPr>
              <a:t> </a:t>
            </a:r>
            <a:r>
              <a:rPr lang="en-US" dirty="0" err="1">
                <a:latin typeface="Arial" pitchFamily="34" charset="0"/>
                <a:cs typeface="Arial" pitchFamily="34" charset="0"/>
              </a:rPr>
              <a:t>acceso</a:t>
            </a:r>
            <a:r>
              <a:rPr lang="en-US" dirty="0">
                <a:latin typeface="Arial" pitchFamily="34" charset="0"/>
                <a:cs typeface="Arial" pitchFamily="34" charset="0"/>
              </a:rPr>
              <a:t> </a:t>
            </a:r>
            <a:r>
              <a:rPr lang="en-US" dirty="0" err="1">
                <a:latin typeface="Arial" pitchFamily="34" charset="0"/>
                <a:cs typeface="Arial" pitchFamily="34" charset="0"/>
              </a:rPr>
              <a:t>Concurrente</a:t>
            </a:r>
            <a:r>
              <a:rPr lang="en-US" dirty="0">
                <a:latin typeface="Arial" pitchFamily="34" charset="0"/>
                <a:cs typeface="Arial" pitchFamily="34" charset="0"/>
              </a:rPr>
              <a:t> para </a:t>
            </a:r>
            <a:r>
              <a:rPr lang="en-US" dirty="0" err="1">
                <a:latin typeface="Arial" pitchFamily="34" charset="0"/>
                <a:cs typeface="Arial" pitchFamily="34" charset="0"/>
              </a:rPr>
              <a:t>mejorar</a:t>
            </a:r>
            <a:r>
              <a:rPr lang="en-US" dirty="0">
                <a:latin typeface="Arial" pitchFamily="34" charset="0"/>
                <a:cs typeface="Arial" pitchFamily="34" charset="0"/>
              </a:rPr>
              <a:t> el </a:t>
            </a:r>
            <a:r>
              <a:rPr lang="en-US" dirty="0" err="1">
                <a:latin typeface="Arial" pitchFamily="34" charset="0"/>
                <a:cs typeface="Arial" pitchFamily="34" charset="0"/>
              </a:rPr>
              <a:t>desempeño</a:t>
            </a:r>
            <a:endParaRPr lang="en-US" dirty="0">
              <a:latin typeface="Arial" pitchFamily="34" charset="0"/>
              <a:cs typeface="Arial" pitchFamily="34" charset="0"/>
            </a:endParaRPr>
          </a:p>
          <a:p>
            <a:pPr lvl="2">
              <a:defRPr/>
            </a:pPr>
            <a:r>
              <a:rPr lang="en-US" dirty="0">
                <a:latin typeface="Arial" pitchFamily="34" charset="0"/>
                <a:cs typeface="Arial" pitchFamily="34" charset="0"/>
              </a:rPr>
              <a:t>Los </a:t>
            </a:r>
            <a:r>
              <a:rPr lang="en-US" dirty="0" err="1">
                <a:latin typeface="Arial" pitchFamily="34" charset="0"/>
                <a:cs typeface="Arial" pitchFamily="34" charset="0"/>
              </a:rPr>
              <a:t>accesos</a:t>
            </a:r>
            <a:r>
              <a:rPr lang="en-US" dirty="0">
                <a:latin typeface="Arial" pitchFamily="34" charset="0"/>
                <a:cs typeface="Arial" pitchFamily="34" charset="0"/>
              </a:rPr>
              <a:t> </a:t>
            </a:r>
            <a:r>
              <a:rPr lang="en-US" dirty="0" err="1">
                <a:latin typeface="Arial" pitchFamily="34" charset="0"/>
                <a:cs typeface="Arial" pitchFamily="34" charset="0"/>
              </a:rPr>
              <a:t>concurrentes</a:t>
            </a:r>
            <a:r>
              <a:rPr lang="en-US" dirty="0">
                <a:latin typeface="Arial" pitchFamily="34" charset="0"/>
                <a:cs typeface="Arial" pitchFamily="34" charset="0"/>
              </a:rPr>
              <a:t> no </a:t>
            </a:r>
            <a:r>
              <a:rPr lang="en-US" dirty="0" err="1">
                <a:latin typeface="Arial" pitchFamily="34" charset="0"/>
                <a:cs typeface="Arial" pitchFamily="34" charset="0"/>
              </a:rPr>
              <a:t>controlados</a:t>
            </a:r>
            <a:r>
              <a:rPr lang="en-US" dirty="0">
                <a:latin typeface="Arial" pitchFamily="34" charset="0"/>
                <a:cs typeface="Arial" pitchFamily="34" charset="0"/>
              </a:rPr>
              <a:t> </a:t>
            </a:r>
            <a:r>
              <a:rPr lang="en-US" dirty="0" err="1">
                <a:latin typeface="Arial" pitchFamily="34" charset="0"/>
                <a:cs typeface="Arial" pitchFamily="34" charset="0"/>
              </a:rPr>
              <a:t>pueden</a:t>
            </a:r>
            <a:r>
              <a:rPr lang="en-US" dirty="0">
                <a:latin typeface="Arial" pitchFamily="34" charset="0"/>
                <a:cs typeface="Arial" pitchFamily="34" charset="0"/>
              </a:rPr>
              <a:t> </a:t>
            </a:r>
            <a:r>
              <a:rPr lang="en-US" dirty="0" err="1">
                <a:latin typeface="Arial" pitchFamily="34" charset="0"/>
                <a:cs typeface="Arial" pitchFamily="34" charset="0"/>
              </a:rPr>
              <a:t>llevar</a:t>
            </a:r>
            <a:r>
              <a:rPr lang="en-US" dirty="0">
                <a:latin typeface="Arial" pitchFamily="34" charset="0"/>
                <a:cs typeface="Arial" pitchFamily="34" charset="0"/>
              </a:rPr>
              <a:t>  a </a:t>
            </a:r>
            <a:r>
              <a:rPr lang="en-US" dirty="0" err="1">
                <a:latin typeface="Arial" pitchFamily="34" charset="0"/>
                <a:cs typeface="Arial" pitchFamily="34" charset="0"/>
              </a:rPr>
              <a:t>inconsistencias</a:t>
            </a:r>
            <a:endParaRPr lang="en-US" dirty="0">
              <a:latin typeface="Arial" pitchFamily="34" charset="0"/>
              <a:cs typeface="Arial" pitchFamily="34" charset="0"/>
            </a:endParaRPr>
          </a:p>
          <a:p>
            <a:pPr lvl="3">
              <a:defRPr/>
            </a:pPr>
            <a:r>
              <a:rPr lang="en-US" dirty="0" err="1">
                <a:latin typeface="Arial" pitchFamily="34" charset="0"/>
                <a:cs typeface="Arial" pitchFamily="34" charset="0"/>
              </a:rPr>
              <a:t>Ejemplo</a:t>
            </a:r>
            <a:r>
              <a:rPr lang="en-US" dirty="0">
                <a:latin typeface="Arial" pitchFamily="34" charset="0"/>
                <a:cs typeface="Arial" pitchFamily="34" charset="0"/>
              </a:rPr>
              <a:t>: Dos personas </a:t>
            </a:r>
            <a:r>
              <a:rPr lang="en-US" dirty="0" err="1">
                <a:latin typeface="Arial" pitchFamily="34" charset="0"/>
                <a:cs typeface="Arial" pitchFamily="34" charset="0"/>
              </a:rPr>
              <a:t>leen</a:t>
            </a:r>
            <a:r>
              <a:rPr lang="en-US" dirty="0">
                <a:latin typeface="Arial" pitchFamily="34" charset="0"/>
                <a:cs typeface="Arial" pitchFamily="34" charset="0"/>
              </a:rPr>
              <a:t> un </a:t>
            </a:r>
            <a:r>
              <a:rPr lang="en-US" dirty="0" err="1">
                <a:latin typeface="Arial" pitchFamily="34" charset="0"/>
                <a:cs typeface="Arial" pitchFamily="34" charset="0"/>
              </a:rPr>
              <a:t>saldo</a:t>
            </a:r>
            <a:r>
              <a:rPr lang="en-US" dirty="0">
                <a:latin typeface="Arial" pitchFamily="34" charset="0"/>
                <a:cs typeface="Arial" pitchFamily="34" charset="0"/>
              </a:rPr>
              <a:t> y lo </a:t>
            </a:r>
            <a:r>
              <a:rPr lang="en-US" dirty="0" err="1">
                <a:latin typeface="Arial" pitchFamily="34" charset="0"/>
                <a:cs typeface="Arial" pitchFamily="34" charset="0"/>
              </a:rPr>
              <a:t>actualizan</a:t>
            </a:r>
            <a:r>
              <a:rPr lang="en-US" dirty="0">
                <a:latin typeface="Arial" pitchFamily="34" charset="0"/>
                <a:cs typeface="Arial" pitchFamily="34" charset="0"/>
              </a:rPr>
              <a:t> al </a:t>
            </a:r>
            <a:r>
              <a:rPr lang="en-US" dirty="0" err="1">
                <a:latin typeface="Arial" pitchFamily="34" charset="0"/>
                <a:cs typeface="Arial" pitchFamily="34" charset="0"/>
              </a:rPr>
              <a:t>mismo</a:t>
            </a:r>
            <a:r>
              <a:rPr lang="en-US" dirty="0">
                <a:latin typeface="Arial" pitchFamily="34" charset="0"/>
                <a:cs typeface="Arial" pitchFamily="34" charset="0"/>
              </a:rPr>
              <a:t> </a:t>
            </a:r>
            <a:r>
              <a:rPr lang="en-US" dirty="0" err="1">
                <a:latin typeface="Arial" pitchFamily="34" charset="0"/>
                <a:cs typeface="Arial" pitchFamily="34" charset="0"/>
              </a:rPr>
              <a:t>tiempo</a:t>
            </a:r>
            <a:endParaRPr lang="en-US" dirty="0">
              <a:latin typeface="Arial" pitchFamily="34" charset="0"/>
              <a:cs typeface="Arial" pitchFamily="34" charset="0"/>
            </a:endParaRPr>
          </a:p>
          <a:p>
            <a:pPr lvl="1">
              <a:defRPr/>
            </a:pPr>
            <a:r>
              <a:rPr lang="en-US" sz="2000" b="1" dirty="0" err="1">
                <a:latin typeface="Arial" pitchFamily="34" charset="0"/>
                <a:cs typeface="Arial" pitchFamily="34" charset="0"/>
              </a:rPr>
              <a:t>Problemas</a:t>
            </a:r>
            <a:r>
              <a:rPr lang="en-US" sz="2000" b="1" dirty="0">
                <a:latin typeface="Arial" pitchFamily="34" charset="0"/>
                <a:cs typeface="Arial" pitchFamily="34" charset="0"/>
              </a:rPr>
              <a:t> de </a:t>
            </a:r>
            <a:r>
              <a:rPr lang="en-US" sz="2000" b="1" dirty="0" err="1">
                <a:latin typeface="Arial" pitchFamily="34" charset="0"/>
                <a:cs typeface="Arial" pitchFamily="34" charset="0"/>
              </a:rPr>
              <a:t>Seguridad</a:t>
            </a:r>
            <a:endParaRPr lang="en-US" sz="2000" b="1" dirty="0">
              <a:latin typeface="Arial" pitchFamily="34" charset="0"/>
              <a:cs typeface="Arial" pitchFamily="34" charset="0"/>
            </a:endParaRPr>
          </a:p>
          <a:p>
            <a:pPr lvl="2">
              <a:defRPr/>
            </a:pPr>
            <a:r>
              <a:rPr lang="en-US" dirty="0" err="1">
                <a:latin typeface="Arial" pitchFamily="34" charset="0"/>
                <a:cs typeface="Arial" pitchFamily="34" charset="0"/>
              </a:rPr>
              <a:t>Difícil</a:t>
            </a:r>
            <a:r>
              <a:rPr lang="en-US" dirty="0">
                <a:latin typeface="Arial" pitchFamily="34" charset="0"/>
                <a:cs typeface="Arial" pitchFamily="34" charset="0"/>
              </a:rPr>
              <a:t> </a:t>
            </a:r>
            <a:r>
              <a:rPr lang="en-US" dirty="0" err="1">
                <a:latin typeface="Arial" pitchFamily="34" charset="0"/>
                <a:cs typeface="Arial" pitchFamily="34" charset="0"/>
              </a:rPr>
              <a:t>proveer</a:t>
            </a:r>
            <a:r>
              <a:rPr lang="en-US" dirty="0">
                <a:latin typeface="Arial" pitchFamily="34" charset="0"/>
                <a:cs typeface="Arial" pitchFamily="34" charset="0"/>
              </a:rPr>
              <a:t> el </a:t>
            </a:r>
            <a:r>
              <a:rPr lang="en-US" dirty="0" err="1">
                <a:latin typeface="Arial" pitchFamily="34" charset="0"/>
                <a:cs typeface="Arial" pitchFamily="34" charset="0"/>
              </a:rPr>
              <a:t>acceso</a:t>
            </a:r>
            <a:r>
              <a:rPr lang="en-US" dirty="0">
                <a:latin typeface="Arial" pitchFamily="34" charset="0"/>
                <a:cs typeface="Arial" pitchFamily="34" charset="0"/>
              </a:rPr>
              <a:t> a un </a:t>
            </a:r>
            <a:r>
              <a:rPr lang="en-US" dirty="0" err="1">
                <a:latin typeface="Arial" pitchFamily="34" charset="0"/>
                <a:cs typeface="Arial" pitchFamily="34" charset="0"/>
              </a:rPr>
              <a:t>usuario</a:t>
            </a:r>
            <a:r>
              <a:rPr lang="en-US" dirty="0">
                <a:latin typeface="Arial" pitchFamily="34" charset="0"/>
                <a:cs typeface="Arial" pitchFamily="34" charset="0"/>
              </a:rPr>
              <a:t> a </a:t>
            </a:r>
            <a:r>
              <a:rPr lang="en-US" dirty="0" err="1">
                <a:latin typeface="Arial" pitchFamily="34" charset="0"/>
                <a:cs typeface="Arial" pitchFamily="34" charset="0"/>
              </a:rPr>
              <a:t>una</a:t>
            </a:r>
            <a:r>
              <a:rPr lang="en-US" dirty="0">
                <a:latin typeface="Arial" pitchFamily="34" charset="0"/>
                <a:cs typeface="Arial" pitchFamily="34" charset="0"/>
              </a:rPr>
              <a:t> parte o a </a:t>
            </a:r>
            <a:r>
              <a:rPr lang="en-US" dirty="0" err="1">
                <a:latin typeface="Arial" pitchFamily="34" charset="0"/>
                <a:cs typeface="Arial" pitchFamily="34" charset="0"/>
              </a:rPr>
              <a:t>todos</a:t>
            </a:r>
            <a:r>
              <a:rPr lang="en-US" dirty="0">
                <a:latin typeface="Arial" pitchFamily="34" charset="0"/>
                <a:cs typeface="Arial" pitchFamily="34" charset="0"/>
              </a:rPr>
              <a:t> </a:t>
            </a:r>
            <a:r>
              <a:rPr lang="en-US" dirty="0" err="1">
                <a:latin typeface="Arial" pitchFamily="34" charset="0"/>
                <a:cs typeface="Arial" pitchFamily="34" charset="0"/>
              </a:rPr>
              <a:t>los</a:t>
            </a:r>
            <a:r>
              <a:rPr lang="en-US" dirty="0">
                <a:latin typeface="Arial" pitchFamily="34" charset="0"/>
                <a:cs typeface="Arial" pitchFamily="34" charset="0"/>
              </a:rPr>
              <a:t> </a:t>
            </a:r>
            <a:r>
              <a:rPr lang="en-US" dirty="0" err="1">
                <a:latin typeface="Arial" pitchFamily="34" charset="0"/>
                <a:cs typeface="Arial" pitchFamily="34" charset="0"/>
              </a:rPr>
              <a:t>datos</a:t>
            </a:r>
            <a:r>
              <a:rPr lang="en-US" dirty="0">
                <a:latin typeface="Arial" pitchFamily="34" charset="0"/>
                <a:cs typeface="Arial" pitchFamily="34" charset="0"/>
              </a:rPr>
              <a:t>.</a:t>
            </a:r>
          </a:p>
          <a:p>
            <a:pPr lvl="2">
              <a:defRPr/>
            </a:pPr>
            <a:endParaRPr lang="en-US" dirty="0">
              <a:latin typeface="Arial" pitchFamily="34" charset="0"/>
              <a:cs typeface="Arial" pitchFamily="34" charset="0"/>
            </a:endParaRPr>
          </a:p>
          <a:p>
            <a:pPr>
              <a:defRPr/>
            </a:pPr>
            <a:r>
              <a:rPr lang="en-US" b="1" dirty="0">
                <a:solidFill>
                  <a:schemeClr val="accent2">
                    <a:lumMod val="50000"/>
                  </a:schemeClr>
                </a:solidFill>
              </a:rPr>
              <a:t>Los </a:t>
            </a:r>
            <a:r>
              <a:rPr lang="en-US" b="1" dirty="0" err="1">
                <a:solidFill>
                  <a:schemeClr val="accent2">
                    <a:lumMod val="50000"/>
                  </a:schemeClr>
                </a:solidFill>
              </a:rPr>
              <a:t>sistemas</a:t>
            </a:r>
            <a:r>
              <a:rPr lang="en-US" b="1" dirty="0">
                <a:solidFill>
                  <a:schemeClr val="accent2">
                    <a:lumMod val="50000"/>
                  </a:schemeClr>
                </a:solidFill>
              </a:rPr>
              <a:t> de bases de </a:t>
            </a:r>
            <a:r>
              <a:rPr lang="en-US" b="1" dirty="0" err="1">
                <a:solidFill>
                  <a:schemeClr val="accent2">
                    <a:lumMod val="50000"/>
                  </a:schemeClr>
                </a:solidFill>
              </a:rPr>
              <a:t>datos</a:t>
            </a:r>
            <a:r>
              <a:rPr lang="en-US" b="1" dirty="0">
                <a:solidFill>
                  <a:schemeClr val="accent2">
                    <a:lumMod val="50000"/>
                  </a:schemeClr>
                </a:solidFill>
              </a:rPr>
              <a:t> </a:t>
            </a:r>
            <a:r>
              <a:rPr lang="en-US" b="1" dirty="0" err="1">
                <a:solidFill>
                  <a:schemeClr val="accent2">
                    <a:lumMod val="50000"/>
                  </a:schemeClr>
                </a:solidFill>
              </a:rPr>
              <a:t>ofrecen</a:t>
            </a:r>
            <a:r>
              <a:rPr lang="en-US" b="1" dirty="0">
                <a:solidFill>
                  <a:schemeClr val="accent2">
                    <a:lumMod val="50000"/>
                  </a:schemeClr>
                </a:solidFill>
              </a:rPr>
              <a:t> </a:t>
            </a:r>
            <a:r>
              <a:rPr lang="en-US" b="1" dirty="0" err="1">
                <a:solidFill>
                  <a:schemeClr val="accent2">
                    <a:lumMod val="50000"/>
                  </a:schemeClr>
                </a:solidFill>
              </a:rPr>
              <a:t>soluciones</a:t>
            </a:r>
            <a:r>
              <a:rPr lang="en-US" b="1" dirty="0">
                <a:solidFill>
                  <a:schemeClr val="accent2">
                    <a:lumMod val="50000"/>
                  </a:schemeClr>
                </a:solidFill>
              </a:rPr>
              <a:t> a </a:t>
            </a:r>
            <a:r>
              <a:rPr lang="en-US" b="1" dirty="0" err="1">
                <a:solidFill>
                  <a:schemeClr val="accent2">
                    <a:lumMod val="50000"/>
                  </a:schemeClr>
                </a:solidFill>
              </a:rPr>
              <a:t>todos</a:t>
            </a:r>
            <a:r>
              <a:rPr lang="en-US" b="1" dirty="0">
                <a:solidFill>
                  <a:schemeClr val="accent2">
                    <a:lumMod val="50000"/>
                  </a:schemeClr>
                </a:solidFill>
              </a:rPr>
              <a:t> </a:t>
            </a:r>
            <a:r>
              <a:rPr lang="en-US" b="1" dirty="0" err="1">
                <a:solidFill>
                  <a:schemeClr val="accent2">
                    <a:lumMod val="50000"/>
                  </a:schemeClr>
                </a:solidFill>
              </a:rPr>
              <a:t>los</a:t>
            </a:r>
            <a:r>
              <a:rPr lang="en-US" b="1" dirty="0">
                <a:solidFill>
                  <a:schemeClr val="accent2">
                    <a:lumMod val="50000"/>
                  </a:schemeClr>
                </a:solidFill>
              </a:rPr>
              <a:t> </a:t>
            </a:r>
            <a:r>
              <a:rPr lang="en-US" b="1" dirty="0" err="1">
                <a:solidFill>
                  <a:schemeClr val="accent2">
                    <a:lumMod val="50000"/>
                  </a:schemeClr>
                </a:solidFill>
              </a:rPr>
              <a:t>problemas</a:t>
            </a:r>
            <a:r>
              <a:rPr lang="en-US" b="1" dirty="0">
                <a:solidFill>
                  <a:schemeClr val="accent2">
                    <a:lumMod val="50000"/>
                  </a:schemeClr>
                </a:solidFill>
              </a:rPr>
              <a:t> </a:t>
            </a:r>
            <a:r>
              <a:rPr lang="en-US" b="1" dirty="0" err="1">
                <a:solidFill>
                  <a:schemeClr val="accent2">
                    <a:lumMod val="50000"/>
                  </a:schemeClr>
                </a:solidFill>
              </a:rPr>
              <a:t>anteriores</a:t>
            </a:r>
            <a:r>
              <a:rPr lang="en-US" b="1" dirty="0">
                <a:solidFill>
                  <a:schemeClr val="accent2">
                    <a:lumMod val="50000"/>
                  </a:schemeClr>
                </a:solidFill>
              </a:rPr>
              <a:t>.</a:t>
            </a:r>
          </a:p>
          <a:p>
            <a:endParaRPr lang="es-MX" dirty="0"/>
          </a:p>
        </p:txBody>
      </p:sp>
    </p:spTree>
    <p:extLst>
      <p:ext uri="{BB962C8B-B14F-4D97-AF65-F5344CB8AC3E}">
        <p14:creationId xmlns:p14="http://schemas.microsoft.com/office/powerpoint/2010/main" val="29676216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76299"/>
            <a:ext cx="10245091" cy="624537"/>
          </a:xfrm>
        </p:spPr>
        <p:txBody>
          <a:bodyPr/>
          <a:lstStyle/>
          <a:p>
            <a:r>
              <a:rPr lang="es-MX" b="1" dirty="0">
                <a:solidFill>
                  <a:schemeClr val="accent1">
                    <a:lumMod val="50000"/>
                  </a:schemeClr>
                </a:solidFill>
              </a:rPr>
              <a:t>Sistemas de Bases de Datos</a:t>
            </a:r>
          </a:p>
        </p:txBody>
      </p:sp>
      <p:pic>
        <p:nvPicPr>
          <p:cNvPr id="4" name="Picture 12" descr="Fig01-06"/>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2630804" y="1712913"/>
            <a:ext cx="7200900" cy="489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66076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761999"/>
            <a:ext cx="10245091" cy="738837"/>
          </a:xfrm>
        </p:spPr>
        <p:txBody>
          <a:bodyPr/>
          <a:lstStyle/>
          <a:p>
            <a:r>
              <a:rPr lang="es-ES" b="1" dirty="0">
                <a:solidFill>
                  <a:schemeClr val="accent1">
                    <a:lumMod val="50000"/>
                  </a:schemeClr>
                </a:solidFill>
              </a:rPr>
              <a:t>Ventajas del enfoque de BD</a:t>
            </a:r>
            <a:endParaRPr lang="es-MX" b="1" dirty="0">
              <a:solidFill>
                <a:schemeClr val="accent1">
                  <a:lumMod val="50000"/>
                </a:schemeClr>
              </a:solidFill>
            </a:endParaRPr>
          </a:p>
        </p:txBody>
      </p:sp>
      <p:sp>
        <p:nvSpPr>
          <p:cNvPr id="3" name="Marcador de contenido 2"/>
          <p:cNvSpPr>
            <a:spLocks noGrp="1"/>
          </p:cNvSpPr>
          <p:nvPr>
            <p:ph sz="quarter" idx="13"/>
          </p:nvPr>
        </p:nvSpPr>
        <p:spPr/>
        <p:txBody>
          <a:bodyPr/>
          <a:lstStyle/>
          <a:p>
            <a:pPr>
              <a:defRPr/>
            </a:pPr>
            <a:r>
              <a:rPr lang="es-ES" b="1" dirty="0">
                <a:latin typeface="Arial" charset="0"/>
              </a:rPr>
              <a:t>El enfoque de bases de datos</a:t>
            </a:r>
          </a:p>
          <a:p>
            <a:pPr marL="342900" indent="-342900">
              <a:buClr>
                <a:schemeClr val="tx1"/>
              </a:buClr>
              <a:buFont typeface="Arial" panose="020B0604020202020204" pitchFamily="34" charset="0"/>
              <a:buChar char="•"/>
              <a:defRPr/>
            </a:pPr>
            <a:r>
              <a:rPr lang="es-MX" b="1" dirty="0">
                <a:solidFill>
                  <a:schemeClr val="accent1">
                    <a:lumMod val="50000"/>
                  </a:schemeClr>
                </a:solidFill>
                <a:latin typeface="Arial" charset="0"/>
              </a:rPr>
              <a:t>Requiere una persona o grupo de personas para la administración de los datos</a:t>
            </a:r>
          </a:p>
          <a:p>
            <a:pPr marL="342900" indent="-342900">
              <a:buClr>
                <a:schemeClr val="tx1"/>
              </a:buClr>
              <a:buFont typeface="Arial" panose="020B0604020202020204" pitchFamily="34" charset="0"/>
              <a:buChar char="•"/>
              <a:defRPr/>
            </a:pPr>
            <a:r>
              <a:rPr lang="es-MX" b="1" dirty="0">
                <a:latin typeface="Arial" charset="0"/>
              </a:rPr>
              <a:t>El proceso de desarrollo debe involucrar a todas las entidades administrativas.</a:t>
            </a:r>
          </a:p>
          <a:p>
            <a:pPr marL="342900" indent="-342900">
              <a:buClr>
                <a:schemeClr val="tx1"/>
              </a:buClr>
              <a:buFont typeface="Arial" panose="020B0604020202020204" pitchFamily="34" charset="0"/>
              <a:buChar char="•"/>
              <a:defRPr/>
            </a:pPr>
            <a:r>
              <a:rPr lang="es-MX" b="1" dirty="0">
                <a:solidFill>
                  <a:schemeClr val="accent1">
                    <a:lumMod val="50000"/>
                  </a:schemeClr>
                </a:solidFill>
                <a:latin typeface="Arial" charset="0"/>
              </a:rPr>
              <a:t>La forma del sistema, y la estructura de los datos, debe basarse en los procedimientos de la empresa.</a:t>
            </a:r>
          </a:p>
          <a:p>
            <a:pPr marL="342900" indent="-342900">
              <a:buClr>
                <a:schemeClr val="tx1"/>
              </a:buClr>
              <a:buFont typeface="Arial" panose="020B0604020202020204" pitchFamily="34" charset="0"/>
              <a:buChar char="•"/>
              <a:defRPr/>
            </a:pPr>
            <a:r>
              <a:rPr lang="es-MX" b="1" dirty="0">
                <a:latin typeface="Arial" charset="0"/>
              </a:rPr>
              <a:t>Puede requerir algunos conocimientos y habilidades nuevas</a:t>
            </a:r>
          </a:p>
          <a:p>
            <a:endParaRPr lang="es-MX" dirty="0"/>
          </a:p>
        </p:txBody>
      </p:sp>
    </p:spTree>
    <p:extLst>
      <p:ext uri="{BB962C8B-B14F-4D97-AF65-F5344CB8AC3E}">
        <p14:creationId xmlns:p14="http://schemas.microsoft.com/office/powerpoint/2010/main" val="5617710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704849"/>
            <a:ext cx="10245091" cy="795987"/>
          </a:xfrm>
        </p:spPr>
        <p:txBody>
          <a:bodyPr/>
          <a:lstStyle/>
          <a:p>
            <a:r>
              <a:rPr lang="es-MX" b="1" dirty="0">
                <a:solidFill>
                  <a:schemeClr val="accent1">
                    <a:lumMod val="50000"/>
                  </a:schemeClr>
                </a:solidFill>
              </a:rPr>
              <a:t>El entorno del Sistema de BD</a:t>
            </a:r>
          </a:p>
        </p:txBody>
      </p:sp>
      <p:pic>
        <p:nvPicPr>
          <p:cNvPr id="4" name="Picture 13" descr="Fig01-07"/>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2563813" y="1500837"/>
            <a:ext cx="7916862" cy="4752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36193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a:solidFill>
                  <a:schemeClr val="accent1">
                    <a:lumMod val="50000"/>
                  </a:schemeClr>
                </a:solidFill>
              </a:rPr>
              <a:t>Costos del enfoque de BD</a:t>
            </a:r>
            <a:endParaRPr lang="es-MX" b="1" dirty="0">
              <a:solidFill>
                <a:schemeClr val="accent1">
                  <a:lumMod val="50000"/>
                </a:schemeClr>
              </a:solidFill>
            </a:endParaRPr>
          </a:p>
        </p:txBody>
      </p:sp>
      <p:sp>
        <p:nvSpPr>
          <p:cNvPr id="3" name="Marcador de contenido 2"/>
          <p:cNvSpPr>
            <a:spLocks noGrp="1"/>
          </p:cNvSpPr>
          <p:nvPr>
            <p:ph sz="quarter" idx="13"/>
          </p:nvPr>
        </p:nvSpPr>
        <p:spPr/>
        <p:txBody>
          <a:bodyPr/>
          <a:lstStyle/>
          <a:p>
            <a:pPr marL="342900" indent="-342900">
              <a:buClr>
                <a:schemeClr val="tx1"/>
              </a:buClr>
              <a:buFont typeface="Arial" panose="020B0604020202020204" pitchFamily="34" charset="0"/>
              <a:buChar char="•"/>
              <a:defRPr/>
            </a:pPr>
            <a:r>
              <a:rPr lang="es-ES" dirty="0">
                <a:latin typeface="Arial" charset="0"/>
              </a:rPr>
              <a:t>Personal nuevo y especializado</a:t>
            </a:r>
          </a:p>
          <a:p>
            <a:pPr>
              <a:buClr>
                <a:schemeClr val="tx1"/>
              </a:buClr>
              <a:buFontTx/>
              <a:buChar char="•"/>
              <a:defRPr/>
            </a:pPr>
            <a:endParaRPr lang="es-ES" dirty="0">
              <a:latin typeface="Arial" charset="0"/>
            </a:endParaRPr>
          </a:p>
          <a:p>
            <a:pPr marL="342900" indent="-342900">
              <a:buClr>
                <a:schemeClr val="tx1"/>
              </a:buClr>
              <a:buFont typeface="Arial" panose="020B0604020202020204" pitchFamily="34" charset="0"/>
              <a:buChar char="•"/>
              <a:defRPr/>
            </a:pPr>
            <a:r>
              <a:rPr lang="es-ES" dirty="0">
                <a:latin typeface="Arial" charset="0"/>
              </a:rPr>
              <a:t>Necesidad explícita de respaldos</a:t>
            </a:r>
          </a:p>
          <a:p>
            <a:pPr>
              <a:buClr>
                <a:schemeClr val="tx1"/>
              </a:buClr>
              <a:buFontTx/>
              <a:buChar char="•"/>
              <a:defRPr/>
            </a:pPr>
            <a:endParaRPr lang="es-ES" dirty="0">
              <a:latin typeface="Arial" charset="0"/>
            </a:endParaRPr>
          </a:p>
          <a:p>
            <a:pPr marL="342900" indent="-342900">
              <a:buClr>
                <a:schemeClr val="tx1"/>
              </a:buClr>
              <a:buFont typeface="Arial" panose="020B0604020202020204" pitchFamily="34" charset="0"/>
              <a:buChar char="•"/>
              <a:defRPr/>
            </a:pPr>
            <a:r>
              <a:rPr lang="es-ES" dirty="0">
                <a:latin typeface="Arial" charset="0"/>
              </a:rPr>
              <a:t>Interferencia con los datos compartidos</a:t>
            </a:r>
          </a:p>
          <a:p>
            <a:pPr>
              <a:buClr>
                <a:schemeClr val="tx1"/>
              </a:buClr>
              <a:buFontTx/>
              <a:buChar char="•"/>
              <a:defRPr/>
            </a:pPr>
            <a:endParaRPr lang="es-ES" dirty="0">
              <a:latin typeface="Arial" charset="0"/>
            </a:endParaRPr>
          </a:p>
          <a:p>
            <a:pPr marL="342900" indent="-342900">
              <a:buClr>
                <a:schemeClr val="tx1"/>
              </a:buClr>
              <a:buFont typeface="Arial" panose="020B0604020202020204" pitchFamily="34" charset="0"/>
              <a:buChar char="•"/>
              <a:defRPr/>
            </a:pPr>
            <a:r>
              <a:rPr lang="es-ES" dirty="0">
                <a:latin typeface="Arial" charset="0"/>
              </a:rPr>
              <a:t>Conflictos organizacionales.</a:t>
            </a:r>
          </a:p>
          <a:p>
            <a:endParaRPr lang="es-MX" dirty="0"/>
          </a:p>
        </p:txBody>
      </p:sp>
    </p:spTree>
    <p:extLst>
      <p:ext uri="{BB962C8B-B14F-4D97-AF65-F5344CB8AC3E}">
        <p14:creationId xmlns:p14="http://schemas.microsoft.com/office/powerpoint/2010/main" val="30459944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MX" b="1" dirty="0">
                <a:solidFill>
                  <a:schemeClr val="accent1">
                    <a:lumMod val="50000"/>
                  </a:schemeClr>
                </a:solidFill>
              </a:rPr>
              <a:t>ADA 1. Sistema de Archivos VS </a:t>
            </a:r>
            <a:br>
              <a:rPr lang="es-MX" b="1" dirty="0">
                <a:solidFill>
                  <a:schemeClr val="accent1">
                    <a:lumMod val="50000"/>
                  </a:schemeClr>
                </a:solidFill>
              </a:rPr>
            </a:br>
            <a:r>
              <a:rPr lang="es-MX" b="1" dirty="0">
                <a:solidFill>
                  <a:schemeClr val="accent1">
                    <a:lumMod val="50000"/>
                  </a:schemeClr>
                </a:solidFill>
              </a:rPr>
              <a:t>Modelo de Bases de datos</a:t>
            </a:r>
          </a:p>
        </p:txBody>
      </p:sp>
      <p:sp>
        <p:nvSpPr>
          <p:cNvPr id="3" name="Marcador de contenido 2"/>
          <p:cNvSpPr>
            <a:spLocks noGrp="1"/>
          </p:cNvSpPr>
          <p:nvPr>
            <p:ph sz="quarter" idx="13"/>
          </p:nvPr>
        </p:nvSpPr>
        <p:spPr/>
        <p:txBody>
          <a:bodyPr/>
          <a:lstStyle/>
          <a:p>
            <a:pPr>
              <a:defRPr/>
            </a:pPr>
            <a:r>
              <a:rPr lang="es-MX" dirty="0"/>
              <a:t>Con base en el material de lectura, Cap. I. del libro </a:t>
            </a:r>
            <a:r>
              <a:rPr lang="es-MX" dirty="0" err="1"/>
              <a:t>Database</a:t>
            </a:r>
            <a:r>
              <a:rPr lang="es-MX" dirty="0"/>
              <a:t> </a:t>
            </a:r>
            <a:r>
              <a:rPr lang="es-MX" dirty="0" err="1"/>
              <a:t>Systems</a:t>
            </a:r>
            <a:r>
              <a:rPr lang="es-MX" dirty="0"/>
              <a:t>, de Coronel, escribe un ensayo sobre el desarrollo de sistemas utilizando el modelo de archivos y sistemas de archivo, mencionando las características de este tipo de desarrollo de sistemas, y compáralo con las ventajas que ofrece el desarrollo de sistemas basado en el Modelo de Bases de datos.</a:t>
            </a:r>
          </a:p>
          <a:p>
            <a:pPr>
              <a:defRPr/>
            </a:pPr>
            <a:endParaRPr lang="es-MX" dirty="0"/>
          </a:p>
          <a:p>
            <a:pPr>
              <a:defRPr/>
            </a:pPr>
            <a:r>
              <a:rPr lang="es-MX" dirty="0"/>
              <a:t>Escribe tu ensayo en un mínimo de tres cuartillas. Incluye una portada que contenga tu nombre, la unidad, y el nombre de la tarea. El cuerpo del ensayo debe contener: Índice; Introducción; Desarrollo</a:t>
            </a:r>
            <a:r>
              <a:rPr lang="es-MX"/>
              <a:t>; Conclusiones.</a:t>
            </a:r>
            <a:endParaRPr lang="es-MX" dirty="0"/>
          </a:p>
          <a:p>
            <a:pPr>
              <a:defRPr/>
            </a:pPr>
            <a:r>
              <a:rPr lang="es-MX" dirty="0"/>
              <a:t> </a:t>
            </a:r>
          </a:p>
          <a:p>
            <a:pPr>
              <a:defRPr/>
            </a:pPr>
            <a:r>
              <a:rPr lang="es-MX" b="1" dirty="0"/>
              <a:t>Fecha de entrega:</a:t>
            </a:r>
            <a:r>
              <a:rPr lang="es-MX" dirty="0"/>
              <a:t> Ver plataforma.</a:t>
            </a:r>
          </a:p>
          <a:p>
            <a:endParaRPr lang="es-MX" dirty="0"/>
          </a:p>
        </p:txBody>
      </p:sp>
    </p:spTree>
    <p:extLst>
      <p:ext uri="{BB962C8B-B14F-4D97-AF65-F5344CB8AC3E}">
        <p14:creationId xmlns:p14="http://schemas.microsoft.com/office/powerpoint/2010/main" val="7435670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a:solidFill>
                  <a:schemeClr val="accent1">
                    <a:lumMod val="50000"/>
                  </a:schemeClr>
                </a:solidFill>
                <a:latin typeface="Arial" charset="0"/>
              </a:rPr>
              <a:t>Beneficios del enfoque de BD</a:t>
            </a:r>
            <a:endParaRPr lang="es-MX" b="1" dirty="0">
              <a:solidFill>
                <a:schemeClr val="accent1">
                  <a:lumMod val="50000"/>
                </a:schemeClr>
              </a:solidFill>
            </a:endParaRPr>
          </a:p>
        </p:txBody>
      </p:sp>
      <p:sp>
        <p:nvSpPr>
          <p:cNvPr id="3" name="Marcador de contenido 2"/>
          <p:cNvSpPr>
            <a:spLocks noGrp="1"/>
          </p:cNvSpPr>
          <p:nvPr>
            <p:ph sz="quarter" idx="13"/>
          </p:nvPr>
        </p:nvSpPr>
        <p:spPr/>
        <p:txBody>
          <a:bodyPr/>
          <a:lstStyle/>
          <a:p>
            <a:pPr>
              <a:buClr>
                <a:schemeClr val="tx1"/>
              </a:buClr>
              <a:buFontTx/>
              <a:buChar char="•"/>
              <a:defRPr/>
            </a:pPr>
            <a:r>
              <a:rPr lang="es-ES" dirty="0"/>
              <a:t>Redundancia mínima</a:t>
            </a:r>
          </a:p>
          <a:p>
            <a:pPr>
              <a:buClr>
                <a:schemeClr val="tx1"/>
              </a:buClr>
              <a:buFontTx/>
              <a:buChar char="•"/>
              <a:defRPr/>
            </a:pPr>
            <a:r>
              <a:rPr lang="es-ES" dirty="0"/>
              <a:t>Consistencia</a:t>
            </a:r>
          </a:p>
          <a:p>
            <a:pPr>
              <a:buClr>
                <a:schemeClr val="tx1"/>
              </a:buClr>
              <a:buFontTx/>
              <a:buChar char="•"/>
              <a:defRPr/>
            </a:pPr>
            <a:r>
              <a:rPr lang="es-ES" dirty="0"/>
              <a:t>Integración y Compartición</a:t>
            </a:r>
          </a:p>
          <a:p>
            <a:pPr>
              <a:buClr>
                <a:schemeClr val="tx1"/>
              </a:buClr>
              <a:buFontTx/>
              <a:buChar char="•"/>
              <a:defRPr/>
            </a:pPr>
            <a:r>
              <a:rPr lang="es-ES" dirty="0"/>
              <a:t>Reforzamiento de estándares</a:t>
            </a:r>
          </a:p>
          <a:p>
            <a:pPr>
              <a:buClr>
                <a:schemeClr val="tx1"/>
              </a:buClr>
              <a:buFontTx/>
              <a:buChar char="•"/>
              <a:defRPr/>
            </a:pPr>
            <a:r>
              <a:rPr lang="es-ES" dirty="0"/>
              <a:t>Facilidad del desarrollo de aplicaciones</a:t>
            </a:r>
          </a:p>
          <a:p>
            <a:pPr>
              <a:buClr>
                <a:schemeClr val="tx1"/>
              </a:buClr>
              <a:buFontTx/>
              <a:buChar char="•"/>
              <a:defRPr/>
            </a:pPr>
            <a:r>
              <a:rPr lang="es-ES" dirty="0"/>
              <a:t>Controles uniformes de seguridad, </a:t>
            </a:r>
            <a:r>
              <a:rPr lang="es-ES" dirty="0" err="1"/>
              <a:t>privacía</a:t>
            </a:r>
            <a:r>
              <a:rPr lang="es-ES" dirty="0"/>
              <a:t>, e integridad</a:t>
            </a:r>
          </a:p>
          <a:p>
            <a:pPr>
              <a:buClr>
                <a:schemeClr val="tx1"/>
              </a:buClr>
              <a:buFontTx/>
              <a:buChar char="•"/>
              <a:defRPr/>
            </a:pPr>
            <a:r>
              <a:rPr lang="es-ES" dirty="0"/>
              <a:t>Accesibilidad y facilidad de respuesta</a:t>
            </a:r>
          </a:p>
          <a:p>
            <a:pPr>
              <a:buClr>
                <a:schemeClr val="tx1"/>
              </a:buClr>
              <a:buFontTx/>
              <a:buChar char="•"/>
              <a:defRPr/>
            </a:pPr>
            <a:r>
              <a:rPr lang="es-ES" dirty="0"/>
              <a:t>Independencia de los datos</a:t>
            </a:r>
          </a:p>
          <a:p>
            <a:pPr>
              <a:buClr>
                <a:schemeClr val="tx1"/>
              </a:buClr>
              <a:buFontTx/>
              <a:buChar char="•"/>
              <a:defRPr/>
            </a:pPr>
            <a:r>
              <a:rPr lang="es-ES" dirty="0"/>
              <a:t>Reducción del mantenimiento</a:t>
            </a:r>
          </a:p>
          <a:p>
            <a:endParaRPr lang="es-MX" dirty="0"/>
          </a:p>
        </p:txBody>
      </p:sp>
    </p:spTree>
    <p:extLst>
      <p:ext uri="{BB962C8B-B14F-4D97-AF65-F5344CB8AC3E}">
        <p14:creationId xmlns:p14="http://schemas.microsoft.com/office/powerpoint/2010/main" val="21911384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800687" y="438137"/>
            <a:ext cx="10245091" cy="846210"/>
          </a:xfrm>
        </p:spPr>
        <p:txBody>
          <a:bodyPr/>
          <a:lstStyle/>
          <a:p>
            <a:pPr algn="ctr"/>
            <a:r>
              <a:rPr lang="es-MX" b="1" dirty="0">
                <a:solidFill>
                  <a:schemeClr val="accent1">
                    <a:lumMod val="50000"/>
                  </a:schemeClr>
                </a:solidFill>
              </a:rPr>
              <a:t>El Ciclo de Vida de Bases de datos (CVBD)</a:t>
            </a:r>
            <a:br>
              <a:rPr lang="es-MX" b="1" dirty="0">
                <a:solidFill>
                  <a:schemeClr val="accent1">
                    <a:lumMod val="50000"/>
                  </a:schemeClr>
                </a:solidFill>
              </a:rPr>
            </a:br>
            <a:r>
              <a:rPr lang="es-MX" b="1" dirty="0">
                <a:solidFill>
                  <a:schemeClr val="accent1">
                    <a:lumMod val="50000"/>
                  </a:schemeClr>
                </a:solidFill>
              </a:rPr>
              <a:t>                                         </a:t>
            </a:r>
            <a:r>
              <a:rPr lang="es-MX" sz="2000" b="1" dirty="0" err="1">
                <a:solidFill>
                  <a:schemeClr val="accent1">
                    <a:lumMod val="50000"/>
                  </a:schemeClr>
                </a:solidFill>
              </a:rPr>
              <a:t>Database</a:t>
            </a:r>
            <a:r>
              <a:rPr lang="es-MX" sz="2000" b="1" dirty="0">
                <a:solidFill>
                  <a:schemeClr val="accent1">
                    <a:lumMod val="50000"/>
                  </a:schemeClr>
                </a:solidFill>
              </a:rPr>
              <a:t> </a:t>
            </a:r>
            <a:r>
              <a:rPr lang="es-MX" sz="2000" b="1" dirty="0" err="1">
                <a:solidFill>
                  <a:schemeClr val="accent1">
                    <a:lumMod val="50000"/>
                  </a:schemeClr>
                </a:solidFill>
              </a:rPr>
              <a:t>modeling</a:t>
            </a:r>
            <a:r>
              <a:rPr lang="es-MX" sz="2000" b="1" dirty="0">
                <a:solidFill>
                  <a:schemeClr val="accent1">
                    <a:lumMod val="50000"/>
                  </a:schemeClr>
                </a:solidFill>
              </a:rPr>
              <a:t> and </a:t>
            </a:r>
            <a:r>
              <a:rPr lang="es-MX" sz="2000" b="1" dirty="0" err="1">
                <a:solidFill>
                  <a:schemeClr val="accent1">
                    <a:lumMod val="50000"/>
                  </a:schemeClr>
                </a:solidFill>
              </a:rPr>
              <a:t>design</a:t>
            </a:r>
            <a:endParaRPr lang="es-MX" dirty="0"/>
          </a:p>
        </p:txBody>
      </p:sp>
      <p:sp>
        <p:nvSpPr>
          <p:cNvPr id="4" name="Rectángulo 3"/>
          <p:cNvSpPr/>
          <p:nvPr/>
        </p:nvSpPr>
        <p:spPr>
          <a:xfrm>
            <a:off x="952293" y="2562726"/>
            <a:ext cx="10345354" cy="27311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 name="Marcador de contenido 2"/>
          <p:cNvSpPr>
            <a:spLocks noGrp="1"/>
          </p:cNvSpPr>
          <p:nvPr>
            <p:ph sz="quarter" idx="13"/>
          </p:nvPr>
        </p:nvSpPr>
        <p:spPr/>
        <p:txBody>
          <a:bodyPr/>
          <a:lstStyle/>
          <a:p>
            <a:r>
              <a:rPr lang="es-MX" b="1" dirty="0">
                <a:solidFill>
                  <a:schemeClr val="accent1">
                    <a:lumMod val="50000"/>
                  </a:schemeClr>
                </a:solidFill>
              </a:rPr>
              <a:t>Incorpora los pasos siguientes:</a:t>
            </a:r>
          </a:p>
          <a:p>
            <a:endParaRPr lang="es-MX" b="1" dirty="0">
              <a:solidFill>
                <a:schemeClr val="accent1">
                  <a:lumMod val="50000"/>
                </a:schemeClr>
              </a:solidFill>
            </a:endParaRPr>
          </a:p>
          <a:p>
            <a:pPr marL="514350" indent="-514350">
              <a:buAutoNum type="romanUcPeriod"/>
            </a:pPr>
            <a:r>
              <a:rPr lang="es-MX" dirty="0">
                <a:solidFill>
                  <a:schemeClr val="bg1"/>
                </a:solidFill>
              </a:rPr>
              <a:t>Desarrollo de Requisitos</a:t>
            </a:r>
          </a:p>
          <a:p>
            <a:pPr marL="514350" indent="-514350">
              <a:buAutoNum type="romanUcPeriod"/>
            </a:pPr>
            <a:r>
              <a:rPr lang="es-MX" b="1" dirty="0">
                <a:solidFill>
                  <a:schemeClr val="bg1"/>
                </a:solidFill>
              </a:rPr>
              <a:t>Diseño Lógico</a:t>
            </a:r>
          </a:p>
          <a:p>
            <a:pPr marL="514350" indent="-514350">
              <a:buAutoNum type="romanUcPeriod"/>
            </a:pPr>
            <a:r>
              <a:rPr lang="es-MX" b="1" dirty="0">
                <a:solidFill>
                  <a:schemeClr val="bg1"/>
                </a:solidFill>
              </a:rPr>
              <a:t>Diseño Físico</a:t>
            </a:r>
          </a:p>
          <a:p>
            <a:pPr marL="514350" indent="-514350">
              <a:buAutoNum type="romanUcPeriod"/>
            </a:pPr>
            <a:r>
              <a:rPr lang="es-MX" b="1" dirty="0">
                <a:solidFill>
                  <a:schemeClr val="bg1"/>
                </a:solidFill>
              </a:rPr>
              <a:t>Distribución de Datos</a:t>
            </a:r>
          </a:p>
          <a:p>
            <a:pPr marL="514350" indent="-514350">
              <a:buAutoNum type="romanUcPeriod"/>
            </a:pPr>
            <a:r>
              <a:rPr lang="es-MX" dirty="0">
                <a:solidFill>
                  <a:schemeClr val="bg1"/>
                </a:solidFill>
              </a:rPr>
              <a:t>Implementación, monitoreo y modificación.</a:t>
            </a:r>
          </a:p>
          <a:p>
            <a:endParaRPr lang="es-MX" dirty="0"/>
          </a:p>
        </p:txBody>
      </p:sp>
    </p:spTree>
    <p:extLst>
      <p:ext uri="{BB962C8B-B14F-4D97-AF65-F5344CB8AC3E}">
        <p14:creationId xmlns:p14="http://schemas.microsoft.com/office/powerpoint/2010/main" val="204521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randombar(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randombar(horizontal)">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p:cNvPicPr>
            <a:picLocks noChangeAspect="1"/>
          </p:cNvPicPr>
          <p:nvPr/>
        </p:nvPicPr>
        <p:blipFill rotWithShape="1">
          <a:blip r:embed="rId2"/>
          <a:srcRect l="15316" t="29431" r="31889" b="12845"/>
          <a:stretch/>
        </p:blipFill>
        <p:spPr>
          <a:xfrm>
            <a:off x="2553630" y="1970866"/>
            <a:ext cx="7917365" cy="4869186"/>
          </a:xfrm>
          <a:prstGeom prst="rect">
            <a:avLst/>
          </a:prstGeom>
        </p:spPr>
      </p:pic>
      <p:pic>
        <p:nvPicPr>
          <p:cNvPr id="7" name="Imagen 6"/>
          <p:cNvPicPr>
            <a:picLocks noChangeAspect="1"/>
          </p:cNvPicPr>
          <p:nvPr/>
        </p:nvPicPr>
        <p:blipFill>
          <a:blip r:embed="rId3"/>
          <a:stretch>
            <a:fillRect/>
          </a:stretch>
        </p:blipFill>
        <p:spPr>
          <a:xfrm>
            <a:off x="2131595" y="420871"/>
            <a:ext cx="10248264" cy="1176630"/>
          </a:xfrm>
          <a:prstGeom prst="rect">
            <a:avLst/>
          </a:prstGeom>
        </p:spPr>
      </p:pic>
    </p:spTree>
    <p:extLst>
      <p:ext uri="{BB962C8B-B14F-4D97-AF65-F5344CB8AC3E}">
        <p14:creationId xmlns:p14="http://schemas.microsoft.com/office/powerpoint/2010/main" val="1587685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18147"/>
            <a:ext cx="10245091" cy="682690"/>
          </a:xfrm>
        </p:spPr>
        <p:txBody>
          <a:bodyPr/>
          <a:lstStyle/>
          <a:p>
            <a:r>
              <a:rPr lang="es-MX" b="1" dirty="0">
                <a:solidFill>
                  <a:schemeClr val="accent1">
                    <a:lumMod val="50000"/>
                  </a:schemeClr>
                </a:solidFill>
              </a:rPr>
              <a:t>CVBD. I. Desarrollo de Requisitos (Especificación)</a:t>
            </a:r>
            <a:endParaRPr lang="es-MX" dirty="0"/>
          </a:p>
        </p:txBody>
      </p:sp>
      <p:sp>
        <p:nvSpPr>
          <p:cNvPr id="3" name="Marcador de contenido 2"/>
          <p:cNvSpPr>
            <a:spLocks noGrp="1"/>
          </p:cNvSpPr>
          <p:nvPr>
            <p:ph sz="quarter" idx="13"/>
          </p:nvPr>
        </p:nvSpPr>
        <p:spPr>
          <a:xfrm>
            <a:off x="1108709" y="1814165"/>
            <a:ext cx="10356851" cy="1118505"/>
          </a:xfrm>
        </p:spPr>
        <p:txBody>
          <a:bodyPr/>
          <a:lstStyle/>
          <a:p>
            <a:pPr algn="just">
              <a:lnSpc>
                <a:spcPct val="100000"/>
              </a:lnSpc>
              <a:spcBef>
                <a:spcPts val="300"/>
              </a:spcBef>
              <a:spcAft>
                <a:spcPts val="300"/>
              </a:spcAft>
            </a:pPr>
            <a:r>
              <a:rPr lang="es-MX" sz="2000" dirty="0"/>
              <a:t>Mediante entrevistas a los </a:t>
            </a:r>
            <a:r>
              <a:rPr lang="es-MX" sz="2000" i="1" dirty="0" err="1">
                <a:solidFill>
                  <a:schemeClr val="accent1">
                    <a:lumMod val="50000"/>
                  </a:schemeClr>
                </a:solidFill>
              </a:rPr>
              <a:t>stakeholders</a:t>
            </a:r>
            <a:r>
              <a:rPr lang="es-MX" sz="2000" dirty="0"/>
              <a:t> (producen y usan los datos), consulta de documentos, observación de procesos, etc. se obtiene la especificación formal de los requisitos (</a:t>
            </a:r>
            <a:r>
              <a:rPr lang="es-MX" sz="2000" dirty="0" err="1"/>
              <a:t>Std</a:t>
            </a:r>
            <a:r>
              <a:rPr lang="es-MX" sz="2000" dirty="0"/>
              <a:t>. IEEE-830)</a:t>
            </a:r>
          </a:p>
        </p:txBody>
      </p:sp>
      <p:pic>
        <p:nvPicPr>
          <p:cNvPr id="5" name="Imagen 4"/>
          <p:cNvPicPr>
            <a:picLocks noChangeAspect="1"/>
          </p:cNvPicPr>
          <p:nvPr/>
        </p:nvPicPr>
        <p:blipFill>
          <a:blip r:embed="rId2"/>
          <a:stretch>
            <a:fillRect/>
          </a:stretch>
        </p:blipFill>
        <p:spPr>
          <a:xfrm>
            <a:off x="3605183" y="2932670"/>
            <a:ext cx="6379076" cy="3433051"/>
          </a:xfrm>
          <a:prstGeom prst="rect">
            <a:avLst/>
          </a:prstGeom>
        </p:spPr>
      </p:pic>
    </p:spTree>
    <p:extLst>
      <p:ext uri="{BB962C8B-B14F-4D97-AF65-F5344CB8AC3E}">
        <p14:creationId xmlns:p14="http://schemas.microsoft.com/office/powerpoint/2010/main" val="2026584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1000" fill="hold"/>
                                        <p:tgtEl>
                                          <p:spTgt spid="5"/>
                                        </p:tgtEl>
                                        <p:attrNameLst>
                                          <p:attrName>ppt_w</p:attrName>
                                        </p:attrNameLst>
                                      </p:cBhvr>
                                      <p:tavLst>
                                        <p:tav tm="0">
                                          <p:val>
                                            <p:fltVal val="0"/>
                                          </p:val>
                                        </p:tav>
                                        <p:tav tm="100000">
                                          <p:val>
                                            <p:strVal val="#ppt_w"/>
                                          </p:val>
                                        </p:tav>
                                      </p:tavLst>
                                    </p:anim>
                                    <p:anim calcmode="lin" valueType="num">
                                      <p:cBhvr>
                                        <p:cTn id="15" dur="1000" fill="hold"/>
                                        <p:tgtEl>
                                          <p:spTgt spid="5"/>
                                        </p:tgtEl>
                                        <p:attrNameLst>
                                          <p:attrName>ppt_h</p:attrName>
                                        </p:attrNameLst>
                                      </p:cBhvr>
                                      <p:tavLst>
                                        <p:tav tm="0">
                                          <p:val>
                                            <p:fltVal val="0"/>
                                          </p:val>
                                        </p:tav>
                                        <p:tav tm="100000">
                                          <p:val>
                                            <p:strVal val="#ppt_h"/>
                                          </p:val>
                                        </p:tav>
                                      </p:tavLst>
                                    </p:anim>
                                    <p:anim calcmode="lin" valueType="num">
                                      <p:cBhvr>
                                        <p:cTn id="16" dur="1000" fill="hold"/>
                                        <p:tgtEl>
                                          <p:spTgt spid="5"/>
                                        </p:tgtEl>
                                        <p:attrNameLst>
                                          <p:attrName>style.rotation</p:attrName>
                                        </p:attrNameLst>
                                      </p:cBhvr>
                                      <p:tavLst>
                                        <p:tav tm="0">
                                          <p:val>
                                            <p:fltVal val="90"/>
                                          </p:val>
                                        </p:tav>
                                        <p:tav tm="100000">
                                          <p:val>
                                            <p:fltVal val="0"/>
                                          </p:val>
                                        </p:tav>
                                      </p:tavLst>
                                    </p:anim>
                                    <p:animEffect transition="in" filter="fade">
                                      <p:cBhvr>
                                        <p:cTn id="1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18147"/>
            <a:ext cx="10245091" cy="682690"/>
          </a:xfrm>
        </p:spPr>
        <p:txBody>
          <a:bodyPr/>
          <a:lstStyle/>
          <a:p>
            <a:r>
              <a:rPr lang="es-MX" b="1" dirty="0">
                <a:solidFill>
                  <a:schemeClr val="accent1">
                    <a:lumMod val="50000"/>
                  </a:schemeClr>
                </a:solidFill>
              </a:rPr>
              <a:t>CVBD. I. Análisis de Requisitos</a:t>
            </a:r>
            <a:endParaRPr lang="es-MX" dirty="0"/>
          </a:p>
        </p:txBody>
      </p:sp>
      <p:sp>
        <p:nvSpPr>
          <p:cNvPr id="3" name="Marcador de contenido 2"/>
          <p:cNvSpPr>
            <a:spLocks noGrp="1"/>
          </p:cNvSpPr>
          <p:nvPr>
            <p:ph sz="quarter" idx="13"/>
          </p:nvPr>
        </p:nvSpPr>
        <p:spPr>
          <a:xfrm>
            <a:off x="1108709" y="1814165"/>
            <a:ext cx="10356851" cy="1818721"/>
          </a:xfrm>
        </p:spPr>
        <p:txBody>
          <a:bodyPr/>
          <a:lstStyle/>
          <a:p>
            <a:pPr>
              <a:lnSpc>
                <a:spcPct val="100000"/>
              </a:lnSpc>
              <a:spcBef>
                <a:spcPts val="300"/>
              </a:spcBef>
              <a:spcAft>
                <a:spcPts val="300"/>
              </a:spcAft>
            </a:pPr>
            <a:r>
              <a:rPr lang="es-MX" sz="2000" b="1" dirty="0">
                <a:solidFill>
                  <a:schemeClr val="accent1">
                    <a:lumMod val="50000"/>
                  </a:schemeClr>
                </a:solidFill>
              </a:rPr>
              <a:t>En lo referente a los datos, la especificación incluye:</a:t>
            </a:r>
          </a:p>
          <a:p>
            <a:pPr marL="342900" indent="-342900">
              <a:lnSpc>
                <a:spcPct val="100000"/>
              </a:lnSpc>
              <a:spcBef>
                <a:spcPts val="300"/>
              </a:spcBef>
              <a:spcAft>
                <a:spcPts val="300"/>
              </a:spcAft>
              <a:buFont typeface="Arial" panose="020B0604020202020204" pitchFamily="34" charset="0"/>
              <a:buChar char="•"/>
            </a:pPr>
            <a:r>
              <a:rPr lang="es-MX" sz="2000" dirty="0"/>
              <a:t>Los datos requeridos para el procesamiento</a:t>
            </a:r>
          </a:p>
          <a:p>
            <a:pPr marL="342900" indent="-342900">
              <a:lnSpc>
                <a:spcPct val="100000"/>
              </a:lnSpc>
              <a:spcBef>
                <a:spcPts val="300"/>
              </a:spcBef>
              <a:spcAft>
                <a:spcPts val="300"/>
              </a:spcAft>
              <a:buFont typeface="Arial" panose="020B0604020202020204" pitchFamily="34" charset="0"/>
              <a:buChar char="•"/>
            </a:pPr>
            <a:r>
              <a:rPr lang="es-MX" sz="2000" dirty="0"/>
              <a:t>Las interrelaciones naturales de los datos</a:t>
            </a:r>
          </a:p>
          <a:p>
            <a:pPr marL="342900" indent="-342900">
              <a:lnSpc>
                <a:spcPct val="100000"/>
              </a:lnSpc>
              <a:spcBef>
                <a:spcPts val="300"/>
              </a:spcBef>
              <a:spcAft>
                <a:spcPts val="300"/>
              </a:spcAft>
              <a:buFont typeface="Arial" panose="020B0604020202020204" pitchFamily="34" charset="0"/>
              <a:buChar char="•"/>
            </a:pPr>
            <a:r>
              <a:rPr lang="es-MX" sz="2000" dirty="0"/>
              <a:t>La plataforma de la implementación de la BD.</a:t>
            </a:r>
          </a:p>
        </p:txBody>
      </p:sp>
      <p:pic>
        <p:nvPicPr>
          <p:cNvPr id="4" name="Imagen 3"/>
          <p:cNvPicPr>
            <a:picLocks noChangeAspect="1"/>
          </p:cNvPicPr>
          <p:nvPr/>
        </p:nvPicPr>
        <p:blipFill rotWithShape="1">
          <a:blip r:embed="rId2"/>
          <a:srcRect l="4485" r="11902"/>
          <a:stretch/>
        </p:blipFill>
        <p:spPr>
          <a:xfrm>
            <a:off x="5387545" y="3805031"/>
            <a:ext cx="5198076" cy="2326458"/>
          </a:xfrm>
          <a:prstGeom prst="rect">
            <a:avLst/>
          </a:prstGeom>
        </p:spPr>
      </p:pic>
    </p:spTree>
    <p:extLst>
      <p:ext uri="{BB962C8B-B14F-4D97-AF65-F5344CB8AC3E}">
        <p14:creationId xmlns:p14="http://schemas.microsoft.com/office/powerpoint/2010/main" val="2330252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1" presetClass="entr" presetSubtype="1"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wheel(1)">
                                      <p:cBhvr>
                                        <p:cTn id="35"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93095" y="735724"/>
            <a:ext cx="10245091" cy="681030"/>
          </a:xfrm>
        </p:spPr>
        <p:txBody>
          <a:bodyPr/>
          <a:lstStyle/>
          <a:p>
            <a:r>
              <a:rPr lang="en-US" b="1" dirty="0" err="1">
                <a:solidFill>
                  <a:schemeClr val="accent1">
                    <a:lumMod val="50000"/>
                  </a:schemeClr>
                </a:solidFill>
                <a:latin typeface="Arial" charset="0"/>
              </a:rPr>
              <a:t>Ejemplo</a:t>
            </a:r>
            <a:r>
              <a:rPr lang="en-US" b="1" dirty="0">
                <a:solidFill>
                  <a:schemeClr val="accent1">
                    <a:lumMod val="50000"/>
                  </a:schemeClr>
                </a:solidFill>
                <a:latin typeface="Arial" charset="0"/>
              </a:rPr>
              <a:t> BD Escolar</a:t>
            </a:r>
            <a:endParaRPr lang="es-MX" b="1" dirty="0">
              <a:solidFill>
                <a:schemeClr val="accent1">
                  <a:lumMod val="50000"/>
                </a:schemeClr>
              </a:solidFill>
              <a:latin typeface="Arial" charset="0"/>
            </a:endParaRPr>
          </a:p>
        </p:txBody>
      </p:sp>
      <p:sp>
        <p:nvSpPr>
          <p:cNvPr id="3" name="Marcador de contenido 2"/>
          <p:cNvSpPr>
            <a:spLocks noGrp="1"/>
          </p:cNvSpPr>
          <p:nvPr>
            <p:ph sz="quarter" idx="13"/>
          </p:nvPr>
        </p:nvSpPr>
        <p:spPr>
          <a:xfrm>
            <a:off x="993095" y="2037189"/>
            <a:ext cx="10356851" cy="4432653"/>
          </a:xfrm>
        </p:spPr>
        <p:txBody>
          <a:bodyPr/>
          <a:lstStyle/>
          <a:p>
            <a:pPr>
              <a:lnSpc>
                <a:spcPct val="100000"/>
              </a:lnSpc>
              <a:spcBef>
                <a:spcPct val="0"/>
              </a:spcBef>
              <a:spcAft>
                <a:spcPts val="300"/>
              </a:spcAft>
            </a:pPr>
            <a:r>
              <a:rPr lang="es-MX" altLang="es-MX" b="1" dirty="0">
                <a:solidFill>
                  <a:schemeClr val="accent1">
                    <a:lumMod val="50000"/>
                  </a:schemeClr>
                </a:solidFill>
              </a:rPr>
              <a:t>Descripción del Negocio</a:t>
            </a:r>
          </a:p>
          <a:p>
            <a:pPr algn="just">
              <a:lnSpc>
                <a:spcPct val="100000"/>
              </a:lnSpc>
              <a:spcBef>
                <a:spcPct val="0"/>
              </a:spcBef>
              <a:spcAft>
                <a:spcPts val="300"/>
              </a:spcAft>
            </a:pPr>
            <a:r>
              <a:rPr lang="es-MX" altLang="es-MX" dirty="0"/>
              <a:t>La USE (Universidad del </a:t>
            </a:r>
            <a:r>
              <a:rPr lang="es-MX" altLang="es-MX" dirty="0" err="1"/>
              <a:t>SudEste</a:t>
            </a:r>
            <a:r>
              <a:rPr lang="es-MX" altLang="es-MX" dirty="0"/>
              <a:t>) requiere conocer el avance académico de sus </a:t>
            </a:r>
            <a:r>
              <a:rPr lang="es-MX" altLang="es-MX" b="1" dirty="0">
                <a:solidFill>
                  <a:schemeClr val="accent1">
                    <a:lumMod val="50000"/>
                  </a:schemeClr>
                </a:solidFill>
              </a:rPr>
              <a:t>alumnos</a:t>
            </a:r>
            <a:r>
              <a:rPr lang="es-MX" altLang="es-MX" dirty="0"/>
              <a:t> de las 6 </a:t>
            </a:r>
            <a:r>
              <a:rPr lang="es-MX" altLang="es-MX" b="1" dirty="0">
                <a:solidFill>
                  <a:schemeClr val="accent1">
                    <a:lumMod val="50000"/>
                  </a:schemeClr>
                </a:solidFill>
              </a:rPr>
              <a:t>carreras</a:t>
            </a:r>
            <a:r>
              <a:rPr lang="es-MX" altLang="es-MX" dirty="0"/>
              <a:t> que imparte en el nivel superior, así como la carga académica de sus </a:t>
            </a:r>
            <a:r>
              <a:rPr lang="es-MX" altLang="es-MX" b="1" dirty="0">
                <a:solidFill>
                  <a:schemeClr val="accent1">
                    <a:lumMod val="50000"/>
                  </a:schemeClr>
                </a:solidFill>
              </a:rPr>
              <a:t>profesores</a:t>
            </a:r>
            <a:r>
              <a:rPr lang="es-MX" altLang="es-MX" dirty="0"/>
              <a:t>. Los alumnos se registran en los </a:t>
            </a:r>
            <a:r>
              <a:rPr lang="es-MX" altLang="es-MX" b="1" dirty="0">
                <a:solidFill>
                  <a:schemeClr val="accent1">
                    <a:lumMod val="50000"/>
                  </a:schemeClr>
                </a:solidFill>
              </a:rPr>
              <a:t>grupos</a:t>
            </a:r>
            <a:r>
              <a:rPr lang="es-MX" altLang="es-MX" dirty="0"/>
              <a:t> (profesor-asignatura) que se ofrecen en cada período. Los alumnos pueden inscribirse en, al menos, una </a:t>
            </a:r>
            <a:r>
              <a:rPr lang="es-MX" altLang="es-MX" b="1" dirty="0">
                <a:solidFill>
                  <a:schemeClr val="accent1">
                    <a:lumMod val="50000"/>
                  </a:schemeClr>
                </a:solidFill>
              </a:rPr>
              <a:t>asignatura</a:t>
            </a:r>
            <a:r>
              <a:rPr lang="es-MX" altLang="es-MX" dirty="0"/>
              <a:t>, y a un máximo de </a:t>
            </a:r>
            <a:r>
              <a:rPr lang="es-MX" altLang="es-MX" b="1" dirty="0">
                <a:solidFill>
                  <a:schemeClr val="accent1">
                    <a:lumMod val="50000"/>
                  </a:schemeClr>
                </a:solidFill>
              </a:rPr>
              <a:t>42 créditos</a:t>
            </a:r>
            <a:r>
              <a:rPr lang="es-MX" altLang="es-MX" dirty="0"/>
              <a:t>, en los cursos ordinarios. Para los exámenes extraordinarios, tienen un máximo de </a:t>
            </a:r>
            <a:r>
              <a:rPr lang="es-MX" altLang="es-MX" b="1" dirty="0">
                <a:solidFill>
                  <a:schemeClr val="accent1">
                    <a:lumMod val="50000"/>
                  </a:schemeClr>
                </a:solidFill>
              </a:rPr>
              <a:t>tres oportunidades </a:t>
            </a:r>
            <a:r>
              <a:rPr lang="es-MX" altLang="es-MX" dirty="0"/>
              <a:t>para aprobar. Pueden ofrecerse varios grupos de la misma asignatura. Las asignaturas son </a:t>
            </a:r>
            <a:r>
              <a:rPr lang="es-MX" altLang="es-MX" b="1" dirty="0">
                <a:solidFill>
                  <a:schemeClr val="accent1">
                    <a:lumMod val="50000"/>
                  </a:schemeClr>
                </a:solidFill>
              </a:rPr>
              <a:t>únicas en cada carrera </a:t>
            </a:r>
            <a:r>
              <a:rPr lang="es-MX" altLang="es-MX" dirty="0"/>
              <a:t>y se imparten de </a:t>
            </a:r>
            <a:r>
              <a:rPr lang="es-MX" altLang="es-MX" b="1" dirty="0">
                <a:solidFill>
                  <a:schemeClr val="accent1">
                    <a:lumMod val="50000"/>
                  </a:schemeClr>
                </a:solidFill>
              </a:rPr>
              <a:t>una a seis sesiones </a:t>
            </a:r>
            <a:r>
              <a:rPr lang="es-MX" altLang="es-MX" dirty="0"/>
              <a:t>a la semana. Un alumno sólo puede estar inscrito a una carrera a la vez.</a:t>
            </a:r>
          </a:p>
          <a:p>
            <a:endParaRPr lang="es-MX" dirty="0"/>
          </a:p>
        </p:txBody>
      </p:sp>
    </p:spTree>
    <p:extLst>
      <p:ext uri="{BB962C8B-B14F-4D97-AF65-F5344CB8AC3E}">
        <p14:creationId xmlns:p14="http://schemas.microsoft.com/office/powerpoint/2010/main" val="1497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2165131" y="1857509"/>
            <a:ext cx="8366235" cy="4753500"/>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Elipse 3"/>
          <p:cNvSpPr/>
          <p:nvPr/>
        </p:nvSpPr>
        <p:spPr>
          <a:xfrm>
            <a:off x="3935333" y="1910059"/>
            <a:ext cx="1103586" cy="851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 name="CuadroTexto 4"/>
          <p:cNvSpPr txBox="1"/>
          <p:nvPr/>
        </p:nvSpPr>
        <p:spPr>
          <a:xfrm>
            <a:off x="4040437" y="2074118"/>
            <a:ext cx="998482" cy="523220"/>
          </a:xfrm>
          <a:prstGeom prst="rect">
            <a:avLst/>
          </a:prstGeom>
          <a:noFill/>
        </p:spPr>
        <p:txBody>
          <a:bodyPr wrap="square" rtlCol="0">
            <a:spAutoFit/>
          </a:bodyPr>
          <a:lstStyle/>
          <a:p>
            <a:r>
              <a:rPr lang="es-MX" sz="1400" dirty="0">
                <a:solidFill>
                  <a:schemeClr val="bg1"/>
                </a:solidFill>
              </a:rPr>
              <a:t>Registro Alumnos</a:t>
            </a:r>
          </a:p>
        </p:txBody>
      </p:sp>
      <p:sp>
        <p:nvSpPr>
          <p:cNvPr id="6" name="Rectángulo redondeado 5"/>
          <p:cNvSpPr/>
          <p:nvPr/>
        </p:nvSpPr>
        <p:spPr>
          <a:xfrm>
            <a:off x="1127036" y="1901180"/>
            <a:ext cx="777766" cy="552942"/>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DCE</a:t>
            </a:r>
          </a:p>
        </p:txBody>
      </p:sp>
      <p:cxnSp>
        <p:nvCxnSpPr>
          <p:cNvPr id="8" name="Conector recto de flecha 7"/>
          <p:cNvCxnSpPr>
            <a:endCxn id="4" idx="2"/>
          </p:cNvCxnSpPr>
          <p:nvPr/>
        </p:nvCxnSpPr>
        <p:spPr>
          <a:xfrm>
            <a:off x="1923129" y="2177651"/>
            <a:ext cx="2012204" cy="1580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ángulo 11"/>
          <p:cNvSpPr/>
          <p:nvPr/>
        </p:nvSpPr>
        <p:spPr>
          <a:xfrm>
            <a:off x="6096255" y="2290562"/>
            <a:ext cx="1224587" cy="32678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s-MX" sz="1400" dirty="0">
                <a:ln w="0"/>
                <a:solidFill>
                  <a:schemeClr val="bg1"/>
                </a:solidFill>
                <a:effectLst>
                  <a:outerShdw blurRad="38100" dist="19050" dir="2700000" algn="tl" rotWithShape="0">
                    <a:schemeClr val="dk1">
                      <a:alpha val="40000"/>
                    </a:schemeClr>
                  </a:outerShdw>
                </a:effectLst>
              </a:rPr>
              <a:t>Alumnos</a:t>
            </a:r>
          </a:p>
        </p:txBody>
      </p:sp>
      <p:cxnSp>
        <p:nvCxnSpPr>
          <p:cNvPr id="13" name="Conector recto de flecha 12"/>
          <p:cNvCxnSpPr>
            <a:stCxn id="5" idx="3"/>
            <a:endCxn id="12" idx="1"/>
          </p:cNvCxnSpPr>
          <p:nvPr/>
        </p:nvCxnSpPr>
        <p:spPr>
          <a:xfrm>
            <a:off x="5038919" y="2335728"/>
            <a:ext cx="1057336" cy="1182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Elipse 20"/>
          <p:cNvSpPr/>
          <p:nvPr/>
        </p:nvSpPr>
        <p:spPr>
          <a:xfrm>
            <a:off x="4031643" y="5519155"/>
            <a:ext cx="1103586" cy="851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 name="CuadroTexto 21"/>
          <p:cNvSpPr txBox="1"/>
          <p:nvPr/>
        </p:nvSpPr>
        <p:spPr>
          <a:xfrm>
            <a:off x="4073686" y="5651684"/>
            <a:ext cx="1129855" cy="523220"/>
          </a:xfrm>
          <a:prstGeom prst="rect">
            <a:avLst/>
          </a:prstGeom>
          <a:noFill/>
        </p:spPr>
        <p:txBody>
          <a:bodyPr wrap="square" rtlCol="0">
            <a:spAutoFit/>
          </a:bodyPr>
          <a:lstStyle/>
          <a:p>
            <a:r>
              <a:rPr lang="es-MX" sz="1400" dirty="0">
                <a:solidFill>
                  <a:schemeClr val="bg1"/>
                </a:solidFill>
              </a:rPr>
              <a:t>Registro Profesores</a:t>
            </a:r>
          </a:p>
        </p:txBody>
      </p:sp>
      <p:sp>
        <p:nvSpPr>
          <p:cNvPr id="23" name="Rectángulo redondeado 22"/>
          <p:cNvSpPr/>
          <p:nvPr/>
        </p:nvSpPr>
        <p:spPr>
          <a:xfrm>
            <a:off x="1090256" y="5290478"/>
            <a:ext cx="777766" cy="552942"/>
          </a:xfrm>
          <a:prstGeom prst="round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RH</a:t>
            </a:r>
          </a:p>
        </p:txBody>
      </p:sp>
      <p:cxnSp>
        <p:nvCxnSpPr>
          <p:cNvPr id="24" name="Conector recto de flecha 23"/>
          <p:cNvCxnSpPr>
            <a:stCxn id="23" idx="3"/>
            <a:endCxn id="21" idx="2"/>
          </p:cNvCxnSpPr>
          <p:nvPr/>
        </p:nvCxnSpPr>
        <p:spPr>
          <a:xfrm>
            <a:off x="1868022" y="5566949"/>
            <a:ext cx="2163621" cy="3778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Rectángulo 24"/>
          <p:cNvSpPr/>
          <p:nvPr/>
        </p:nvSpPr>
        <p:spPr>
          <a:xfrm>
            <a:off x="5639726" y="5796386"/>
            <a:ext cx="1224587" cy="32678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s-MX" sz="1400" dirty="0">
                <a:ln w="0"/>
                <a:solidFill>
                  <a:schemeClr val="bg1"/>
                </a:solidFill>
                <a:effectLst>
                  <a:outerShdw blurRad="38100" dist="19050" dir="2700000" algn="tl" rotWithShape="0">
                    <a:schemeClr val="dk1">
                      <a:alpha val="40000"/>
                    </a:schemeClr>
                  </a:outerShdw>
                </a:effectLst>
              </a:rPr>
              <a:t>Profesores</a:t>
            </a:r>
          </a:p>
        </p:txBody>
      </p:sp>
      <p:cxnSp>
        <p:nvCxnSpPr>
          <p:cNvPr id="26" name="Conector recto de flecha 25"/>
          <p:cNvCxnSpPr/>
          <p:nvPr/>
        </p:nvCxnSpPr>
        <p:spPr>
          <a:xfrm flipV="1">
            <a:off x="5135229" y="5968957"/>
            <a:ext cx="504497" cy="105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Elipse 34"/>
          <p:cNvSpPr/>
          <p:nvPr/>
        </p:nvSpPr>
        <p:spPr>
          <a:xfrm>
            <a:off x="4105207" y="3797333"/>
            <a:ext cx="1103586" cy="851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6" name="CuadroTexto 35"/>
          <p:cNvSpPr txBox="1"/>
          <p:nvPr/>
        </p:nvSpPr>
        <p:spPr>
          <a:xfrm>
            <a:off x="4136741" y="3961392"/>
            <a:ext cx="1171898" cy="523220"/>
          </a:xfrm>
          <a:prstGeom prst="rect">
            <a:avLst/>
          </a:prstGeom>
          <a:noFill/>
        </p:spPr>
        <p:txBody>
          <a:bodyPr wrap="square" rtlCol="0">
            <a:spAutoFit/>
          </a:bodyPr>
          <a:lstStyle/>
          <a:p>
            <a:r>
              <a:rPr lang="es-MX" sz="1400" dirty="0">
                <a:solidFill>
                  <a:schemeClr val="bg1"/>
                </a:solidFill>
              </a:rPr>
              <a:t>Registro Asignaturas</a:t>
            </a:r>
          </a:p>
        </p:txBody>
      </p:sp>
      <p:sp>
        <p:nvSpPr>
          <p:cNvPr id="37" name="Rectángulo redondeado 36"/>
          <p:cNvSpPr/>
          <p:nvPr/>
        </p:nvSpPr>
        <p:spPr>
          <a:xfrm>
            <a:off x="1079740" y="3777024"/>
            <a:ext cx="777766" cy="552942"/>
          </a:xfrm>
          <a:prstGeom prst="round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err="1"/>
              <a:t>DAc</a:t>
            </a:r>
            <a:endParaRPr lang="es-MX" dirty="0"/>
          </a:p>
        </p:txBody>
      </p:sp>
      <p:cxnSp>
        <p:nvCxnSpPr>
          <p:cNvPr id="38" name="Conector recto de flecha 37"/>
          <p:cNvCxnSpPr>
            <a:stCxn id="37" idx="3"/>
            <a:endCxn id="35" idx="2"/>
          </p:cNvCxnSpPr>
          <p:nvPr/>
        </p:nvCxnSpPr>
        <p:spPr>
          <a:xfrm>
            <a:off x="1857506" y="4053495"/>
            <a:ext cx="2247701" cy="1695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Rectángulo 38"/>
          <p:cNvSpPr/>
          <p:nvPr/>
        </p:nvSpPr>
        <p:spPr>
          <a:xfrm>
            <a:off x="5534609" y="4177836"/>
            <a:ext cx="1224587" cy="32678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s-MX" sz="1400" dirty="0">
                <a:ln w="0"/>
                <a:solidFill>
                  <a:schemeClr val="bg1"/>
                </a:solidFill>
                <a:effectLst>
                  <a:outerShdw blurRad="38100" dist="19050" dir="2700000" algn="tl" rotWithShape="0">
                    <a:schemeClr val="dk1">
                      <a:alpha val="40000"/>
                    </a:schemeClr>
                  </a:outerShdw>
                </a:effectLst>
              </a:rPr>
              <a:t>Asignaturas</a:t>
            </a:r>
          </a:p>
        </p:txBody>
      </p:sp>
      <p:cxnSp>
        <p:nvCxnSpPr>
          <p:cNvPr id="40" name="Conector recto de flecha 39"/>
          <p:cNvCxnSpPr>
            <a:endCxn id="39" idx="1"/>
          </p:cNvCxnSpPr>
          <p:nvPr/>
        </p:nvCxnSpPr>
        <p:spPr>
          <a:xfrm>
            <a:off x="5203541" y="4177836"/>
            <a:ext cx="331068" cy="1633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Elipse 43"/>
          <p:cNvSpPr/>
          <p:nvPr/>
        </p:nvSpPr>
        <p:spPr>
          <a:xfrm>
            <a:off x="5960279" y="4706474"/>
            <a:ext cx="1103586" cy="851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5" name="CuadroTexto 44"/>
          <p:cNvSpPr txBox="1"/>
          <p:nvPr/>
        </p:nvSpPr>
        <p:spPr>
          <a:xfrm>
            <a:off x="5991813" y="4870533"/>
            <a:ext cx="1171898" cy="523220"/>
          </a:xfrm>
          <a:prstGeom prst="rect">
            <a:avLst/>
          </a:prstGeom>
          <a:noFill/>
        </p:spPr>
        <p:txBody>
          <a:bodyPr wrap="square" rtlCol="0">
            <a:spAutoFit/>
          </a:bodyPr>
          <a:lstStyle/>
          <a:p>
            <a:r>
              <a:rPr lang="es-MX" sz="1400" dirty="0">
                <a:solidFill>
                  <a:schemeClr val="bg1"/>
                </a:solidFill>
              </a:rPr>
              <a:t>Registro Grupos</a:t>
            </a:r>
          </a:p>
        </p:txBody>
      </p:sp>
      <p:sp>
        <p:nvSpPr>
          <p:cNvPr id="48" name="Rectángulo 47"/>
          <p:cNvSpPr/>
          <p:nvPr/>
        </p:nvSpPr>
        <p:spPr>
          <a:xfrm>
            <a:off x="7568353" y="5034427"/>
            <a:ext cx="1224587" cy="32678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s-MX" sz="1400" dirty="0">
                <a:ln w="0"/>
                <a:solidFill>
                  <a:schemeClr val="bg1"/>
                </a:solidFill>
                <a:effectLst>
                  <a:outerShdw blurRad="38100" dist="19050" dir="2700000" algn="tl" rotWithShape="0">
                    <a:schemeClr val="dk1">
                      <a:alpha val="40000"/>
                    </a:schemeClr>
                  </a:outerShdw>
                </a:effectLst>
              </a:rPr>
              <a:t>Grupos</a:t>
            </a:r>
          </a:p>
        </p:txBody>
      </p:sp>
      <p:cxnSp>
        <p:nvCxnSpPr>
          <p:cNvPr id="49" name="Conector recto de flecha 48"/>
          <p:cNvCxnSpPr>
            <a:endCxn id="48" idx="1"/>
          </p:cNvCxnSpPr>
          <p:nvPr/>
        </p:nvCxnSpPr>
        <p:spPr>
          <a:xfrm>
            <a:off x="6454266" y="5197819"/>
            <a:ext cx="111408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Conector angular 50"/>
          <p:cNvCxnSpPr>
            <a:stCxn id="37" idx="2"/>
          </p:cNvCxnSpPr>
          <p:nvPr/>
        </p:nvCxnSpPr>
        <p:spPr>
          <a:xfrm rot="16200000" flipH="1">
            <a:off x="3348367" y="2450221"/>
            <a:ext cx="732168" cy="449165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Conector recto de flecha 59"/>
          <p:cNvCxnSpPr/>
          <p:nvPr/>
        </p:nvCxnSpPr>
        <p:spPr>
          <a:xfrm>
            <a:off x="6149470" y="4527616"/>
            <a:ext cx="331068" cy="1633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Conector recto de flecha 60"/>
          <p:cNvCxnSpPr/>
          <p:nvPr/>
        </p:nvCxnSpPr>
        <p:spPr>
          <a:xfrm flipV="1">
            <a:off x="6162413" y="5573277"/>
            <a:ext cx="349659" cy="2100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Elipse 68"/>
          <p:cNvSpPr/>
          <p:nvPr/>
        </p:nvSpPr>
        <p:spPr>
          <a:xfrm>
            <a:off x="2412393" y="2905495"/>
            <a:ext cx="1103586" cy="851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0" name="CuadroTexto 69"/>
          <p:cNvSpPr txBox="1"/>
          <p:nvPr/>
        </p:nvSpPr>
        <p:spPr>
          <a:xfrm>
            <a:off x="2557307" y="3072314"/>
            <a:ext cx="905984" cy="523220"/>
          </a:xfrm>
          <a:prstGeom prst="rect">
            <a:avLst/>
          </a:prstGeom>
          <a:noFill/>
        </p:spPr>
        <p:txBody>
          <a:bodyPr wrap="square" rtlCol="0">
            <a:spAutoFit/>
          </a:bodyPr>
          <a:lstStyle/>
          <a:p>
            <a:r>
              <a:rPr lang="es-MX" sz="1400" dirty="0">
                <a:solidFill>
                  <a:schemeClr val="bg1"/>
                </a:solidFill>
              </a:rPr>
              <a:t>Registro Carreras</a:t>
            </a:r>
          </a:p>
        </p:txBody>
      </p:sp>
      <p:sp>
        <p:nvSpPr>
          <p:cNvPr id="71" name="Rectángulo 70"/>
          <p:cNvSpPr/>
          <p:nvPr/>
        </p:nvSpPr>
        <p:spPr>
          <a:xfrm>
            <a:off x="4020476" y="3159866"/>
            <a:ext cx="1224587" cy="32678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s-MX" sz="1400" dirty="0">
                <a:ln w="0"/>
                <a:solidFill>
                  <a:schemeClr val="bg1"/>
                </a:solidFill>
                <a:effectLst>
                  <a:outerShdw blurRad="38100" dist="19050" dir="2700000" algn="tl" rotWithShape="0">
                    <a:schemeClr val="dk1">
                      <a:alpha val="40000"/>
                    </a:schemeClr>
                  </a:outerShdw>
                </a:effectLst>
              </a:rPr>
              <a:t>Carreras</a:t>
            </a:r>
          </a:p>
        </p:txBody>
      </p:sp>
      <p:cxnSp>
        <p:nvCxnSpPr>
          <p:cNvPr id="72" name="Conector recto de flecha 71"/>
          <p:cNvCxnSpPr/>
          <p:nvPr/>
        </p:nvCxnSpPr>
        <p:spPr>
          <a:xfrm flipV="1">
            <a:off x="3515979" y="3355297"/>
            <a:ext cx="504497" cy="105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Conector recto de flecha 72"/>
          <p:cNvCxnSpPr>
            <a:endCxn id="4" idx="4"/>
          </p:cNvCxnSpPr>
          <p:nvPr/>
        </p:nvCxnSpPr>
        <p:spPr>
          <a:xfrm flipH="1" flipV="1">
            <a:off x="4487126" y="2761397"/>
            <a:ext cx="56037" cy="3854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Conector recto de flecha 76"/>
          <p:cNvCxnSpPr/>
          <p:nvPr/>
        </p:nvCxnSpPr>
        <p:spPr>
          <a:xfrm flipV="1">
            <a:off x="1757660" y="3522703"/>
            <a:ext cx="779800" cy="270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Conector recto de flecha 80"/>
          <p:cNvCxnSpPr>
            <a:endCxn id="35" idx="0"/>
          </p:cNvCxnSpPr>
          <p:nvPr/>
        </p:nvCxnSpPr>
        <p:spPr>
          <a:xfrm>
            <a:off x="4571349" y="3483917"/>
            <a:ext cx="85651" cy="313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3" name="Rectángulo redondeado 82"/>
          <p:cNvSpPr/>
          <p:nvPr/>
        </p:nvSpPr>
        <p:spPr>
          <a:xfrm>
            <a:off x="10720616" y="1870700"/>
            <a:ext cx="915124" cy="552942"/>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ALUM</a:t>
            </a:r>
          </a:p>
        </p:txBody>
      </p:sp>
      <p:sp>
        <p:nvSpPr>
          <p:cNvPr id="88" name="Elipse 87"/>
          <p:cNvSpPr/>
          <p:nvPr/>
        </p:nvSpPr>
        <p:spPr>
          <a:xfrm>
            <a:off x="8790333" y="2185405"/>
            <a:ext cx="1103586" cy="851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9" name="CuadroTexto 88"/>
          <p:cNvSpPr txBox="1"/>
          <p:nvPr/>
        </p:nvSpPr>
        <p:spPr>
          <a:xfrm>
            <a:off x="8752366" y="2340794"/>
            <a:ext cx="1260314" cy="523220"/>
          </a:xfrm>
          <a:prstGeom prst="rect">
            <a:avLst/>
          </a:prstGeom>
          <a:noFill/>
        </p:spPr>
        <p:txBody>
          <a:bodyPr wrap="square" rtlCol="0">
            <a:spAutoFit/>
          </a:bodyPr>
          <a:lstStyle/>
          <a:p>
            <a:r>
              <a:rPr lang="es-MX" sz="1400" dirty="0">
                <a:solidFill>
                  <a:schemeClr val="bg1"/>
                </a:solidFill>
              </a:rPr>
              <a:t>Registro Inscripciones</a:t>
            </a:r>
          </a:p>
        </p:txBody>
      </p:sp>
      <p:cxnSp>
        <p:nvCxnSpPr>
          <p:cNvPr id="90" name="Conector recto de flecha 89"/>
          <p:cNvCxnSpPr>
            <a:stCxn id="83" idx="1"/>
          </p:cNvCxnSpPr>
          <p:nvPr/>
        </p:nvCxnSpPr>
        <p:spPr>
          <a:xfrm flipH="1">
            <a:off x="9893919" y="2147171"/>
            <a:ext cx="826697" cy="4501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Conector recto de flecha 94"/>
          <p:cNvCxnSpPr>
            <a:endCxn id="89" idx="1"/>
          </p:cNvCxnSpPr>
          <p:nvPr/>
        </p:nvCxnSpPr>
        <p:spPr>
          <a:xfrm>
            <a:off x="7320842" y="2479111"/>
            <a:ext cx="1431524" cy="1232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8" name="Rectángulo 97"/>
          <p:cNvSpPr/>
          <p:nvPr/>
        </p:nvSpPr>
        <p:spPr>
          <a:xfrm>
            <a:off x="9067795" y="3952387"/>
            <a:ext cx="1339428" cy="32678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s-MX" sz="1400" dirty="0">
                <a:ln w="0"/>
                <a:solidFill>
                  <a:schemeClr val="bg1"/>
                </a:solidFill>
                <a:effectLst>
                  <a:outerShdw blurRad="38100" dist="19050" dir="2700000" algn="tl" rotWithShape="0">
                    <a:schemeClr val="dk1">
                      <a:alpha val="40000"/>
                    </a:schemeClr>
                  </a:outerShdw>
                </a:effectLst>
              </a:rPr>
              <a:t>Calificaciones</a:t>
            </a:r>
          </a:p>
        </p:txBody>
      </p:sp>
      <p:cxnSp>
        <p:nvCxnSpPr>
          <p:cNvPr id="99" name="Conector recto de flecha 98"/>
          <p:cNvCxnSpPr/>
          <p:nvPr/>
        </p:nvCxnSpPr>
        <p:spPr>
          <a:xfrm flipV="1">
            <a:off x="8029903" y="2982036"/>
            <a:ext cx="1037892" cy="20800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Conector recto de flecha 100"/>
          <p:cNvCxnSpPr/>
          <p:nvPr/>
        </p:nvCxnSpPr>
        <p:spPr>
          <a:xfrm>
            <a:off x="9490841" y="3072314"/>
            <a:ext cx="116282" cy="8800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Título 1"/>
          <p:cNvSpPr txBox="1">
            <a:spLocks/>
          </p:cNvSpPr>
          <p:nvPr/>
        </p:nvSpPr>
        <p:spPr>
          <a:xfrm>
            <a:off x="1108709" y="818147"/>
            <a:ext cx="10245091" cy="682690"/>
          </a:xfrm>
          <a:prstGeom prst="rect">
            <a:avLst/>
          </a:prstGeom>
        </p:spPr>
        <p:txBody>
          <a:bodyPr/>
          <a:lstStyle>
            <a:lvl1pPr algn="l" defTabSz="914377" rtl="0" eaLnBrk="1" latinLnBrk="0" hangingPunct="1">
              <a:lnSpc>
                <a:spcPct val="90000"/>
              </a:lnSpc>
              <a:spcBef>
                <a:spcPct val="0"/>
              </a:spcBef>
              <a:buNone/>
              <a:defRPr sz="3200" kern="1200">
                <a:solidFill>
                  <a:schemeClr val="tx1"/>
                </a:solidFill>
                <a:latin typeface="Arial" panose="020B0604020202020204" pitchFamily="34" charset="0"/>
                <a:ea typeface="+mj-ea"/>
                <a:cs typeface="Arial" panose="020B0604020202020204" pitchFamily="34" charset="0"/>
              </a:defRPr>
            </a:lvl1pPr>
          </a:lstStyle>
          <a:p>
            <a:r>
              <a:rPr lang="es-MX" b="1" dirty="0">
                <a:solidFill>
                  <a:schemeClr val="accent1">
                    <a:lumMod val="50000"/>
                  </a:schemeClr>
                </a:solidFill>
              </a:rPr>
              <a:t>CVBD. I. Desarrollo de Requisitos (DFD-&gt; Sistema)</a:t>
            </a:r>
            <a:endParaRPr lang="es-MX" dirty="0"/>
          </a:p>
        </p:txBody>
      </p:sp>
    </p:spTree>
    <p:extLst>
      <p:ext uri="{BB962C8B-B14F-4D97-AF65-F5344CB8AC3E}">
        <p14:creationId xmlns:p14="http://schemas.microsoft.com/office/powerpoint/2010/main" val="2901080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par>
                                <p:cTn id="13" presetID="14" presetClass="entr" presetSubtype="10" fill="hold" grpId="0" nodeType="withEffect">
                                  <p:stCondLst>
                                    <p:cond delay="0"/>
                                  </p:stCondLst>
                                  <p:childTnLst>
                                    <p:set>
                                      <p:cBhvr>
                                        <p:cTn id="14" dur="1" fill="hold">
                                          <p:stCondLst>
                                            <p:cond delay="0"/>
                                          </p:stCondLst>
                                        </p:cTn>
                                        <p:tgtEl>
                                          <p:spTgt spid="69"/>
                                        </p:tgtEl>
                                        <p:attrNameLst>
                                          <p:attrName>style.visibility</p:attrName>
                                        </p:attrNameLst>
                                      </p:cBhvr>
                                      <p:to>
                                        <p:strVal val="visible"/>
                                      </p:to>
                                    </p:set>
                                    <p:animEffect transition="in" filter="randombar(horizontal)">
                                      <p:cBhvr>
                                        <p:cTn id="15" dur="500"/>
                                        <p:tgtEl>
                                          <p:spTgt spid="69"/>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randombar(horizontal)">
                                      <p:cBhvr>
                                        <p:cTn id="18" dur="5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grpId="0" nodeType="clickEffect">
                                  <p:stCondLst>
                                    <p:cond delay="0"/>
                                  </p:stCondLst>
                                  <p:childTnLst>
                                    <p:set>
                                      <p:cBhvr>
                                        <p:cTn id="22" dur="1" fill="hold">
                                          <p:stCondLst>
                                            <p:cond delay="0"/>
                                          </p:stCondLst>
                                        </p:cTn>
                                        <p:tgtEl>
                                          <p:spTgt spid="71"/>
                                        </p:tgtEl>
                                        <p:attrNameLst>
                                          <p:attrName>style.visibility</p:attrName>
                                        </p:attrNameLst>
                                      </p:cBhvr>
                                      <p:to>
                                        <p:strVal val="visible"/>
                                      </p:to>
                                    </p:set>
                                    <p:animEffect transition="in" filter="randombar(horizontal)">
                                      <p:cBhvr>
                                        <p:cTn id="23" dur="500"/>
                                        <p:tgtEl>
                                          <p:spTgt spid="71"/>
                                        </p:tgtEl>
                                      </p:cBhvr>
                                    </p:animEffect>
                                  </p:childTnLst>
                                </p:cTn>
                              </p:par>
                              <p:par>
                                <p:cTn id="24" presetID="14" presetClass="entr" presetSubtype="10" fill="hold" grpId="0"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randombar(horizontal)">
                                      <p:cBhvr>
                                        <p:cTn id="26" dur="500"/>
                                        <p:tgtEl>
                                          <p:spTgt spid="35"/>
                                        </p:tgtEl>
                                      </p:cBhvr>
                                    </p:animEffect>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grpId="0" nodeType="click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randombar(horizontal)">
                                      <p:cBhvr>
                                        <p:cTn id="31" dur="500"/>
                                        <p:tgtEl>
                                          <p:spTgt spid="39"/>
                                        </p:tgtEl>
                                      </p:cBhvr>
                                    </p:animEffect>
                                  </p:childTnLst>
                                </p:cTn>
                              </p:par>
                              <p:par>
                                <p:cTn id="32" presetID="14" presetClass="entr" presetSubtype="10" fill="hold" grpId="0" nodeType="withEffect">
                                  <p:stCondLst>
                                    <p:cond delay="0"/>
                                  </p:stCondLst>
                                  <p:childTnLst>
                                    <p:set>
                                      <p:cBhvr>
                                        <p:cTn id="33" dur="1" fill="hold">
                                          <p:stCondLst>
                                            <p:cond delay="0"/>
                                          </p:stCondLst>
                                        </p:cTn>
                                        <p:tgtEl>
                                          <p:spTgt spid="44"/>
                                        </p:tgtEl>
                                        <p:attrNameLst>
                                          <p:attrName>style.visibility</p:attrName>
                                        </p:attrNameLst>
                                      </p:cBhvr>
                                      <p:to>
                                        <p:strVal val="visible"/>
                                      </p:to>
                                    </p:set>
                                    <p:animEffect transition="in" filter="randombar(horizontal)">
                                      <p:cBhvr>
                                        <p:cTn id="34" dur="500"/>
                                        <p:tgtEl>
                                          <p:spTgt spid="44"/>
                                        </p:tgtEl>
                                      </p:cBhvr>
                                    </p:animEffect>
                                  </p:childTnLst>
                                </p:cTn>
                              </p:par>
                              <p:par>
                                <p:cTn id="35" presetID="14" presetClass="entr" presetSubtype="1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randombar(horizontal)">
                                      <p:cBhvr>
                                        <p:cTn id="37" dur="500"/>
                                        <p:tgtEl>
                                          <p:spTgt spid="25"/>
                                        </p:tgtEl>
                                      </p:cBhvr>
                                    </p:animEffect>
                                  </p:childTnLst>
                                </p:cTn>
                              </p:par>
                              <p:par>
                                <p:cTn id="38" presetID="14" presetClass="entr" presetSubtype="1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randombar(horizontal)">
                                      <p:cBhvr>
                                        <p:cTn id="40" dur="500"/>
                                        <p:tgtEl>
                                          <p:spTgt spid="12"/>
                                        </p:tgtEl>
                                      </p:cBhvr>
                                    </p:animEffect>
                                  </p:childTnLst>
                                </p:cTn>
                              </p:par>
                              <p:par>
                                <p:cTn id="41" presetID="14" presetClass="entr" presetSubtype="10" fill="hold" grpId="0" nodeType="withEffect">
                                  <p:stCondLst>
                                    <p:cond delay="0"/>
                                  </p:stCondLst>
                                  <p:childTnLst>
                                    <p:set>
                                      <p:cBhvr>
                                        <p:cTn id="42" dur="1" fill="hold">
                                          <p:stCondLst>
                                            <p:cond delay="0"/>
                                          </p:stCondLst>
                                        </p:cTn>
                                        <p:tgtEl>
                                          <p:spTgt spid="48"/>
                                        </p:tgtEl>
                                        <p:attrNameLst>
                                          <p:attrName>style.visibility</p:attrName>
                                        </p:attrNameLst>
                                      </p:cBhvr>
                                      <p:to>
                                        <p:strVal val="visible"/>
                                      </p:to>
                                    </p:set>
                                    <p:animEffect transition="in" filter="randombar(horizontal)">
                                      <p:cBhvr>
                                        <p:cTn id="43" dur="500"/>
                                        <p:tgtEl>
                                          <p:spTgt spid="48"/>
                                        </p:tgtEl>
                                      </p:cBhvr>
                                    </p:animEffect>
                                  </p:childTnLst>
                                </p:cTn>
                              </p:par>
                            </p:childTnLst>
                          </p:cTn>
                        </p:par>
                      </p:childTnLst>
                    </p:cTn>
                  </p:par>
                  <p:par>
                    <p:cTn id="44" fill="hold">
                      <p:stCondLst>
                        <p:cond delay="indefinite"/>
                      </p:stCondLst>
                      <p:childTnLst>
                        <p:par>
                          <p:cTn id="45" fill="hold">
                            <p:stCondLst>
                              <p:cond delay="0"/>
                            </p:stCondLst>
                            <p:childTnLst>
                              <p:par>
                                <p:cTn id="46" presetID="14" presetClass="entr" presetSubtype="10" fill="hold" grpId="0" nodeType="clickEffect">
                                  <p:stCondLst>
                                    <p:cond delay="0"/>
                                  </p:stCondLst>
                                  <p:childTnLst>
                                    <p:set>
                                      <p:cBhvr>
                                        <p:cTn id="47" dur="1" fill="hold">
                                          <p:stCondLst>
                                            <p:cond delay="0"/>
                                          </p:stCondLst>
                                        </p:cTn>
                                        <p:tgtEl>
                                          <p:spTgt spid="88"/>
                                        </p:tgtEl>
                                        <p:attrNameLst>
                                          <p:attrName>style.visibility</p:attrName>
                                        </p:attrNameLst>
                                      </p:cBhvr>
                                      <p:to>
                                        <p:strVal val="visible"/>
                                      </p:to>
                                    </p:set>
                                    <p:animEffect transition="in" filter="randombar(horizontal)">
                                      <p:cBhvr>
                                        <p:cTn id="48" dur="500"/>
                                        <p:tgtEl>
                                          <p:spTgt spid="88"/>
                                        </p:tgtEl>
                                      </p:cBhvr>
                                    </p:animEffect>
                                  </p:childTnLst>
                                </p:cTn>
                              </p:par>
                              <p:par>
                                <p:cTn id="49" presetID="14" presetClass="entr" presetSubtype="10" fill="hold" grpId="0" nodeType="withEffect">
                                  <p:stCondLst>
                                    <p:cond delay="0"/>
                                  </p:stCondLst>
                                  <p:childTnLst>
                                    <p:set>
                                      <p:cBhvr>
                                        <p:cTn id="50" dur="1" fill="hold">
                                          <p:stCondLst>
                                            <p:cond delay="0"/>
                                          </p:stCondLst>
                                        </p:cTn>
                                        <p:tgtEl>
                                          <p:spTgt spid="98"/>
                                        </p:tgtEl>
                                        <p:attrNameLst>
                                          <p:attrName>style.visibility</p:attrName>
                                        </p:attrNameLst>
                                      </p:cBhvr>
                                      <p:to>
                                        <p:strVal val="visible"/>
                                      </p:to>
                                    </p:set>
                                    <p:animEffect transition="in" filter="randombar(horizontal)">
                                      <p:cBhvr>
                                        <p:cTn id="51" dur="5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2" grpId="0" animBg="1"/>
      <p:bldP spid="21" grpId="0" animBg="1"/>
      <p:bldP spid="25" grpId="0" animBg="1"/>
      <p:bldP spid="35" grpId="0" animBg="1"/>
      <p:bldP spid="39" grpId="0" animBg="1"/>
      <p:bldP spid="44" grpId="0" animBg="1"/>
      <p:bldP spid="48" grpId="0" animBg="1"/>
      <p:bldP spid="69" grpId="0" animBg="1"/>
      <p:bldP spid="71" grpId="0" animBg="1"/>
      <p:bldP spid="88" grpId="0" animBg="1"/>
      <p:bldP spid="9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22959"/>
            <a:ext cx="10245091" cy="677877"/>
          </a:xfrm>
        </p:spPr>
        <p:txBody>
          <a:bodyPr/>
          <a:lstStyle/>
          <a:p>
            <a:r>
              <a:rPr lang="es-MX" b="1" dirty="0">
                <a:solidFill>
                  <a:schemeClr val="accent1">
                    <a:lumMod val="50000"/>
                  </a:schemeClr>
                </a:solidFill>
              </a:rPr>
              <a:t>Diccionario de Datos (DD del DFD) Ejemplos:</a:t>
            </a:r>
            <a:endParaRPr lang="es-MX" dirty="0"/>
          </a:p>
        </p:txBody>
      </p:sp>
      <p:sp>
        <p:nvSpPr>
          <p:cNvPr id="3" name="Marcador de contenido 2"/>
          <p:cNvSpPr>
            <a:spLocks noGrp="1"/>
          </p:cNvSpPr>
          <p:nvPr>
            <p:ph sz="quarter" idx="13"/>
          </p:nvPr>
        </p:nvSpPr>
        <p:spPr/>
        <p:txBody>
          <a:bodyPr/>
          <a:lstStyle/>
          <a:p>
            <a:r>
              <a:rPr lang="es-MX" sz="1800" b="1" dirty="0">
                <a:solidFill>
                  <a:schemeClr val="accent1">
                    <a:lumMod val="50000"/>
                  </a:schemeClr>
                </a:solidFill>
              </a:rPr>
              <a:t>ALUMNOS =</a:t>
            </a:r>
          </a:p>
          <a:p>
            <a:r>
              <a:rPr lang="es-MX" sz="1800" dirty="0"/>
              <a:t>Matrícula + Nombre + Semestre + Dirección + Teléfono</a:t>
            </a:r>
          </a:p>
          <a:p>
            <a:r>
              <a:rPr lang="es-MX" sz="1800" b="1" dirty="0">
                <a:solidFill>
                  <a:schemeClr val="accent1">
                    <a:lumMod val="50000"/>
                  </a:schemeClr>
                </a:solidFill>
              </a:rPr>
              <a:t>DIRECCION =</a:t>
            </a:r>
          </a:p>
          <a:p>
            <a:r>
              <a:rPr lang="es-MX" sz="1800" dirty="0"/>
              <a:t>Calle + Número + Colonia + </a:t>
            </a:r>
            <a:r>
              <a:rPr lang="es-MX" sz="1800" dirty="0" err="1"/>
              <a:t>CPostal</a:t>
            </a:r>
            <a:endParaRPr lang="es-MX" sz="1800" dirty="0"/>
          </a:p>
          <a:p>
            <a:r>
              <a:rPr lang="es-MX" sz="1800" b="1" dirty="0">
                <a:solidFill>
                  <a:schemeClr val="accent1">
                    <a:lumMod val="50000"/>
                  </a:schemeClr>
                </a:solidFill>
              </a:rPr>
              <a:t>GRUPOS =             // </a:t>
            </a:r>
            <a:r>
              <a:rPr lang="es-MX" sz="1800" dirty="0">
                <a:solidFill>
                  <a:schemeClr val="accent1">
                    <a:lumMod val="50000"/>
                  </a:schemeClr>
                </a:solidFill>
              </a:rPr>
              <a:t>Profesores imparten una  o más Asignaturas; </a:t>
            </a:r>
          </a:p>
          <a:p>
            <a:r>
              <a:rPr lang="es-MX" sz="1800" dirty="0">
                <a:solidFill>
                  <a:schemeClr val="accent1">
                    <a:lumMod val="50000"/>
                  </a:schemeClr>
                </a:solidFill>
              </a:rPr>
              <a:t>                                // Una Asignatura se imparte por uno o más Profesores</a:t>
            </a:r>
          </a:p>
          <a:p>
            <a:r>
              <a:rPr lang="es-MX" sz="1800" dirty="0"/>
              <a:t>Clave Profesor + Clave Asignatura + Período + Horario</a:t>
            </a:r>
          </a:p>
          <a:p>
            <a:r>
              <a:rPr lang="es-MX" sz="1800" b="1" dirty="0">
                <a:solidFill>
                  <a:schemeClr val="accent1">
                    <a:lumMod val="50000"/>
                  </a:schemeClr>
                </a:solidFill>
              </a:rPr>
              <a:t>PERIODO  =           </a:t>
            </a:r>
            <a:r>
              <a:rPr lang="es-MX" sz="1800" dirty="0">
                <a:solidFill>
                  <a:schemeClr val="accent1">
                    <a:lumMod val="50000"/>
                  </a:schemeClr>
                </a:solidFill>
              </a:rPr>
              <a:t>// Período escolar</a:t>
            </a:r>
          </a:p>
          <a:p>
            <a:r>
              <a:rPr lang="es-MX" sz="1800" dirty="0"/>
              <a:t> Mes/Año</a:t>
            </a:r>
          </a:p>
          <a:p>
            <a:r>
              <a:rPr lang="es-MX" sz="1800" b="1" dirty="0">
                <a:solidFill>
                  <a:schemeClr val="accent1">
                    <a:lumMod val="50000"/>
                  </a:schemeClr>
                </a:solidFill>
              </a:rPr>
              <a:t>HORARIO =             // </a:t>
            </a:r>
            <a:r>
              <a:rPr lang="es-MX" sz="1800" dirty="0">
                <a:solidFill>
                  <a:schemeClr val="accent1">
                    <a:lumMod val="50000"/>
                  </a:schemeClr>
                </a:solidFill>
              </a:rPr>
              <a:t>1-6 sesiones de clase a la semana</a:t>
            </a:r>
          </a:p>
          <a:p>
            <a:r>
              <a:rPr lang="es-MX" sz="1800" dirty="0"/>
              <a:t>{ Día + Horario + Aula }</a:t>
            </a:r>
          </a:p>
        </p:txBody>
      </p:sp>
    </p:spTree>
    <p:extLst>
      <p:ext uri="{BB962C8B-B14F-4D97-AF65-F5344CB8AC3E}">
        <p14:creationId xmlns:p14="http://schemas.microsoft.com/office/powerpoint/2010/main" val="2940324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down)">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down)">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wipe(down)">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wipe(down)">
                                      <p:cBhvr>
                                        <p:cTn id="5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1040529" y="3331779"/>
            <a:ext cx="6674069" cy="19864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Título 1"/>
          <p:cNvSpPr>
            <a:spLocks noGrp="1"/>
          </p:cNvSpPr>
          <p:nvPr>
            <p:ph type="title"/>
          </p:nvPr>
        </p:nvSpPr>
        <p:spPr>
          <a:xfrm>
            <a:off x="1108709" y="878305"/>
            <a:ext cx="10245091" cy="622532"/>
          </a:xfrm>
        </p:spPr>
        <p:txBody>
          <a:bodyPr/>
          <a:lstStyle/>
          <a:p>
            <a:r>
              <a:rPr lang="es-MX" b="1" dirty="0">
                <a:solidFill>
                  <a:schemeClr val="accent1">
                    <a:lumMod val="50000"/>
                  </a:schemeClr>
                </a:solidFill>
              </a:rPr>
              <a:t>CVBD. II. Diseño Lógico</a:t>
            </a:r>
            <a:endParaRPr lang="es-MX" dirty="0"/>
          </a:p>
        </p:txBody>
      </p:sp>
      <p:sp>
        <p:nvSpPr>
          <p:cNvPr id="3" name="Marcador de contenido 2"/>
          <p:cNvSpPr>
            <a:spLocks noGrp="1"/>
          </p:cNvSpPr>
          <p:nvPr>
            <p:ph sz="quarter" idx="13"/>
          </p:nvPr>
        </p:nvSpPr>
        <p:spPr/>
        <p:txBody>
          <a:bodyPr/>
          <a:lstStyle/>
          <a:p>
            <a:r>
              <a:rPr lang="es-MX" dirty="0"/>
              <a:t>Se desarrolla el esquema global que muestra los datos y sus interrelaciones, usando técnicas de modelado de datos como ER.</a:t>
            </a:r>
          </a:p>
          <a:p>
            <a:r>
              <a:rPr lang="es-MX" dirty="0"/>
              <a:t>El modelo de datos debe transformarse en un conjunto de relaciones normalizadas o tablas.</a:t>
            </a:r>
          </a:p>
          <a:p>
            <a:pPr marL="457200" indent="-457200">
              <a:buAutoNum type="alphaLcParenR"/>
            </a:pPr>
            <a:r>
              <a:rPr lang="es-MX" dirty="0">
                <a:solidFill>
                  <a:schemeClr val="bg1"/>
                </a:solidFill>
              </a:rPr>
              <a:t>Modelado ER. </a:t>
            </a:r>
          </a:p>
          <a:p>
            <a:pPr marL="457200" indent="-457200">
              <a:buAutoNum type="alphaLcParenR"/>
            </a:pPr>
            <a:r>
              <a:rPr lang="es-MX" dirty="0">
                <a:solidFill>
                  <a:schemeClr val="bg1"/>
                </a:solidFill>
              </a:rPr>
              <a:t>Integración de vistas</a:t>
            </a:r>
          </a:p>
          <a:p>
            <a:pPr marL="457200" indent="-457200">
              <a:buAutoNum type="alphaLcParenR"/>
            </a:pPr>
            <a:r>
              <a:rPr lang="es-MX" dirty="0">
                <a:solidFill>
                  <a:schemeClr val="bg1"/>
                </a:solidFill>
              </a:rPr>
              <a:t>Transformación de un MER a tablas.</a:t>
            </a:r>
          </a:p>
          <a:p>
            <a:pPr marL="457200" indent="-457200">
              <a:buAutoNum type="alphaLcParenR"/>
            </a:pPr>
            <a:r>
              <a:rPr lang="es-MX" dirty="0">
                <a:solidFill>
                  <a:schemeClr val="bg1"/>
                </a:solidFill>
              </a:rPr>
              <a:t>Normalización de tablas</a:t>
            </a:r>
          </a:p>
          <a:p>
            <a:pPr marL="457200" indent="-457200">
              <a:buAutoNum type="alphaLcParenR"/>
            </a:pPr>
            <a:endParaRPr lang="es-MX" dirty="0"/>
          </a:p>
        </p:txBody>
      </p:sp>
    </p:spTree>
    <p:extLst>
      <p:ext uri="{BB962C8B-B14F-4D97-AF65-F5344CB8AC3E}">
        <p14:creationId xmlns:p14="http://schemas.microsoft.com/office/powerpoint/2010/main" val="2131730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randombar(horizont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5342019" y="1876926"/>
            <a:ext cx="6196264" cy="457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Título 1"/>
          <p:cNvSpPr>
            <a:spLocks noGrp="1"/>
          </p:cNvSpPr>
          <p:nvPr>
            <p:ph type="title"/>
          </p:nvPr>
        </p:nvSpPr>
        <p:spPr>
          <a:xfrm>
            <a:off x="1108709" y="878305"/>
            <a:ext cx="10245091" cy="622532"/>
          </a:xfrm>
        </p:spPr>
        <p:txBody>
          <a:bodyPr/>
          <a:lstStyle/>
          <a:p>
            <a:r>
              <a:rPr lang="es-MX" b="1" dirty="0">
                <a:solidFill>
                  <a:schemeClr val="accent1">
                    <a:lumMod val="50000"/>
                  </a:schemeClr>
                </a:solidFill>
              </a:rPr>
              <a:t>CVBD. II. Diseño Lógico</a:t>
            </a:r>
            <a:endParaRPr lang="es-MX" dirty="0"/>
          </a:p>
        </p:txBody>
      </p:sp>
      <p:pic>
        <p:nvPicPr>
          <p:cNvPr id="5" name="Imagen 4"/>
          <p:cNvPicPr>
            <a:picLocks noChangeAspect="1"/>
          </p:cNvPicPr>
          <p:nvPr/>
        </p:nvPicPr>
        <p:blipFill rotWithShape="1">
          <a:blip r:embed="rId2"/>
          <a:srcRect t="1" b="40861"/>
          <a:stretch/>
        </p:blipFill>
        <p:spPr>
          <a:xfrm>
            <a:off x="5449057" y="1941343"/>
            <a:ext cx="6010275" cy="2641808"/>
          </a:xfrm>
          <a:prstGeom prst="rect">
            <a:avLst/>
          </a:prstGeom>
        </p:spPr>
      </p:pic>
      <p:sp>
        <p:nvSpPr>
          <p:cNvPr id="6" name="CuadroTexto 5"/>
          <p:cNvSpPr txBox="1"/>
          <p:nvPr/>
        </p:nvSpPr>
        <p:spPr>
          <a:xfrm>
            <a:off x="320189" y="2033337"/>
            <a:ext cx="4572000" cy="2031325"/>
          </a:xfrm>
          <a:prstGeom prst="rect">
            <a:avLst/>
          </a:prstGeom>
          <a:noFill/>
        </p:spPr>
        <p:txBody>
          <a:bodyPr wrap="square" rtlCol="0">
            <a:spAutoFit/>
          </a:bodyPr>
          <a:lstStyle/>
          <a:p>
            <a:pPr marL="342900" indent="-342900">
              <a:buAutoNum type="alphaLcParenR"/>
            </a:pPr>
            <a:r>
              <a:rPr lang="es-MX" b="1" dirty="0">
                <a:solidFill>
                  <a:schemeClr val="accent1">
                    <a:lumMod val="50000"/>
                  </a:schemeClr>
                </a:solidFill>
              </a:rPr>
              <a:t>Modelado ER (Modelado Conceptual)</a:t>
            </a:r>
          </a:p>
          <a:p>
            <a:r>
              <a:rPr lang="es-MX" dirty="0"/>
              <a:t>Se analizan los datos y se genera un DER.</a:t>
            </a:r>
          </a:p>
          <a:p>
            <a:r>
              <a:rPr lang="es-MX" dirty="0"/>
              <a:t>Los requerimientos se describen mediante lenguaje natural.</a:t>
            </a:r>
          </a:p>
          <a:p>
            <a:endParaRPr lang="es-MX" dirty="0"/>
          </a:p>
          <a:p>
            <a:endParaRPr lang="es-MX" dirty="0"/>
          </a:p>
          <a:p>
            <a:endParaRPr lang="es-MX" dirty="0"/>
          </a:p>
        </p:txBody>
      </p:sp>
      <p:sp>
        <p:nvSpPr>
          <p:cNvPr id="8" name="CuadroTexto 7"/>
          <p:cNvSpPr txBox="1"/>
          <p:nvPr/>
        </p:nvSpPr>
        <p:spPr>
          <a:xfrm>
            <a:off x="320189" y="3553075"/>
            <a:ext cx="4572000" cy="2862322"/>
          </a:xfrm>
          <a:prstGeom prst="rect">
            <a:avLst/>
          </a:prstGeom>
          <a:noFill/>
        </p:spPr>
        <p:txBody>
          <a:bodyPr wrap="square" rtlCol="0">
            <a:spAutoFit/>
          </a:bodyPr>
          <a:lstStyle/>
          <a:p>
            <a:endParaRPr lang="es-MX" dirty="0"/>
          </a:p>
          <a:p>
            <a:r>
              <a:rPr lang="es-MX" dirty="0"/>
              <a:t>b) </a:t>
            </a:r>
            <a:r>
              <a:rPr lang="es-MX" b="1" dirty="0">
                <a:solidFill>
                  <a:schemeClr val="accent1">
                    <a:lumMod val="50000"/>
                  </a:schemeClr>
                </a:solidFill>
              </a:rPr>
              <a:t>Integración de vistas</a:t>
            </a:r>
          </a:p>
          <a:p>
            <a:r>
              <a:rPr lang="es-MX" dirty="0"/>
              <a:t>Cuando el sistema es grande, pueden obtenerse varias vistas e interrelaciones. La integración elimina posibles redundancias e inconsistencias. Se obtiene un modelo del sistema completo.</a:t>
            </a:r>
          </a:p>
          <a:p>
            <a:endParaRPr lang="es-MX" dirty="0"/>
          </a:p>
          <a:p>
            <a:endParaRPr lang="es-MX" dirty="0"/>
          </a:p>
          <a:p>
            <a:endParaRPr lang="es-MX" dirty="0"/>
          </a:p>
        </p:txBody>
      </p:sp>
      <p:pic>
        <p:nvPicPr>
          <p:cNvPr id="3" name="Imagen 2"/>
          <p:cNvPicPr>
            <a:picLocks noChangeAspect="1"/>
          </p:cNvPicPr>
          <p:nvPr/>
        </p:nvPicPr>
        <p:blipFill rotWithShape="1">
          <a:blip r:embed="rId3"/>
          <a:srcRect t="59200" b="9505"/>
          <a:stretch/>
        </p:blipFill>
        <p:spPr>
          <a:xfrm>
            <a:off x="5434562" y="4884233"/>
            <a:ext cx="6011177" cy="1398523"/>
          </a:xfrm>
          <a:prstGeom prst="rect">
            <a:avLst/>
          </a:prstGeom>
        </p:spPr>
      </p:pic>
    </p:spTree>
    <p:extLst>
      <p:ext uri="{BB962C8B-B14F-4D97-AF65-F5344CB8AC3E}">
        <p14:creationId xmlns:p14="http://schemas.microsoft.com/office/powerpoint/2010/main" val="1728436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1)">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arn(inVertic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randombar(horizontal)">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93095" y="735724"/>
            <a:ext cx="10245091" cy="681030"/>
          </a:xfrm>
        </p:spPr>
        <p:txBody>
          <a:bodyPr/>
          <a:lstStyle/>
          <a:p>
            <a:r>
              <a:rPr lang="en-US" b="1" dirty="0" err="1">
                <a:solidFill>
                  <a:schemeClr val="accent1">
                    <a:lumMod val="50000"/>
                  </a:schemeClr>
                </a:solidFill>
                <a:latin typeface="Arial" charset="0"/>
              </a:rPr>
              <a:t>Ejemplo</a:t>
            </a:r>
            <a:r>
              <a:rPr lang="en-US" b="1" dirty="0">
                <a:solidFill>
                  <a:schemeClr val="accent1">
                    <a:lumMod val="50000"/>
                  </a:schemeClr>
                </a:solidFill>
                <a:latin typeface="Arial" charset="0"/>
              </a:rPr>
              <a:t> BD Escolar</a:t>
            </a:r>
            <a:endParaRPr lang="es-MX" b="1" dirty="0">
              <a:solidFill>
                <a:schemeClr val="accent1">
                  <a:lumMod val="50000"/>
                </a:schemeClr>
              </a:solidFill>
              <a:latin typeface="Arial" charset="0"/>
            </a:endParaRPr>
          </a:p>
        </p:txBody>
      </p:sp>
      <p:sp>
        <p:nvSpPr>
          <p:cNvPr id="3" name="Marcador de contenido 2"/>
          <p:cNvSpPr>
            <a:spLocks noGrp="1"/>
          </p:cNvSpPr>
          <p:nvPr>
            <p:ph sz="quarter" idx="13"/>
          </p:nvPr>
        </p:nvSpPr>
        <p:spPr/>
        <p:txBody>
          <a:bodyPr/>
          <a:lstStyle/>
          <a:p>
            <a:pPr>
              <a:spcBef>
                <a:spcPct val="0"/>
              </a:spcBef>
            </a:pPr>
            <a:r>
              <a:rPr lang="es-MX" altLang="es-MX" b="1" dirty="0">
                <a:solidFill>
                  <a:schemeClr val="accent1">
                    <a:lumMod val="50000"/>
                  </a:schemeClr>
                </a:solidFill>
              </a:rPr>
              <a:t>Entidades</a:t>
            </a:r>
          </a:p>
          <a:p>
            <a:pPr>
              <a:spcBef>
                <a:spcPct val="0"/>
              </a:spcBef>
            </a:pPr>
            <a:r>
              <a:rPr lang="es-MX" altLang="es-MX" dirty="0"/>
              <a:t>Alumnos (</a:t>
            </a:r>
            <a:r>
              <a:rPr lang="es-MX" altLang="es-MX" b="1" dirty="0"/>
              <a:t>Matricula</a:t>
            </a:r>
            <a:r>
              <a:rPr lang="es-MX" altLang="es-MX" dirty="0"/>
              <a:t>, Nombre, Dirección, Teléfono)</a:t>
            </a:r>
          </a:p>
          <a:p>
            <a:pPr>
              <a:spcBef>
                <a:spcPct val="0"/>
              </a:spcBef>
            </a:pPr>
            <a:r>
              <a:rPr lang="es-MX" altLang="es-MX" dirty="0"/>
              <a:t>Carreras (</a:t>
            </a:r>
            <a:r>
              <a:rPr lang="es-MX" altLang="es-MX" b="1" dirty="0" err="1"/>
              <a:t>CCar</a:t>
            </a:r>
            <a:r>
              <a:rPr lang="es-MX" altLang="es-MX" dirty="0"/>
              <a:t>, </a:t>
            </a:r>
            <a:r>
              <a:rPr lang="es-MX" altLang="es-MX" dirty="0" err="1"/>
              <a:t>NomCarrera</a:t>
            </a:r>
            <a:r>
              <a:rPr lang="es-MX" altLang="es-MX" dirty="0"/>
              <a:t>, </a:t>
            </a:r>
            <a:r>
              <a:rPr lang="es-MX" altLang="es-MX" dirty="0" err="1"/>
              <a:t>TCreditos</a:t>
            </a:r>
            <a:r>
              <a:rPr lang="es-MX" altLang="es-MX" dirty="0"/>
              <a:t>)</a:t>
            </a:r>
          </a:p>
          <a:p>
            <a:pPr>
              <a:spcBef>
                <a:spcPct val="0"/>
              </a:spcBef>
            </a:pPr>
            <a:r>
              <a:rPr lang="es-MX" altLang="es-MX" dirty="0"/>
              <a:t>Materias (</a:t>
            </a:r>
            <a:r>
              <a:rPr lang="es-MX" altLang="es-MX" b="1" dirty="0" err="1"/>
              <a:t>CMat</a:t>
            </a:r>
            <a:r>
              <a:rPr lang="es-MX" altLang="es-MX" dirty="0"/>
              <a:t>, </a:t>
            </a:r>
            <a:r>
              <a:rPr lang="es-MX" altLang="es-MX" dirty="0" err="1"/>
              <a:t>NomMat</a:t>
            </a:r>
            <a:r>
              <a:rPr lang="es-MX" altLang="es-MX" dirty="0"/>
              <a:t>, </a:t>
            </a:r>
            <a:r>
              <a:rPr lang="es-MX" altLang="es-MX" dirty="0" err="1"/>
              <a:t>NCreditos</a:t>
            </a:r>
            <a:r>
              <a:rPr lang="es-MX" altLang="es-MX" dirty="0"/>
              <a:t>)</a:t>
            </a:r>
          </a:p>
          <a:p>
            <a:pPr>
              <a:spcBef>
                <a:spcPct val="0"/>
              </a:spcBef>
            </a:pPr>
            <a:r>
              <a:rPr lang="es-MX" altLang="es-MX" dirty="0"/>
              <a:t>Profesores (</a:t>
            </a:r>
            <a:r>
              <a:rPr lang="es-MX" altLang="es-MX" b="1" dirty="0" err="1"/>
              <a:t>CProf</a:t>
            </a:r>
            <a:r>
              <a:rPr lang="es-MX" altLang="es-MX" dirty="0"/>
              <a:t>, </a:t>
            </a:r>
            <a:r>
              <a:rPr lang="es-MX" altLang="es-MX" dirty="0" err="1"/>
              <a:t>NomProf</a:t>
            </a:r>
            <a:r>
              <a:rPr lang="es-MX" altLang="es-MX" dirty="0"/>
              <a:t>, </a:t>
            </a:r>
            <a:r>
              <a:rPr lang="es-MX" altLang="es-MX" dirty="0" err="1"/>
              <a:t>GradoAcad</a:t>
            </a:r>
            <a:r>
              <a:rPr lang="es-MX" altLang="es-MX" dirty="0"/>
              <a:t>,  </a:t>
            </a:r>
            <a:r>
              <a:rPr lang="es-MX" altLang="es-MX" dirty="0" err="1"/>
              <a:t>FechaIng</a:t>
            </a:r>
            <a:r>
              <a:rPr lang="es-MX" altLang="es-MX" dirty="0"/>
              <a:t>, </a:t>
            </a:r>
            <a:r>
              <a:rPr lang="es-MX" altLang="es-MX" dirty="0" err="1"/>
              <a:t>NCubiculo</a:t>
            </a:r>
            <a:r>
              <a:rPr lang="es-MX" altLang="es-MX" dirty="0"/>
              <a:t>)</a:t>
            </a:r>
          </a:p>
          <a:p>
            <a:pPr>
              <a:spcBef>
                <a:spcPct val="0"/>
              </a:spcBef>
            </a:pPr>
            <a:endParaRPr lang="es-MX" altLang="es-MX" sz="1800" dirty="0"/>
          </a:p>
          <a:p>
            <a:pPr>
              <a:spcBef>
                <a:spcPct val="0"/>
              </a:spcBef>
            </a:pPr>
            <a:r>
              <a:rPr lang="es-MX" altLang="es-MX" b="1" dirty="0">
                <a:solidFill>
                  <a:schemeClr val="accent1">
                    <a:lumMod val="50000"/>
                  </a:schemeClr>
                </a:solidFill>
              </a:rPr>
              <a:t>Interrelaciones </a:t>
            </a:r>
          </a:p>
          <a:p>
            <a:pPr>
              <a:spcBef>
                <a:spcPct val="0"/>
              </a:spcBef>
            </a:pPr>
            <a:r>
              <a:rPr lang="es-MX" altLang="es-MX" dirty="0"/>
              <a:t>Grupos :   Profesores – Materias (</a:t>
            </a:r>
            <a:r>
              <a:rPr lang="es-MX" altLang="es-MX" b="1" dirty="0" err="1"/>
              <a:t>CProf</a:t>
            </a:r>
            <a:r>
              <a:rPr lang="es-MX" altLang="es-MX" b="1" dirty="0"/>
              <a:t>, </a:t>
            </a:r>
            <a:r>
              <a:rPr lang="es-MX" altLang="es-MX" b="1" dirty="0" err="1"/>
              <a:t>CMat</a:t>
            </a:r>
            <a:r>
              <a:rPr lang="es-MX" altLang="es-MX" dirty="0"/>
              <a:t>, </a:t>
            </a:r>
            <a:r>
              <a:rPr lang="es-MX" altLang="es-MX" b="1" dirty="0"/>
              <a:t>Periodo</a:t>
            </a:r>
            <a:r>
              <a:rPr lang="es-MX" altLang="es-MX" dirty="0"/>
              <a:t>, {Horario, Aula}, </a:t>
            </a:r>
            <a:r>
              <a:rPr lang="es-MX" altLang="es-MX" dirty="0" err="1"/>
              <a:t>TipoExa</a:t>
            </a:r>
            <a:r>
              <a:rPr lang="es-MX" altLang="es-MX" dirty="0"/>
              <a:t>)</a:t>
            </a:r>
          </a:p>
          <a:p>
            <a:pPr>
              <a:spcBef>
                <a:spcPct val="0"/>
              </a:spcBef>
            </a:pPr>
            <a:r>
              <a:rPr lang="es-MX" altLang="es-MX" dirty="0"/>
              <a:t>                  Alumno – Carrera (</a:t>
            </a:r>
            <a:r>
              <a:rPr lang="es-MX" altLang="es-MX" b="1" dirty="0"/>
              <a:t>Matricula, </a:t>
            </a:r>
            <a:r>
              <a:rPr lang="es-MX" altLang="es-MX" b="1" dirty="0" err="1"/>
              <a:t>CCar</a:t>
            </a:r>
            <a:r>
              <a:rPr lang="es-MX" altLang="es-MX" dirty="0"/>
              <a:t>)</a:t>
            </a:r>
          </a:p>
          <a:p>
            <a:pPr>
              <a:spcBef>
                <a:spcPct val="0"/>
              </a:spcBef>
            </a:pPr>
            <a:r>
              <a:rPr lang="es-MX" altLang="es-MX" dirty="0" err="1"/>
              <a:t>Inscripcion</a:t>
            </a:r>
            <a:r>
              <a:rPr lang="es-MX" altLang="es-MX" dirty="0"/>
              <a:t> :  Alumno – Grupos </a:t>
            </a:r>
          </a:p>
          <a:p>
            <a:pPr>
              <a:spcBef>
                <a:spcPct val="0"/>
              </a:spcBef>
            </a:pPr>
            <a:r>
              <a:rPr lang="es-MX" altLang="es-MX" dirty="0"/>
              <a:t>	       (</a:t>
            </a:r>
            <a:r>
              <a:rPr lang="es-MX" altLang="es-MX" b="1" dirty="0"/>
              <a:t>Matricula, </a:t>
            </a:r>
            <a:r>
              <a:rPr lang="es-MX" altLang="es-MX" b="1" dirty="0" err="1"/>
              <a:t>CProf</a:t>
            </a:r>
            <a:r>
              <a:rPr lang="es-MX" altLang="es-MX" b="1" dirty="0"/>
              <a:t>, </a:t>
            </a:r>
            <a:r>
              <a:rPr lang="es-MX" altLang="es-MX" b="1" dirty="0" err="1"/>
              <a:t>CMat</a:t>
            </a:r>
            <a:r>
              <a:rPr lang="es-MX" altLang="es-MX" dirty="0"/>
              <a:t>, </a:t>
            </a:r>
            <a:r>
              <a:rPr lang="es-MX" altLang="es-MX" dirty="0" err="1"/>
              <a:t>Calificacion</a:t>
            </a:r>
            <a:r>
              <a:rPr lang="es-MX" altLang="es-MX" dirty="0"/>
              <a:t>, </a:t>
            </a:r>
            <a:r>
              <a:rPr lang="es-MX" altLang="es-MX" b="1" dirty="0"/>
              <a:t>Periodo</a:t>
            </a:r>
            <a:r>
              <a:rPr lang="es-MX" altLang="es-MX" dirty="0"/>
              <a:t>, </a:t>
            </a:r>
            <a:r>
              <a:rPr lang="es-MX" altLang="es-MX" dirty="0" err="1"/>
              <a:t>TipoEx</a:t>
            </a:r>
            <a:r>
              <a:rPr lang="es-MX" altLang="es-MX" dirty="0"/>
              <a:t>)</a:t>
            </a:r>
          </a:p>
          <a:p>
            <a:endParaRPr lang="es-MX" dirty="0"/>
          </a:p>
        </p:txBody>
      </p:sp>
    </p:spTree>
    <p:extLst>
      <p:ext uri="{BB962C8B-B14F-4D97-AF65-F5344CB8AC3E}">
        <p14:creationId xmlns:p14="http://schemas.microsoft.com/office/powerpoint/2010/main" val="37770990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BD Escolar – DER</a:t>
            </a:r>
            <a:endParaRPr lang="es-MX" dirty="0"/>
          </a:p>
        </p:txBody>
      </p:sp>
      <p:sp>
        <p:nvSpPr>
          <p:cNvPr id="4" name="1 Rectángulo"/>
          <p:cNvSpPr/>
          <p:nvPr/>
        </p:nvSpPr>
        <p:spPr>
          <a:xfrm>
            <a:off x="2378495" y="2493884"/>
            <a:ext cx="1944687"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b="1" dirty="0">
                <a:solidFill>
                  <a:srgbClr val="FFFF00"/>
                </a:solidFill>
                <a:latin typeface="Arial" pitchFamily="34" charset="0"/>
                <a:cs typeface="Arial" pitchFamily="34" charset="0"/>
              </a:rPr>
              <a:t>Alumno</a:t>
            </a:r>
          </a:p>
        </p:txBody>
      </p:sp>
      <p:sp>
        <p:nvSpPr>
          <p:cNvPr id="5" name="3 Rectángulo"/>
          <p:cNvSpPr/>
          <p:nvPr/>
        </p:nvSpPr>
        <p:spPr>
          <a:xfrm>
            <a:off x="7420395" y="2493884"/>
            <a:ext cx="19431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b="1" dirty="0">
                <a:solidFill>
                  <a:srgbClr val="FFFF00"/>
                </a:solidFill>
                <a:latin typeface="Arial" pitchFamily="34" charset="0"/>
                <a:cs typeface="Arial" pitchFamily="34" charset="0"/>
              </a:rPr>
              <a:t>Carrera</a:t>
            </a:r>
          </a:p>
        </p:txBody>
      </p:sp>
      <p:sp>
        <p:nvSpPr>
          <p:cNvPr id="6" name="5 Rectángulo"/>
          <p:cNvSpPr/>
          <p:nvPr/>
        </p:nvSpPr>
        <p:spPr>
          <a:xfrm>
            <a:off x="2451520" y="5810172"/>
            <a:ext cx="19431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b="1" dirty="0">
                <a:solidFill>
                  <a:srgbClr val="FFFF00"/>
                </a:solidFill>
                <a:latin typeface="Arial" pitchFamily="34" charset="0"/>
                <a:cs typeface="Arial" pitchFamily="34" charset="0"/>
              </a:rPr>
              <a:t>Profesores</a:t>
            </a:r>
          </a:p>
        </p:txBody>
      </p:sp>
      <p:sp>
        <p:nvSpPr>
          <p:cNvPr id="7" name="6 Rectángulo"/>
          <p:cNvSpPr/>
          <p:nvPr/>
        </p:nvSpPr>
        <p:spPr>
          <a:xfrm>
            <a:off x="7420395" y="5784772"/>
            <a:ext cx="19431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b="1" dirty="0">
                <a:solidFill>
                  <a:srgbClr val="FFFF00"/>
                </a:solidFill>
                <a:latin typeface="Arial" pitchFamily="34" charset="0"/>
                <a:cs typeface="Arial" pitchFamily="34" charset="0"/>
              </a:rPr>
              <a:t>Materias</a:t>
            </a:r>
          </a:p>
        </p:txBody>
      </p:sp>
      <p:sp>
        <p:nvSpPr>
          <p:cNvPr id="8" name="20 Rombo"/>
          <p:cNvSpPr/>
          <p:nvPr/>
        </p:nvSpPr>
        <p:spPr>
          <a:xfrm>
            <a:off x="5359820" y="2092247"/>
            <a:ext cx="1176337" cy="1258887"/>
          </a:xfrm>
          <a:prstGeom prst="diamond">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200" b="1" dirty="0">
                <a:solidFill>
                  <a:schemeClr val="bg2"/>
                </a:solidFill>
                <a:latin typeface="Arial" pitchFamily="34" charset="0"/>
                <a:cs typeface="Arial" pitchFamily="34" charset="0"/>
              </a:rPr>
              <a:t>Tiene</a:t>
            </a:r>
          </a:p>
        </p:txBody>
      </p:sp>
      <p:sp>
        <p:nvSpPr>
          <p:cNvPr id="9" name="23 Rombo"/>
          <p:cNvSpPr/>
          <p:nvPr/>
        </p:nvSpPr>
        <p:spPr>
          <a:xfrm>
            <a:off x="7798220" y="3738484"/>
            <a:ext cx="1212850" cy="1203325"/>
          </a:xfrm>
          <a:prstGeom prst="diamond">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200" b="1" dirty="0">
                <a:solidFill>
                  <a:schemeClr val="bg2"/>
                </a:solidFill>
                <a:latin typeface="Arial" pitchFamily="34" charset="0"/>
                <a:cs typeface="Arial" pitchFamily="34" charset="0"/>
              </a:rPr>
              <a:t>Compone</a:t>
            </a:r>
          </a:p>
        </p:txBody>
      </p:sp>
      <p:sp>
        <p:nvSpPr>
          <p:cNvPr id="10" name="24 Rombo"/>
          <p:cNvSpPr/>
          <p:nvPr/>
        </p:nvSpPr>
        <p:spPr>
          <a:xfrm>
            <a:off x="5123282" y="5508931"/>
            <a:ext cx="1752600" cy="1034561"/>
          </a:xfrm>
          <a:prstGeom prst="diamond">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400" b="1" dirty="0">
                <a:solidFill>
                  <a:schemeClr val="bg2"/>
                </a:solidFill>
                <a:latin typeface="Arial" pitchFamily="34" charset="0"/>
                <a:cs typeface="Arial" pitchFamily="34" charset="0"/>
              </a:rPr>
              <a:t>Grupos</a:t>
            </a:r>
          </a:p>
        </p:txBody>
      </p:sp>
      <p:cxnSp>
        <p:nvCxnSpPr>
          <p:cNvPr id="11" name="25 Conector recto"/>
          <p:cNvCxnSpPr>
            <a:stCxn id="4" idx="3"/>
            <a:endCxn id="8" idx="1"/>
          </p:cNvCxnSpPr>
          <p:nvPr/>
        </p:nvCxnSpPr>
        <p:spPr>
          <a:xfrm>
            <a:off x="4323182" y="2722484"/>
            <a:ext cx="103663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28 Conector recto"/>
          <p:cNvCxnSpPr>
            <a:stCxn id="8" idx="3"/>
            <a:endCxn id="5" idx="1"/>
          </p:cNvCxnSpPr>
          <p:nvPr/>
        </p:nvCxnSpPr>
        <p:spPr>
          <a:xfrm>
            <a:off x="6536157" y="2722484"/>
            <a:ext cx="88423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31 Conector recto"/>
          <p:cNvCxnSpPr>
            <a:stCxn id="5" idx="2"/>
            <a:endCxn id="9" idx="0"/>
          </p:cNvCxnSpPr>
          <p:nvPr/>
        </p:nvCxnSpPr>
        <p:spPr>
          <a:xfrm>
            <a:off x="8391945" y="2951084"/>
            <a:ext cx="12700" cy="787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34 Conector recto"/>
          <p:cNvCxnSpPr>
            <a:stCxn id="9" idx="2"/>
            <a:endCxn id="7" idx="0"/>
          </p:cNvCxnSpPr>
          <p:nvPr/>
        </p:nvCxnSpPr>
        <p:spPr>
          <a:xfrm flipH="1">
            <a:off x="8391945" y="4941809"/>
            <a:ext cx="12700" cy="8429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37 Conector recto"/>
          <p:cNvCxnSpPr>
            <a:stCxn id="6" idx="3"/>
            <a:endCxn id="10" idx="1"/>
          </p:cNvCxnSpPr>
          <p:nvPr/>
        </p:nvCxnSpPr>
        <p:spPr>
          <a:xfrm flipV="1">
            <a:off x="4394620" y="6026212"/>
            <a:ext cx="728662" cy="12560"/>
          </a:xfrm>
          <a:prstGeom prst="line">
            <a:avLst/>
          </a:prstGeom>
        </p:spPr>
        <p:style>
          <a:lnRef idx="1">
            <a:schemeClr val="accent1"/>
          </a:lnRef>
          <a:fillRef idx="0">
            <a:schemeClr val="accent1"/>
          </a:fillRef>
          <a:effectRef idx="0">
            <a:schemeClr val="accent1"/>
          </a:effectRef>
          <a:fontRef idx="minor">
            <a:schemeClr val="tx1"/>
          </a:fontRef>
        </p:style>
      </p:cxnSp>
      <p:sp>
        <p:nvSpPr>
          <p:cNvPr id="17" name="43 Rombo"/>
          <p:cNvSpPr/>
          <p:nvPr/>
        </p:nvSpPr>
        <p:spPr>
          <a:xfrm>
            <a:off x="3614486" y="3608309"/>
            <a:ext cx="2005104" cy="1404938"/>
          </a:xfrm>
          <a:prstGeom prst="diamond">
            <a:avLst/>
          </a:prstGeom>
          <a:solidFill>
            <a:schemeClr val="tx1">
              <a:lumMod val="95000"/>
            </a:schemeClr>
          </a:solidFill>
          <a:ln>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200" b="1" dirty="0" err="1">
                <a:solidFill>
                  <a:schemeClr val="bg2"/>
                </a:solidFill>
                <a:latin typeface="Arial" pitchFamily="34" charset="0"/>
                <a:cs typeface="Arial" pitchFamily="34" charset="0"/>
              </a:rPr>
              <a:t>Inscripcion</a:t>
            </a:r>
            <a:endParaRPr lang="es-MX" sz="1200" b="1" dirty="0">
              <a:solidFill>
                <a:schemeClr val="bg2"/>
              </a:solidFill>
              <a:latin typeface="Arial" pitchFamily="34" charset="0"/>
              <a:cs typeface="Arial" pitchFamily="34" charset="0"/>
            </a:endParaRPr>
          </a:p>
        </p:txBody>
      </p:sp>
      <p:cxnSp>
        <p:nvCxnSpPr>
          <p:cNvPr id="18" name="45 Conector recto"/>
          <p:cNvCxnSpPr>
            <a:stCxn id="4" idx="2"/>
            <a:endCxn id="17" idx="0"/>
          </p:cNvCxnSpPr>
          <p:nvPr/>
        </p:nvCxnSpPr>
        <p:spPr>
          <a:xfrm>
            <a:off x="3350839" y="2951084"/>
            <a:ext cx="1266199" cy="6572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48 Conector recto"/>
          <p:cNvCxnSpPr>
            <a:stCxn id="17" idx="2"/>
            <a:endCxn id="10" idx="0"/>
          </p:cNvCxnSpPr>
          <p:nvPr/>
        </p:nvCxnSpPr>
        <p:spPr>
          <a:xfrm>
            <a:off x="4617038" y="5013247"/>
            <a:ext cx="1382544" cy="495684"/>
          </a:xfrm>
          <a:prstGeom prst="line">
            <a:avLst/>
          </a:prstGeom>
        </p:spPr>
        <p:style>
          <a:lnRef idx="1">
            <a:schemeClr val="accent1"/>
          </a:lnRef>
          <a:fillRef idx="0">
            <a:schemeClr val="accent1"/>
          </a:fillRef>
          <a:effectRef idx="0">
            <a:schemeClr val="accent1"/>
          </a:effectRef>
          <a:fontRef idx="minor">
            <a:schemeClr val="tx1"/>
          </a:fontRef>
        </p:style>
      </p:cxnSp>
      <p:sp>
        <p:nvSpPr>
          <p:cNvPr id="20" name="51 Elipse"/>
          <p:cNvSpPr/>
          <p:nvPr/>
        </p:nvSpPr>
        <p:spPr>
          <a:xfrm>
            <a:off x="1933691" y="3417809"/>
            <a:ext cx="1525891" cy="642938"/>
          </a:xfrm>
          <a:prstGeom prst="ellips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200" b="1" dirty="0" err="1">
                <a:solidFill>
                  <a:schemeClr val="bg2"/>
                </a:solidFill>
                <a:latin typeface="Arial" pitchFamily="34" charset="0"/>
                <a:cs typeface="Arial" pitchFamily="34" charset="0"/>
              </a:rPr>
              <a:t>Calificacion</a:t>
            </a:r>
            <a:endParaRPr lang="es-MX" sz="1200" b="1" dirty="0">
              <a:solidFill>
                <a:schemeClr val="bg2"/>
              </a:solidFill>
              <a:latin typeface="Arial" pitchFamily="34" charset="0"/>
              <a:cs typeface="Arial" pitchFamily="34" charset="0"/>
            </a:endParaRPr>
          </a:p>
        </p:txBody>
      </p:sp>
      <p:sp>
        <p:nvSpPr>
          <p:cNvPr id="21" name="57 Elipse"/>
          <p:cNvSpPr/>
          <p:nvPr/>
        </p:nvSpPr>
        <p:spPr>
          <a:xfrm>
            <a:off x="1655265" y="4153874"/>
            <a:ext cx="1404937" cy="642938"/>
          </a:xfrm>
          <a:prstGeom prst="ellips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400" b="1" dirty="0" err="1">
                <a:solidFill>
                  <a:schemeClr val="bg2"/>
                </a:solidFill>
                <a:latin typeface="Arial" pitchFamily="34" charset="0"/>
                <a:cs typeface="Arial" pitchFamily="34" charset="0"/>
              </a:rPr>
              <a:t>TipoExa</a:t>
            </a:r>
            <a:endParaRPr lang="es-MX" sz="1400" b="1" dirty="0">
              <a:solidFill>
                <a:schemeClr val="bg2"/>
              </a:solidFill>
              <a:latin typeface="Arial" pitchFamily="34" charset="0"/>
              <a:cs typeface="Arial" pitchFamily="34" charset="0"/>
            </a:endParaRPr>
          </a:p>
        </p:txBody>
      </p:sp>
      <p:cxnSp>
        <p:nvCxnSpPr>
          <p:cNvPr id="22" name="58 Conector recto"/>
          <p:cNvCxnSpPr>
            <a:stCxn id="20" idx="6"/>
          </p:cNvCxnSpPr>
          <p:nvPr/>
        </p:nvCxnSpPr>
        <p:spPr>
          <a:xfrm>
            <a:off x="3459582" y="3739278"/>
            <a:ext cx="511175" cy="3357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61 Conector recto"/>
          <p:cNvCxnSpPr>
            <a:stCxn id="21" idx="6"/>
          </p:cNvCxnSpPr>
          <p:nvPr/>
        </p:nvCxnSpPr>
        <p:spPr>
          <a:xfrm flipV="1">
            <a:off x="3060202" y="4274524"/>
            <a:ext cx="644525" cy="200819"/>
          </a:xfrm>
          <a:prstGeom prst="line">
            <a:avLst/>
          </a:prstGeom>
        </p:spPr>
        <p:style>
          <a:lnRef idx="1">
            <a:schemeClr val="accent1"/>
          </a:lnRef>
          <a:fillRef idx="0">
            <a:schemeClr val="accent1"/>
          </a:fillRef>
          <a:effectRef idx="0">
            <a:schemeClr val="accent1"/>
          </a:effectRef>
          <a:fontRef idx="minor">
            <a:schemeClr val="tx1"/>
          </a:fontRef>
        </p:style>
      </p:cxnSp>
      <p:sp>
        <p:nvSpPr>
          <p:cNvPr id="24" name="64 Elipse"/>
          <p:cNvSpPr/>
          <p:nvPr/>
        </p:nvSpPr>
        <p:spPr>
          <a:xfrm>
            <a:off x="5203882" y="3622874"/>
            <a:ext cx="1176397" cy="561317"/>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400" b="1" dirty="0">
                <a:solidFill>
                  <a:schemeClr val="bg2"/>
                </a:solidFill>
                <a:latin typeface="Arial" pitchFamily="34" charset="0"/>
                <a:cs typeface="Arial" pitchFamily="34" charset="0"/>
              </a:rPr>
              <a:t>Horario</a:t>
            </a:r>
          </a:p>
        </p:txBody>
      </p:sp>
      <p:sp>
        <p:nvSpPr>
          <p:cNvPr id="25" name="65 Elipse"/>
          <p:cNvSpPr/>
          <p:nvPr/>
        </p:nvSpPr>
        <p:spPr>
          <a:xfrm>
            <a:off x="5993902" y="4084570"/>
            <a:ext cx="1130369" cy="512366"/>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MX" sz="1400" b="1" dirty="0">
                <a:solidFill>
                  <a:schemeClr val="bg2"/>
                </a:solidFill>
                <a:latin typeface="Arial" pitchFamily="34" charset="0"/>
                <a:cs typeface="Arial" pitchFamily="34" charset="0"/>
              </a:rPr>
              <a:t>Aula</a:t>
            </a:r>
          </a:p>
        </p:txBody>
      </p:sp>
      <p:cxnSp>
        <p:nvCxnSpPr>
          <p:cNvPr id="26" name="66 Conector recto"/>
          <p:cNvCxnSpPr>
            <a:stCxn id="24" idx="4"/>
            <a:endCxn id="10" idx="0"/>
          </p:cNvCxnSpPr>
          <p:nvPr/>
        </p:nvCxnSpPr>
        <p:spPr>
          <a:xfrm>
            <a:off x="5792081" y="4184191"/>
            <a:ext cx="207501" cy="1324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74 Conector recto"/>
          <p:cNvCxnSpPr/>
          <p:nvPr/>
        </p:nvCxnSpPr>
        <p:spPr>
          <a:xfrm flipH="1">
            <a:off x="6154486" y="4596936"/>
            <a:ext cx="209095" cy="1063457"/>
          </a:xfrm>
          <a:prstGeom prst="line">
            <a:avLst/>
          </a:prstGeom>
        </p:spPr>
        <p:style>
          <a:lnRef idx="1">
            <a:schemeClr val="accent1"/>
          </a:lnRef>
          <a:fillRef idx="0">
            <a:schemeClr val="accent1"/>
          </a:fillRef>
          <a:effectRef idx="0">
            <a:schemeClr val="accent1"/>
          </a:effectRef>
          <a:fontRef idx="minor">
            <a:schemeClr val="tx1"/>
          </a:fontRef>
        </p:style>
      </p:cxnSp>
      <p:sp>
        <p:nvSpPr>
          <p:cNvPr id="28" name="106 Elipse"/>
          <p:cNvSpPr/>
          <p:nvPr/>
        </p:nvSpPr>
        <p:spPr>
          <a:xfrm>
            <a:off x="6483770" y="1557259"/>
            <a:ext cx="1260475" cy="503238"/>
          </a:xfrm>
          <a:prstGeom prst="ellipse">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400" b="1" dirty="0" err="1">
                <a:solidFill>
                  <a:schemeClr val="bg1"/>
                </a:solidFill>
                <a:latin typeface="Arial" pitchFamily="34" charset="0"/>
                <a:cs typeface="Arial" pitchFamily="34" charset="0"/>
              </a:rPr>
              <a:t>ClvCar</a:t>
            </a:r>
            <a:endParaRPr lang="es-MX" sz="1400" b="1" dirty="0">
              <a:solidFill>
                <a:schemeClr val="bg1"/>
              </a:solidFill>
              <a:latin typeface="Arial" pitchFamily="34" charset="0"/>
              <a:cs typeface="Arial" pitchFamily="34" charset="0"/>
            </a:endParaRPr>
          </a:p>
        </p:txBody>
      </p:sp>
      <p:sp>
        <p:nvSpPr>
          <p:cNvPr id="29" name="112 Elipse"/>
          <p:cNvSpPr/>
          <p:nvPr/>
        </p:nvSpPr>
        <p:spPr>
          <a:xfrm>
            <a:off x="7715670" y="1319134"/>
            <a:ext cx="1262062" cy="504825"/>
          </a:xfrm>
          <a:prstGeom prst="ellips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400" b="1" dirty="0" err="1">
                <a:solidFill>
                  <a:schemeClr val="bg2"/>
                </a:solidFill>
                <a:latin typeface="Arial" pitchFamily="34" charset="0"/>
                <a:cs typeface="Arial" pitchFamily="34" charset="0"/>
              </a:rPr>
              <a:t>NomCar</a:t>
            </a:r>
            <a:endParaRPr lang="es-MX" sz="1400" b="1" dirty="0">
              <a:solidFill>
                <a:schemeClr val="bg2"/>
              </a:solidFill>
              <a:latin typeface="Arial" pitchFamily="34" charset="0"/>
              <a:cs typeface="Arial" pitchFamily="34" charset="0"/>
            </a:endParaRPr>
          </a:p>
        </p:txBody>
      </p:sp>
      <p:sp>
        <p:nvSpPr>
          <p:cNvPr id="30" name="113 Elipse"/>
          <p:cNvSpPr/>
          <p:nvPr/>
        </p:nvSpPr>
        <p:spPr>
          <a:xfrm>
            <a:off x="8860257" y="1628697"/>
            <a:ext cx="1260475" cy="504825"/>
          </a:xfrm>
          <a:prstGeom prst="ellips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100" b="1" dirty="0" err="1">
                <a:solidFill>
                  <a:schemeClr val="bg2"/>
                </a:solidFill>
                <a:latin typeface="Arial" pitchFamily="34" charset="0"/>
                <a:cs typeface="Arial" pitchFamily="34" charset="0"/>
              </a:rPr>
              <a:t>TCreditos</a:t>
            </a:r>
            <a:endParaRPr lang="es-MX" sz="1100" b="1" dirty="0">
              <a:solidFill>
                <a:schemeClr val="bg2"/>
              </a:solidFill>
              <a:latin typeface="Arial" pitchFamily="34" charset="0"/>
              <a:cs typeface="Arial" pitchFamily="34" charset="0"/>
            </a:endParaRPr>
          </a:p>
        </p:txBody>
      </p:sp>
      <p:cxnSp>
        <p:nvCxnSpPr>
          <p:cNvPr id="31" name="114 Conector recto"/>
          <p:cNvCxnSpPr>
            <a:stCxn id="28" idx="4"/>
          </p:cNvCxnSpPr>
          <p:nvPr/>
        </p:nvCxnSpPr>
        <p:spPr>
          <a:xfrm>
            <a:off x="7114007" y="2060497"/>
            <a:ext cx="947738" cy="433387"/>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117 Conector recto"/>
          <p:cNvCxnSpPr>
            <a:stCxn id="29" idx="4"/>
            <a:endCxn id="5" idx="0"/>
          </p:cNvCxnSpPr>
          <p:nvPr/>
        </p:nvCxnSpPr>
        <p:spPr>
          <a:xfrm>
            <a:off x="8345907" y="1823959"/>
            <a:ext cx="46038" cy="669925"/>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119 Conector recto"/>
          <p:cNvCxnSpPr>
            <a:stCxn id="30" idx="4"/>
          </p:cNvCxnSpPr>
          <p:nvPr/>
        </p:nvCxnSpPr>
        <p:spPr>
          <a:xfrm flipH="1">
            <a:off x="8715795" y="2133522"/>
            <a:ext cx="774700" cy="360362"/>
          </a:xfrm>
          <a:prstGeom prst="line">
            <a:avLst/>
          </a:prstGeom>
        </p:spPr>
        <p:style>
          <a:lnRef idx="1">
            <a:schemeClr val="accent1"/>
          </a:lnRef>
          <a:fillRef idx="0">
            <a:schemeClr val="accent1"/>
          </a:fillRef>
          <a:effectRef idx="0">
            <a:schemeClr val="accent1"/>
          </a:effectRef>
          <a:fontRef idx="minor">
            <a:schemeClr val="tx1"/>
          </a:fontRef>
        </p:style>
      </p:cxnSp>
      <p:sp>
        <p:nvSpPr>
          <p:cNvPr id="38" name="65 Elipse"/>
          <p:cNvSpPr/>
          <p:nvPr/>
        </p:nvSpPr>
        <p:spPr>
          <a:xfrm>
            <a:off x="6629761" y="5088286"/>
            <a:ext cx="1290581" cy="670265"/>
          </a:xfrm>
          <a:prstGeom prst="ellips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200" b="1" dirty="0" err="1">
                <a:solidFill>
                  <a:schemeClr val="bg2"/>
                </a:solidFill>
                <a:latin typeface="Arial" pitchFamily="34" charset="0"/>
                <a:cs typeface="Arial" pitchFamily="34" charset="0"/>
              </a:rPr>
              <a:t>TipoExam</a:t>
            </a:r>
            <a:endParaRPr lang="es-MX" sz="1200" b="1" dirty="0">
              <a:solidFill>
                <a:schemeClr val="bg2"/>
              </a:solidFill>
              <a:latin typeface="Arial" pitchFamily="34" charset="0"/>
              <a:cs typeface="Arial" pitchFamily="34" charset="0"/>
            </a:endParaRPr>
          </a:p>
        </p:txBody>
      </p:sp>
      <p:cxnSp>
        <p:nvCxnSpPr>
          <p:cNvPr id="39" name="74 Conector recto"/>
          <p:cNvCxnSpPr>
            <a:stCxn id="38" idx="3"/>
          </p:cNvCxnSpPr>
          <p:nvPr/>
        </p:nvCxnSpPr>
        <p:spPr>
          <a:xfrm flipH="1">
            <a:off x="6629762" y="5660393"/>
            <a:ext cx="189000" cy="261009"/>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37 Conector recto"/>
          <p:cNvCxnSpPr/>
          <p:nvPr/>
        </p:nvCxnSpPr>
        <p:spPr>
          <a:xfrm>
            <a:off x="6848962" y="6038772"/>
            <a:ext cx="728662" cy="0"/>
          </a:xfrm>
          <a:prstGeom prst="line">
            <a:avLst/>
          </a:prstGeom>
        </p:spPr>
        <p:style>
          <a:lnRef idx="1">
            <a:schemeClr val="accent1"/>
          </a:lnRef>
          <a:fillRef idx="0">
            <a:schemeClr val="accent1"/>
          </a:fillRef>
          <a:effectRef idx="0">
            <a:schemeClr val="accent1"/>
          </a:effectRef>
          <a:fontRef idx="minor">
            <a:schemeClr val="tx1"/>
          </a:fontRef>
        </p:style>
      </p:cxnSp>
      <p:sp>
        <p:nvSpPr>
          <p:cNvPr id="35" name="57 Elipse"/>
          <p:cNvSpPr/>
          <p:nvPr/>
        </p:nvSpPr>
        <p:spPr>
          <a:xfrm>
            <a:off x="2312147" y="4747711"/>
            <a:ext cx="1404937" cy="642938"/>
          </a:xfrm>
          <a:prstGeom prst="ellips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MX" sz="1400" b="1" dirty="0">
                <a:solidFill>
                  <a:schemeClr val="bg2"/>
                </a:solidFill>
                <a:latin typeface="Arial" pitchFamily="34" charset="0"/>
                <a:cs typeface="Arial" pitchFamily="34" charset="0"/>
              </a:rPr>
              <a:t>Periodo</a:t>
            </a:r>
          </a:p>
        </p:txBody>
      </p:sp>
      <p:cxnSp>
        <p:nvCxnSpPr>
          <p:cNvPr id="36" name="61 Conector recto"/>
          <p:cNvCxnSpPr/>
          <p:nvPr/>
        </p:nvCxnSpPr>
        <p:spPr>
          <a:xfrm flipV="1">
            <a:off x="3675482" y="4656084"/>
            <a:ext cx="434063" cy="285725"/>
          </a:xfrm>
          <a:prstGeom prst="line">
            <a:avLst/>
          </a:prstGeom>
        </p:spPr>
        <p:style>
          <a:lnRef idx="1">
            <a:schemeClr val="accent1"/>
          </a:lnRef>
          <a:fillRef idx="0">
            <a:schemeClr val="accent1"/>
          </a:fillRef>
          <a:effectRef idx="0">
            <a:schemeClr val="accent1"/>
          </a:effectRef>
          <a:fontRef idx="minor">
            <a:schemeClr val="tx1"/>
          </a:fontRef>
        </p:style>
      </p:cxnSp>
      <p:sp>
        <p:nvSpPr>
          <p:cNvPr id="49" name="65 Elipse"/>
          <p:cNvSpPr/>
          <p:nvPr/>
        </p:nvSpPr>
        <p:spPr>
          <a:xfrm>
            <a:off x="6459286" y="4562780"/>
            <a:ext cx="1206256" cy="512366"/>
          </a:xfrm>
          <a:prstGeom prst="ellips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MX" sz="1400" b="1" dirty="0">
                <a:solidFill>
                  <a:schemeClr val="bg2"/>
                </a:solidFill>
                <a:latin typeface="Arial" pitchFamily="34" charset="0"/>
                <a:cs typeface="Arial" pitchFamily="34" charset="0"/>
              </a:rPr>
              <a:t>Periodo</a:t>
            </a:r>
          </a:p>
        </p:txBody>
      </p:sp>
      <p:cxnSp>
        <p:nvCxnSpPr>
          <p:cNvPr id="51" name="74 Conector recto"/>
          <p:cNvCxnSpPr>
            <a:stCxn id="49" idx="3"/>
          </p:cNvCxnSpPr>
          <p:nvPr/>
        </p:nvCxnSpPr>
        <p:spPr>
          <a:xfrm flipH="1">
            <a:off x="6363582" y="5000112"/>
            <a:ext cx="272356" cy="75843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0880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par>
                                <p:cTn id="8" presetID="14" presetClass="entr" presetSubtype="1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randombar(horizontal)">
                                      <p:cBhvr>
                                        <p:cTn id="10" dur="500"/>
                                        <p:tgtEl>
                                          <p:spTgt spid="11"/>
                                        </p:tgtEl>
                                      </p:cBhvr>
                                    </p:animEffect>
                                  </p:childTnLst>
                                </p:cTn>
                              </p:par>
                              <p:par>
                                <p:cTn id="11" presetID="14" presetClass="entr" presetSubtype="1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randombar(horizontal)">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randombar(horizontal)">
                                      <p:cBhvr>
                                        <p:cTn id="18" dur="500"/>
                                        <p:tgtEl>
                                          <p:spTgt spid="18"/>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randombar(horizontal)">
                                      <p:cBhvr>
                                        <p:cTn id="21" dur="500"/>
                                        <p:tgtEl>
                                          <p:spTgt spid="17"/>
                                        </p:tgtEl>
                                      </p:cBhvr>
                                    </p:animEffect>
                                  </p:childTnLst>
                                </p:cTn>
                              </p:par>
                              <p:par>
                                <p:cTn id="22" presetID="14" presetClass="entr" presetSubtype="10" fill="hold"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randombar(horizontal)">
                                      <p:cBhvr>
                                        <p:cTn id="24" dur="500"/>
                                        <p:tgtEl>
                                          <p:spTgt spid="19"/>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randombar(horizontal)">
                                      <p:cBhvr>
                                        <p:cTn id="29" dur="500"/>
                                        <p:tgtEl>
                                          <p:spTgt spid="13"/>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randombar(horizontal)">
                                      <p:cBhvr>
                                        <p:cTn id="32" dur="500"/>
                                        <p:tgtEl>
                                          <p:spTgt spid="9"/>
                                        </p:tgtEl>
                                      </p:cBhvr>
                                    </p:animEffect>
                                  </p:childTnLst>
                                </p:cTn>
                              </p:par>
                              <p:par>
                                <p:cTn id="33" presetID="14" presetClass="entr" presetSubtype="1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randombar(horizontal)">
                                      <p:cBhvr>
                                        <p:cTn id="35" dur="500"/>
                                        <p:tgtEl>
                                          <p:spTgt spid="14"/>
                                        </p:tgtEl>
                                      </p:cBhvr>
                                    </p:animEffect>
                                  </p:childTnLst>
                                </p:cTn>
                              </p:par>
                            </p:childTnLst>
                          </p:cTn>
                        </p:par>
                      </p:childTnLst>
                    </p:cTn>
                  </p:par>
                  <p:par>
                    <p:cTn id="36" fill="hold">
                      <p:stCondLst>
                        <p:cond delay="indefinite"/>
                      </p:stCondLst>
                      <p:childTnLst>
                        <p:par>
                          <p:cTn id="37" fill="hold">
                            <p:stCondLst>
                              <p:cond delay="0"/>
                            </p:stCondLst>
                            <p:childTnLst>
                              <p:par>
                                <p:cTn id="38" presetID="14" presetClass="entr" presetSubtype="10" fill="hold"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randombar(horizontal)">
                                      <p:cBhvr>
                                        <p:cTn id="40" dur="500"/>
                                        <p:tgtEl>
                                          <p:spTgt spid="15"/>
                                        </p:tgtEl>
                                      </p:cBhvr>
                                    </p:animEffect>
                                  </p:childTnLst>
                                </p:cTn>
                              </p:par>
                              <p:par>
                                <p:cTn id="41" presetID="14" presetClass="entr" presetSubtype="1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randombar(horizontal)">
                                      <p:cBhvr>
                                        <p:cTn id="43" dur="500"/>
                                        <p:tgtEl>
                                          <p:spTgt spid="10"/>
                                        </p:tgtEl>
                                      </p:cBhvr>
                                    </p:animEffect>
                                  </p:childTnLst>
                                </p:cTn>
                              </p:par>
                              <p:par>
                                <p:cTn id="44" presetID="14" presetClass="entr" presetSubtype="10" fill="hold" nodeType="withEffect">
                                  <p:stCondLst>
                                    <p:cond delay="0"/>
                                  </p:stCondLst>
                                  <p:childTnLst>
                                    <p:set>
                                      <p:cBhvr>
                                        <p:cTn id="45" dur="1" fill="hold">
                                          <p:stCondLst>
                                            <p:cond delay="0"/>
                                          </p:stCondLst>
                                        </p:cTn>
                                        <p:tgtEl>
                                          <p:spTgt spid="43"/>
                                        </p:tgtEl>
                                        <p:attrNameLst>
                                          <p:attrName>style.visibility</p:attrName>
                                        </p:attrNameLst>
                                      </p:cBhvr>
                                      <p:to>
                                        <p:strVal val="visible"/>
                                      </p:to>
                                    </p:set>
                                    <p:animEffect transition="in" filter="randombar(horizontal)">
                                      <p:cBhvr>
                                        <p:cTn id="46" dur="500"/>
                                        <p:tgtEl>
                                          <p:spTgt spid="43"/>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circle(in)">
                                      <p:cBhvr>
                                        <p:cTn id="51" dur="2000"/>
                                        <p:tgtEl>
                                          <p:spTgt spid="28"/>
                                        </p:tgtEl>
                                      </p:cBhvr>
                                    </p:animEffect>
                                  </p:childTnLst>
                                </p:cTn>
                              </p:par>
                              <p:par>
                                <p:cTn id="52" presetID="6" presetClass="entr" presetSubtype="16" fill="hold" grpId="0" nodeType="with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circle(in)">
                                      <p:cBhvr>
                                        <p:cTn id="54" dur="2000"/>
                                        <p:tgtEl>
                                          <p:spTgt spid="29"/>
                                        </p:tgtEl>
                                      </p:cBhvr>
                                    </p:animEffect>
                                  </p:childTnLst>
                                </p:cTn>
                              </p:par>
                              <p:par>
                                <p:cTn id="55" presetID="6" presetClass="entr" presetSubtype="16" fill="hold" grpId="0" nodeType="with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circle(in)">
                                      <p:cBhvr>
                                        <p:cTn id="57" dur="2000"/>
                                        <p:tgtEl>
                                          <p:spTgt spid="30"/>
                                        </p:tgtEl>
                                      </p:cBhvr>
                                    </p:animEffect>
                                  </p:childTnLst>
                                </p:cTn>
                              </p:par>
                              <p:par>
                                <p:cTn id="58" presetID="6" presetClass="entr" presetSubtype="16" fill="hold" nodeType="with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circle(in)">
                                      <p:cBhvr>
                                        <p:cTn id="60" dur="2000"/>
                                        <p:tgtEl>
                                          <p:spTgt spid="32"/>
                                        </p:tgtEl>
                                      </p:cBhvr>
                                    </p:animEffect>
                                  </p:childTnLst>
                                </p:cTn>
                              </p:par>
                              <p:par>
                                <p:cTn id="61" presetID="6" presetClass="entr" presetSubtype="16" fill="hold" nodeType="with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circle(in)">
                                      <p:cBhvr>
                                        <p:cTn id="63" dur="2000"/>
                                        <p:tgtEl>
                                          <p:spTgt spid="31"/>
                                        </p:tgtEl>
                                      </p:cBhvr>
                                    </p:animEffect>
                                  </p:childTnLst>
                                </p:cTn>
                              </p:par>
                              <p:par>
                                <p:cTn id="64" presetID="6" presetClass="entr" presetSubtype="16" fill="hold" nodeType="withEffect">
                                  <p:stCondLst>
                                    <p:cond delay="0"/>
                                  </p:stCondLst>
                                  <p:childTnLst>
                                    <p:set>
                                      <p:cBhvr>
                                        <p:cTn id="65" dur="1" fill="hold">
                                          <p:stCondLst>
                                            <p:cond delay="0"/>
                                          </p:stCondLst>
                                        </p:cTn>
                                        <p:tgtEl>
                                          <p:spTgt spid="33"/>
                                        </p:tgtEl>
                                        <p:attrNameLst>
                                          <p:attrName>style.visibility</p:attrName>
                                        </p:attrNameLst>
                                      </p:cBhvr>
                                      <p:to>
                                        <p:strVal val="visible"/>
                                      </p:to>
                                    </p:set>
                                    <p:animEffect transition="in" filter="circle(in)">
                                      <p:cBhvr>
                                        <p:cTn id="66" dur="2000"/>
                                        <p:tgtEl>
                                          <p:spTgt spid="33"/>
                                        </p:tgtEl>
                                      </p:cBhvr>
                                    </p:animEffect>
                                  </p:childTnLst>
                                </p:cTn>
                              </p:par>
                            </p:childTnLst>
                          </p:cTn>
                        </p:par>
                      </p:childTnLst>
                    </p:cTn>
                  </p:par>
                  <p:par>
                    <p:cTn id="67" fill="hold">
                      <p:stCondLst>
                        <p:cond delay="indefinite"/>
                      </p:stCondLst>
                      <p:childTnLst>
                        <p:par>
                          <p:cTn id="68" fill="hold">
                            <p:stCondLst>
                              <p:cond delay="0"/>
                            </p:stCondLst>
                            <p:childTnLst>
                              <p:par>
                                <p:cTn id="69" presetID="6" presetClass="entr" presetSubtype="16" fill="hold" nodeType="click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circle(in)">
                                      <p:cBhvr>
                                        <p:cTn id="71" dur="2000"/>
                                        <p:tgtEl>
                                          <p:spTgt spid="26"/>
                                        </p:tgtEl>
                                      </p:cBhvr>
                                    </p:animEffect>
                                  </p:childTnLst>
                                </p:cTn>
                              </p:par>
                              <p:par>
                                <p:cTn id="72" presetID="6" presetClass="entr" presetSubtype="16" fill="hold" nodeType="with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circle(in)">
                                      <p:cBhvr>
                                        <p:cTn id="74" dur="2000"/>
                                        <p:tgtEl>
                                          <p:spTgt spid="27"/>
                                        </p:tgtEl>
                                      </p:cBhvr>
                                    </p:animEffect>
                                  </p:childTnLst>
                                </p:cTn>
                              </p:par>
                              <p:par>
                                <p:cTn id="75" presetID="6" presetClass="entr" presetSubtype="16" fill="hold" nodeType="withEffect">
                                  <p:stCondLst>
                                    <p:cond delay="0"/>
                                  </p:stCondLst>
                                  <p:childTnLst>
                                    <p:set>
                                      <p:cBhvr>
                                        <p:cTn id="76" dur="1" fill="hold">
                                          <p:stCondLst>
                                            <p:cond delay="0"/>
                                          </p:stCondLst>
                                        </p:cTn>
                                        <p:tgtEl>
                                          <p:spTgt spid="51"/>
                                        </p:tgtEl>
                                        <p:attrNameLst>
                                          <p:attrName>style.visibility</p:attrName>
                                        </p:attrNameLst>
                                      </p:cBhvr>
                                      <p:to>
                                        <p:strVal val="visible"/>
                                      </p:to>
                                    </p:set>
                                    <p:animEffect transition="in" filter="circle(in)">
                                      <p:cBhvr>
                                        <p:cTn id="77" dur="2000"/>
                                        <p:tgtEl>
                                          <p:spTgt spid="51"/>
                                        </p:tgtEl>
                                      </p:cBhvr>
                                    </p:animEffect>
                                  </p:childTnLst>
                                </p:cTn>
                              </p:par>
                              <p:par>
                                <p:cTn id="78" presetID="6" presetClass="entr" presetSubtype="16" fill="hold" nodeType="withEffect">
                                  <p:stCondLst>
                                    <p:cond delay="0"/>
                                  </p:stCondLst>
                                  <p:childTnLst>
                                    <p:set>
                                      <p:cBhvr>
                                        <p:cTn id="79" dur="1" fill="hold">
                                          <p:stCondLst>
                                            <p:cond delay="0"/>
                                          </p:stCondLst>
                                        </p:cTn>
                                        <p:tgtEl>
                                          <p:spTgt spid="39"/>
                                        </p:tgtEl>
                                        <p:attrNameLst>
                                          <p:attrName>style.visibility</p:attrName>
                                        </p:attrNameLst>
                                      </p:cBhvr>
                                      <p:to>
                                        <p:strVal val="visible"/>
                                      </p:to>
                                    </p:set>
                                    <p:animEffect transition="in" filter="circle(in)">
                                      <p:cBhvr>
                                        <p:cTn id="80" dur="2000"/>
                                        <p:tgtEl>
                                          <p:spTgt spid="39"/>
                                        </p:tgtEl>
                                      </p:cBhvr>
                                    </p:animEffect>
                                  </p:childTnLst>
                                </p:cTn>
                              </p:par>
                              <p:par>
                                <p:cTn id="81" presetID="6" presetClass="entr" presetSubtype="16" fill="hold" grpId="0" nodeType="withEffect">
                                  <p:stCondLst>
                                    <p:cond delay="0"/>
                                  </p:stCondLst>
                                  <p:childTnLst>
                                    <p:set>
                                      <p:cBhvr>
                                        <p:cTn id="82" dur="1" fill="hold">
                                          <p:stCondLst>
                                            <p:cond delay="0"/>
                                          </p:stCondLst>
                                        </p:cTn>
                                        <p:tgtEl>
                                          <p:spTgt spid="38"/>
                                        </p:tgtEl>
                                        <p:attrNameLst>
                                          <p:attrName>style.visibility</p:attrName>
                                        </p:attrNameLst>
                                      </p:cBhvr>
                                      <p:to>
                                        <p:strVal val="visible"/>
                                      </p:to>
                                    </p:set>
                                    <p:animEffect transition="in" filter="circle(in)">
                                      <p:cBhvr>
                                        <p:cTn id="83" dur="2000"/>
                                        <p:tgtEl>
                                          <p:spTgt spid="38"/>
                                        </p:tgtEl>
                                      </p:cBhvr>
                                    </p:animEffect>
                                  </p:childTnLst>
                                </p:cTn>
                              </p:par>
                              <p:par>
                                <p:cTn id="84" presetID="6" presetClass="entr" presetSubtype="16" fill="hold" grpId="0" nodeType="withEffect">
                                  <p:stCondLst>
                                    <p:cond delay="0"/>
                                  </p:stCondLst>
                                  <p:childTnLst>
                                    <p:set>
                                      <p:cBhvr>
                                        <p:cTn id="85" dur="1" fill="hold">
                                          <p:stCondLst>
                                            <p:cond delay="0"/>
                                          </p:stCondLst>
                                        </p:cTn>
                                        <p:tgtEl>
                                          <p:spTgt spid="49"/>
                                        </p:tgtEl>
                                        <p:attrNameLst>
                                          <p:attrName>style.visibility</p:attrName>
                                        </p:attrNameLst>
                                      </p:cBhvr>
                                      <p:to>
                                        <p:strVal val="visible"/>
                                      </p:to>
                                    </p:set>
                                    <p:animEffect transition="in" filter="circle(in)">
                                      <p:cBhvr>
                                        <p:cTn id="86" dur="2000"/>
                                        <p:tgtEl>
                                          <p:spTgt spid="49"/>
                                        </p:tgtEl>
                                      </p:cBhvr>
                                    </p:animEffect>
                                  </p:childTnLst>
                                </p:cTn>
                              </p:par>
                              <p:par>
                                <p:cTn id="87" presetID="6" presetClass="entr" presetSubtype="16" fill="hold" grpId="0" nodeType="withEffect">
                                  <p:stCondLst>
                                    <p:cond delay="0"/>
                                  </p:stCondLst>
                                  <p:childTnLst>
                                    <p:set>
                                      <p:cBhvr>
                                        <p:cTn id="88" dur="1" fill="hold">
                                          <p:stCondLst>
                                            <p:cond delay="0"/>
                                          </p:stCondLst>
                                        </p:cTn>
                                        <p:tgtEl>
                                          <p:spTgt spid="25"/>
                                        </p:tgtEl>
                                        <p:attrNameLst>
                                          <p:attrName>style.visibility</p:attrName>
                                        </p:attrNameLst>
                                      </p:cBhvr>
                                      <p:to>
                                        <p:strVal val="visible"/>
                                      </p:to>
                                    </p:set>
                                    <p:animEffect transition="in" filter="circle(in)">
                                      <p:cBhvr>
                                        <p:cTn id="89" dur="2000"/>
                                        <p:tgtEl>
                                          <p:spTgt spid="25"/>
                                        </p:tgtEl>
                                      </p:cBhvr>
                                    </p:animEffect>
                                  </p:childTnLst>
                                </p:cTn>
                              </p:par>
                              <p:par>
                                <p:cTn id="90" presetID="6" presetClass="entr" presetSubtype="16" fill="hold" grpId="0" nodeType="withEffect">
                                  <p:stCondLst>
                                    <p:cond delay="0"/>
                                  </p:stCondLst>
                                  <p:childTnLst>
                                    <p:set>
                                      <p:cBhvr>
                                        <p:cTn id="91" dur="1" fill="hold">
                                          <p:stCondLst>
                                            <p:cond delay="0"/>
                                          </p:stCondLst>
                                        </p:cTn>
                                        <p:tgtEl>
                                          <p:spTgt spid="24"/>
                                        </p:tgtEl>
                                        <p:attrNameLst>
                                          <p:attrName>style.visibility</p:attrName>
                                        </p:attrNameLst>
                                      </p:cBhvr>
                                      <p:to>
                                        <p:strVal val="visible"/>
                                      </p:to>
                                    </p:set>
                                    <p:animEffect transition="in" filter="circle(in)">
                                      <p:cBhvr>
                                        <p:cTn id="92" dur="2000"/>
                                        <p:tgtEl>
                                          <p:spTgt spid="24"/>
                                        </p:tgtEl>
                                      </p:cBhvr>
                                    </p:animEffect>
                                  </p:childTnLst>
                                </p:cTn>
                              </p:par>
                            </p:childTnLst>
                          </p:cTn>
                        </p:par>
                      </p:childTnLst>
                    </p:cTn>
                  </p:par>
                  <p:par>
                    <p:cTn id="93" fill="hold">
                      <p:stCondLst>
                        <p:cond delay="indefinite"/>
                      </p:stCondLst>
                      <p:childTnLst>
                        <p:par>
                          <p:cTn id="94" fill="hold">
                            <p:stCondLst>
                              <p:cond delay="0"/>
                            </p:stCondLst>
                            <p:childTnLst>
                              <p:par>
                                <p:cTn id="95" presetID="6" presetClass="entr" presetSubtype="16" fill="hold" nodeType="clickEffect">
                                  <p:stCondLst>
                                    <p:cond delay="0"/>
                                  </p:stCondLst>
                                  <p:childTnLst>
                                    <p:set>
                                      <p:cBhvr>
                                        <p:cTn id="96" dur="1" fill="hold">
                                          <p:stCondLst>
                                            <p:cond delay="0"/>
                                          </p:stCondLst>
                                        </p:cTn>
                                        <p:tgtEl>
                                          <p:spTgt spid="23"/>
                                        </p:tgtEl>
                                        <p:attrNameLst>
                                          <p:attrName>style.visibility</p:attrName>
                                        </p:attrNameLst>
                                      </p:cBhvr>
                                      <p:to>
                                        <p:strVal val="visible"/>
                                      </p:to>
                                    </p:set>
                                    <p:animEffect transition="in" filter="circle(in)">
                                      <p:cBhvr>
                                        <p:cTn id="97" dur="2000"/>
                                        <p:tgtEl>
                                          <p:spTgt spid="23"/>
                                        </p:tgtEl>
                                      </p:cBhvr>
                                    </p:animEffect>
                                  </p:childTnLst>
                                </p:cTn>
                              </p:par>
                              <p:par>
                                <p:cTn id="98" presetID="6" presetClass="entr" presetSubtype="16" fill="hold" nodeType="withEffect">
                                  <p:stCondLst>
                                    <p:cond delay="0"/>
                                  </p:stCondLst>
                                  <p:childTnLst>
                                    <p:set>
                                      <p:cBhvr>
                                        <p:cTn id="99" dur="1" fill="hold">
                                          <p:stCondLst>
                                            <p:cond delay="0"/>
                                          </p:stCondLst>
                                        </p:cTn>
                                        <p:tgtEl>
                                          <p:spTgt spid="36"/>
                                        </p:tgtEl>
                                        <p:attrNameLst>
                                          <p:attrName>style.visibility</p:attrName>
                                        </p:attrNameLst>
                                      </p:cBhvr>
                                      <p:to>
                                        <p:strVal val="visible"/>
                                      </p:to>
                                    </p:set>
                                    <p:animEffect transition="in" filter="circle(in)">
                                      <p:cBhvr>
                                        <p:cTn id="100" dur="2000"/>
                                        <p:tgtEl>
                                          <p:spTgt spid="36"/>
                                        </p:tgtEl>
                                      </p:cBhvr>
                                    </p:animEffect>
                                  </p:childTnLst>
                                </p:cTn>
                              </p:par>
                              <p:par>
                                <p:cTn id="101" presetID="6" presetClass="entr" presetSubtype="16" fill="hold" grpId="0" nodeType="withEffect">
                                  <p:stCondLst>
                                    <p:cond delay="0"/>
                                  </p:stCondLst>
                                  <p:childTnLst>
                                    <p:set>
                                      <p:cBhvr>
                                        <p:cTn id="102" dur="1" fill="hold">
                                          <p:stCondLst>
                                            <p:cond delay="0"/>
                                          </p:stCondLst>
                                        </p:cTn>
                                        <p:tgtEl>
                                          <p:spTgt spid="35"/>
                                        </p:tgtEl>
                                        <p:attrNameLst>
                                          <p:attrName>style.visibility</p:attrName>
                                        </p:attrNameLst>
                                      </p:cBhvr>
                                      <p:to>
                                        <p:strVal val="visible"/>
                                      </p:to>
                                    </p:set>
                                    <p:animEffect transition="in" filter="circle(in)">
                                      <p:cBhvr>
                                        <p:cTn id="103" dur="2000"/>
                                        <p:tgtEl>
                                          <p:spTgt spid="35"/>
                                        </p:tgtEl>
                                      </p:cBhvr>
                                    </p:animEffect>
                                  </p:childTnLst>
                                </p:cTn>
                              </p:par>
                              <p:par>
                                <p:cTn id="104" presetID="6" presetClass="entr" presetSubtype="16" fill="hold" grpId="0" nodeType="withEffect">
                                  <p:stCondLst>
                                    <p:cond delay="0"/>
                                  </p:stCondLst>
                                  <p:childTnLst>
                                    <p:set>
                                      <p:cBhvr>
                                        <p:cTn id="105" dur="1" fill="hold">
                                          <p:stCondLst>
                                            <p:cond delay="0"/>
                                          </p:stCondLst>
                                        </p:cTn>
                                        <p:tgtEl>
                                          <p:spTgt spid="21"/>
                                        </p:tgtEl>
                                        <p:attrNameLst>
                                          <p:attrName>style.visibility</p:attrName>
                                        </p:attrNameLst>
                                      </p:cBhvr>
                                      <p:to>
                                        <p:strVal val="visible"/>
                                      </p:to>
                                    </p:set>
                                    <p:animEffect transition="in" filter="circle(in)">
                                      <p:cBhvr>
                                        <p:cTn id="106" dur="2000"/>
                                        <p:tgtEl>
                                          <p:spTgt spid="21"/>
                                        </p:tgtEl>
                                      </p:cBhvr>
                                    </p:animEffect>
                                  </p:childTnLst>
                                </p:cTn>
                              </p:par>
                              <p:par>
                                <p:cTn id="107" presetID="6" presetClass="entr" presetSubtype="16" fill="hold" grpId="0" nodeType="withEffect">
                                  <p:stCondLst>
                                    <p:cond delay="0"/>
                                  </p:stCondLst>
                                  <p:childTnLst>
                                    <p:set>
                                      <p:cBhvr>
                                        <p:cTn id="108" dur="1" fill="hold">
                                          <p:stCondLst>
                                            <p:cond delay="0"/>
                                          </p:stCondLst>
                                        </p:cTn>
                                        <p:tgtEl>
                                          <p:spTgt spid="20"/>
                                        </p:tgtEl>
                                        <p:attrNameLst>
                                          <p:attrName>style.visibility</p:attrName>
                                        </p:attrNameLst>
                                      </p:cBhvr>
                                      <p:to>
                                        <p:strVal val="visible"/>
                                      </p:to>
                                    </p:set>
                                    <p:animEffect transition="in" filter="circle(in)">
                                      <p:cBhvr>
                                        <p:cTn id="109"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7" grpId="0" animBg="1"/>
      <p:bldP spid="20" grpId="0" animBg="1"/>
      <p:bldP spid="21" grpId="0" animBg="1"/>
      <p:bldP spid="24" grpId="0" animBg="1"/>
      <p:bldP spid="25" grpId="0" animBg="1"/>
      <p:bldP spid="28" grpId="0" animBg="1"/>
      <p:bldP spid="29" grpId="0" animBg="1"/>
      <p:bldP spid="30" grpId="0" animBg="1"/>
      <p:bldP spid="38" grpId="0" animBg="1"/>
      <p:bldP spid="35" grpId="0" animBg="1"/>
      <p:bldP spid="49"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6533147" y="1961147"/>
            <a:ext cx="5269832" cy="41990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Título 1"/>
          <p:cNvSpPr>
            <a:spLocks noGrp="1"/>
          </p:cNvSpPr>
          <p:nvPr>
            <p:ph type="title"/>
          </p:nvPr>
        </p:nvSpPr>
        <p:spPr>
          <a:xfrm>
            <a:off x="1108709" y="878305"/>
            <a:ext cx="10245091" cy="622532"/>
          </a:xfrm>
        </p:spPr>
        <p:txBody>
          <a:bodyPr/>
          <a:lstStyle/>
          <a:p>
            <a:r>
              <a:rPr lang="es-MX" b="1" dirty="0">
                <a:solidFill>
                  <a:schemeClr val="accent1">
                    <a:lumMod val="50000"/>
                  </a:schemeClr>
                </a:solidFill>
              </a:rPr>
              <a:t>CVBD. II. Diseño Lógico</a:t>
            </a:r>
            <a:endParaRPr lang="es-MX" dirty="0"/>
          </a:p>
        </p:txBody>
      </p:sp>
      <p:sp>
        <p:nvSpPr>
          <p:cNvPr id="4" name="Marcador de contenido 3"/>
          <p:cNvSpPr>
            <a:spLocks noGrp="1"/>
          </p:cNvSpPr>
          <p:nvPr>
            <p:ph sz="quarter" idx="13"/>
          </p:nvPr>
        </p:nvSpPr>
        <p:spPr>
          <a:xfrm>
            <a:off x="609797" y="2423764"/>
            <a:ext cx="5621457" cy="2700171"/>
          </a:xfrm>
        </p:spPr>
        <p:txBody>
          <a:bodyPr/>
          <a:lstStyle/>
          <a:p>
            <a:r>
              <a:rPr lang="es-MX" sz="2000" b="1" dirty="0">
                <a:solidFill>
                  <a:schemeClr val="accent1">
                    <a:lumMod val="50000"/>
                  </a:schemeClr>
                </a:solidFill>
              </a:rPr>
              <a:t>c. Transformación del M-ER a Tablas</a:t>
            </a:r>
          </a:p>
          <a:p>
            <a:r>
              <a:rPr lang="es-MX" sz="2000" dirty="0"/>
              <a:t>Con base en la especificación de los DER y las reglas de transformación, cada entidad y las interrelaciones se transforman en un conjunto de tablas, o esquema conceptual (*).</a:t>
            </a:r>
          </a:p>
          <a:p>
            <a:r>
              <a:rPr lang="es-MX" sz="2000" dirty="0"/>
              <a:t>Las tablas redundantes (si hay) se eliminan.</a:t>
            </a:r>
          </a:p>
          <a:p>
            <a:r>
              <a:rPr lang="es-MX" sz="2000" dirty="0"/>
              <a:t>(*) esquema externo (usuario)</a:t>
            </a:r>
          </a:p>
        </p:txBody>
      </p:sp>
      <p:pic>
        <p:nvPicPr>
          <p:cNvPr id="5" name="Imagen 4"/>
          <p:cNvPicPr>
            <a:picLocks noChangeAspect="1"/>
          </p:cNvPicPr>
          <p:nvPr/>
        </p:nvPicPr>
        <p:blipFill>
          <a:blip r:embed="rId2"/>
          <a:stretch>
            <a:fillRect/>
          </a:stretch>
        </p:blipFill>
        <p:spPr>
          <a:xfrm>
            <a:off x="6585033" y="1999665"/>
            <a:ext cx="5133975" cy="4114800"/>
          </a:xfrm>
          <a:prstGeom prst="rect">
            <a:avLst/>
          </a:prstGeom>
        </p:spPr>
      </p:pic>
    </p:spTree>
    <p:extLst>
      <p:ext uri="{BB962C8B-B14F-4D97-AF65-F5344CB8AC3E}">
        <p14:creationId xmlns:p14="http://schemas.microsoft.com/office/powerpoint/2010/main" val="633681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out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1)">
                                      <p:cBhvr>
                                        <p:cTn id="12"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65451"/>
            <a:ext cx="10245091" cy="635386"/>
          </a:xfrm>
        </p:spPr>
        <p:txBody>
          <a:bodyPr/>
          <a:lstStyle/>
          <a:p>
            <a:r>
              <a:rPr lang="es-MX" b="1" dirty="0">
                <a:solidFill>
                  <a:schemeClr val="accent1">
                    <a:lumMod val="50000"/>
                  </a:schemeClr>
                </a:solidFill>
              </a:rPr>
              <a:t>Estructura de la BD</a:t>
            </a:r>
          </a:p>
        </p:txBody>
      </p:sp>
      <p:graphicFrame>
        <p:nvGraphicFramePr>
          <p:cNvPr id="4" name="Marcador de contenido 3"/>
          <p:cNvGraphicFramePr>
            <a:graphicFrameLocks noGrp="1"/>
          </p:cNvGraphicFramePr>
          <p:nvPr>
            <p:ph sz="quarter" idx="13"/>
          </p:nvPr>
        </p:nvGraphicFramePr>
        <p:xfrm>
          <a:off x="946859" y="2391563"/>
          <a:ext cx="4465969" cy="365760"/>
        </p:xfrm>
        <a:graphic>
          <a:graphicData uri="http://schemas.openxmlformats.org/drawingml/2006/table">
            <a:tbl>
              <a:tblPr firstRow="1" bandRow="1">
                <a:tableStyleId>{5C22544A-7EE6-4342-B048-85BDC9FD1C3A}</a:tableStyleId>
              </a:tblPr>
              <a:tblGrid>
                <a:gridCol w="1015779">
                  <a:extLst>
                    <a:ext uri="{9D8B030D-6E8A-4147-A177-3AD203B41FA5}">
                      <a16:colId xmlns:a16="http://schemas.microsoft.com/office/drawing/2014/main" val="3850095751"/>
                    </a:ext>
                  </a:extLst>
                </a:gridCol>
                <a:gridCol w="1116893">
                  <a:extLst>
                    <a:ext uri="{9D8B030D-6E8A-4147-A177-3AD203B41FA5}">
                      <a16:colId xmlns:a16="http://schemas.microsoft.com/office/drawing/2014/main" val="3287339638"/>
                    </a:ext>
                  </a:extLst>
                </a:gridCol>
                <a:gridCol w="1249285">
                  <a:extLst>
                    <a:ext uri="{9D8B030D-6E8A-4147-A177-3AD203B41FA5}">
                      <a16:colId xmlns:a16="http://schemas.microsoft.com/office/drawing/2014/main" val="4254527893"/>
                    </a:ext>
                  </a:extLst>
                </a:gridCol>
                <a:gridCol w="1084012">
                  <a:extLst>
                    <a:ext uri="{9D8B030D-6E8A-4147-A177-3AD203B41FA5}">
                      <a16:colId xmlns:a16="http://schemas.microsoft.com/office/drawing/2014/main" val="2416358844"/>
                    </a:ext>
                  </a:extLst>
                </a:gridCol>
              </a:tblGrid>
              <a:tr h="319087">
                <a:tc>
                  <a:txBody>
                    <a:bodyPr/>
                    <a:lstStyle/>
                    <a:p>
                      <a:endParaRPr lang="es-MX" dirty="0">
                        <a:solidFill>
                          <a:schemeClr val="accent1">
                            <a:lumMod val="50000"/>
                          </a:schemeClr>
                        </a:solidFill>
                      </a:endParaRPr>
                    </a:p>
                  </a:txBody>
                  <a:tcPr/>
                </a:tc>
                <a:tc>
                  <a:txBody>
                    <a:bodyPr/>
                    <a:lstStyle/>
                    <a:p>
                      <a:endParaRPr lang="es-MX" dirty="0">
                        <a:solidFill>
                          <a:schemeClr val="accent1">
                            <a:lumMod val="50000"/>
                          </a:schemeClr>
                        </a:solidFill>
                      </a:endParaRPr>
                    </a:p>
                  </a:txBody>
                  <a:tcPr/>
                </a:tc>
                <a:tc>
                  <a:txBody>
                    <a:bodyPr/>
                    <a:lstStyle/>
                    <a:p>
                      <a:endParaRPr lang="es-MX" dirty="0">
                        <a:solidFill>
                          <a:schemeClr val="accent1">
                            <a:lumMod val="50000"/>
                          </a:schemeClr>
                        </a:solidFill>
                      </a:endParaRPr>
                    </a:p>
                  </a:txBody>
                  <a:tcPr/>
                </a:tc>
                <a:tc>
                  <a:txBody>
                    <a:bodyPr/>
                    <a:lstStyle/>
                    <a:p>
                      <a:endParaRPr lang="es-MX" dirty="0">
                        <a:solidFill>
                          <a:schemeClr val="accent1">
                            <a:lumMod val="50000"/>
                          </a:schemeClr>
                        </a:solidFill>
                      </a:endParaRPr>
                    </a:p>
                  </a:txBody>
                  <a:tcPr/>
                </a:tc>
                <a:extLst>
                  <a:ext uri="{0D108BD9-81ED-4DB2-BD59-A6C34878D82A}">
                    <a16:rowId xmlns:a16="http://schemas.microsoft.com/office/drawing/2014/main" val="665894866"/>
                  </a:ext>
                </a:extLst>
              </a:tr>
            </a:tbl>
          </a:graphicData>
        </a:graphic>
      </p:graphicFrame>
      <p:sp>
        <p:nvSpPr>
          <p:cNvPr id="5" name="CuadroTexto 4"/>
          <p:cNvSpPr txBox="1"/>
          <p:nvPr/>
        </p:nvSpPr>
        <p:spPr>
          <a:xfrm>
            <a:off x="872368" y="1974240"/>
            <a:ext cx="1351652" cy="369332"/>
          </a:xfrm>
          <a:prstGeom prst="rect">
            <a:avLst/>
          </a:prstGeom>
          <a:noFill/>
        </p:spPr>
        <p:txBody>
          <a:bodyPr wrap="none" rtlCol="0">
            <a:spAutoFit/>
          </a:bodyPr>
          <a:lstStyle/>
          <a:p>
            <a:r>
              <a:rPr lang="es-MX" b="1" dirty="0"/>
              <a:t>ALUMNOS</a:t>
            </a:r>
          </a:p>
        </p:txBody>
      </p:sp>
      <p:sp>
        <p:nvSpPr>
          <p:cNvPr id="6" name="CuadroTexto 5"/>
          <p:cNvSpPr txBox="1"/>
          <p:nvPr/>
        </p:nvSpPr>
        <p:spPr>
          <a:xfrm>
            <a:off x="1003742" y="2359569"/>
            <a:ext cx="619080" cy="338554"/>
          </a:xfrm>
          <a:prstGeom prst="rect">
            <a:avLst/>
          </a:prstGeom>
          <a:noFill/>
        </p:spPr>
        <p:txBody>
          <a:bodyPr wrap="none" rtlCol="0">
            <a:spAutoFit/>
          </a:bodyPr>
          <a:lstStyle/>
          <a:p>
            <a:r>
              <a:rPr lang="es-MX" sz="1600" b="1" dirty="0" err="1">
                <a:solidFill>
                  <a:schemeClr val="accent1">
                    <a:lumMod val="50000"/>
                  </a:schemeClr>
                </a:solidFill>
              </a:rPr>
              <a:t>Matr</a:t>
            </a:r>
            <a:endParaRPr lang="es-MX" sz="1600" b="1" dirty="0">
              <a:solidFill>
                <a:schemeClr val="accent1">
                  <a:lumMod val="50000"/>
                </a:schemeClr>
              </a:solidFill>
            </a:endParaRPr>
          </a:p>
        </p:txBody>
      </p:sp>
      <p:sp>
        <p:nvSpPr>
          <p:cNvPr id="7" name="CuadroTexto 6"/>
          <p:cNvSpPr txBox="1"/>
          <p:nvPr/>
        </p:nvSpPr>
        <p:spPr>
          <a:xfrm>
            <a:off x="1981187" y="2381224"/>
            <a:ext cx="914033" cy="338554"/>
          </a:xfrm>
          <a:prstGeom prst="rect">
            <a:avLst/>
          </a:prstGeom>
          <a:noFill/>
        </p:spPr>
        <p:txBody>
          <a:bodyPr wrap="none" rtlCol="0">
            <a:spAutoFit/>
          </a:bodyPr>
          <a:lstStyle/>
          <a:p>
            <a:r>
              <a:rPr lang="es-MX" sz="1600" dirty="0">
                <a:solidFill>
                  <a:schemeClr val="bg1"/>
                </a:solidFill>
              </a:rPr>
              <a:t>Nombre</a:t>
            </a:r>
          </a:p>
        </p:txBody>
      </p:sp>
      <p:sp>
        <p:nvSpPr>
          <p:cNvPr id="8" name="CuadroTexto 7"/>
          <p:cNvSpPr txBox="1"/>
          <p:nvPr/>
        </p:nvSpPr>
        <p:spPr>
          <a:xfrm>
            <a:off x="3179843" y="2384146"/>
            <a:ext cx="1037463" cy="338554"/>
          </a:xfrm>
          <a:prstGeom prst="rect">
            <a:avLst/>
          </a:prstGeom>
          <a:noFill/>
        </p:spPr>
        <p:txBody>
          <a:bodyPr wrap="none" rtlCol="0">
            <a:spAutoFit/>
          </a:bodyPr>
          <a:lstStyle/>
          <a:p>
            <a:r>
              <a:rPr lang="es-MX" sz="1600" dirty="0">
                <a:solidFill>
                  <a:schemeClr val="bg1"/>
                </a:solidFill>
              </a:rPr>
              <a:t>Dirección</a:t>
            </a:r>
          </a:p>
        </p:txBody>
      </p:sp>
      <p:sp>
        <p:nvSpPr>
          <p:cNvPr id="9" name="CuadroTexto 8"/>
          <p:cNvSpPr txBox="1"/>
          <p:nvPr/>
        </p:nvSpPr>
        <p:spPr>
          <a:xfrm>
            <a:off x="4517591" y="2405399"/>
            <a:ext cx="662361" cy="338554"/>
          </a:xfrm>
          <a:prstGeom prst="rect">
            <a:avLst/>
          </a:prstGeom>
          <a:noFill/>
        </p:spPr>
        <p:txBody>
          <a:bodyPr wrap="none" rtlCol="0">
            <a:spAutoFit/>
          </a:bodyPr>
          <a:lstStyle/>
          <a:p>
            <a:r>
              <a:rPr lang="es-MX" sz="1600" dirty="0" err="1">
                <a:solidFill>
                  <a:schemeClr val="bg1"/>
                </a:solidFill>
              </a:rPr>
              <a:t>CCar</a:t>
            </a:r>
            <a:endParaRPr lang="es-MX" sz="1600" dirty="0">
              <a:solidFill>
                <a:schemeClr val="bg1"/>
              </a:solidFill>
            </a:endParaRPr>
          </a:p>
        </p:txBody>
      </p:sp>
      <p:graphicFrame>
        <p:nvGraphicFramePr>
          <p:cNvPr id="10" name="Marcador de contenido 3"/>
          <p:cNvGraphicFramePr>
            <a:graphicFrameLocks/>
          </p:cNvGraphicFramePr>
          <p:nvPr/>
        </p:nvGraphicFramePr>
        <p:xfrm>
          <a:off x="5797366" y="2417840"/>
          <a:ext cx="4465969" cy="365760"/>
        </p:xfrm>
        <a:graphic>
          <a:graphicData uri="http://schemas.openxmlformats.org/drawingml/2006/table">
            <a:tbl>
              <a:tblPr firstRow="1" bandRow="1">
                <a:tableStyleId>{5C22544A-7EE6-4342-B048-85BDC9FD1C3A}</a:tableStyleId>
              </a:tblPr>
              <a:tblGrid>
                <a:gridCol w="1015779">
                  <a:extLst>
                    <a:ext uri="{9D8B030D-6E8A-4147-A177-3AD203B41FA5}">
                      <a16:colId xmlns:a16="http://schemas.microsoft.com/office/drawing/2014/main" val="3850095751"/>
                    </a:ext>
                  </a:extLst>
                </a:gridCol>
                <a:gridCol w="1116893">
                  <a:extLst>
                    <a:ext uri="{9D8B030D-6E8A-4147-A177-3AD203B41FA5}">
                      <a16:colId xmlns:a16="http://schemas.microsoft.com/office/drawing/2014/main" val="3287339638"/>
                    </a:ext>
                  </a:extLst>
                </a:gridCol>
                <a:gridCol w="1249285">
                  <a:extLst>
                    <a:ext uri="{9D8B030D-6E8A-4147-A177-3AD203B41FA5}">
                      <a16:colId xmlns:a16="http://schemas.microsoft.com/office/drawing/2014/main" val="4254527893"/>
                    </a:ext>
                  </a:extLst>
                </a:gridCol>
                <a:gridCol w="1084012">
                  <a:extLst>
                    <a:ext uri="{9D8B030D-6E8A-4147-A177-3AD203B41FA5}">
                      <a16:colId xmlns:a16="http://schemas.microsoft.com/office/drawing/2014/main" val="2416358844"/>
                    </a:ext>
                  </a:extLst>
                </a:gridCol>
              </a:tblGrid>
              <a:tr h="319087">
                <a:tc>
                  <a:txBody>
                    <a:bodyPr/>
                    <a:lstStyle/>
                    <a:p>
                      <a:endParaRPr lang="es-MX" dirty="0">
                        <a:solidFill>
                          <a:schemeClr val="accent1">
                            <a:lumMod val="50000"/>
                          </a:schemeClr>
                        </a:solidFill>
                      </a:endParaRPr>
                    </a:p>
                  </a:txBody>
                  <a:tcPr/>
                </a:tc>
                <a:tc>
                  <a:txBody>
                    <a:bodyPr/>
                    <a:lstStyle/>
                    <a:p>
                      <a:endParaRPr lang="es-MX" dirty="0">
                        <a:solidFill>
                          <a:schemeClr val="accent1">
                            <a:lumMod val="50000"/>
                          </a:schemeClr>
                        </a:solidFill>
                      </a:endParaRPr>
                    </a:p>
                  </a:txBody>
                  <a:tcPr/>
                </a:tc>
                <a:tc>
                  <a:txBody>
                    <a:bodyPr/>
                    <a:lstStyle/>
                    <a:p>
                      <a:endParaRPr lang="es-MX" dirty="0">
                        <a:solidFill>
                          <a:schemeClr val="accent1">
                            <a:lumMod val="50000"/>
                          </a:schemeClr>
                        </a:solidFill>
                      </a:endParaRPr>
                    </a:p>
                  </a:txBody>
                  <a:tcPr/>
                </a:tc>
                <a:tc>
                  <a:txBody>
                    <a:bodyPr/>
                    <a:lstStyle/>
                    <a:p>
                      <a:endParaRPr lang="es-MX" dirty="0">
                        <a:solidFill>
                          <a:schemeClr val="accent1">
                            <a:lumMod val="50000"/>
                          </a:schemeClr>
                        </a:solidFill>
                      </a:endParaRPr>
                    </a:p>
                  </a:txBody>
                  <a:tcPr/>
                </a:tc>
                <a:extLst>
                  <a:ext uri="{0D108BD9-81ED-4DB2-BD59-A6C34878D82A}">
                    <a16:rowId xmlns:a16="http://schemas.microsoft.com/office/drawing/2014/main" val="665894866"/>
                  </a:ext>
                </a:extLst>
              </a:tr>
            </a:tbl>
          </a:graphicData>
        </a:graphic>
      </p:graphicFrame>
      <p:sp>
        <p:nvSpPr>
          <p:cNvPr id="11" name="CuadroTexto 10"/>
          <p:cNvSpPr txBox="1"/>
          <p:nvPr/>
        </p:nvSpPr>
        <p:spPr>
          <a:xfrm>
            <a:off x="5722875" y="2000517"/>
            <a:ext cx="1373005" cy="369332"/>
          </a:xfrm>
          <a:prstGeom prst="rect">
            <a:avLst/>
          </a:prstGeom>
          <a:noFill/>
        </p:spPr>
        <p:txBody>
          <a:bodyPr wrap="none" rtlCol="0">
            <a:spAutoFit/>
          </a:bodyPr>
          <a:lstStyle/>
          <a:p>
            <a:r>
              <a:rPr lang="es-MX" b="1" dirty="0"/>
              <a:t>MATERIAS</a:t>
            </a:r>
          </a:p>
        </p:txBody>
      </p:sp>
      <p:sp>
        <p:nvSpPr>
          <p:cNvPr id="12" name="CuadroTexto 11"/>
          <p:cNvSpPr txBox="1"/>
          <p:nvPr/>
        </p:nvSpPr>
        <p:spPr>
          <a:xfrm>
            <a:off x="5854249" y="2385846"/>
            <a:ext cx="686406" cy="338554"/>
          </a:xfrm>
          <a:prstGeom prst="rect">
            <a:avLst/>
          </a:prstGeom>
          <a:noFill/>
        </p:spPr>
        <p:txBody>
          <a:bodyPr wrap="none" rtlCol="0">
            <a:spAutoFit/>
          </a:bodyPr>
          <a:lstStyle/>
          <a:p>
            <a:r>
              <a:rPr lang="es-MX" sz="1600" b="1" dirty="0" err="1">
                <a:solidFill>
                  <a:schemeClr val="accent1">
                    <a:lumMod val="50000"/>
                  </a:schemeClr>
                </a:solidFill>
              </a:rPr>
              <a:t>CMat</a:t>
            </a:r>
            <a:endParaRPr lang="es-MX" sz="1600" b="1" dirty="0">
              <a:solidFill>
                <a:schemeClr val="accent1">
                  <a:lumMod val="50000"/>
                </a:schemeClr>
              </a:solidFill>
            </a:endParaRPr>
          </a:p>
        </p:txBody>
      </p:sp>
      <p:sp>
        <p:nvSpPr>
          <p:cNvPr id="13" name="CuadroTexto 12"/>
          <p:cNvSpPr txBox="1"/>
          <p:nvPr/>
        </p:nvSpPr>
        <p:spPr>
          <a:xfrm>
            <a:off x="6831694" y="2407501"/>
            <a:ext cx="960519" cy="338554"/>
          </a:xfrm>
          <a:prstGeom prst="rect">
            <a:avLst/>
          </a:prstGeom>
          <a:noFill/>
        </p:spPr>
        <p:txBody>
          <a:bodyPr wrap="none" rtlCol="0">
            <a:spAutoFit/>
          </a:bodyPr>
          <a:lstStyle/>
          <a:p>
            <a:r>
              <a:rPr lang="es-MX" sz="1600" dirty="0" err="1">
                <a:solidFill>
                  <a:schemeClr val="bg1"/>
                </a:solidFill>
              </a:rPr>
              <a:t>NomMat</a:t>
            </a:r>
            <a:endParaRPr lang="es-MX" sz="1600" dirty="0">
              <a:solidFill>
                <a:schemeClr val="bg1"/>
              </a:solidFill>
            </a:endParaRPr>
          </a:p>
        </p:txBody>
      </p:sp>
      <p:sp>
        <p:nvSpPr>
          <p:cNvPr id="14" name="CuadroTexto 13"/>
          <p:cNvSpPr txBox="1"/>
          <p:nvPr/>
        </p:nvSpPr>
        <p:spPr>
          <a:xfrm>
            <a:off x="8030350" y="2410423"/>
            <a:ext cx="731290" cy="338554"/>
          </a:xfrm>
          <a:prstGeom prst="rect">
            <a:avLst/>
          </a:prstGeom>
          <a:noFill/>
        </p:spPr>
        <p:txBody>
          <a:bodyPr wrap="none" rtlCol="0">
            <a:spAutoFit/>
          </a:bodyPr>
          <a:lstStyle/>
          <a:p>
            <a:r>
              <a:rPr lang="es-MX" sz="1600" dirty="0" err="1">
                <a:solidFill>
                  <a:schemeClr val="bg1"/>
                </a:solidFill>
              </a:rPr>
              <a:t>Ncred</a:t>
            </a:r>
            <a:endParaRPr lang="es-MX" sz="1600" dirty="0">
              <a:solidFill>
                <a:schemeClr val="bg1"/>
              </a:solidFill>
            </a:endParaRPr>
          </a:p>
        </p:txBody>
      </p:sp>
      <p:sp>
        <p:nvSpPr>
          <p:cNvPr id="15" name="CuadroTexto 14"/>
          <p:cNvSpPr txBox="1"/>
          <p:nvPr/>
        </p:nvSpPr>
        <p:spPr>
          <a:xfrm>
            <a:off x="9357588" y="2400146"/>
            <a:ext cx="662361" cy="338554"/>
          </a:xfrm>
          <a:prstGeom prst="rect">
            <a:avLst/>
          </a:prstGeom>
          <a:noFill/>
        </p:spPr>
        <p:txBody>
          <a:bodyPr wrap="none" rtlCol="0">
            <a:spAutoFit/>
          </a:bodyPr>
          <a:lstStyle/>
          <a:p>
            <a:r>
              <a:rPr lang="es-MX" sz="1600" dirty="0" err="1">
                <a:solidFill>
                  <a:schemeClr val="bg1"/>
                </a:solidFill>
              </a:rPr>
              <a:t>CCar</a:t>
            </a:r>
            <a:endParaRPr lang="es-MX" sz="1600" dirty="0">
              <a:solidFill>
                <a:schemeClr val="bg1"/>
              </a:solidFill>
            </a:endParaRPr>
          </a:p>
        </p:txBody>
      </p:sp>
      <p:graphicFrame>
        <p:nvGraphicFramePr>
          <p:cNvPr id="16" name="Marcador de contenido 3"/>
          <p:cNvGraphicFramePr>
            <a:graphicFrameLocks/>
          </p:cNvGraphicFramePr>
          <p:nvPr/>
        </p:nvGraphicFramePr>
        <p:xfrm>
          <a:off x="873294" y="3369027"/>
          <a:ext cx="4465969" cy="365760"/>
        </p:xfrm>
        <a:graphic>
          <a:graphicData uri="http://schemas.openxmlformats.org/drawingml/2006/table">
            <a:tbl>
              <a:tblPr firstRow="1" bandRow="1">
                <a:tableStyleId>{5C22544A-7EE6-4342-B048-85BDC9FD1C3A}</a:tableStyleId>
              </a:tblPr>
              <a:tblGrid>
                <a:gridCol w="1015779">
                  <a:extLst>
                    <a:ext uri="{9D8B030D-6E8A-4147-A177-3AD203B41FA5}">
                      <a16:colId xmlns:a16="http://schemas.microsoft.com/office/drawing/2014/main" val="3850095751"/>
                    </a:ext>
                  </a:extLst>
                </a:gridCol>
                <a:gridCol w="1116893">
                  <a:extLst>
                    <a:ext uri="{9D8B030D-6E8A-4147-A177-3AD203B41FA5}">
                      <a16:colId xmlns:a16="http://schemas.microsoft.com/office/drawing/2014/main" val="3287339638"/>
                    </a:ext>
                  </a:extLst>
                </a:gridCol>
                <a:gridCol w="1103579">
                  <a:extLst>
                    <a:ext uri="{9D8B030D-6E8A-4147-A177-3AD203B41FA5}">
                      <a16:colId xmlns:a16="http://schemas.microsoft.com/office/drawing/2014/main" val="4254527893"/>
                    </a:ext>
                  </a:extLst>
                </a:gridCol>
                <a:gridCol w="1229718">
                  <a:extLst>
                    <a:ext uri="{9D8B030D-6E8A-4147-A177-3AD203B41FA5}">
                      <a16:colId xmlns:a16="http://schemas.microsoft.com/office/drawing/2014/main" val="2416358844"/>
                    </a:ext>
                  </a:extLst>
                </a:gridCol>
              </a:tblGrid>
              <a:tr h="319087">
                <a:tc>
                  <a:txBody>
                    <a:bodyPr/>
                    <a:lstStyle/>
                    <a:p>
                      <a:endParaRPr lang="es-MX" dirty="0">
                        <a:solidFill>
                          <a:schemeClr val="accent1">
                            <a:lumMod val="50000"/>
                          </a:schemeClr>
                        </a:solidFill>
                      </a:endParaRPr>
                    </a:p>
                  </a:txBody>
                  <a:tcPr/>
                </a:tc>
                <a:tc>
                  <a:txBody>
                    <a:bodyPr/>
                    <a:lstStyle/>
                    <a:p>
                      <a:endParaRPr lang="es-MX" dirty="0">
                        <a:solidFill>
                          <a:schemeClr val="accent1">
                            <a:lumMod val="50000"/>
                          </a:schemeClr>
                        </a:solidFill>
                      </a:endParaRPr>
                    </a:p>
                  </a:txBody>
                  <a:tcPr/>
                </a:tc>
                <a:tc>
                  <a:txBody>
                    <a:bodyPr/>
                    <a:lstStyle/>
                    <a:p>
                      <a:endParaRPr lang="es-MX" dirty="0">
                        <a:solidFill>
                          <a:schemeClr val="accent1">
                            <a:lumMod val="50000"/>
                          </a:schemeClr>
                        </a:solidFill>
                      </a:endParaRPr>
                    </a:p>
                  </a:txBody>
                  <a:tcPr/>
                </a:tc>
                <a:tc>
                  <a:txBody>
                    <a:bodyPr/>
                    <a:lstStyle/>
                    <a:p>
                      <a:endParaRPr lang="es-MX" dirty="0">
                        <a:solidFill>
                          <a:schemeClr val="accent1">
                            <a:lumMod val="50000"/>
                          </a:schemeClr>
                        </a:solidFill>
                      </a:endParaRPr>
                    </a:p>
                  </a:txBody>
                  <a:tcPr/>
                </a:tc>
                <a:extLst>
                  <a:ext uri="{0D108BD9-81ED-4DB2-BD59-A6C34878D82A}">
                    <a16:rowId xmlns:a16="http://schemas.microsoft.com/office/drawing/2014/main" val="665894866"/>
                  </a:ext>
                </a:extLst>
              </a:tr>
            </a:tbl>
          </a:graphicData>
        </a:graphic>
      </p:graphicFrame>
      <p:sp>
        <p:nvSpPr>
          <p:cNvPr id="17" name="CuadroTexto 16"/>
          <p:cNvSpPr txBox="1"/>
          <p:nvPr/>
        </p:nvSpPr>
        <p:spPr>
          <a:xfrm>
            <a:off x="798803" y="2951704"/>
            <a:ext cx="1492716" cy="369332"/>
          </a:xfrm>
          <a:prstGeom prst="rect">
            <a:avLst/>
          </a:prstGeom>
          <a:noFill/>
        </p:spPr>
        <p:txBody>
          <a:bodyPr wrap="none" rtlCol="0">
            <a:spAutoFit/>
          </a:bodyPr>
          <a:lstStyle/>
          <a:p>
            <a:r>
              <a:rPr lang="es-MX" b="1" dirty="0"/>
              <a:t>CARRERAS</a:t>
            </a:r>
          </a:p>
        </p:txBody>
      </p:sp>
      <p:sp>
        <p:nvSpPr>
          <p:cNvPr id="18" name="CuadroTexto 17"/>
          <p:cNvSpPr txBox="1"/>
          <p:nvPr/>
        </p:nvSpPr>
        <p:spPr>
          <a:xfrm>
            <a:off x="930177" y="3337033"/>
            <a:ext cx="673582" cy="338554"/>
          </a:xfrm>
          <a:prstGeom prst="rect">
            <a:avLst/>
          </a:prstGeom>
          <a:noFill/>
        </p:spPr>
        <p:txBody>
          <a:bodyPr wrap="none" rtlCol="0">
            <a:spAutoFit/>
          </a:bodyPr>
          <a:lstStyle/>
          <a:p>
            <a:r>
              <a:rPr lang="es-MX" sz="1600" b="1" dirty="0" err="1">
                <a:solidFill>
                  <a:schemeClr val="accent1">
                    <a:lumMod val="50000"/>
                  </a:schemeClr>
                </a:solidFill>
              </a:rPr>
              <a:t>CCar</a:t>
            </a:r>
            <a:endParaRPr lang="es-MX" sz="1600" b="1" dirty="0">
              <a:solidFill>
                <a:schemeClr val="accent1">
                  <a:lumMod val="50000"/>
                </a:schemeClr>
              </a:solidFill>
            </a:endParaRPr>
          </a:p>
        </p:txBody>
      </p:sp>
      <p:sp>
        <p:nvSpPr>
          <p:cNvPr id="19" name="CuadroTexto 18"/>
          <p:cNvSpPr txBox="1"/>
          <p:nvPr/>
        </p:nvSpPr>
        <p:spPr>
          <a:xfrm>
            <a:off x="1907622" y="3358688"/>
            <a:ext cx="947695" cy="338554"/>
          </a:xfrm>
          <a:prstGeom prst="rect">
            <a:avLst/>
          </a:prstGeom>
          <a:noFill/>
        </p:spPr>
        <p:txBody>
          <a:bodyPr wrap="none" rtlCol="0">
            <a:spAutoFit/>
          </a:bodyPr>
          <a:lstStyle/>
          <a:p>
            <a:r>
              <a:rPr lang="es-MX" sz="1600" dirty="0" err="1">
                <a:solidFill>
                  <a:schemeClr val="bg1"/>
                </a:solidFill>
              </a:rPr>
              <a:t>NomCar</a:t>
            </a:r>
            <a:endParaRPr lang="es-MX" sz="1600" dirty="0">
              <a:solidFill>
                <a:schemeClr val="bg1"/>
              </a:solidFill>
            </a:endParaRPr>
          </a:p>
        </p:txBody>
      </p:sp>
      <p:sp>
        <p:nvSpPr>
          <p:cNvPr id="20" name="CuadroTexto 19"/>
          <p:cNvSpPr txBox="1"/>
          <p:nvPr/>
        </p:nvSpPr>
        <p:spPr>
          <a:xfrm>
            <a:off x="3106278" y="3361610"/>
            <a:ext cx="833562" cy="338554"/>
          </a:xfrm>
          <a:prstGeom prst="rect">
            <a:avLst/>
          </a:prstGeom>
          <a:noFill/>
        </p:spPr>
        <p:txBody>
          <a:bodyPr wrap="none" rtlCol="0">
            <a:spAutoFit/>
          </a:bodyPr>
          <a:lstStyle/>
          <a:p>
            <a:r>
              <a:rPr lang="es-MX" sz="1600" dirty="0" err="1">
                <a:solidFill>
                  <a:schemeClr val="bg1"/>
                </a:solidFill>
              </a:rPr>
              <a:t>NTcred</a:t>
            </a:r>
            <a:endParaRPr lang="es-MX" sz="1600" dirty="0">
              <a:solidFill>
                <a:schemeClr val="bg1"/>
              </a:solidFill>
            </a:endParaRPr>
          </a:p>
        </p:txBody>
      </p:sp>
      <p:sp>
        <p:nvSpPr>
          <p:cNvPr id="21" name="CuadroTexto 20"/>
          <p:cNvSpPr txBox="1"/>
          <p:nvPr/>
        </p:nvSpPr>
        <p:spPr>
          <a:xfrm>
            <a:off x="4118216" y="3361843"/>
            <a:ext cx="1231427" cy="338554"/>
          </a:xfrm>
          <a:prstGeom prst="rect">
            <a:avLst/>
          </a:prstGeom>
          <a:noFill/>
        </p:spPr>
        <p:txBody>
          <a:bodyPr wrap="none" rtlCol="0">
            <a:spAutoFit/>
          </a:bodyPr>
          <a:lstStyle/>
          <a:p>
            <a:r>
              <a:rPr lang="es-MX" sz="1600" dirty="0" err="1">
                <a:solidFill>
                  <a:schemeClr val="bg1"/>
                </a:solidFill>
              </a:rPr>
              <a:t>FechaInicio</a:t>
            </a:r>
            <a:endParaRPr lang="es-MX" sz="1600" dirty="0">
              <a:solidFill>
                <a:schemeClr val="bg1"/>
              </a:solidFill>
            </a:endParaRPr>
          </a:p>
        </p:txBody>
      </p:sp>
      <p:graphicFrame>
        <p:nvGraphicFramePr>
          <p:cNvPr id="22" name="Marcador de contenido 3"/>
          <p:cNvGraphicFramePr>
            <a:graphicFrameLocks/>
          </p:cNvGraphicFramePr>
          <p:nvPr/>
        </p:nvGraphicFramePr>
        <p:xfrm>
          <a:off x="5744823" y="3353267"/>
          <a:ext cx="4465969" cy="365760"/>
        </p:xfrm>
        <a:graphic>
          <a:graphicData uri="http://schemas.openxmlformats.org/drawingml/2006/table">
            <a:tbl>
              <a:tblPr firstRow="1" bandRow="1">
                <a:tableStyleId>{5C22544A-7EE6-4342-B048-85BDC9FD1C3A}</a:tableStyleId>
              </a:tblPr>
              <a:tblGrid>
                <a:gridCol w="1015779">
                  <a:extLst>
                    <a:ext uri="{9D8B030D-6E8A-4147-A177-3AD203B41FA5}">
                      <a16:colId xmlns:a16="http://schemas.microsoft.com/office/drawing/2014/main" val="3850095751"/>
                    </a:ext>
                  </a:extLst>
                </a:gridCol>
                <a:gridCol w="1116893">
                  <a:extLst>
                    <a:ext uri="{9D8B030D-6E8A-4147-A177-3AD203B41FA5}">
                      <a16:colId xmlns:a16="http://schemas.microsoft.com/office/drawing/2014/main" val="3287339638"/>
                    </a:ext>
                  </a:extLst>
                </a:gridCol>
                <a:gridCol w="1103579">
                  <a:extLst>
                    <a:ext uri="{9D8B030D-6E8A-4147-A177-3AD203B41FA5}">
                      <a16:colId xmlns:a16="http://schemas.microsoft.com/office/drawing/2014/main" val="4254527893"/>
                    </a:ext>
                  </a:extLst>
                </a:gridCol>
                <a:gridCol w="1229718">
                  <a:extLst>
                    <a:ext uri="{9D8B030D-6E8A-4147-A177-3AD203B41FA5}">
                      <a16:colId xmlns:a16="http://schemas.microsoft.com/office/drawing/2014/main" val="2416358844"/>
                    </a:ext>
                  </a:extLst>
                </a:gridCol>
              </a:tblGrid>
              <a:tr h="319087">
                <a:tc>
                  <a:txBody>
                    <a:bodyPr/>
                    <a:lstStyle/>
                    <a:p>
                      <a:endParaRPr lang="es-MX" dirty="0">
                        <a:solidFill>
                          <a:schemeClr val="accent1">
                            <a:lumMod val="50000"/>
                          </a:schemeClr>
                        </a:solidFill>
                      </a:endParaRPr>
                    </a:p>
                  </a:txBody>
                  <a:tcPr/>
                </a:tc>
                <a:tc>
                  <a:txBody>
                    <a:bodyPr/>
                    <a:lstStyle/>
                    <a:p>
                      <a:endParaRPr lang="es-MX" dirty="0">
                        <a:solidFill>
                          <a:schemeClr val="accent1">
                            <a:lumMod val="50000"/>
                          </a:schemeClr>
                        </a:solidFill>
                      </a:endParaRPr>
                    </a:p>
                  </a:txBody>
                  <a:tcPr/>
                </a:tc>
                <a:tc>
                  <a:txBody>
                    <a:bodyPr/>
                    <a:lstStyle/>
                    <a:p>
                      <a:endParaRPr lang="es-MX" dirty="0">
                        <a:solidFill>
                          <a:schemeClr val="accent1">
                            <a:lumMod val="50000"/>
                          </a:schemeClr>
                        </a:solidFill>
                      </a:endParaRPr>
                    </a:p>
                  </a:txBody>
                  <a:tcPr/>
                </a:tc>
                <a:tc>
                  <a:txBody>
                    <a:bodyPr/>
                    <a:lstStyle/>
                    <a:p>
                      <a:endParaRPr lang="es-MX" dirty="0">
                        <a:solidFill>
                          <a:schemeClr val="accent1">
                            <a:lumMod val="50000"/>
                          </a:schemeClr>
                        </a:solidFill>
                      </a:endParaRPr>
                    </a:p>
                  </a:txBody>
                  <a:tcPr/>
                </a:tc>
                <a:extLst>
                  <a:ext uri="{0D108BD9-81ED-4DB2-BD59-A6C34878D82A}">
                    <a16:rowId xmlns:a16="http://schemas.microsoft.com/office/drawing/2014/main" val="665894866"/>
                  </a:ext>
                </a:extLst>
              </a:tr>
            </a:tbl>
          </a:graphicData>
        </a:graphic>
      </p:graphicFrame>
      <p:sp>
        <p:nvSpPr>
          <p:cNvPr id="23" name="CuadroTexto 22"/>
          <p:cNvSpPr txBox="1"/>
          <p:nvPr/>
        </p:nvSpPr>
        <p:spPr>
          <a:xfrm>
            <a:off x="5670332" y="2935944"/>
            <a:ext cx="1787669" cy="369332"/>
          </a:xfrm>
          <a:prstGeom prst="rect">
            <a:avLst/>
          </a:prstGeom>
          <a:noFill/>
        </p:spPr>
        <p:txBody>
          <a:bodyPr wrap="none" rtlCol="0">
            <a:spAutoFit/>
          </a:bodyPr>
          <a:lstStyle/>
          <a:p>
            <a:r>
              <a:rPr lang="es-MX" b="1" dirty="0"/>
              <a:t>PROFESORES</a:t>
            </a:r>
          </a:p>
        </p:txBody>
      </p:sp>
      <p:sp>
        <p:nvSpPr>
          <p:cNvPr id="24" name="CuadroTexto 23"/>
          <p:cNvSpPr txBox="1"/>
          <p:nvPr/>
        </p:nvSpPr>
        <p:spPr>
          <a:xfrm>
            <a:off x="5801706" y="3321273"/>
            <a:ext cx="742511" cy="338554"/>
          </a:xfrm>
          <a:prstGeom prst="rect">
            <a:avLst/>
          </a:prstGeom>
          <a:noFill/>
        </p:spPr>
        <p:txBody>
          <a:bodyPr wrap="none" rtlCol="0">
            <a:spAutoFit/>
          </a:bodyPr>
          <a:lstStyle/>
          <a:p>
            <a:r>
              <a:rPr lang="es-MX" sz="1600" b="1" dirty="0" err="1">
                <a:solidFill>
                  <a:schemeClr val="accent1">
                    <a:lumMod val="50000"/>
                  </a:schemeClr>
                </a:solidFill>
              </a:rPr>
              <a:t>CProf</a:t>
            </a:r>
            <a:endParaRPr lang="es-MX" sz="1600" b="1" dirty="0">
              <a:solidFill>
                <a:schemeClr val="accent1">
                  <a:lumMod val="50000"/>
                </a:schemeClr>
              </a:solidFill>
            </a:endParaRPr>
          </a:p>
        </p:txBody>
      </p:sp>
      <p:sp>
        <p:nvSpPr>
          <p:cNvPr id="25" name="CuadroTexto 24"/>
          <p:cNvSpPr txBox="1"/>
          <p:nvPr/>
        </p:nvSpPr>
        <p:spPr>
          <a:xfrm>
            <a:off x="6779151" y="3342928"/>
            <a:ext cx="994183" cy="338554"/>
          </a:xfrm>
          <a:prstGeom prst="rect">
            <a:avLst/>
          </a:prstGeom>
          <a:noFill/>
        </p:spPr>
        <p:txBody>
          <a:bodyPr wrap="none" rtlCol="0">
            <a:spAutoFit/>
          </a:bodyPr>
          <a:lstStyle/>
          <a:p>
            <a:r>
              <a:rPr lang="es-MX" sz="1600" dirty="0" err="1">
                <a:solidFill>
                  <a:schemeClr val="bg1"/>
                </a:solidFill>
              </a:rPr>
              <a:t>NomProf</a:t>
            </a:r>
            <a:endParaRPr lang="es-MX" sz="1600" dirty="0">
              <a:solidFill>
                <a:schemeClr val="bg1"/>
              </a:solidFill>
            </a:endParaRPr>
          </a:p>
        </p:txBody>
      </p:sp>
      <p:sp>
        <p:nvSpPr>
          <p:cNvPr id="26" name="CuadroTexto 25"/>
          <p:cNvSpPr txBox="1"/>
          <p:nvPr/>
        </p:nvSpPr>
        <p:spPr>
          <a:xfrm>
            <a:off x="7883217" y="3345850"/>
            <a:ext cx="1039067" cy="338554"/>
          </a:xfrm>
          <a:prstGeom prst="rect">
            <a:avLst/>
          </a:prstGeom>
          <a:noFill/>
        </p:spPr>
        <p:txBody>
          <a:bodyPr wrap="none" rtlCol="0">
            <a:spAutoFit/>
          </a:bodyPr>
          <a:lstStyle/>
          <a:p>
            <a:r>
              <a:rPr lang="es-MX" sz="1600" dirty="0" err="1">
                <a:solidFill>
                  <a:schemeClr val="bg1"/>
                </a:solidFill>
              </a:rPr>
              <a:t>GradoAC</a:t>
            </a:r>
            <a:endParaRPr lang="es-MX" sz="1600" dirty="0">
              <a:solidFill>
                <a:schemeClr val="bg1"/>
              </a:solidFill>
            </a:endParaRPr>
          </a:p>
        </p:txBody>
      </p:sp>
      <p:sp>
        <p:nvSpPr>
          <p:cNvPr id="27" name="CuadroTexto 26"/>
          <p:cNvSpPr txBox="1"/>
          <p:nvPr/>
        </p:nvSpPr>
        <p:spPr>
          <a:xfrm>
            <a:off x="8895155" y="3346083"/>
            <a:ext cx="1438214" cy="338554"/>
          </a:xfrm>
          <a:prstGeom prst="rect">
            <a:avLst/>
          </a:prstGeom>
          <a:noFill/>
        </p:spPr>
        <p:txBody>
          <a:bodyPr wrap="none" rtlCol="0">
            <a:spAutoFit/>
          </a:bodyPr>
          <a:lstStyle/>
          <a:p>
            <a:r>
              <a:rPr lang="es-MX" sz="1600" dirty="0" err="1">
                <a:solidFill>
                  <a:schemeClr val="bg1"/>
                </a:solidFill>
              </a:rPr>
              <a:t>FechaIngreso</a:t>
            </a:r>
            <a:endParaRPr lang="es-MX" sz="1600" dirty="0">
              <a:solidFill>
                <a:schemeClr val="bg1"/>
              </a:solidFill>
            </a:endParaRPr>
          </a:p>
        </p:txBody>
      </p:sp>
      <p:sp>
        <p:nvSpPr>
          <p:cNvPr id="29" name="CuadroTexto 28"/>
          <p:cNvSpPr txBox="1"/>
          <p:nvPr/>
        </p:nvSpPr>
        <p:spPr>
          <a:xfrm>
            <a:off x="793553" y="3871355"/>
            <a:ext cx="1184940" cy="369332"/>
          </a:xfrm>
          <a:prstGeom prst="rect">
            <a:avLst/>
          </a:prstGeom>
          <a:noFill/>
        </p:spPr>
        <p:txBody>
          <a:bodyPr wrap="none" rtlCol="0">
            <a:spAutoFit/>
          </a:bodyPr>
          <a:lstStyle/>
          <a:p>
            <a:r>
              <a:rPr lang="es-MX" b="1" dirty="0"/>
              <a:t>GRUPOS</a:t>
            </a:r>
          </a:p>
        </p:txBody>
      </p:sp>
      <p:graphicFrame>
        <p:nvGraphicFramePr>
          <p:cNvPr id="42" name="Marcador de contenido 3"/>
          <p:cNvGraphicFramePr>
            <a:graphicFrameLocks/>
          </p:cNvGraphicFramePr>
          <p:nvPr/>
        </p:nvGraphicFramePr>
        <p:xfrm>
          <a:off x="857534" y="5287155"/>
          <a:ext cx="5259488" cy="365760"/>
        </p:xfrm>
        <a:graphic>
          <a:graphicData uri="http://schemas.openxmlformats.org/drawingml/2006/table">
            <a:tbl>
              <a:tblPr firstRow="1" bandRow="1">
                <a:tableStyleId>{5C22544A-7EE6-4342-B048-85BDC9FD1C3A}</a:tableStyleId>
              </a:tblPr>
              <a:tblGrid>
                <a:gridCol w="1196264">
                  <a:extLst>
                    <a:ext uri="{9D8B030D-6E8A-4147-A177-3AD203B41FA5}">
                      <a16:colId xmlns:a16="http://schemas.microsoft.com/office/drawing/2014/main" val="3850095751"/>
                    </a:ext>
                  </a:extLst>
                </a:gridCol>
                <a:gridCol w="794505">
                  <a:extLst>
                    <a:ext uri="{9D8B030D-6E8A-4147-A177-3AD203B41FA5}">
                      <a16:colId xmlns:a16="http://schemas.microsoft.com/office/drawing/2014/main" val="3287339638"/>
                    </a:ext>
                  </a:extLst>
                </a:gridCol>
                <a:gridCol w="1219200">
                  <a:extLst>
                    <a:ext uri="{9D8B030D-6E8A-4147-A177-3AD203B41FA5}">
                      <a16:colId xmlns:a16="http://schemas.microsoft.com/office/drawing/2014/main" val="4254527893"/>
                    </a:ext>
                  </a:extLst>
                </a:gridCol>
                <a:gridCol w="987973">
                  <a:extLst>
                    <a:ext uri="{9D8B030D-6E8A-4147-A177-3AD203B41FA5}">
                      <a16:colId xmlns:a16="http://schemas.microsoft.com/office/drawing/2014/main" val="2416358844"/>
                    </a:ext>
                  </a:extLst>
                </a:gridCol>
                <a:gridCol w="1061546">
                  <a:extLst>
                    <a:ext uri="{9D8B030D-6E8A-4147-A177-3AD203B41FA5}">
                      <a16:colId xmlns:a16="http://schemas.microsoft.com/office/drawing/2014/main" val="4072067822"/>
                    </a:ext>
                  </a:extLst>
                </a:gridCol>
              </a:tblGrid>
              <a:tr h="319087">
                <a:tc>
                  <a:txBody>
                    <a:bodyPr/>
                    <a:lstStyle/>
                    <a:p>
                      <a:endParaRPr lang="es-MX" dirty="0">
                        <a:solidFill>
                          <a:schemeClr val="accent1">
                            <a:lumMod val="50000"/>
                          </a:schemeClr>
                        </a:solidFill>
                      </a:endParaRPr>
                    </a:p>
                  </a:txBody>
                  <a:tcPr/>
                </a:tc>
                <a:tc>
                  <a:txBody>
                    <a:bodyPr/>
                    <a:lstStyle/>
                    <a:p>
                      <a:endParaRPr lang="es-MX" dirty="0">
                        <a:solidFill>
                          <a:schemeClr val="accent1">
                            <a:lumMod val="50000"/>
                          </a:schemeClr>
                        </a:solidFill>
                      </a:endParaRPr>
                    </a:p>
                  </a:txBody>
                  <a:tcPr/>
                </a:tc>
                <a:tc>
                  <a:txBody>
                    <a:bodyPr/>
                    <a:lstStyle/>
                    <a:p>
                      <a:endParaRPr lang="es-MX" dirty="0">
                        <a:solidFill>
                          <a:schemeClr val="accent1">
                            <a:lumMod val="50000"/>
                          </a:schemeClr>
                        </a:solidFill>
                      </a:endParaRPr>
                    </a:p>
                  </a:txBody>
                  <a:tcPr/>
                </a:tc>
                <a:tc>
                  <a:txBody>
                    <a:bodyPr/>
                    <a:lstStyle/>
                    <a:p>
                      <a:endParaRPr lang="es-MX" dirty="0">
                        <a:solidFill>
                          <a:schemeClr val="accent1">
                            <a:lumMod val="50000"/>
                          </a:schemeClr>
                        </a:solidFill>
                      </a:endParaRPr>
                    </a:p>
                  </a:txBody>
                  <a:tcPr/>
                </a:tc>
                <a:tc>
                  <a:txBody>
                    <a:bodyPr/>
                    <a:lstStyle/>
                    <a:p>
                      <a:endParaRPr lang="es-MX" dirty="0">
                        <a:solidFill>
                          <a:schemeClr val="accent1">
                            <a:lumMod val="50000"/>
                          </a:schemeClr>
                        </a:solidFill>
                      </a:endParaRPr>
                    </a:p>
                  </a:txBody>
                  <a:tcPr/>
                </a:tc>
                <a:extLst>
                  <a:ext uri="{0D108BD9-81ED-4DB2-BD59-A6C34878D82A}">
                    <a16:rowId xmlns:a16="http://schemas.microsoft.com/office/drawing/2014/main" val="665894866"/>
                  </a:ext>
                </a:extLst>
              </a:tr>
            </a:tbl>
          </a:graphicData>
        </a:graphic>
      </p:graphicFrame>
      <p:sp>
        <p:nvSpPr>
          <p:cNvPr id="43" name="CuadroTexto 42"/>
          <p:cNvSpPr txBox="1"/>
          <p:nvPr/>
        </p:nvSpPr>
        <p:spPr>
          <a:xfrm>
            <a:off x="783043" y="4785752"/>
            <a:ext cx="2146742" cy="369332"/>
          </a:xfrm>
          <a:prstGeom prst="rect">
            <a:avLst/>
          </a:prstGeom>
          <a:noFill/>
        </p:spPr>
        <p:txBody>
          <a:bodyPr wrap="none" rtlCol="0">
            <a:spAutoFit/>
          </a:bodyPr>
          <a:lstStyle/>
          <a:p>
            <a:r>
              <a:rPr lang="es-MX" b="1" dirty="0"/>
              <a:t>CALIFICACIONES</a:t>
            </a:r>
          </a:p>
        </p:txBody>
      </p:sp>
      <p:sp>
        <p:nvSpPr>
          <p:cNvPr id="44" name="CuadroTexto 43"/>
          <p:cNvSpPr txBox="1"/>
          <p:nvPr/>
        </p:nvSpPr>
        <p:spPr>
          <a:xfrm>
            <a:off x="914417" y="5255161"/>
            <a:ext cx="619080" cy="338554"/>
          </a:xfrm>
          <a:prstGeom prst="rect">
            <a:avLst/>
          </a:prstGeom>
          <a:noFill/>
        </p:spPr>
        <p:txBody>
          <a:bodyPr wrap="none" rtlCol="0">
            <a:spAutoFit/>
          </a:bodyPr>
          <a:lstStyle/>
          <a:p>
            <a:r>
              <a:rPr lang="es-MX" sz="1600" b="1" dirty="0" err="1">
                <a:solidFill>
                  <a:schemeClr val="accent1">
                    <a:lumMod val="50000"/>
                  </a:schemeClr>
                </a:solidFill>
              </a:rPr>
              <a:t>Matr</a:t>
            </a:r>
            <a:endParaRPr lang="es-MX" sz="1600" b="1" dirty="0">
              <a:solidFill>
                <a:schemeClr val="accent1">
                  <a:lumMod val="50000"/>
                </a:schemeClr>
              </a:solidFill>
            </a:endParaRPr>
          </a:p>
        </p:txBody>
      </p:sp>
      <p:sp>
        <p:nvSpPr>
          <p:cNvPr id="45" name="CuadroTexto 44"/>
          <p:cNvSpPr txBox="1"/>
          <p:nvPr/>
        </p:nvSpPr>
        <p:spPr>
          <a:xfrm>
            <a:off x="2065963" y="5287155"/>
            <a:ext cx="686406" cy="338554"/>
          </a:xfrm>
          <a:prstGeom prst="rect">
            <a:avLst/>
          </a:prstGeom>
          <a:noFill/>
        </p:spPr>
        <p:txBody>
          <a:bodyPr wrap="none" rtlCol="0">
            <a:spAutoFit/>
          </a:bodyPr>
          <a:lstStyle/>
          <a:p>
            <a:r>
              <a:rPr lang="es-MX" sz="1600" b="1" dirty="0" err="1">
                <a:solidFill>
                  <a:schemeClr val="accent1">
                    <a:lumMod val="50000"/>
                  </a:schemeClr>
                </a:solidFill>
              </a:rPr>
              <a:t>CMat</a:t>
            </a:r>
            <a:endParaRPr lang="es-MX" sz="1600" b="1" dirty="0">
              <a:solidFill>
                <a:schemeClr val="accent1">
                  <a:lumMod val="50000"/>
                </a:schemeClr>
              </a:solidFill>
            </a:endParaRPr>
          </a:p>
        </p:txBody>
      </p:sp>
      <p:sp>
        <p:nvSpPr>
          <p:cNvPr id="46" name="CuadroTexto 45"/>
          <p:cNvSpPr txBox="1"/>
          <p:nvPr/>
        </p:nvSpPr>
        <p:spPr>
          <a:xfrm>
            <a:off x="3106278" y="5287155"/>
            <a:ext cx="742511" cy="338554"/>
          </a:xfrm>
          <a:prstGeom prst="rect">
            <a:avLst/>
          </a:prstGeom>
          <a:noFill/>
        </p:spPr>
        <p:txBody>
          <a:bodyPr wrap="none" rtlCol="0">
            <a:spAutoFit/>
          </a:bodyPr>
          <a:lstStyle/>
          <a:p>
            <a:r>
              <a:rPr lang="es-MX" sz="1600" b="1" dirty="0" err="1">
                <a:solidFill>
                  <a:schemeClr val="accent1">
                    <a:lumMod val="50000"/>
                  </a:schemeClr>
                </a:solidFill>
              </a:rPr>
              <a:t>CProf</a:t>
            </a:r>
            <a:endParaRPr lang="es-MX" sz="1600" b="1" dirty="0">
              <a:solidFill>
                <a:schemeClr val="accent1">
                  <a:lumMod val="50000"/>
                </a:schemeClr>
              </a:solidFill>
            </a:endParaRPr>
          </a:p>
        </p:txBody>
      </p:sp>
      <p:sp>
        <p:nvSpPr>
          <p:cNvPr id="47" name="CuadroTexto 46"/>
          <p:cNvSpPr txBox="1"/>
          <p:nvPr/>
        </p:nvSpPr>
        <p:spPr>
          <a:xfrm>
            <a:off x="4987847" y="5276811"/>
            <a:ext cx="753732" cy="338554"/>
          </a:xfrm>
          <a:prstGeom prst="rect">
            <a:avLst/>
          </a:prstGeom>
          <a:noFill/>
        </p:spPr>
        <p:txBody>
          <a:bodyPr wrap="none" rtlCol="0">
            <a:spAutoFit/>
          </a:bodyPr>
          <a:lstStyle/>
          <a:p>
            <a:r>
              <a:rPr lang="es-MX" sz="1600" dirty="0">
                <a:solidFill>
                  <a:schemeClr val="bg1"/>
                </a:solidFill>
              </a:rPr>
              <a:t>Fecha</a:t>
            </a:r>
          </a:p>
        </p:txBody>
      </p:sp>
      <p:sp>
        <p:nvSpPr>
          <p:cNvPr id="48" name="CuadroTexto 47"/>
          <p:cNvSpPr txBox="1"/>
          <p:nvPr/>
        </p:nvSpPr>
        <p:spPr>
          <a:xfrm>
            <a:off x="4183187" y="5247382"/>
            <a:ext cx="854721" cy="338554"/>
          </a:xfrm>
          <a:prstGeom prst="rect">
            <a:avLst/>
          </a:prstGeom>
          <a:noFill/>
        </p:spPr>
        <p:txBody>
          <a:bodyPr wrap="none" rtlCol="0">
            <a:spAutoFit/>
          </a:bodyPr>
          <a:lstStyle/>
          <a:p>
            <a:r>
              <a:rPr lang="es-MX" sz="1600" dirty="0">
                <a:solidFill>
                  <a:schemeClr val="bg1"/>
                </a:solidFill>
              </a:rPr>
              <a:t>Califica</a:t>
            </a:r>
          </a:p>
        </p:txBody>
      </p:sp>
      <p:graphicFrame>
        <p:nvGraphicFramePr>
          <p:cNvPr id="49" name="Marcador de contenido 3"/>
          <p:cNvGraphicFramePr>
            <a:graphicFrameLocks/>
          </p:cNvGraphicFramePr>
          <p:nvPr/>
        </p:nvGraphicFramePr>
        <p:xfrm>
          <a:off x="862794" y="4283435"/>
          <a:ext cx="5259488" cy="365760"/>
        </p:xfrm>
        <a:graphic>
          <a:graphicData uri="http://schemas.openxmlformats.org/drawingml/2006/table">
            <a:tbl>
              <a:tblPr firstRow="1" bandRow="1">
                <a:tableStyleId>{5C22544A-7EE6-4342-B048-85BDC9FD1C3A}</a:tableStyleId>
              </a:tblPr>
              <a:tblGrid>
                <a:gridCol w="881946">
                  <a:extLst>
                    <a:ext uri="{9D8B030D-6E8A-4147-A177-3AD203B41FA5}">
                      <a16:colId xmlns:a16="http://schemas.microsoft.com/office/drawing/2014/main" val="3850095751"/>
                    </a:ext>
                  </a:extLst>
                </a:gridCol>
                <a:gridCol w="903890">
                  <a:extLst>
                    <a:ext uri="{9D8B030D-6E8A-4147-A177-3AD203B41FA5}">
                      <a16:colId xmlns:a16="http://schemas.microsoft.com/office/drawing/2014/main" val="3287339638"/>
                    </a:ext>
                  </a:extLst>
                </a:gridCol>
                <a:gridCol w="830317">
                  <a:extLst>
                    <a:ext uri="{9D8B030D-6E8A-4147-A177-3AD203B41FA5}">
                      <a16:colId xmlns:a16="http://schemas.microsoft.com/office/drawing/2014/main" val="4254527893"/>
                    </a:ext>
                  </a:extLst>
                </a:gridCol>
                <a:gridCol w="945931">
                  <a:extLst>
                    <a:ext uri="{9D8B030D-6E8A-4147-A177-3AD203B41FA5}">
                      <a16:colId xmlns:a16="http://schemas.microsoft.com/office/drawing/2014/main" val="2416358844"/>
                    </a:ext>
                  </a:extLst>
                </a:gridCol>
                <a:gridCol w="861848">
                  <a:extLst>
                    <a:ext uri="{9D8B030D-6E8A-4147-A177-3AD203B41FA5}">
                      <a16:colId xmlns:a16="http://schemas.microsoft.com/office/drawing/2014/main" val="4072067822"/>
                    </a:ext>
                  </a:extLst>
                </a:gridCol>
                <a:gridCol w="835556">
                  <a:extLst>
                    <a:ext uri="{9D8B030D-6E8A-4147-A177-3AD203B41FA5}">
                      <a16:colId xmlns:a16="http://schemas.microsoft.com/office/drawing/2014/main" val="2676593305"/>
                    </a:ext>
                  </a:extLst>
                </a:gridCol>
              </a:tblGrid>
              <a:tr h="319087">
                <a:tc>
                  <a:txBody>
                    <a:bodyPr/>
                    <a:lstStyle/>
                    <a:p>
                      <a:endParaRPr lang="es-MX" dirty="0">
                        <a:solidFill>
                          <a:schemeClr val="accent1">
                            <a:lumMod val="50000"/>
                          </a:schemeClr>
                        </a:solidFill>
                      </a:endParaRPr>
                    </a:p>
                  </a:txBody>
                  <a:tcPr/>
                </a:tc>
                <a:tc>
                  <a:txBody>
                    <a:bodyPr/>
                    <a:lstStyle/>
                    <a:p>
                      <a:endParaRPr lang="es-MX" dirty="0">
                        <a:solidFill>
                          <a:schemeClr val="accent1">
                            <a:lumMod val="50000"/>
                          </a:schemeClr>
                        </a:solidFill>
                      </a:endParaRPr>
                    </a:p>
                  </a:txBody>
                  <a:tcPr/>
                </a:tc>
                <a:tc>
                  <a:txBody>
                    <a:bodyPr/>
                    <a:lstStyle/>
                    <a:p>
                      <a:r>
                        <a:rPr lang="es-MX" sz="1600" dirty="0">
                          <a:solidFill>
                            <a:schemeClr val="accent1">
                              <a:lumMod val="50000"/>
                            </a:schemeClr>
                          </a:solidFill>
                        </a:rPr>
                        <a:t>Día</a:t>
                      </a:r>
                    </a:p>
                  </a:txBody>
                  <a:tcPr/>
                </a:tc>
                <a:tc>
                  <a:txBody>
                    <a:bodyPr/>
                    <a:lstStyle/>
                    <a:p>
                      <a:r>
                        <a:rPr lang="es-MX" sz="1600" b="0" dirty="0">
                          <a:solidFill>
                            <a:schemeClr val="bg1"/>
                          </a:solidFill>
                        </a:rPr>
                        <a:t>Aula</a:t>
                      </a:r>
                    </a:p>
                  </a:txBody>
                  <a:tcPr/>
                </a:tc>
                <a:tc>
                  <a:txBody>
                    <a:bodyPr/>
                    <a:lstStyle/>
                    <a:p>
                      <a:r>
                        <a:rPr lang="es-MX" sz="1600" b="0" dirty="0" err="1">
                          <a:solidFill>
                            <a:schemeClr val="bg1"/>
                          </a:solidFill>
                        </a:rPr>
                        <a:t>HInicio</a:t>
                      </a:r>
                      <a:endParaRPr lang="es-MX" sz="1600" b="0" dirty="0">
                        <a:solidFill>
                          <a:schemeClr val="bg1"/>
                        </a:solidFill>
                      </a:endParaRPr>
                    </a:p>
                  </a:txBody>
                  <a:tcPr/>
                </a:tc>
                <a:tc>
                  <a:txBody>
                    <a:bodyPr/>
                    <a:lstStyle/>
                    <a:p>
                      <a:r>
                        <a:rPr lang="es-MX" sz="1600" b="0" dirty="0" err="1">
                          <a:solidFill>
                            <a:schemeClr val="bg1"/>
                          </a:solidFill>
                        </a:rPr>
                        <a:t>HFin</a:t>
                      </a:r>
                      <a:endParaRPr lang="es-MX" sz="1600" b="0" dirty="0">
                        <a:solidFill>
                          <a:schemeClr val="bg1"/>
                        </a:solidFill>
                      </a:endParaRPr>
                    </a:p>
                  </a:txBody>
                  <a:tcPr/>
                </a:tc>
                <a:extLst>
                  <a:ext uri="{0D108BD9-81ED-4DB2-BD59-A6C34878D82A}">
                    <a16:rowId xmlns:a16="http://schemas.microsoft.com/office/drawing/2014/main" val="665894866"/>
                  </a:ext>
                </a:extLst>
              </a:tr>
            </a:tbl>
          </a:graphicData>
        </a:graphic>
      </p:graphicFrame>
      <p:sp>
        <p:nvSpPr>
          <p:cNvPr id="52" name="CuadroTexto 51"/>
          <p:cNvSpPr txBox="1"/>
          <p:nvPr/>
        </p:nvSpPr>
        <p:spPr>
          <a:xfrm>
            <a:off x="916730" y="4299356"/>
            <a:ext cx="686406" cy="338554"/>
          </a:xfrm>
          <a:prstGeom prst="rect">
            <a:avLst/>
          </a:prstGeom>
          <a:noFill/>
        </p:spPr>
        <p:txBody>
          <a:bodyPr wrap="none" rtlCol="0">
            <a:spAutoFit/>
          </a:bodyPr>
          <a:lstStyle/>
          <a:p>
            <a:r>
              <a:rPr lang="es-MX" sz="1600" b="1" dirty="0" err="1">
                <a:solidFill>
                  <a:schemeClr val="accent1">
                    <a:lumMod val="50000"/>
                  </a:schemeClr>
                </a:solidFill>
              </a:rPr>
              <a:t>CMat</a:t>
            </a:r>
            <a:endParaRPr lang="es-MX" sz="1600" b="1" dirty="0">
              <a:solidFill>
                <a:schemeClr val="accent1">
                  <a:lumMod val="50000"/>
                </a:schemeClr>
              </a:solidFill>
            </a:endParaRPr>
          </a:p>
        </p:txBody>
      </p:sp>
      <p:sp>
        <p:nvSpPr>
          <p:cNvPr id="53" name="CuadroTexto 52"/>
          <p:cNvSpPr txBox="1"/>
          <p:nvPr/>
        </p:nvSpPr>
        <p:spPr>
          <a:xfrm>
            <a:off x="1780453" y="4283619"/>
            <a:ext cx="742511" cy="338554"/>
          </a:xfrm>
          <a:prstGeom prst="rect">
            <a:avLst/>
          </a:prstGeom>
          <a:noFill/>
        </p:spPr>
        <p:txBody>
          <a:bodyPr wrap="none" rtlCol="0">
            <a:spAutoFit/>
          </a:bodyPr>
          <a:lstStyle/>
          <a:p>
            <a:r>
              <a:rPr lang="es-MX" sz="1600" b="1" dirty="0" err="1">
                <a:solidFill>
                  <a:schemeClr val="accent1">
                    <a:lumMod val="50000"/>
                  </a:schemeClr>
                </a:solidFill>
              </a:rPr>
              <a:t>CProf</a:t>
            </a:r>
            <a:endParaRPr lang="es-MX" sz="1600" b="1" dirty="0">
              <a:solidFill>
                <a:schemeClr val="accent1">
                  <a:lumMod val="50000"/>
                </a:schemeClr>
              </a:solidFill>
            </a:endParaRPr>
          </a:p>
        </p:txBody>
      </p:sp>
    </p:spTree>
    <p:extLst>
      <p:ext uri="{BB962C8B-B14F-4D97-AF65-F5344CB8AC3E}">
        <p14:creationId xmlns:p14="http://schemas.microsoft.com/office/powerpoint/2010/main" val="4380646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78305"/>
            <a:ext cx="10245091" cy="622532"/>
          </a:xfrm>
        </p:spPr>
        <p:txBody>
          <a:bodyPr/>
          <a:lstStyle/>
          <a:p>
            <a:r>
              <a:rPr lang="es-MX" b="1" dirty="0">
                <a:solidFill>
                  <a:schemeClr val="accent1">
                    <a:lumMod val="50000"/>
                  </a:schemeClr>
                </a:solidFill>
              </a:rPr>
              <a:t>CVBD. II. Diseño Lógico</a:t>
            </a:r>
            <a:endParaRPr lang="es-MX" dirty="0"/>
          </a:p>
        </p:txBody>
      </p:sp>
      <p:sp>
        <p:nvSpPr>
          <p:cNvPr id="4" name="Marcador de contenido 3"/>
          <p:cNvSpPr>
            <a:spLocks noGrp="1"/>
          </p:cNvSpPr>
          <p:nvPr>
            <p:ph sz="quarter" idx="13"/>
          </p:nvPr>
        </p:nvSpPr>
        <p:spPr>
          <a:xfrm>
            <a:off x="541193" y="2011873"/>
            <a:ext cx="4917989" cy="3771090"/>
          </a:xfrm>
        </p:spPr>
        <p:txBody>
          <a:bodyPr/>
          <a:lstStyle/>
          <a:p>
            <a:r>
              <a:rPr lang="es-MX" sz="2000" b="1" dirty="0">
                <a:solidFill>
                  <a:schemeClr val="accent1">
                    <a:lumMod val="50000"/>
                  </a:schemeClr>
                </a:solidFill>
              </a:rPr>
              <a:t>d. Normalización de las tablas</a:t>
            </a:r>
            <a:endParaRPr lang="es-MX" sz="2000" dirty="0"/>
          </a:p>
          <a:p>
            <a:r>
              <a:rPr lang="es-MX" sz="2000" dirty="0"/>
              <a:t>Las dependencias funcionales (DF) se derivan del DER y de la semántica de las interrelaciones del análisis de requisitos. Representan las dependencias en los elementos de datos que son llaves de entidades. Las demás DF y las DF </a:t>
            </a:r>
            <a:r>
              <a:rPr lang="es-MX" sz="2000" dirty="0" err="1"/>
              <a:t>multivalor</a:t>
            </a:r>
            <a:r>
              <a:rPr lang="es-MX" sz="2000" dirty="0"/>
              <a:t> (DF entre llaves y atributos no llave) se obtienen de la especificación de los requisitos.</a:t>
            </a:r>
          </a:p>
          <a:p>
            <a:r>
              <a:rPr lang="es-MX" sz="2000" dirty="0"/>
              <a:t>Se eliminan las posibles redundancias en los datos.</a:t>
            </a:r>
          </a:p>
        </p:txBody>
      </p:sp>
      <p:sp>
        <p:nvSpPr>
          <p:cNvPr id="6" name="Rectángulo 5"/>
          <p:cNvSpPr/>
          <p:nvPr/>
        </p:nvSpPr>
        <p:spPr>
          <a:xfrm>
            <a:off x="5459182" y="2260845"/>
            <a:ext cx="6271011" cy="21427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5" name="Imagen 4"/>
          <p:cNvPicPr>
            <a:picLocks noChangeAspect="1"/>
          </p:cNvPicPr>
          <p:nvPr/>
        </p:nvPicPr>
        <p:blipFill>
          <a:blip r:embed="rId2"/>
          <a:stretch>
            <a:fillRect/>
          </a:stretch>
        </p:blipFill>
        <p:spPr>
          <a:xfrm>
            <a:off x="5507310" y="2308972"/>
            <a:ext cx="6186787" cy="2058492"/>
          </a:xfrm>
          <a:prstGeom prst="rect">
            <a:avLst/>
          </a:prstGeom>
        </p:spPr>
      </p:pic>
    </p:spTree>
    <p:extLst>
      <p:ext uri="{BB962C8B-B14F-4D97-AF65-F5344CB8AC3E}">
        <p14:creationId xmlns:p14="http://schemas.microsoft.com/office/powerpoint/2010/main" val="1017544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randombar(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randombar(horizont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randombar(horizontal)">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18147"/>
            <a:ext cx="10245091" cy="682690"/>
          </a:xfrm>
        </p:spPr>
        <p:txBody>
          <a:bodyPr/>
          <a:lstStyle/>
          <a:p>
            <a:r>
              <a:rPr lang="es-MX" b="1" dirty="0">
                <a:solidFill>
                  <a:schemeClr val="accent1">
                    <a:lumMod val="50000"/>
                  </a:schemeClr>
                </a:solidFill>
              </a:rPr>
              <a:t>CVBD. III. Diseño Físico</a:t>
            </a:r>
            <a:endParaRPr lang="es-MX" dirty="0"/>
          </a:p>
        </p:txBody>
      </p:sp>
      <p:sp>
        <p:nvSpPr>
          <p:cNvPr id="3" name="Marcador de contenido 2"/>
          <p:cNvSpPr>
            <a:spLocks noGrp="1"/>
          </p:cNvSpPr>
          <p:nvPr>
            <p:ph sz="quarter" idx="13"/>
          </p:nvPr>
        </p:nvSpPr>
        <p:spPr>
          <a:xfrm>
            <a:off x="1026331" y="2497906"/>
            <a:ext cx="10605496" cy="2939068"/>
          </a:xfrm>
        </p:spPr>
        <p:txBody>
          <a:bodyPr/>
          <a:lstStyle/>
          <a:p>
            <a:pPr>
              <a:spcBef>
                <a:spcPts val="600"/>
              </a:spcBef>
            </a:pPr>
            <a:r>
              <a:rPr lang="es-MX" dirty="0"/>
              <a:t>Se produce una </a:t>
            </a:r>
            <a:r>
              <a:rPr lang="es-MX" b="1" dirty="0">
                <a:solidFill>
                  <a:schemeClr val="accent1">
                    <a:lumMod val="50000"/>
                  </a:schemeClr>
                </a:solidFill>
              </a:rPr>
              <a:t>estructura física </a:t>
            </a:r>
            <a:r>
              <a:rPr lang="es-MX" dirty="0"/>
              <a:t>de la BD, para optimizar el desempeño.</a:t>
            </a:r>
          </a:p>
          <a:p>
            <a:pPr>
              <a:spcBef>
                <a:spcPts val="600"/>
              </a:spcBef>
            </a:pPr>
            <a:r>
              <a:rPr lang="es-MX" dirty="0"/>
              <a:t>Esto implica:</a:t>
            </a:r>
          </a:p>
          <a:p>
            <a:pPr>
              <a:spcBef>
                <a:spcPts val="600"/>
              </a:spcBef>
            </a:pPr>
            <a:r>
              <a:rPr lang="es-MX" dirty="0"/>
              <a:t>La selección del </a:t>
            </a:r>
            <a:r>
              <a:rPr lang="es-MX" b="1" dirty="0">
                <a:solidFill>
                  <a:schemeClr val="accent1">
                    <a:lumMod val="50000"/>
                  </a:schemeClr>
                </a:solidFill>
              </a:rPr>
              <a:t>formato de almacenamiento </a:t>
            </a:r>
            <a:r>
              <a:rPr lang="es-MX" dirty="0"/>
              <a:t>(tipo) de cada dato.</a:t>
            </a:r>
          </a:p>
          <a:p>
            <a:pPr>
              <a:spcBef>
                <a:spcPts val="600"/>
              </a:spcBef>
            </a:pPr>
            <a:r>
              <a:rPr lang="es-MX" dirty="0"/>
              <a:t>La selección de la </a:t>
            </a:r>
            <a:r>
              <a:rPr lang="es-MX" b="1" dirty="0">
                <a:solidFill>
                  <a:schemeClr val="accent1">
                    <a:lumMod val="50000"/>
                  </a:schemeClr>
                </a:solidFill>
              </a:rPr>
              <a:t>agrupación</a:t>
            </a:r>
            <a:r>
              <a:rPr lang="es-MX" dirty="0"/>
              <a:t> de los datos (registros).</a:t>
            </a:r>
          </a:p>
          <a:p>
            <a:pPr>
              <a:spcBef>
                <a:spcPts val="600"/>
              </a:spcBef>
            </a:pPr>
            <a:r>
              <a:rPr lang="es-MX" dirty="0"/>
              <a:t>La selección de </a:t>
            </a:r>
            <a:r>
              <a:rPr lang="es-MX" b="1" dirty="0">
                <a:solidFill>
                  <a:schemeClr val="accent1">
                    <a:lumMod val="50000"/>
                  </a:schemeClr>
                </a:solidFill>
              </a:rPr>
              <a:t>índices</a:t>
            </a:r>
            <a:r>
              <a:rPr lang="es-MX" dirty="0"/>
              <a:t> (métodos de acceso, arquitectura BD) </a:t>
            </a:r>
          </a:p>
          <a:p>
            <a:pPr>
              <a:spcBef>
                <a:spcPts val="600"/>
              </a:spcBef>
            </a:pPr>
            <a:r>
              <a:rPr lang="es-MX" dirty="0"/>
              <a:t>El </a:t>
            </a:r>
            <a:r>
              <a:rPr lang="es-MX" b="1" dirty="0">
                <a:solidFill>
                  <a:schemeClr val="accent1">
                    <a:lumMod val="50000"/>
                  </a:schemeClr>
                </a:solidFill>
              </a:rPr>
              <a:t>esquema global (conceptual) </a:t>
            </a:r>
            <a:r>
              <a:rPr lang="es-MX" dirty="0"/>
              <a:t>puede refinarse para reflejar los requerimientos de procesamiento para mejorar el desempeño.</a:t>
            </a:r>
          </a:p>
          <a:p>
            <a:r>
              <a:rPr lang="es-MX" dirty="0"/>
              <a:t> </a:t>
            </a:r>
          </a:p>
        </p:txBody>
      </p:sp>
    </p:spTree>
    <p:extLst>
      <p:ext uri="{BB962C8B-B14F-4D97-AF65-F5344CB8AC3E}">
        <p14:creationId xmlns:p14="http://schemas.microsoft.com/office/powerpoint/2010/main" val="25820561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18147"/>
            <a:ext cx="10245091" cy="682690"/>
          </a:xfrm>
        </p:spPr>
        <p:txBody>
          <a:bodyPr/>
          <a:lstStyle/>
          <a:p>
            <a:r>
              <a:rPr lang="es-MX" b="1" dirty="0">
                <a:solidFill>
                  <a:schemeClr val="accent1">
                    <a:lumMod val="50000"/>
                  </a:schemeClr>
                </a:solidFill>
              </a:rPr>
              <a:t>CVBD. III. Diseño Físico</a:t>
            </a:r>
            <a:endParaRPr lang="es-MX" dirty="0"/>
          </a:p>
        </p:txBody>
      </p:sp>
      <p:pic>
        <p:nvPicPr>
          <p:cNvPr id="5" name="Imagen 4"/>
          <p:cNvPicPr>
            <a:picLocks noChangeAspect="1"/>
          </p:cNvPicPr>
          <p:nvPr/>
        </p:nvPicPr>
        <p:blipFill rotWithShape="1">
          <a:blip r:embed="rId2"/>
          <a:srcRect l="6688" t="13814" r="44122" b="25646"/>
          <a:stretch/>
        </p:blipFill>
        <p:spPr>
          <a:xfrm>
            <a:off x="2323070" y="2026507"/>
            <a:ext cx="6820929" cy="4722183"/>
          </a:xfrm>
          <a:prstGeom prst="rect">
            <a:avLst/>
          </a:prstGeom>
        </p:spPr>
      </p:pic>
    </p:spTree>
    <p:extLst>
      <p:ext uri="{BB962C8B-B14F-4D97-AF65-F5344CB8AC3E}">
        <p14:creationId xmlns:p14="http://schemas.microsoft.com/office/powerpoint/2010/main" val="8440193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a:solidFill>
                  <a:schemeClr val="accent1">
                    <a:lumMod val="50000"/>
                  </a:schemeClr>
                </a:solidFill>
                <a:latin typeface="Arial" charset="0"/>
              </a:rPr>
              <a:t>Esquema</a:t>
            </a:r>
            <a:r>
              <a:rPr lang="en-US" b="1" dirty="0">
                <a:solidFill>
                  <a:schemeClr val="accent1">
                    <a:lumMod val="50000"/>
                  </a:schemeClr>
                </a:solidFill>
                <a:latin typeface="Arial" charset="0"/>
              </a:rPr>
              <a:t> de la BD Escolar</a:t>
            </a:r>
            <a:br>
              <a:rPr lang="en-US" b="1" dirty="0">
                <a:solidFill>
                  <a:schemeClr val="accent1">
                    <a:lumMod val="50000"/>
                  </a:schemeClr>
                </a:solidFill>
                <a:latin typeface="Arial" charset="0"/>
              </a:rPr>
            </a:br>
            <a:r>
              <a:rPr lang="en-US" b="1" dirty="0">
                <a:solidFill>
                  <a:schemeClr val="accent1">
                    <a:lumMod val="50000"/>
                  </a:schemeClr>
                </a:solidFill>
                <a:latin typeface="Arial" charset="0"/>
              </a:rPr>
              <a:t>SQL – Data Definition Language</a:t>
            </a:r>
            <a:endParaRPr lang="es-MX" b="1" dirty="0">
              <a:solidFill>
                <a:schemeClr val="accent1">
                  <a:lumMod val="50000"/>
                </a:schemeClr>
              </a:solidFill>
              <a:latin typeface="Arial" charset="0"/>
            </a:endParaRPr>
          </a:p>
        </p:txBody>
      </p:sp>
      <p:sp>
        <p:nvSpPr>
          <p:cNvPr id="4" name="3 CuadroTexto"/>
          <p:cNvSpPr txBox="1">
            <a:spLocks noChangeArrowheads="1"/>
          </p:cNvSpPr>
          <p:nvPr/>
        </p:nvSpPr>
        <p:spPr bwMode="auto">
          <a:xfrm>
            <a:off x="1682750" y="1798638"/>
            <a:ext cx="4146550" cy="4370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9pPr>
          </a:lstStyle>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Create</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database</a:t>
            </a:r>
            <a:r>
              <a:rPr lang="es-MX" altLang="es-MX" sz="2000" dirty="0">
                <a:latin typeface="Arial" panose="020B0604020202020204" pitchFamily="34" charset="0"/>
                <a:cs typeface="Arial" panose="020B0604020202020204" pitchFamily="34" charset="0"/>
              </a:rPr>
              <a:t> escolar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Create</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Table</a:t>
            </a:r>
            <a:r>
              <a:rPr lang="es-MX" altLang="es-MX" sz="2000" dirty="0">
                <a:latin typeface="Arial" panose="020B0604020202020204" pitchFamily="34" charset="0"/>
                <a:cs typeface="Arial" panose="020B0604020202020204" pitchFamily="34" charset="0"/>
              </a:rPr>
              <a:t> Alumno (</a:t>
            </a:r>
          </a:p>
          <a:p>
            <a:pPr eaLnBrk="1" hangingPunct="1">
              <a:spcBef>
                <a:spcPct val="0"/>
              </a:spcBef>
              <a:buClrTx/>
              <a:buSzTx/>
              <a:buFontTx/>
              <a:buNone/>
            </a:pPr>
            <a:r>
              <a:rPr lang="es-MX" altLang="es-MX" sz="2000" dirty="0">
                <a:latin typeface="Arial" panose="020B0604020202020204" pitchFamily="34" charset="0"/>
                <a:cs typeface="Arial" panose="020B0604020202020204" pitchFamily="34" charset="0"/>
              </a:rPr>
              <a:t>Matricula  </a:t>
            </a:r>
            <a:r>
              <a:rPr lang="es-MX" altLang="es-MX" sz="2000" dirty="0" err="1">
                <a:latin typeface="Arial" panose="020B0604020202020204" pitchFamily="34" charset="0"/>
                <a:cs typeface="Arial" panose="020B0604020202020204" pitchFamily="34" charset="0"/>
              </a:rPr>
              <a:t>char</a:t>
            </a:r>
            <a:r>
              <a:rPr lang="es-MX" altLang="es-MX" sz="2000" dirty="0">
                <a:latin typeface="Arial" panose="020B0604020202020204" pitchFamily="34" charset="0"/>
                <a:cs typeface="Arial" panose="020B0604020202020204" pitchFamily="34" charset="0"/>
              </a:rPr>
              <a:t>(8) PRIMARY KEY,</a:t>
            </a:r>
          </a:p>
          <a:p>
            <a:pPr eaLnBrk="1" hangingPunct="1">
              <a:spcBef>
                <a:spcPct val="0"/>
              </a:spcBef>
              <a:buClrTx/>
              <a:buSzTx/>
              <a:buFontTx/>
              <a:buNone/>
            </a:pPr>
            <a:r>
              <a:rPr lang="es-MX" altLang="es-MX" sz="2000" dirty="0">
                <a:latin typeface="Arial" panose="020B0604020202020204" pitchFamily="34" charset="0"/>
                <a:cs typeface="Arial" panose="020B0604020202020204" pitchFamily="34" charset="0"/>
              </a:rPr>
              <a:t>Nombre    </a:t>
            </a:r>
            <a:r>
              <a:rPr lang="es-MX" altLang="es-MX" sz="2000" dirty="0" err="1">
                <a:latin typeface="Arial" panose="020B0604020202020204" pitchFamily="34" charset="0"/>
                <a:cs typeface="Arial" panose="020B0604020202020204" pitchFamily="34" charset="0"/>
              </a:rPr>
              <a:t>varchar</a:t>
            </a:r>
            <a:r>
              <a:rPr lang="es-MX" altLang="es-MX" sz="2000" dirty="0">
                <a:latin typeface="Arial" panose="020B0604020202020204" pitchFamily="34" charset="0"/>
                <a:cs typeface="Arial" panose="020B0604020202020204" pitchFamily="34" charset="0"/>
              </a:rPr>
              <a:t>(60),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Direccion</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varchar</a:t>
            </a:r>
            <a:r>
              <a:rPr lang="es-MX" altLang="es-MX" sz="2000" dirty="0">
                <a:latin typeface="Arial" panose="020B0604020202020204" pitchFamily="34" charset="0"/>
                <a:cs typeface="Arial" panose="020B0604020202020204" pitchFamily="34" charset="0"/>
              </a:rPr>
              <a:t>(60),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Telefono</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char</a:t>
            </a:r>
            <a:r>
              <a:rPr lang="es-MX" altLang="es-MX" sz="2000" dirty="0">
                <a:latin typeface="Arial" panose="020B0604020202020204" pitchFamily="34" charset="0"/>
                <a:cs typeface="Arial" panose="020B0604020202020204" pitchFamily="34" charset="0"/>
              </a:rPr>
              <a:t>(12),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ClvCar</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char</a:t>
            </a:r>
            <a:r>
              <a:rPr lang="es-MX" altLang="es-MX" sz="2000" dirty="0">
                <a:latin typeface="Arial" panose="020B0604020202020204" pitchFamily="34" charset="0"/>
                <a:cs typeface="Arial" panose="020B0604020202020204" pitchFamily="34" charset="0"/>
              </a:rPr>
              <a:t>(3) </a:t>
            </a:r>
            <a:r>
              <a:rPr lang="es-MX" altLang="es-MX" sz="2000" dirty="0" err="1">
                <a:latin typeface="Arial" panose="020B0604020202020204" pitchFamily="34" charset="0"/>
                <a:cs typeface="Arial" panose="020B0604020202020204" pitchFamily="34" charset="0"/>
              </a:rPr>
              <a:t>references</a:t>
            </a:r>
            <a:r>
              <a:rPr lang="es-MX" altLang="es-MX" sz="2000" dirty="0">
                <a:latin typeface="Arial" panose="020B0604020202020204" pitchFamily="34" charset="0"/>
                <a:cs typeface="Arial" panose="020B0604020202020204" pitchFamily="34" charset="0"/>
              </a:rPr>
              <a:t> carreras (</a:t>
            </a:r>
            <a:r>
              <a:rPr lang="es-MX" altLang="es-MX" sz="2000" dirty="0" err="1">
                <a:latin typeface="Arial" panose="020B0604020202020204" pitchFamily="34" charset="0"/>
                <a:cs typeface="Arial" panose="020B0604020202020204" pitchFamily="34" charset="0"/>
              </a:rPr>
              <a:t>clvcar</a:t>
            </a:r>
            <a:r>
              <a:rPr lang="es-MX" altLang="es-MX" sz="2000" dirty="0">
                <a:latin typeface="Arial" panose="020B0604020202020204" pitchFamily="34" charset="0"/>
                <a:cs typeface="Arial" panose="020B0604020202020204" pitchFamily="34" charset="0"/>
              </a:rPr>
              <a:t>))</a:t>
            </a:r>
          </a:p>
          <a:p>
            <a:pPr eaLnBrk="1" hangingPunct="1">
              <a:spcBef>
                <a:spcPct val="0"/>
              </a:spcBef>
              <a:buClrTx/>
              <a:buSzTx/>
              <a:buFontTx/>
              <a:buNone/>
            </a:pPr>
            <a:endParaRPr lang="es-MX" altLang="es-MX" sz="2000" dirty="0">
              <a:latin typeface="Arial" panose="020B0604020202020204" pitchFamily="34" charset="0"/>
              <a:cs typeface="Arial" panose="020B0604020202020204" pitchFamily="34" charset="0"/>
            </a:endParaRP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Create</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Table</a:t>
            </a:r>
            <a:r>
              <a:rPr lang="es-MX" altLang="es-MX" sz="2000" dirty="0">
                <a:latin typeface="Arial" panose="020B0604020202020204" pitchFamily="34" charset="0"/>
                <a:cs typeface="Arial" panose="020B0604020202020204" pitchFamily="34" charset="0"/>
              </a:rPr>
              <a:t> Carreras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ClvCar</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char</a:t>
            </a:r>
            <a:r>
              <a:rPr lang="es-MX" altLang="es-MX" sz="2000" dirty="0">
                <a:latin typeface="Arial" panose="020B0604020202020204" pitchFamily="34" charset="0"/>
                <a:cs typeface="Arial" panose="020B0604020202020204" pitchFamily="34" charset="0"/>
              </a:rPr>
              <a:t>(3) </a:t>
            </a:r>
            <a:r>
              <a:rPr lang="es-MX" altLang="es-MX" sz="2000" dirty="0" err="1">
                <a:latin typeface="Arial" panose="020B0604020202020204" pitchFamily="34" charset="0"/>
                <a:cs typeface="Arial" panose="020B0604020202020204" pitchFamily="34" charset="0"/>
              </a:rPr>
              <a:t>Primary</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key</a:t>
            </a:r>
            <a:r>
              <a:rPr lang="es-MX" altLang="es-MX" sz="2000" dirty="0">
                <a:latin typeface="Arial" panose="020B0604020202020204" pitchFamily="34" charset="0"/>
                <a:cs typeface="Arial" panose="020B0604020202020204" pitchFamily="34" charset="0"/>
              </a:rPr>
              <a:t>,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NomCarrera</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varchar</a:t>
            </a:r>
            <a:r>
              <a:rPr lang="es-MX" altLang="es-MX" sz="2000" dirty="0">
                <a:latin typeface="Arial" panose="020B0604020202020204" pitchFamily="34" charset="0"/>
                <a:cs typeface="Arial" panose="020B0604020202020204" pitchFamily="34" charset="0"/>
              </a:rPr>
              <a:t>(40),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Tcreditos</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integer</a:t>
            </a:r>
            <a:r>
              <a:rPr lang="es-MX" altLang="es-MX" sz="2000" dirty="0">
                <a:latin typeface="Arial" panose="020B0604020202020204" pitchFamily="34" charset="0"/>
                <a:cs typeface="Arial" panose="020B0604020202020204" pitchFamily="34" charset="0"/>
              </a:rPr>
              <a:t>)</a:t>
            </a:r>
          </a:p>
          <a:p>
            <a:pPr eaLnBrk="1" hangingPunct="1">
              <a:spcBef>
                <a:spcPct val="0"/>
              </a:spcBef>
              <a:buClrTx/>
              <a:buSzTx/>
              <a:buFontTx/>
              <a:buNone/>
            </a:pPr>
            <a:endParaRPr lang="es-MX" altLang="es-MX" sz="1800" dirty="0">
              <a:latin typeface="Arial" panose="020B0604020202020204" pitchFamily="34" charset="0"/>
              <a:cs typeface="Arial" panose="020B0604020202020204" pitchFamily="34" charset="0"/>
            </a:endParaRPr>
          </a:p>
        </p:txBody>
      </p:sp>
      <p:sp>
        <p:nvSpPr>
          <p:cNvPr id="5" name="6 CuadroTexto"/>
          <p:cNvSpPr txBox="1">
            <a:spLocks noChangeArrowheads="1"/>
          </p:cNvSpPr>
          <p:nvPr/>
        </p:nvSpPr>
        <p:spPr bwMode="auto">
          <a:xfrm>
            <a:off x="6145213" y="1798638"/>
            <a:ext cx="3959225"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9pPr>
          </a:lstStyle>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Create</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Table</a:t>
            </a:r>
            <a:r>
              <a:rPr lang="es-MX" altLang="es-MX" sz="2000" dirty="0">
                <a:latin typeface="Arial" panose="020B0604020202020204" pitchFamily="34" charset="0"/>
                <a:cs typeface="Arial" panose="020B0604020202020204" pitchFamily="34" charset="0"/>
              </a:rPr>
              <a:t> Materias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ClvMat</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char</a:t>
            </a:r>
            <a:r>
              <a:rPr lang="es-MX" altLang="es-MX" sz="2000" dirty="0">
                <a:latin typeface="Arial" panose="020B0604020202020204" pitchFamily="34" charset="0"/>
                <a:cs typeface="Arial" panose="020B0604020202020204" pitchFamily="34" charset="0"/>
              </a:rPr>
              <a:t>(6) </a:t>
            </a:r>
            <a:r>
              <a:rPr lang="es-MX" altLang="es-MX" sz="2000" dirty="0" err="1">
                <a:latin typeface="Arial" panose="020B0604020202020204" pitchFamily="34" charset="0"/>
                <a:cs typeface="Arial" panose="020B0604020202020204" pitchFamily="34" charset="0"/>
              </a:rPr>
              <a:t>Primary</a:t>
            </a:r>
            <a:r>
              <a:rPr lang="es-MX" altLang="es-MX" sz="2000" dirty="0">
                <a:latin typeface="Arial" panose="020B0604020202020204" pitchFamily="34" charset="0"/>
                <a:cs typeface="Arial" panose="020B0604020202020204" pitchFamily="34" charset="0"/>
              </a:rPr>
              <a:t> Key, </a:t>
            </a:r>
            <a:r>
              <a:rPr lang="es-MX" altLang="es-MX" sz="2000" dirty="0" err="1">
                <a:latin typeface="Arial" panose="020B0604020202020204" pitchFamily="34" charset="0"/>
                <a:cs typeface="Arial" panose="020B0604020202020204" pitchFamily="34" charset="0"/>
              </a:rPr>
              <a:t>NomMat</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varchar</a:t>
            </a:r>
            <a:r>
              <a:rPr lang="es-MX" altLang="es-MX" sz="2000" dirty="0">
                <a:latin typeface="Arial" panose="020B0604020202020204" pitchFamily="34" charset="0"/>
                <a:cs typeface="Arial" panose="020B0604020202020204" pitchFamily="34" charset="0"/>
              </a:rPr>
              <a:t>(40),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ClvCar</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char</a:t>
            </a:r>
            <a:r>
              <a:rPr lang="es-MX" altLang="es-MX" sz="2000" dirty="0">
                <a:latin typeface="Arial" panose="020B0604020202020204" pitchFamily="34" charset="0"/>
                <a:cs typeface="Arial" panose="020B0604020202020204" pitchFamily="34" charset="0"/>
              </a:rPr>
              <a:t>(3) </a:t>
            </a:r>
            <a:r>
              <a:rPr lang="es-MX" altLang="es-MX" sz="2000" dirty="0" err="1">
                <a:latin typeface="Arial" panose="020B0604020202020204" pitchFamily="34" charset="0"/>
                <a:cs typeface="Arial" panose="020B0604020202020204" pitchFamily="34" charset="0"/>
              </a:rPr>
              <a:t>references</a:t>
            </a:r>
            <a:r>
              <a:rPr lang="es-MX" altLang="es-MX" sz="2000" dirty="0">
                <a:latin typeface="Arial" panose="020B0604020202020204" pitchFamily="34" charset="0"/>
                <a:cs typeface="Arial" panose="020B0604020202020204" pitchFamily="34" charset="0"/>
              </a:rPr>
              <a:t> carrera (</a:t>
            </a:r>
            <a:r>
              <a:rPr lang="es-MX" altLang="es-MX" sz="2000" dirty="0" err="1">
                <a:latin typeface="Arial" panose="020B0604020202020204" pitchFamily="34" charset="0"/>
                <a:cs typeface="Arial" panose="020B0604020202020204" pitchFamily="34" charset="0"/>
              </a:rPr>
              <a:t>clvcar</a:t>
            </a:r>
            <a:r>
              <a:rPr lang="es-MX" altLang="es-MX" sz="2000" dirty="0">
                <a:latin typeface="Arial" panose="020B0604020202020204" pitchFamily="34" charset="0"/>
                <a:cs typeface="Arial" panose="020B0604020202020204" pitchFamily="34" charset="0"/>
              </a:rPr>
              <a:t>),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Ncreditos</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integer</a:t>
            </a:r>
            <a:endParaRPr lang="es-MX" altLang="es-MX" sz="2000" dirty="0">
              <a:latin typeface="Arial" panose="020B0604020202020204" pitchFamily="34" charset="0"/>
              <a:cs typeface="Arial" panose="020B0604020202020204" pitchFamily="34" charset="0"/>
            </a:endParaRPr>
          </a:p>
          <a:p>
            <a:pPr eaLnBrk="1" hangingPunct="1">
              <a:spcBef>
                <a:spcPct val="0"/>
              </a:spcBef>
              <a:buClrTx/>
              <a:buSzTx/>
              <a:buFontTx/>
              <a:buNone/>
            </a:pPr>
            <a:r>
              <a:rPr lang="es-MX" altLang="es-MX" sz="2000" dirty="0">
                <a:latin typeface="Arial" panose="020B0604020202020204" pitchFamily="34" charset="0"/>
                <a:cs typeface="Arial" panose="020B0604020202020204" pitchFamily="34" charset="0"/>
              </a:rPr>
              <a:t>)</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Create</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Table</a:t>
            </a:r>
            <a:r>
              <a:rPr lang="es-MX" altLang="es-MX" sz="2000" dirty="0">
                <a:latin typeface="Arial" panose="020B0604020202020204" pitchFamily="34" charset="0"/>
                <a:cs typeface="Arial" panose="020B0604020202020204" pitchFamily="34" charset="0"/>
              </a:rPr>
              <a:t> Profesores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ClvProf</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char</a:t>
            </a:r>
            <a:r>
              <a:rPr lang="es-MX" altLang="es-MX" sz="2000" dirty="0">
                <a:latin typeface="Arial" panose="020B0604020202020204" pitchFamily="34" charset="0"/>
                <a:cs typeface="Arial" panose="020B0604020202020204" pitchFamily="34" charset="0"/>
              </a:rPr>
              <a:t>(4) </a:t>
            </a:r>
            <a:r>
              <a:rPr lang="es-MX" altLang="es-MX" sz="2000" dirty="0" err="1">
                <a:latin typeface="Arial" panose="020B0604020202020204" pitchFamily="34" charset="0"/>
                <a:cs typeface="Arial" panose="020B0604020202020204" pitchFamily="34" charset="0"/>
              </a:rPr>
              <a:t>Primary</a:t>
            </a:r>
            <a:r>
              <a:rPr lang="es-MX" altLang="es-MX" sz="2000" dirty="0">
                <a:latin typeface="Arial" panose="020B0604020202020204" pitchFamily="34" charset="0"/>
                <a:cs typeface="Arial" panose="020B0604020202020204" pitchFamily="34" charset="0"/>
              </a:rPr>
              <a:t> Key, </a:t>
            </a:r>
            <a:r>
              <a:rPr lang="es-MX" altLang="es-MX" sz="2000" dirty="0" err="1">
                <a:latin typeface="Arial" panose="020B0604020202020204" pitchFamily="34" charset="0"/>
                <a:cs typeface="Arial" panose="020B0604020202020204" pitchFamily="34" charset="0"/>
              </a:rPr>
              <a:t>NomProf</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varchar</a:t>
            </a:r>
            <a:r>
              <a:rPr lang="es-MX" altLang="es-MX" sz="2000" dirty="0">
                <a:latin typeface="Arial" panose="020B0604020202020204" pitchFamily="34" charset="0"/>
                <a:cs typeface="Arial" panose="020B0604020202020204" pitchFamily="34" charset="0"/>
              </a:rPr>
              <a:t>(50), </a:t>
            </a:r>
          </a:p>
          <a:p>
            <a:pPr eaLnBrk="1" hangingPunct="1">
              <a:spcBef>
                <a:spcPct val="0"/>
              </a:spcBef>
              <a:buClrTx/>
              <a:buSzTx/>
              <a:buFontTx/>
              <a:buNone/>
            </a:pPr>
            <a:r>
              <a:rPr lang="es-MX" altLang="es-MX" sz="2000" dirty="0">
                <a:latin typeface="Arial" panose="020B0604020202020204" pitchFamily="34" charset="0"/>
                <a:cs typeface="Arial" panose="020B0604020202020204" pitchFamily="34" charset="0"/>
              </a:rPr>
              <a:t>Grado  </a:t>
            </a:r>
            <a:r>
              <a:rPr lang="es-MX" altLang="es-MX" sz="2000" dirty="0" err="1">
                <a:latin typeface="Arial" panose="020B0604020202020204" pitchFamily="34" charset="0"/>
                <a:cs typeface="Arial" panose="020B0604020202020204" pitchFamily="34" charset="0"/>
              </a:rPr>
              <a:t>varchar</a:t>
            </a:r>
            <a:r>
              <a:rPr lang="es-MX" altLang="es-MX" sz="2000" dirty="0">
                <a:latin typeface="Arial" panose="020B0604020202020204" pitchFamily="34" charset="0"/>
                <a:cs typeface="Arial" panose="020B0604020202020204" pitchFamily="34" charset="0"/>
              </a:rPr>
              <a:t>(30),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FechaIng</a:t>
            </a:r>
            <a:r>
              <a:rPr lang="es-MX" altLang="es-MX" sz="2000" dirty="0">
                <a:latin typeface="Arial" panose="020B0604020202020204" pitchFamily="34" charset="0"/>
                <a:cs typeface="Arial" panose="020B0604020202020204" pitchFamily="34" charset="0"/>
              </a:rPr>
              <a:t>  date,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Ncubiculo</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varchar</a:t>
            </a:r>
            <a:r>
              <a:rPr lang="es-MX" altLang="es-MX" sz="2000" dirty="0">
                <a:latin typeface="Arial" panose="020B0604020202020204" pitchFamily="34" charset="0"/>
                <a:cs typeface="Arial" panose="020B0604020202020204" pitchFamily="34" charset="0"/>
              </a:rPr>
              <a:t>(20)</a:t>
            </a:r>
          </a:p>
          <a:p>
            <a:pPr eaLnBrk="1" hangingPunct="1">
              <a:spcBef>
                <a:spcPct val="0"/>
              </a:spcBef>
              <a:buClrTx/>
              <a:buSzTx/>
              <a:buFontTx/>
              <a:buNone/>
            </a:pPr>
            <a:r>
              <a:rPr lang="es-MX" altLang="es-MX" sz="20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1725104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18147"/>
            <a:ext cx="10245091" cy="682690"/>
          </a:xfrm>
        </p:spPr>
        <p:txBody>
          <a:bodyPr/>
          <a:lstStyle/>
          <a:p>
            <a:r>
              <a:rPr lang="es-MX" b="1" dirty="0">
                <a:solidFill>
                  <a:schemeClr val="accent1">
                    <a:lumMod val="50000"/>
                  </a:schemeClr>
                </a:solidFill>
              </a:rPr>
              <a:t>CVBD. III. Diseño Físico</a:t>
            </a:r>
            <a:endParaRPr lang="es-MX" dirty="0"/>
          </a:p>
        </p:txBody>
      </p:sp>
      <p:sp>
        <p:nvSpPr>
          <p:cNvPr id="3" name="Marcador de contenido 2"/>
          <p:cNvSpPr>
            <a:spLocks noGrp="1"/>
          </p:cNvSpPr>
          <p:nvPr>
            <p:ph sz="quarter" idx="13"/>
          </p:nvPr>
        </p:nvSpPr>
        <p:spPr>
          <a:xfrm>
            <a:off x="1052828" y="2053062"/>
            <a:ext cx="10356851" cy="1950528"/>
          </a:xfrm>
        </p:spPr>
        <p:txBody>
          <a:bodyPr/>
          <a:lstStyle/>
          <a:p>
            <a:pPr>
              <a:spcBef>
                <a:spcPts val="600"/>
              </a:spcBef>
            </a:pPr>
            <a:r>
              <a:rPr lang="es-MX" sz="2000" dirty="0"/>
              <a:t>La </a:t>
            </a:r>
            <a:r>
              <a:rPr lang="es-MX" sz="2000" b="1" dirty="0" err="1">
                <a:solidFill>
                  <a:schemeClr val="accent1">
                    <a:lumMod val="50000"/>
                  </a:schemeClr>
                </a:solidFill>
              </a:rPr>
              <a:t>desnormalización</a:t>
            </a:r>
            <a:r>
              <a:rPr lang="es-MX" sz="2000" dirty="0"/>
              <a:t> es la selección de procesos dominantes sobre los criterios de alta frecuencia, alto volumen, o prioridad explícita; definir extensiones a tablas para mejorar el desempeño (</a:t>
            </a:r>
            <a:r>
              <a:rPr lang="es-MX" sz="2000" i="1" dirty="0"/>
              <a:t>redundancia</a:t>
            </a:r>
            <a:r>
              <a:rPr lang="es-MX" sz="2000" dirty="0"/>
              <a:t>);</a:t>
            </a:r>
          </a:p>
          <a:p>
            <a:pPr>
              <a:spcBef>
                <a:spcPts val="600"/>
              </a:spcBef>
            </a:pPr>
            <a:r>
              <a:rPr lang="es-MX" sz="2000" dirty="0"/>
              <a:t>Evaluar los costos totales de consultas, actualizaciones y almacenamiento.</a:t>
            </a:r>
          </a:p>
          <a:p>
            <a:pPr>
              <a:spcBef>
                <a:spcPts val="600"/>
              </a:spcBef>
            </a:pPr>
            <a:r>
              <a:rPr lang="es-MX" sz="2000" dirty="0"/>
              <a:t>(considerar los efectos laterales de posible pérdida de integridad)</a:t>
            </a:r>
          </a:p>
          <a:p>
            <a:pPr>
              <a:spcBef>
                <a:spcPts val="600"/>
              </a:spcBef>
            </a:pPr>
            <a:r>
              <a:rPr lang="es-MX" sz="2000" i="1" dirty="0">
                <a:solidFill>
                  <a:srgbClr val="0070C0"/>
                </a:solidFill>
              </a:rPr>
              <a:t>¿Quiénes son los proveedores del cliente “X”?</a:t>
            </a:r>
          </a:p>
          <a:p>
            <a:endParaRPr lang="es-MX" dirty="0"/>
          </a:p>
          <a:p>
            <a:r>
              <a:rPr lang="es-MX" dirty="0"/>
              <a:t> </a:t>
            </a:r>
          </a:p>
        </p:txBody>
      </p:sp>
      <p:pic>
        <p:nvPicPr>
          <p:cNvPr id="4" name="Imagen 3"/>
          <p:cNvPicPr>
            <a:picLocks noChangeAspect="1"/>
          </p:cNvPicPr>
          <p:nvPr/>
        </p:nvPicPr>
        <p:blipFill rotWithShape="1">
          <a:blip r:embed="rId2"/>
          <a:srcRect l="38175" t="41095" r="41563" b="34054"/>
          <a:stretch/>
        </p:blipFill>
        <p:spPr>
          <a:xfrm>
            <a:off x="593708" y="4006001"/>
            <a:ext cx="3508012" cy="2420224"/>
          </a:xfrm>
          <a:prstGeom prst="rect">
            <a:avLst/>
          </a:prstGeom>
        </p:spPr>
      </p:pic>
      <p:pic>
        <p:nvPicPr>
          <p:cNvPr id="5" name="Imagen 4"/>
          <p:cNvPicPr>
            <a:picLocks noChangeAspect="1"/>
          </p:cNvPicPr>
          <p:nvPr/>
        </p:nvPicPr>
        <p:blipFill rotWithShape="1">
          <a:blip r:embed="rId3"/>
          <a:srcRect l="48940"/>
          <a:stretch/>
        </p:blipFill>
        <p:spPr>
          <a:xfrm>
            <a:off x="4246188" y="3982570"/>
            <a:ext cx="3090042" cy="2184850"/>
          </a:xfrm>
          <a:prstGeom prst="rect">
            <a:avLst/>
          </a:prstGeom>
        </p:spPr>
      </p:pic>
    </p:spTree>
    <p:extLst>
      <p:ext uri="{BB962C8B-B14F-4D97-AF65-F5344CB8AC3E}">
        <p14:creationId xmlns:p14="http://schemas.microsoft.com/office/powerpoint/2010/main" val="2242953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arn(inVertic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1" presetClass="entr" presetSubtype="1"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heel(1)">
                                      <p:cBhvr>
                                        <p:cTn id="32" dur="20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randombar(horizontal)">
                                      <p:cBhvr>
                                        <p:cTn id="3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6749712" y="2124780"/>
            <a:ext cx="5065295" cy="37345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Título 1"/>
          <p:cNvSpPr>
            <a:spLocks noGrp="1"/>
          </p:cNvSpPr>
          <p:nvPr>
            <p:ph type="title"/>
          </p:nvPr>
        </p:nvSpPr>
        <p:spPr>
          <a:xfrm>
            <a:off x="1108709" y="782053"/>
            <a:ext cx="10245091" cy="718784"/>
          </a:xfrm>
        </p:spPr>
        <p:txBody>
          <a:bodyPr/>
          <a:lstStyle/>
          <a:p>
            <a:r>
              <a:rPr lang="es-MX" b="1" dirty="0">
                <a:solidFill>
                  <a:schemeClr val="accent1">
                    <a:lumMod val="50000"/>
                  </a:schemeClr>
                </a:solidFill>
              </a:rPr>
              <a:t>CVBD. IV.  Distribución de los datos</a:t>
            </a:r>
          </a:p>
        </p:txBody>
      </p:sp>
      <p:sp>
        <p:nvSpPr>
          <p:cNvPr id="3" name="Marcador de contenido 2"/>
          <p:cNvSpPr>
            <a:spLocks noGrp="1"/>
          </p:cNvSpPr>
          <p:nvPr>
            <p:ph sz="quarter" idx="13"/>
          </p:nvPr>
        </p:nvSpPr>
        <p:spPr>
          <a:xfrm>
            <a:off x="245327" y="1767300"/>
            <a:ext cx="6476144" cy="4833202"/>
          </a:xfrm>
        </p:spPr>
        <p:txBody>
          <a:bodyPr/>
          <a:lstStyle/>
          <a:p>
            <a:pPr>
              <a:lnSpc>
                <a:spcPct val="100000"/>
              </a:lnSpc>
              <a:spcBef>
                <a:spcPts val="0"/>
              </a:spcBef>
              <a:spcAft>
                <a:spcPts val="600"/>
              </a:spcAft>
            </a:pPr>
            <a:r>
              <a:rPr lang="es-MX" sz="2000" dirty="0"/>
              <a:t>La </a:t>
            </a:r>
            <a:r>
              <a:rPr lang="es-MX" sz="2000" b="1" dirty="0">
                <a:solidFill>
                  <a:schemeClr val="accent5">
                    <a:lumMod val="50000"/>
                  </a:schemeClr>
                </a:solidFill>
              </a:rPr>
              <a:t>fragmentación y asignación</a:t>
            </a:r>
            <a:r>
              <a:rPr lang="es-MX" sz="2000" dirty="0"/>
              <a:t> física debe considerar el entorno físico (configuración de la red).</a:t>
            </a:r>
          </a:p>
          <a:p>
            <a:pPr>
              <a:lnSpc>
                <a:spcPct val="100000"/>
              </a:lnSpc>
              <a:spcBef>
                <a:spcPts val="0"/>
              </a:spcBef>
              <a:spcAft>
                <a:spcPts val="600"/>
              </a:spcAft>
            </a:pPr>
            <a:r>
              <a:rPr lang="es-MX" sz="2000" dirty="0"/>
              <a:t>Un </a:t>
            </a:r>
            <a:r>
              <a:rPr lang="es-MX" sz="2000" b="1" dirty="0">
                <a:solidFill>
                  <a:schemeClr val="accent5">
                    <a:lumMod val="50000"/>
                  </a:schemeClr>
                </a:solidFill>
              </a:rPr>
              <a:t>esquema de fragmentación</a:t>
            </a:r>
            <a:r>
              <a:rPr lang="es-MX" sz="2000" dirty="0"/>
              <a:t> describe el mapeo uno a muchos, usado en la partición de un tabla global en fragmentos.</a:t>
            </a:r>
          </a:p>
          <a:p>
            <a:pPr>
              <a:lnSpc>
                <a:spcPct val="100000"/>
              </a:lnSpc>
              <a:spcBef>
                <a:spcPts val="0"/>
              </a:spcBef>
              <a:spcAft>
                <a:spcPts val="600"/>
              </a:spcAft>
            </a:pPr>
            <a:r>
              <a:rPr lang="es-MX" sz="2000" dirty="0"/>
              <a:t>Los </a:t>
            </a:r>
            <a:r>
              <a:rPr lang="es-MX" sz="2000" b="1" dirty="0">
                <a:solidFill>
                  <a:schemeClr val="accent5">
                    <a:lumMod val="50000"/>
                  </a:schemeClr>
                </a:solidFill>
              </a:rPr>
              <a:t>fragmentos</a:t>
            </a:r>
            <a:r>
              <a:rPr lang="es-MX" sz="2000" dirty="0"/>
              <a:t> son porciones lógicas de tablas ubicada en diferentes sitios de la red.</a:t>
            </a:r>
          </a:p>
          <a:p>
            <a:pPr>
              <a:lnSpc>
                <a:spcPct val="100000"/>
              </a:lnSpc>
              <a:spcBef>
                <a:spcPts val="0"/>
              </a:spcBef>
              <a:spcAft>
                <a:spcPts val="600"/>
              </a:spcAft>
            </a:pPr>
            <a:r>
              <a:rPr lang="es-MX" sz="2000" dirty="0"/>
              <a:t>El </a:t>
            </a:r>
            <a:r>
              <a:rPr lang="es-MX" sz="2000" b="1" dirty="0">
                <a:solidFill>
                  <a:schemeClr val="accent1">
                    <a:lumMod val="50000"/>
                  </a:schemeClr>
                </a:solidFill>
              </a:rPr>
              <a:t>Esquema de asignación</a:t>
            </a:r>
            <a:r>
              <a:rPr lang="es-MX" sz="2000" dirty="0">
                <a:solidFill>
                  <a:schemeClr val="accent1">
                    <a:lumMod val="50000"/>
                  </a:schemeClr>
                </a:solidFill>
              </a:rPr>
              <a:t> </a:t>
            </a:r>
            <a:r>
              <a:rPr lang="es-MX" sz="2000" dirty="0"/>
              <a:t>de datos designa el lugar donde se almacena cada fragmento de datos.</a:t>
            </a:r>
          </a:p>
          <a:p>
            <a:pPr>
              <a:lnSpc>
                <a:spcPct val="100000"/>
              </a:lnSpc>
              <a:spcBef>
                <a:spcPts val="0"/>
              </a:spcBef>
              <a:spcAft>
                <a:spcPts val="600"/>
              </a:spcAft>
            </a:pPr>
            <a:r>
              <a:rPr lang="es-MX" sz="2000" dirty="0"/>
              <a:t>Los objetivos de la distribución son:</a:t>
            </a:r>
          </a:p>
          <a:p>
            <a:pPr marL="342900" indent="-342900">
              <a:lnSpc>
                <a:spcPct val="100000"/>
              </a:lnSpc>
              <a:spcBef>
                <a:spcPts val="0"/>
              </a:spcBef>
              <a:spcAft>
                <a:spcPts val="600"/>
              </a:spcAft>
              <a:buFont typeface="Arial" panose="020B0604020202020204" pitchFamily="34" charset="0"/>
              <a:buChar char="•"/>
            </a:pPr>
            <a:r>
              <a:rPr lang="es-MX" sz="2000" dirty="0"/>
              <a:t>La separación de la distribución y fragmentación de datos.</a:t>
            </a:r>
          </a:p>
          <a:p>
            <a:pPr marL="342900" indent="-342900">
              <a:lnSpc>
                <a:spcPct val="100000"/>
              </a:lnSpc>
              <a:spcBef>
                <a:spcPts val="0"/>
              </a:spcBef>
              <a:spcAft>
                <a:spcPts val="600"/>
              </a:spcAft>
              <a:buFont typeface="Arial" panose="020B0604020202020204" pitchFamily="34" charset="0"/>
              <a:buChar char="•"/>
            </a:pPr>
            <a:r>
              <a:rPr lang="es-MX" sz="2000" dirty="0"/>
              <a:t>Control de la redundancia</a:t>
            </a:r>
          </a:p>
          <a:p>
            <a:pPr marL="342900" indent="-342900">
              <a:lnSpc>
                <a:spcPct val="100000"/>
              </a:lnSpc>
              <a:spcBef>
                <a:spcPts val="0"/>
              </a:spcBef>
              <a:spcAft>
                <a:spcPts val="600"/>
              </a:spcAft>
              <a:buFont typeface="Arial" panose="020B0604020202020204" pitchFamily="34" charset="0"/>
              <a:buChar char="•"/>
            </a:pPr>
            <a:r>
              <a:rPr lang="es-MX" sz="2000" dirty="0"/>
              <a:t>Independencia del SMBD local.</a:t>
            </a:r>
          </a:p>
        </p:txBody>
      </p:sp>
      <p:pic>
        <p:nvPicPr>
          <p:cNvPr id="4" name="Imagen 3"/>
          <p:cNvPicPr>
            <a:picLocks noChangeAspect="1"/>
          </p:cNvPicPr>
          <p:nvPr/>
        </p:nvPicPr>
        <p:blipFill>
          <a:blip r:embed="rId2"/>
          <a:stretch>
            <a:fillRect/>
          </a:stretch>
        </p:blipFill>
        <p:spPr>
          <a:xfrm>
            <a:off x="6815599" y="2184940"/>
            <a:ext cx="4971167" cy="3626310"/>
          </a:xfrm>
          <a:prstGeom prst="rect">
            <a:avLst/>
          </a:prstGeom>
        </p:spPr>
      </p:pic>
      <p:sp>
        <p:nvSpPr>
          <p:cNvPr id="6" name="Rectángulo redondeado 5"/>
          <p:cNvSpPr/>
          <p:nvPr/>
        </p:nvSpPr>
        <p:spPr>
          <a:xfrm>
            <a:off x="6886832" y="2339546"/>
            <a:ext cx="1161536" cy="1046205"/>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593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fade">
                                      <p:cBhvr>
                                        <p:cTn id="47" dur="5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1" presetClass="entr" presetSubtype="1" fill="hold" grpId="0"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wheel(1)">
                                      <p:cBhvr>
                                        <p:cTn id="52"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782053"/>
            <a:ext cx="10245091" cy="718784"/>
          </a:xfrm>
        </p:spPr>
        <p:txBody>
          <a:bodyPr/>
          <a:lstStyle/>
          <a:p>
            <a:r>
              <a:rPr lang="es-MX" sz="3000" b="1" dirty="0">
                <a:solidFill>
                  <a:schemeClr val="accent1">
                    <a:lumMod val="50000"/>
                  </a:schemeClr>
                </a:solidFill>
              </a:rPr>
              <a:t>CVBD. V.  Implementación, Monitoreo y Modificación</a:t>
            </a:r>
          </a:p>
        </p:txBody>
      </p:sp>
      <p:sp>
        <p:nvSpPr>
          <p:cNvPr id="3" name="Marcador de contenido 2"/>
          <p:cNvSpPr>
            <a:spLocks noGrp="1"/>
          </p:cNvSpPr>
          <p:nvPr>
            <p:ph sz="quarter" idx="13"/>
          </p:nvPr>
        </p:nvSpPr>
        <p:spPr>
          <a:xfrm>
            <a:off x="1087443" y="2225455"/>
            <a:ext cx="10737302" cy="3393456"/>
          </a:xfrm>
        </p:spPr>
        <p:txBody>
          <a:bodyPr/>
          <a:lstStyle/>
          <a:p>
            <a:r>
              <a:rPr lang="es-MX" dirty="0"/>
              <a:t>Una vez diseñada, se crea el esquema de la base de datos con el </a:t>
            </a:r>
            <a:r>
              <a:rPr lang="es-MX" b="1" i="1" dirty="0"/>
              <a:t>DDL</a:t>
            </a:r>
            <a:r>
              <a:rPr lang="es-MX" dirty="0"/>
              <a:t> de un SMBD. </a:t>
            </a:r>
          </a:p>
          <a:p>
            <a:r>
              <a:rPr lang="es-MX" dirty="0"/>
              <a:t>La inserción, modificación y consulta se realiza a través del </a:t>
            </a:r>
            <a:r>
              <a:rPr lang="es-MX" b="1" i="1" dirty="0"/>
              <a:t>DML</a:t>
            </a:r>
            <a:r>
              <a:rPr lang="es-MX" dirty="0"/>
              <a:t> del SMBD.</a:t>
            </a:r>
          </a:p>
          <a:p>
            <a:r>
              <a:rPr lang="es-MX" dirty="0"/>
              <a:t>Durante la operación, se verifica que los requisitos vinculados con el desempeño se satisfagan.</a:t>
            </a:r>
          </a:p>
          <a:p>
            <a:r>
              <a:rPr lang="es-MX" dirty="0"/>
              <a:t>En caso de que no se satisfagan, la BD debe rediseñarse y realizar las modificaciones necesarias.</a:t>
            </a:r>
          </a:p>
        </p:txBody>
      </p:sp>
    </p:spTree>
    <p:extLst>
      <p:ext uri="{BB962C8B-B14F-4D97-AF65-F5344CB8AC3E}">
        <p14:creationId xmlns:p14="http://schemas.microsoft.com/office/powerpoint/2010/main" val="3100868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rotWithShape="1">
          <a:blip r:embed="rId2"/>
          <a:srcRect l="33649" t="12252" r="31824" b="31171"/>
          <a:stretch/>
        </p:blipFill>
        <p:spPr>
          <a:xfrm>
            <a:off x="642550" y="2017980"/>
            <a:ext cx="4942404" cy="4555524"/>
          </a:xfrm>
          <a:prstGeom prst="rect">
            <a:avLst/>
          </a:prstGeom>
          <a:effectLst/>
        </p:spPr>
      </p:pic>
      <p:pic>
        <p:nvPicPr>
          <p:cNvPr id="6" name="Imagen 5"/>
          <p:cNvPicPr>
            <a:picLocks noChangeAspect="1"/>
          </p:cNvPicPr>
          <p:nvPr/>
        </p:nvPicPr>
        <p:blipFill rotWithShape="1">
          <a:blip r:embed="rId3"/>
          <a:srcRect l="38225" t="14480" r="29194" b="62007"/>
          <a:stretch/>
        </p:blipFill>
        <p:spPr>
          <a:xfrm>
            <a:off x="6548283" y="2125816"/>
            <a:ext cx="5112106" cy="2075212"/>
          </a:xfrm>
          <a:prstGeom prst="rect">
            <a:avLst/>
          </a:prstGeom>
        </p:spPr>
      </p:pic>
      <p:pic>
        <p:nvPicPr>
          <p:cNvPr id="7" name="Imagen 6"/>
          <p:cNvPicPr>
            <a:picLocks noChangeAspect="1"/>
          </p:cNvPicPr>
          <p:nvPr/>
        </p:nvPicPr>
        <p:blipFill rotWithShape="1">
          <a:blip r:embed="rId4"/>
          <a:srcRect t="62895"/>
          <a:stretch/>
        </p:blipFill>
        <p:spPr>
          <a:xfrm>
            <a:off x="6067042" y="4119139"/>
            <a:ext cx="5107739" cy="2084438"/>
          </a:xfrm>
          <a:prstGeom prst="rect">
            <a:avLst/>
          </a:prstGeom>
        </p:spPr>
      </p:pic>
      <p:pic>
        <p:nvPicPr>
          <p:cNvPr id="4" name="Imagen 3"/>
          <p:cNvPicPr>
            <a:picLocks noChangeAspect="1"/>
          </p:cNvPicPr>
          <p:nvPr/>
        </p:nvPicPr>
        <p:blipFill>
          <a:blip r:embed="rId5"/>
          <a:stretch>
            <a:fillRect/>
          </a:stretch>
        </p:blipFill>
        <p:spPr>
          <a:xfrm>
            <a:off x="564173" y="563511"/>
            <a:ext cx="10394581" cy="847417"/>
          </a:xfrm>
          <a:prstGeom prst="rect">
            <a:avLst/>
          </a:prstGeom>
        </p:spPr>
      </p:pic>
    </p:spTree>
    <p:extLst>
      <p:ext uri="{BB962C8B-B14F-4D97-AF65-F5344CB8AC3E}">
        <p14:creationId xmlns:p14="http://schemas.microsoft.com/office/powerpoint/2010/main" val="4006341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randombar(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29730" y="717689"/>
            <a:ext cx="10245091" cy="846210"/>
          </a:xfrm>
        </p:spPr>
        <p:txBody>
          <a:bodyPr/>
          <a:lstStyle/>
          <a:p>
            <a:r>
              <a:rPr lang="en-US" b="1" dirty="0">
                <a:solidFill>
                  <a:schemeClr val="accent1">
                    <a:lumMod val="50000"/>
                  </a:schemeClr>
                </a:solidFill>
                <a:latin typeface="Arial" charset="0"/>
              </a:rPr>
              <a:t>SQL – Data Manipulation Language</a:t>
            </a:r>
            <a:endParaRPr lang="es-MX" b="1" dirty="0">
              <a:solidFill>
                <a:schemeClr val="accent1">
                  <a:lumMod val="50000"/>
                </a:schemeClr>
              </a:solidFill>
              <a:latin typeface="Arial" charset="0"/>
            </a:endParaRPr>
          </a:p>
        </p:txBody>
      </p:sp>
      <p:pic>
        <p:nvPicPr>
          <p:cNvPr id="4" name="Imagen 3"/>
          <p:cNvPicPr>
            <a:picLocks noChangeAspect="1"/>
          </p:cNvPicPr>
          <p:nvPr/>
        </p:nvPicPr>
        <p:blipFill rotWithShape="1">
          <a:blip r:embed="rId2"/>
          <a:srcRect l="34919" t="35699" r="25403" b="31900"/>
          <a:stretch/>
        </p:blipFill>
        <p:spPr>
          <a:xfrm>
            <a:off x="2212258" y="2018908"/>
            <a:ext cx="8476276" cy="3893575"/>
          </a:xfrm>
          <a:prstGeom prst="rect">
            <a:avLst/>
          </a:prstGeom>
        </p:spPr>
      </p:pic>
    </p:spTree>
    <p:extLst>
      <p:ext uri="{BB962C8B-B14F-4D97-AF65-F5344CB8AC3E}">
        <p14:creationId xmlns:p14="http://schemas.microsoft.com/office/powerpoint/2010/main" val="919469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800687" y="438137"/>
            <a:ext cx="10245091" cy="846210"/>
          </a:xfrm>
        </p:spPr>
        <p:txBody>
          <a:bodyPr/>
          <a:lstStyle/>
          <a:p>
            <a:pPr algn="ctr"/>
            <a:r>
              <a:rPr lang="es-MX" b="1" dirty="0">
                <a:solidFill>
                  <a:schemeClr val="accent1">
                    <a:lumMod val="50000"/>
                  </a:schemeClr>
                </a:solidFill>
              </a:rPr>
              <a:t>Una Arquitectura de Bases de Datos</a:t>
            </a:r>
            <a:br>
              <a:rPr lang="es-MX" b="1" dirty="0">
                <a:solidFill>
                  <a:schemeClr val="accent1">
                    <a:lumMod val="50000"/>
                  </a:schemeClr>
                </a:solidFill>
              </a:rPr>
            </a:br>
            <a:r>
              <a:rPr lang="es-MX" b="1" dirty="0">
                <a:solidFill>
                  <a:schemeClr val="accent1">
                    <a:lumMod val="50000"/>
                  </a:schemeClr>
                </a:solidFill>
              </a:rPr>
              <a:t>                                         </a:t>
            </a:r>
            <a:r>
              <a:rPr lang="es-MX" sz="2000" b="1" dirty="0" err="1">
                <a:solidFill>
                  <a:schemeClr val="accent1">
                    <a:lumMod val="50000"/>
                  </a:schemeClr>
                </a:solidFill>
              </a:rPr>
              <a:t>Introduction</a:t>
            </a:r>
            <a:r>
              <a:rPr lang="es-MX" sz="2000" b="1" dirty="0">
                <a:solidFill>
                  <a:schemeClr val="accent1">
                    <a:lumMod val="50000"/>
                  </a:schemeClr>
                </a:solidFill>
              </a:rPr>
              <a:t> to </a:t>
            </a:r>
            <a:r>
              <a:rPr lang="es-MX" sz="2000" b="1" dirty="0" err="1">
                <a:solidFill>
                  <a:schemeClr val="accent1">
                    <a:lumMod val="50000"/>
                  </a:schemeClr>
                </a:solidFill>
              </a:rPr>
              <a:t>database</a:t>
            </a:r>
            <a:r>
              <a:rPr lang="es-MX" sz="2000" b="1" dirty="0">
                <a:solidFill>
                  <a:schemeClr val="accent1">
                    <a:lumMod val="50000"/>
                  </a:schemeClr>
                </a:solidFill>
              </a:rPr>
              <a:t> </a:t>
            </a:r>
            <a:r>
              <a:rPr lang="es-MX" sz="2000" b="1" dirty="0" err="1">
                <a:solidFill>
                  <a:schemeClr val="accent1">
                    <a:lumMod val="50000"/>
                  </a:schemeClr>
                </a:solidFill>
              </a:rPr>
              <a:t>systems</a:t>
            </a:r>
            <a:r>
              <a:rPr lang="es-MX" sz="2000" b="1" dirty="0">
                <a:solidFill>
                  <a:schemeClr val="accent1">
                    <a:lumMod val="50000"/>
                  </a:schemeClr>
                </a:solidFill>
              </a:rPr>
              <a:t>. Date</a:t>
            </a:r>
            <a:endParaRPr lang="es-MX" dirty="0"/>
          </a:p>
        </p:txBody>
      </p:sp>
      <p:sp>
        <p:nvSpPr>
          <p:cNvPr id="4" name="Rectángulo 3"/>
          <p:cNvSpPr/>
          <p:nvPr/>
        </p:nvSpPr>
        <p:spPr>
          <a:xfrm>
            <a:off x="952293" y="1944422"/>
            <a:ext cx="10345354" cy="34158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 name="Marcador de contenido 2"/>
          <p:cNvSpPr>
            <a:spLocks noGrp="1"/>
          </p:cNvSpPr>
          <p:nvPr>
            <p:ph sz="quarter" idx="13"/>
          </p:nvPr>
        </p:nvSpPr>
        <p:spPr/>
        <p:txBody>
          <a:bodyPr/>
          <a:lstStyle/>
          <a:p>
            <a:endParaRPr lang="es-MX" b="1" dirty="0">
              <a:solidFill>
                <a:schemeClr val="accent1">
                  <a:lumMod val="50000"/>
                </a:schemeClr>
              </a:solidFill>
            </a:endParaRPr>
          </a:p>
          <a:p>
            <a:pPr marL="514350" indent="-514350">
              <a:buAutoNum type="romanUcPeriod"/>
            </a:pPr>
            <a:r>
              <a:rPr lang="es-MX" b="1" dirty="0">
                <a:solidFill>
                  <a:schemeClr val="bg1"/>
                </a:solidFill>
              </a:rPr>
              <a:t>Arquitectura ANSI/SPARC</a:t>
            </a:r>
          </a:p>
          <a:p>
            <a:pPr marL="514350" indent="-514350">
              <a:buAutoNum type="romanUcPeriod"/>
            </a:pPr>
            <a:r>
              <a:rPr lang="es-MX" b="1" dirty="0">
                <a:solidFill>
                  <a:schemeClr val="bg1"/>
                </a:solidFill>
              </a:rPr>
              <a:t>Componentes de la Arquitectura</a:t>
            </a:r>
          </a:p>
          <a:p>
            <a:pPr marL="514350" indent="-514350">
              <a:buAutoNum type="romanUcPeriod"/>
            </a:pPr>
            <a:r>
              <a:rPr lang="es-MX" b="1" dirty="0">
                <a:solidFill>
                  <a:schemeClr val="bg1"/>
                </a:solidFill>
              </a:rPr>
              <a:t>Niveles</a:t>
            </a:r>
          </a:p>
          <a:p>
            <a:pPr marL="514350" indent="-514350">
              <a:buAutoNum type="romanUcPeriod"/>
            </a:pPr>
            <a:r>
              <a:rPr lang="es-MX" b="1" dirty="0">
                <a:solidFill>
                  <a:schemeClr val="bg1"/>
                </a:solidFill>
              </a:rPr>
              <a:t>Administrador de la BD</a:t>
            </a:r>
          </a:p>
          <a:p>
            <a:pPr marL="514350" indent="-514350">
              <a:buAutoNum type="romanUcPeriod"/>
            </a:pPr>
            <a:r>
              <a:rPr lang="es-MX" b="1" dirty="0">
                <a:solidFill>
                  <a:schemeClr val="bg1"/>
                </a:solidFill>
              </a:rPr>
              <a:t>SMBD</a:t>
            </a:r>
          </a:p>
          <a:p>
            <a:pPr marL="514350" indent="-514350">
              <a:buAutoNum type="romanUcPeriod"/>
            </a:pPr>
            <a:r>
              <a:rPr lang="es-MX" b="1" dirty="0">
                <a:solidFill>
                  <a:schemeClr val="bg1"/>
                </a:solidFill>
              </a:rPr>
              <a:t>Arquitecturas de Hardware</a:t>
            </a:r>
          </a:p>
          <a:p>
            <a:endParaRPr lang="es-MX" dirty="0"/>
          </a:p>
        </p:txBody>
      </p:sp>
    </p:spTree>
    <p:extLst>
      <p:ext uri="{BB962C8B-B14F-4D97-AF65-F5344CB8AC3E}">
        <p14:creationId xmlns:p14="http://schemas.microsoft.com/office/powerpoint/2010/main" val="3429743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randombar(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randombar(horizontal)">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sz="quarter" idx="13"/>
          </p:nvPr>
        </p:nvSpPr>
        <p:spPr>
          <a:xfrm>
            <a:off x="3952569" y="2106263"/>
            <a:ext cx="8081318" cy="4432653"/>
          </a:xfrm>
        </p:spPr>
        <p:txBody>
          <a:bodyPr/>
          <a:lstStyle/>
          <a:p>
            <a:pPr>
              <a:defRPr/>
            </a:pPr>
            <a:r>
              <a:rPr lang="es-MX" b="1" dirty="0">
                <a:solidFill>
                  <a:schemeClr val="accent1">
                    <a:lumMod val="75000"/>
                  </a:schemeClr>
                </a:solidFill>
                <a:latin typeface="Arial" charset="0"/>
              </a:rPr>
              <a:t>La arquitectura ANSI/SPARC </a:t>
            </a:r>
            <a:r>
              <a:rPr lang="es-MX" dirty="0">
                <a:latin typeface="Arial" charset="0"/>
              </a:rPr>
              <a:t>se divide en tres niveles:</a:t>
            </a:r>
          </a:p>
          <a:p>
            <a:pPr>
              <a:defRPr/>
            </a:pPr>
            <a:endParaRPr lang="es-MX" sz="1200" dirty="0">
              <a:latin typeface="Arial" charset="0"/>
            </a:endParaRPr>
          </a:p>
          <a:p>
            <a:pPr lvl="1">
              <a:buClr>
                <a:schemeClr val="tx1"/>
              </a:buClr>
              <a:defRPr/>
            </a:pPr>
            <a:r>
              <a:rPr lang="es-MX" sz="2000" b="1" dirty="0">
                <a:solidFill>
                  <a:schemeClr val="accent1">
                    <a:lumMod val="75000"/>
                  </a:schemeClr>
                </a:solidFill>
                <a:latin typeface="Arial" charset="0"/>
              </a:rPr>
              <a:t>Nivel Interno: </a:t>
            </a:r>
          </a:p>
          <a:p>
            <a:pPr lvl="2">
              <a:buClr>
                <a:schemeClr val="tx1"/>
              </a:buClr>
              <a:buNone/>
              <a:defRPr/>
            </a:pPr>
            <a:r>
              <a:rPr lang="es-MX" dirty="0">
                <a:latin typeface="Arial" charset="0"/>
              </a:rPr>
              <a:t>Más cercano al almacenamiento físico.</a:t>
            </a:r>
          </a:p>
          <a:p>
            <a:pPr lvl="2">
              <a:buClr>
                <a:schemeClr val="tx1"/>
              </a:buClr>
              <a:buNone/>
              <a:defRPr/>
            </a:pPr>
            <a:r>
              <a:rPr lang="es-MX" dirty="0">
                <a:latin typeface="Arial" charset="0"/>
              </a:rPr>
              <a:t>Representa la manera en que los datos están almacenados.</a:t>
            </a:r>
          </a:p>
          <a:p>
            <a:pPr lvl="1">
              <a:buClr>
                <a:schemeClr val="tx1"/>
              </a:buClr>
              <a:defRPr/>
            </a:pPr>
            <a:r>
              <a:rPr lang="es-MX" sz="2000" b="1" dirty="0">
                <a:solidFill>
                  <a:schemeClr val="accent4">
                    <a:lumMod val="50000"/>
                  </a:schemeClr>
                </a:solidFill>
                <a:latin typeface="Arial" charset="0"/>
              </a:rPr>
              <a:t>Nivel Externo:</a:t>
            </a:r>
          </a:p>
          <a:p>
            <a:pPr lvl="2">
              <a:buClr>
                <a:schemeClr val="tx1"/>
              </a:buClr>
              <a:buNone/>
              <a:defRPr/>
            </a:pPr>
            <a:r>
              <a:rPr lang="es-MX" dirty="0">
                <a:latin typeface="Arial" charset="0"/>
              </a:rPr>
              <a:t>Más cercano a los usuarios</a:t>
            </a:r>
          </a:p>
          <a:p>
            <a:pPr lvl="2">
              <a:buClr>
                <a:schemeClr val="tx1"/>
              </a:buClr>
              <a:buNone/>
              <a:defRPr/>
            </a:pPr>
            <a:r>
              <a:rPr lang="es-MX" dirty="0">
                <a:latin typeface="Arial" charset="0"/>
              </a:rPr>
              <a:t>Es la forma en que los usuarios perciben la BD</a:t>
            </a:r>
            <a:endParaRPr lang="es-MX" sz="1800" dirty="0">
              <a:latin typeface="Arial" charset="0"/>
            </a:endParaRPr>
          </a:p>
          <a:p>
            <a:pPr lvl="1">
              <a:buClr>
                <a:schemeClr val="tx1"/>
              </a:buClr>
              <a:defRPr/>
            </a:pPr>
            <a:r>
              <a:rPr lang="es-MX" sz="2000" b="1" dirty="0">
                <a:solidFill>
                  <a:schemeClr val="accent6">
                    <a:lumMod val="50000"/>
                  </a:schemeClr>
                </a:solidFill>
                <a:latin typeface="Arial" charset="0"/>
              </a:rPr>
              <a:t>Nivel Conceptual (lógico):</a:t>
            </a:r>
          </a:p>
          <a:p>
            <a:pPr lvl="2">
              <a:buClr>
                <a:schemeClr val="tx1"/>
              </a:buClr>
              <a:buNone/>
              <a:defRPr/>
            </a:pPr>
            <a:r>
              <a:rPr lang="es-MX" dirty="0">
                <a:latin typeface="Arial" charset="0"/>
              </a:rPr>
              <a:t>Nivel de mediación entre los dos anteriores.</a:t>
            </a:r>
          </a:p>
          <a:p>
            <a:pPr lvl="2">
              <a:buClr>
                <a:schemeClr val="tx1"/>
              </a:buClr>
              <a:buNone/>
              <a:defRPr/>
            </a:pPr>
            <a:r>
              <a:rPr lang="es-MX" dirty="0">
                <a:latin typeface="Arial" charset="0"/>
              </a:rPr>
              <a:t>Representa la vista completa de la BD.</a:t>
            </a:r>
          </a:p>
          <a:p>
            <a:endParaRPr lang="es-MX" dirty="0"/>
          </a:p>
        </p:txBody>
      </p:sp>
      <p:sp>
        <p:nvSpPr>
          <p:cNvPr id="4" name="Marcador de número de diapositiva 3"/>
          <p:cNvSpPr>
            <a:spLocks noGrp="1"/>
          </p:cNvSpPr>
          <p:nvPr>
            <p:ph type="sldNum" sz="quarter" idx="12"/>
          </p:nvPr>
        </p:nvSpPr>
        <p:spPr/>
        <p:txBody>
          <a:bodyPr/>
          <a:lstStyle/>
          <a:p>
            <a:fld id="{535C381F-C058-4457-AC2A-473EAEE256FB}" type="slidenum">
              <a:rPr lang="es-MX" smtClean="0"/>
              <a:t>64</a:t>
            </a:fld>
            <a:endParaRPr lang="es-MX" dirty="0"/>
          </a:p>
        </p:txBody>
      </p:sp>
      <p:sp>
        <p:nvSpPr>
          <p:cNvPr id="6" name="Título 1"/>
          <p:cNvSpPr>
            <a:spLocks noGrp="1"/>
          </p:cNvSpPr>
          <p:nvPr>
            <p:ph type="title"/>
          </p:nvPr>
        </p:nvSpPr>
        <p:spPr>
          <a:xfrm>
            <a:off x="1108711" y="821691"/>
            <a:ext cx="10245091" cy="846210"/>
          </a:xfrm>
        </p:spPr>
        <p:txBody>
          <a:bodyPr/>
          <a:lstStyle/>
          <a:p>
            <a:r>
              <a:rPr lang="es-MX" b="1" i="1" dirty="0">
                <a:solidFill>
                  <a:schemeClr val="accent1">
                    <a:lumMod val="50000"/>
                  </a:schemeClr>
                </a:solidFill>
              </a:rPr>
              <a:t>1.3. Una </a:t>
            </a:r>
            <a:r>
              <a:rPr lang="en-US" b="1" i="1" dirty="0" err="1">
                <a:solidFill>
                  <a:schemeClr val="accent1">
                    <a:lumMod val="50000"/>
                  </a:schemeClr>
                </a:solidFill>
              </a:rPr>
              <a:t>Arquitectura</a:t>
            </a:r>
            <a:r>
              <a:rPr lang="en-US" b="1" i="1" dirty="0">
                <a:solidFill>
                  <a:schemeClr val="accent1">
                    <a:lumMod val="50000"/>
                  </a:schemeClr>
                </a:solidFill>
              </a:rPr>
              <a:t> de Bases de </a:t>
            </a:r>
            <a:r>
              <a:rPr lang="en-US" b="1" i="1" dirty="0" err="1">
                <a:solidFill>
                  <a:schemeClr val="accent1">
                    <a:lumMod val="50000"/>
                  </a:schemeClr>
                </a:solidFill>
              </a:rPr>
              <a:t>Datos</a:t>
            </a:r>
            <a:br>
              <a:rPr lang="es-MX" b="1" i="1" dirty="0">
                <a:solidFill>
                  <a:schemeClr val="accent1">
                    <a:lumMod val="50000"/>
                  </a:schemeClr>
                </a:solidFill>
              </a:rPr>
            </a:br>
            <a:endParaRPr lang="es-MX" sz="2800" b="1" i="1" dirty="0">
              <a:solidFill>
                <a:schemeClr val="accent1">
                  <a:lumMod val="75000"/>
                </a:schemeClr>
              </a:solidFill>
            </a:endParaRPr>
          </a:p>
        </p:txBody>
      </p:sp>
      <p:pic>
        <p:nvPicPr>
          <p:cNvPr id="2" name="Imagen 1"/>
          <p:cNvPicPr>
            <a:picLocks noChangeAspect="1"/>
          </p:cNvPicPr>
          <p:nvPr/>
        </p:nvPicPr>
        <p:blipFill rotWithShape="1">
          <a:blip r:embed="rId2"/>
          <a:srcRect l="28200" t="28150" r="35075" b="31770"/>
          <a:stretch/>
        </p:blipFill>
        <p:spPr>
          <a:xfrm>
            <a:off x="297840" y="2999260"/>
            <a:ext cx="3654729" cy="2709720"/>
          </a:xfrm>
          <a:prstGeom prst="rect">
            <a:avLst/>
          </a:prstGeom>
          <a:effectLst>
            <a:outerShdw blurRad="63500" sx="102000" sy="102000" algn="ctr" rotWithShape="0">
              <a:prstClr val="black">
                <a:alpha val="40000"/>
              </a:prstClr>
            </a:outerShdw>
          </a:effectLst>
        </p:spPr>
      </p:pic>
      <p:sp>
        <p:nvSpPr>
          <p:cNvPr id="5" name="Rectángulo 4"/>
          <p:cNvSpPr/>
          <p:nvPr/>
        </p:nvSpPr>
        <p:spPr>
          <a:xfrm>
            <a:off x="2154621" y="5065986"/>
            <a:ext cx="861848" cy="5251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Rectángulo 6"/>
          <p:cNvSpPr/>
          <p:nvPr/>
        </p:nvSpPr>
        <p:spPr>
          <a:xfrm>
            <a:off x="1481959" y="3331778"/>
            <a:ext cx="430924" cy="472966"/>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Rectángulo 7"/>
          <p:cNvSpPr/>
          <p:nvPr/>
        </p:nvSpPr>
        <p:spPr>
          <a:xfrm>
            <a:off x="2154621" y="3328429"/>
            <a:ext cx="493986" cy="472966"/>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Rectángulo 8"/>
          <p:cNvSpPr/>
          <p:nvPr/>
        </p:nvSpPr>
        <p:spPr>
          <a:xfrm>
            <a:off x="3421797" y="3321268"/>
            <a:ext cx="446010" cy="472966"/>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Rectángulo 9"/>
          <p:cNvSpPr/>
          <p:nvPr/>
        </p:nvSpPr>
        <p:spPr>
          <a:xfrm>
            <a:off x="2154621" y="4204519"/>
            <a:ext cx="861848" cy="493605"/>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1931649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7" dur="500"/>
                                        <p:tgtEl>
                                          <p:spTgt spid="3">
                                            <p:txEl>
                                              <p:pRg st="2" end="2"/>
                                            </p:txEl>
                                          </p:spTgt>
                                        </p:tgtEl>
                                      </p:cBhvr>
                                    </p:animEffect>
                                  </p:childTnLst>
                                </p:cTn>
                              </p:par>
                              <p:par>
                                <p:cTn id="18" presetID="14" presetClass="entr" presetSubtype="1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0" dur="500"/>
                                        <p:tgtEl>
                                          <p:spTgt spid="3">
                                            <p:txEl>
                                              <p:pRg st="3" end="3"/>
                                            </p:txEl>
                                          </p:spTgt>
                                        </p:tgtEl>
                                      </p:cBhvr>
                                    </p:animEffect>
                                  </p:childTnLst>
                                </p:cTn>
                              </p:par>
                              <p:par>
                                <p:cTn id="21" presetID="14" presetClass="entr" presetSubtype="1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randombar(horizontal)">
                                      <p:cBhvr>
                                        <p:cTn id="28" dur="500"/>
                                        <p:tgtEl>
                                          <p:spTgt spid="3">
                                            <p:txEl>
                                              <p:pRg st="5" end="5"/>
                                            </p:txEl>
                                          </p:spTgt>
                                        </p:tgtEl>
                                      </p:cBhvr>
                                    </p:animEffect>
                                  </p:childTnLst>
                                </p:cTn>
                              </p:par>
                              <p:par>
                                <p:cTn id="29" presetID="14" presetClass="entr" presetSubtype="10"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randombar(horizontal)">
                                      <p:cBhvr>
                                        <p:cTn id="31" dur="500"/>
                                        <p:tgtEl>
                                          <p:spTgt spid="3">
                                            <p:txEl>
                                              <p:pRg st="6" end="6"/>
                                            </p:txEl>
                                          </p:spTgt>
                                        </p:tgtEl>
                                      </p:cBhvr>
                                    </p:animEffect>
                                  </p:childTnLst>
                                </p:cTn>
                              </p:par>
                              <p:par>
                                <p:cTn id="32" presetID="14" presetClass="entr" presetSubtype="10" fill="hold" grpId="0"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randombar(horizontal)">
                                      <p:cBhvr>
                                        <p:cTn id="34" dur="500"/>
                                        <p:tgtEl>
                                          <p:spTgt spid="3">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4" presetClass="entr" presetSubtype="1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randombar(horizontal)">
                                      <p:cBhvr>
                                        <p:cTn id="39" dur="500"/>
                                        <p:tgtEl>
                                          <p:spTgt spid="3">
                                            <p:txEl>
                                              <p:pRg st="8" end="8"/>
                                            </p:txEl>
                                          </p:spTgt>
                                        </p:tgtEl>
                                      </p:cBhvr>
                                    </p:animEffect>
                                  </p:childTnLst>
                                </p:cTn>
                              </p:par>
                              <p:par>
                                <p:cTn id="40" presetID="14" presetClass="entr" presetSubtype="10" fill="hold" grpId="0" nodeType="with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randombar(horizontal)">
                                      <p:cBhvr>
                                        <p:cTn id="42" dur="500"/>
                                        <p:tgtEl>
                                          <p:spTgt spid="3">
                                            <p:txEl>
                                              <p:pRg st="9" end="9"/>
                                            </p:txEl>
                                          </p:spTgt>
                                        </p:tgtEl>
                                      </p:cBhvr>
                                    </p:animEffect>
                                  </p:childTnLst>
                                </p:cTn>
                              </p:par>
                              <p:par>
                                <p:cTn id="43" presetID="14" presetClass="entr" presetSubtype="10" fill="hold" grpId="0" nodeType="with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animEffect transition="in" filter="randombar(horizontal)">
                                      <p:cBhvr>
                                        <p:cTn id="45"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535C381F-C058-4457-AC2A-473EAEE256FB}" type="slidenum">
              <a:rPr lang="es-MX" smtClean="0"/>
              <a:t>65</a:t>
            </a:fld>
            <a:endParaRPr lang="es-MX" dirty="0"/>
          </a:p>
        </p:txBody>
      </p:sp>
      <p:sp>
        <p:nvSpPr>
          <p:cNvPr id="6" name="Título 1"/>
          <p:cNvSpPr>
            <a:spLocks noGrp="1"/>
          </p:cNvSpPr>
          <p:nvPr>
            <p:ph type="title"/>
          </p:nvPr>
        </p:nvSpPr>
        <p:spPr>
          <a:xfrm>
            <a:off x="1016196" y="597967"/>
            <a:ext cx="9339386" cy="846210"/>
          </a:xfrm>
        </p:spPr>
        <p:txBody>
          <a:bodyPr/>
          <a:lstStyle/>
          <a:p>
            <a:r>
              <a:rPr lang="es-MX" b="1" i="1" dirty="0">
                <a:solidFill>
                  <a:schemeClr val="accent1">
                    <a:lumMod val="50000"/>
                  </a:schemeClr>
                </a:solidFill>
              </a:rPr>
              <a:t>1.3. </a:t>
            </a:r>
            <a:r>
              <a:rPr lang="en-US" b="1" i="1" dirty="0" err="1">
                <a:solidFill>
                  <a:schemeClr val="accent1">
                    <a:lumMod val="50000"/>
                  </a:schemeClr>
                </a:solidFill>
              </a:rPr>
              <a:t>Arquitectura</a:t>
            </a:r>
            <a:r>
              <a:rPr lang="en-US" b="1" i="1" dirty="0">
                <a:solidFill>
                  <a:schemeClr val="accent1">
                    <a:lumMod val="50000"/>
                  </a:schemeClr>
                </a:solidFill>
              </a:rPr>
              <a:t> de Bases de </a:t>
            </a:r>
            <a:r>
              <a:rPr lang="en-US" b="1" i="1" dirty="0" err="1">
                <a:solidFill>
                  <a:schemeClr val="accent1">
                    <a:lumMod val="50000"/>
                  </a:schemeClr>
                </a:solidFill>
              </a:rPr>
              <a:t>Datos</a:t>
            </a:r>
            <a:br>
              <a:rPr lang="es-MX" b="1" i="1" dirty="0">
                <a:solidFill>
                  <a:schemeClr val="accent1">
                    <a:lumMod val="50000"/>
                  </a:schemeClr>
                </a:solidFill>
              </a:rPr>
            </a:br>
            <a:endParaRPr lang="es-MX" sz="2800" b="1" i="1" dirty="0">
              <a:solidFill>
                <a:schemeClr val="accent1">
                  <a:lumMod val="75000"/>
                </a:schemeClr>
              </a:solidFill>
            </a:endParaRPr>
          </a:p>
        </p:txBody>
      </p:sp>
      <p:pic>
        <p:nvPicPr>
          <p:cNvPr id="2" name="Imagen 1"/>
          <p:cNvPicPr>
            <a:picLocks noChangeAspect="1"/>
          </p:cNvPicPr>
          <p:nvPr/>
        </p:nvPicPr>
        <p:blipFill rotWithShape="1">
          <a:blip r:embed="rId2"/>
          <a:srcRect l="28200" t="28150" r="35075" b="31770"/>
          <a:stretch/>
        </p:blipFill>
        <p:spPr>
          <a:xfrm>
            <a:off x="9910150" y="203700"/>
            <a:ext cx="1673091" cy="1240477"/>
          </a:xfrm>
          <a:prstGeom prst="rect">
            <a:avLst/>
          </a:prstGeom>
          <a:effectLst>
            <a:outerShdw blurRad="63500" sx="102000" sy="102000" algn="ctr" rotWithShape="0">
              <a:prstClr val="black">
                <a:alpha val="40000"/>
              </a:prstClr>
            </a:outerShdw>
          </a:effectLst>
        </p:spPr>
      </p:pic>
      <p:pic>
        <p:nvPicPr>
          <p:cNvPr id="7" name="Imagen 6"/>
          <p:cNvPicPr>
            <a:picLocks noChangeAspect="1"/>
          </p:cNvPicPr>
          <p:nvPr/>
        </p:nvPicPr>
        <p:blipFill rotWithShape="1">
          <a:blip r:embed="rId3"/>
          <a:srcRect l="7418" t="16917" r="20001" b="10107"/>
          <a:stretch/>
        </p:blipFill>
        <p:spPr>
          <a:xfrm>
            <a:off x="2014414" y="1951764"/>
            <a:ext cx="8433680" cy="4769715"/>
          </a:xfrm>
          <a:prstGeom prst="rect">
            <a:avLst/>
          </a:prstGeom>
        </p:spPr>
      </p:pic>
    </p:spTree>
    <p:extLst>
      <p:ext uri="{BB962C8B-B14F-4D97-AF65-F5344CB8AC3E}">
        <p14:creationId xmlns:p14="http://schemas.microsoft.com/office/powerpoint/2010/main" val="943154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par>
                          <p:cTn id="8" fill="hold">
                            <p:stCondLst>
                              <p:cond delay="2000"/>
                            </p:stCondLst>
                            <p:childTnLst>
                              <p:par>
                                <p:cTn id="9" presetID="21" presetClass="entr" presetSubtype="1"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heel(1)">
                                      <p:cBhvr>
                                        <p:cTn id="11"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93379"/>
            <a:ext cx="10245091" cy="607458"/>
          </a:xfrm>
        </p:spPr>
        <p:txBody>
          <a:bodyPr/>
          <a:lstStyle/>
          <a:p>
            <a:r>
              <a:rPr lang="es-MX" b="1" i="1" dirty="0">
                <a:solidFill>
                  <a:schemeClr val="accent1">
                    <a:lumMod val="50000"/>
                  </a:schemeClr>
                </a:solidFill>
              </a:rPr>
              <a:t>1.3. </a:t>
            </a:r>
            <a:r>
              <a:rPr lang="en-US" b="1" i="1" dirty="0" err="1">
                <a:solidFill>
                  <a:schemeClr val="accent1">
                    <a:lumMod val="50000"/>
                  </a:schemeClr>
                </a:solidFill>
              </a:rPr>
              <a:t>Arquitectura</a:t>
            </a:r>
            <a:r>
              <a:rPr lang="en-US" b="1" i="1" dirty="0">
                <a:solidFill>
                  <a:schemeClr val="accent1">
                    <a:lumMod val="50000"/>
                  </a:schemeClr>
                </a:solidFill>
              </a:rPr>
              <a:t> de Bases de </a:t>
            </a:r>
            <a:r>
              <a:rPr lang="en-US" b="1" i="1" dirty="0" err="1">
                <a:solidFill>
                  <a:schemeClr val="accent1">
                    <a:lumMod val="50000"/>
                  </a:schemeClr>
                </a:solidFill>
              </a:rPr>
              <a:t>Datos</a:t>
            </a:r>
            <a:br>
              <a:rPr lang="es-MX" b="1" i="1" dirty="0">
                <a:solidFill>
                  <a:schemeClr val="accent1">
                    <a:lumMod val="50000"/>
                  </a:schemeClr>
                </a:solidFill>
              </a:rPr>
            </a:br>
            <a:endParaRPr lang="es-MX" dirty="0"/>
          </a:p>
        </p:txBody>
      </p:sp>
      <p:graphicFrame>
        <p:nvGraphicFramePr>
          <p:cNvPr id="6" name="Object 3"/>
          <p:cNvGraphicFramePr>
            <a:graphicFrameLocks noChangeAspect="1"/>
          </p:cNvGraphicFramePr>
          <p:nvPr>
            <p:extLst>
              <p:ext uri="{D42A27DB-BD31-4B8C-83A1-F6EECF244321}">
                <p14:modId xmlns:p14="http://schemas.microsoft.com/office/powerpoint/2010/main" val="1409487889"/>
              </p:ext>
            </p:extLst>
          </p:nvPr>
        </p:nvGraphicFramePr>
        <p:xfrm>
          <a:off x="2410598" y="1871200"/>
          <a:ext cx="6546589" cy="4850279"/>
        </p:xfrm>
        <a:graphic>
          <a:graphicData uri="http://schemas.openxmlformats.org/presentationml/2006/ole">
            <mc:AlternateContent xmlns:mc="http://schemas.openxmlformats.org/markup-compatibility/2006">
              <mc:Choice xmlns:v="urn:schemas-microsoft-com:vml" Requires="v">
                <p:oleObj name="CorelDRAW" r:id="rId2" imgW="4974450" imgH="3686175" progId="CorelDRAW.Graphic.12">
                  <p:embed/>
                </p:oleObj>
              </mc:Choice>
              <mc:Fallback>
                <p:oleObj name="CorelDRAW" r:id="rId2" imgW="4974450" imgH="3686175" progId="CorelDRAW.Graphic.12">
                  <p:embed/>
                  <p:pic>
                    <p:nvPicPr>
                      <p:cNvPr id="6"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0598" y="1871200"/>
                        <a:ext cx="6546589" cy="4850279"/>
                      </a:xfrm>
                      <a:prstGeom prst="rect">
                        <a:avLst/>
                      </a:prstGeom>
                      <a:solidFill>
                        <a:srgbClr val="FFFFFF"/>
                      </a:solidFill>
                      <a:ln>
                        <a:noFill/>
                      </a:ln>
                      <a:effectLst/>
                    </p:spPr>
                  </p:pic>
                </p:oleObj>
              </mc:Fallback>
            </mc:AlternateContent>
          </a:graphicData>
        </a:graphic>
      </p:graphicFrame>
      <p:sp>
        <p:nvSpPr>
          <p:cNvPr id="3" name="Marcador de número de diapositiva 2"/>
          <p:cNvSpPr>
            <a:spLocks noGrp="1"/>
          </p:cNvSpPr>
          <p:nvPr>
            <p:ph type="sldNum" sz="quarter" idx="12"/>
          </p:nvPr>
        </p:nvSpPr>
        <p:spPr/>
        <p:txBody>
          <a:bodyPr/>
          <a:lstStyle/>
          <a:p>
            <a:fld id="{535C381F-C058-4457-AC2A-473EAEE256FB}" type="slidenum">
              <a:rPr lang="es-MX" smtClean="0"/>
              <a:t>66</a:t>
            </a:fld>
            <a:endParaRPr lang="es-MX" dirty="0"/>
          </a:p>
        </p:txBody>
      </p:sp>
      <p:pic>
        <p:nvPicPr>
          <p:cNvPr id="5" name="Imagen 4"/>
          <p:cNvPicPr>
            <a:picLocks noChangeAspect="1"/>
          </p:cNvPicPr>
          <p:nvPr/>
        </p:nvPicPr>
        <p:blipFill>
          <a:blip r:embed="rId4"/>
          <a:stretch>
            <a:fillRect/>
          </a:stretch>
        </p:blipFill>
        <p:spPr>
          <a:xfrm>
            <a:off x="1457488" y="4613548"/>
            <a:ext cx="847725" cy="1057275"/>
          </a:xfrm>
          <a:prstGeom prst="rect">
            <a:avLst/>
          </a:prstGeom>
        </p:spPr>
      </p:pic>
    </p:spTree>
    <p:extLst>
      <p:ext uri="{BB962C8B-B14F-4D97-AF65-F5344CB8AC3E}">
        <p14:creationId xmlns:p14="http://schemas.microsoft.com/office/powerpoint/2010/main" val="3706247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i="1" dirty="0">
                <a:solidFill>
                  <a:schemeClr val="accent1">
                    <a:lumMod val="50000"/>
                  </a:schemeClr>
                </a:solidFill>
              </a:rPr>
              <a:t>1.3. </a:t>
            </a:r>
            <a:r>
              <a:rPr lang="en-US" b="1" i="1" dirty="0" err="1">
                <a:solidFill>
                  <a:schemeClr val="accent1">
                    <a:lumMod val="50000"/>
                  </a:schemeClr>
                </a:solidFill>
              </a:rPr>
              <a:t>Arquitectura</a:t>
            </a:r>
            <a:r>
              <a:rPr lang="en-US" b="1" i="1" dirty="0">
                <a:solidFill>
                  <a:schemeClr val="accent1">
                    <a:lumMod val="50000"/>
                  </a:schemeClr>
                </a:solidFill>
              </a:rPr>
              <a:t> de Bases de </a:t>
            </a:r>
            <a:r>
              <a:rPr lang="en-US" b="1" i="1" dirty="0" err="1">
                <a:solidFill>
                  <a:schemeClr val="accent1">
                    <a:lumMod val="50000"/>
                  </a:schemeClr>
                </a:solidFill>
              </a:rPr>
              <a:t>Datos</a:t>
            </a:r>
            <a:r>
              <a:rPr lang="en-US" b="1" i="1" dirty="0">
                <a:solidFill>
                  <a:schemeClr val="accent1">
                    <a:lumMod val="50000"/>
                  </a:schemeClr>
                </a:solidFill>
              </a:rPr>
              <a:t> </a:t>
            </a:r>
            <a:br>
              <a:rPr lang="en-US" b="1" i="1" dirty="0">
                <a:solidFill>
                  <a:schemeClr val="accent1">
                    <a:lumMod val="50000"/>
                  </a:schemeClr>
                </a:solidFill>
              </a:rPr>
            </a:br>
            <a:r>
              <a:rPr lang="en-US" sz="2400" b="1" i="1" dirty="0">
                <a:solidFill>
                  <a:schemeClr val="accent1">
                    <a:lumMod val="50000"/>
                  </a:schemeClr>
                </a:solidFill>
              </a:rPr>
              <a:t>(ANSI/SPARC)</a:t>
            </a:r>
            <a:br>
              <a:rPr lang="es-MX" sz="2400" b="1" i="1" dirty="0">
                <a:solidFill>
                  <a:schemeClr val="accent1">
                    <a:lumMod val="50000"/>
                  </a:schemeClr>
                </a:solidFill>
              </a:rPr>
            </a:br>
            <a:endParaRPr lang="es-MX" b="1" dirty="0">
              <a:solidFill>
                <a:schemeClr val="accent1">
                  <a:lumMod val="50000"/>
                </a:schemeClr>
              </a:solidFill>
            </a:endParaRPr>
          </a:p>
        </p:txBody>
      </p:sp>
      <p:sp>
        <p:nvSpPr>
          <p:cNvPr id="3" name="Marcador de contenido 2"/>
          <p:cNvSpPr>
            <a:spLocks noGrp="1"/>
          </p:cNvSpPr>
          <p:nvPr>
            <p:ph sz="quarter" idx="13"/>
          </p:nvPr>
        </p:nvSpPr>
        <p:spPr>
          <a:xfrm>
            <a:off x="1839310" y="2035276"/>
            <a:ext cx="9514490" cy="4321077"/>
          </a:xfrm>
        </p:spPr>
        <p:txBody>
          <a:bodyPr/>
          <a:lstStyle/>
          <a:p>
            <a:pPr>
              <a:defRPr/>
            </a:pPr>
            <a:r>
              <a:rPr lang="es-MX" dirty="0">
                <a:latin typeface="Arial" charset="0"/>
              </a:rPr>
              <a:t>La </a:t>
            </a:r>
            <a:r>
              <a:rPr lang="es-MX" b="1" i="1" dirty="0">
                <a:solidFill>
                  <a:schemeClr val="accent1">
                    <a:lumMod val="75000"/>
                  </a:schemeClr>
                </a:solidFill>
                <a:latin typeface="Arial" charset="0"/>
              </a:rPr>
              <a:t>Vista Conceptual </a:t>
            </a:r>
            <a:r>
              <a:rPr lang="es-MX" dirty="0">
                <a:latin typeface="Arial" charset="0"/>
              </a:rPr>
              <a:t>es la representación de toda la información contenida en la BD.</a:t>
            </a:r>
          </a:p>
          <a:p>
            <a:pPr>
              <a:defRPr/>
            </a:pPr>
            <a:r>
              <a:rPr lang="es-MX" dirty="0">
                <a:latin typeface="Arial" charset="0"/>
              </a:rPr>
              <a:t>Es la vista de los datos </a:t>
            </a:r>
            <a:r>
              <a:rPr lang="es-MX" u="sng" dirty="0">
                <a:solidFill>
                  <a:schemeClr val="accent1">
                    <a:lumMod val="75000"/>
                  </a:schemeClr>
                </a:solidFill>
                <a:latin typeface="Arial" charset="0"/>
              </a:rPr>
              <a:t>“tal como son”.</a:t>
            </a:r>
          </a:p>
          <a:p>
            <a:pPr>
              <a:defRPr/>
            </a:pPr>
            <a:r>
              <a:rPr lang="es-MX" dirty="0">
                <a:latin typeface="Arial" charset="0"/>
              </a:rPr>
              <a:t>Se compone de varias ocurrencias de varios tipos de registro conceptual (no necesariamente idéntico a un registro externo o almacenado).</a:t>
            </a:r>
          </a:p>
          <a:p>
            <a:pPr>
              <a:defRPr/>
            </a:pPr>
            <a:r>
              <a:rPr lang="es-MX" dirty="0">
                <a:latin typeface="Arial" charset="0"/>
              </a:rPr>
              <a:t>Se define por el esquema conceptual, que contiene descripciones de cada uno de los registros conceptuales (DDL).</a:t>
            </a:r>
          </a:p>
          <a:p>
            <a:pPr>
              <a:defRPr/>
            </a:pPr>
            <a:r>
              <a:rPr lang="es-MX" dirty="0">
                <a:latin typeface="Arial" charset="0"/>
              </a:rPr>
              <a:t>En el esquema conceptual no debe haber referencias a la representación de campos almacenados.</a:t>
            </a:r>
          </a:p>
          <a:p>
            <a:pPr>
              <a:defRPr/>
            </a:pPr>
            <a:r>
              <a:rPr lang="es-MX" dirty="0">
                <a:latin typeface="Arial" charset="0"/>
              </a:rPr>
              <a:t>Incluye restricciones de seguridad e integridad de la BD.</a:t>
            </a:r>
          </a:p>
          <a:p>
            <a:endParaRPr lang="es-MX" dirty="0"/>
          </a:p>
        </p:txBody>
      </p:sp>
      <p:sp>
        <p:nvSpPr>
          <p:cNvPr id="4" name="Marcador de número de diapositiva 3"/>
          <p:cNvSpPr>
            <a:spLocks noGrp="1"/>
          </p:cNvSpPr>
          <p:nvPr>
            <p:ph type="sldNum" sz="quarter" idx="12"/>
          </p:nvPr>
        </p:nvSpPr>
        <p:spPr/>
        <p:txBody>
          <a:bodyPr/>
          <a:lstStyle/>
          <a:p>
            <a:fld id="{535C381F-C058-4457-AC2A-473EAEE256FB}" type="slidenum">
              <a:rPr lang="es-MX" smtClean="0"/>
              <a:t>67</a:t>
            </a:fld>
            <a:endParaRPr lang="es-MX" dirty="0"/>
          </a:p>
        </p:txBody>
      </p:sp>
      <p:pic>
        <p:nvPicPr>
          <p:cNvPr id="5" name="Imagen 4"/>
          <p:cNvPicPr>
            <a:picLocks noChangeAspect="1"/>
          </p:cNvPicPr>
          <p:nvPr/>
        </p:nvPicPr>
        <p:blipFill rotWithShape="1">
          <a:blip r:embed="rId2"/>
          <a:srcRect l="28200" t="28150" r="35075" b="31770"/>
          <a:stretch/>
        </p:blipFill>
        <p:spPr>
          <a:xfrm>
            <a:off x="9910150" y="203700"/>
            <a:ext cx="1673091" cy="1240477"/>
          </a:xfrm>
          <a:prstGeom prst="rect">
            <a:avLst/>
          </a:prstGeom>
          <a:effectLst>
            <a:outerShdw blurRad="63500" sx="102000" sy="102000" algn="ctr" rotWithShape="0">
              <a:prstClr val="black">
                <a:alpha val="40000"/>
              </a:prstClr>
            </a:outerShdw>
          </a:effectLst>
        </p:spPr>
      </p:pic>
      <p:sp>
        <p:nvSpPr>
          <p:cNvPr id="6" name="Rectángulo 5"/>
          <p:cNvSpPr/>
          <p:nvPr/>
        </p:nvSpPr>
        <p:spPr>
          <a:xfrm>
            <a:off x="10762593" y="767255"/>
            <a:ext cx="388883" cy="2102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3291802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1" presetClass="entr" presetSubtype="1" fill="hold" nodeType="click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wheel(1)">
                                      <p:cBhvr>
                                        <p:cTn id="49"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i="1" dirty="0">
                <a:solidFill>
                  <a:schemeClr val="accent1">
                    <a:lumMod val="50000"/>
                  </a:schemeClr>
                </a:solidFill>
              </a:rPr>
              <a:t>1.3. </a:t>
            </a:r>
            <a:r>
              <a:rPr lang="en-US" b="1" i="1" dirty="0" err="1">
                <a:solidFill>
                  <a:schemeClr val="accent1">
                    <a:lumMod val="50000"/>
                  </a:schemeClr>
                </a:solidFill>
              </a:rPr>
              <a:t>Arquitectura</a:t>
            </a:r>
            <a:r>
              <a:rPr lang="en-US" b="1" i="1" dirty="0">
                <a:solidFill>
                  <a:schemeClr val="accent1">
                    <a:lumMod val="50000"/>
                  </a:schemeClr>
                </a:solidFill>
              </a:rPr>
              <a:t> de Bases de </a:t>
            </a:r>
            <a:r>
              <a:rPr lang="en-US" b="1" i="1" dirty="0" err="1">
                <a:solidFill>
                  <a:schemeClr val="accent1">
                    <a:lumMod val="50000"/>
                  </a:schemeClr>
                </a:solidFill>
              </a:rPr>
              <a:t>Datos</a:t>
            </a:r>
            <a:br>
              <a:rPr lang="es-MX" b="1" i="1" dirty="0">
                <a:solidFill>
                  <a:schemeClr val="accent1">
                    <a:lumMod val="50000"/>
                  </a:schemeClr>
                </a:solidFill>
              </a:rPr>
            </a:br>
            <a:endParaRPr lang="es-MX" b="1" dirty="0">
              <a:solidFill>
                <a:schemeClr val="accent1">
                  <a:lumMod val="50000"/>
                </a:schemeClr>
              </a:solidFill>
              <a:latin typeface="Arial" charset="0"/>
            </a:endParaRPr>
          </a:p>
        </p:txBody>
      </p:sp>
      <p:sp>
        <p:nvSpPr>
          <p:cNvPr id="3" name="Marcador de contenido 2"/>
          <p:cNvSpPr>
            <a:spLocks noGrp="1"/>
          </p:cNvSpPr>
          <p:nvPr>
            <p:ph sz="quarter" idx="13"/>
          </p:nvPr>
        </p:nvSpPr>
        <p:spPr>
          <a:xfrm>
            <a:off x="1858297" y="1976284"/>
            <a:ext cx="9607263" cy="4270533"/>
          </a:xfrm>
        </p:spPr>
        <p:txBody>
          <a:bodyPr/>
          <a:lstStyle/>
          <a:p>
            <a:pPr>
              <a:defRPr/>
            </a:pPr>
            <a:r>
              <a:rPr lang="es-MX" sz="2000" dirty="0">
                <a:latin typeface="Arial" charset="0"/>
              </a:rPr>
              <a:t>La </a:t>
            </a:r>
            <a:r>
              <a:rPr lang="es-MX" sz="2000" b="1" i="1" dirty="0">
                <a:solidFill>
                  <a:schemeClr val="accent1">
                    <a:lumMod val="75000"/>
                  </a:schemeClr>
                </a:solidFill>
                <a:latin typeface="Arial" charset="0"/>
              </a:rPr>
              <a:t>Vista Externa </a:t>
            </a:r>
            <a:r>
              <a:rPr lang="es-MX" sz="2000" dirty="0">
                <a:latin typeface="Arial" charset="0"/>
              </a:rPr>
              <a:t>es la percepción del usuario.</a:t>
            </a:r>
          </a:p>
          <a:p>
            <a:pPr>
              <a:defRPr/>
            </a:pPr>
            <a:r>
              <a:rPr lang="es-MX" sz="2000" dirty="0">
                <a:latin typeface="Arial" charset="0"/>
              </a:rPr>
              <a:t>Cada </a:t>
            </a:r>
            <a:r>
              <a:rPr lang="es-MX" sz="2000" i="1" dirty="0">
                <a:latin typeface="Arial" charset="0"/>
              </a:rPr>
              <a:t>programador </a:t>
            </a:r>
            <a:r>
              <a:rPr lang="es-MX" sz="2000" dirty="0">
                <a:latin typeface="Arial" charset="0"/>
              </a:rPr>
              <a:t>dispone de un lenguaje de programación o aplicación especial (4GLs); en ambos casos del lenguaje debe incluir un </a:t>
            </a:r>
            <a:r>
              <a:rPr lang="es-MX" sz="2000" dirty="0" err="1">
                <a:latin typeface="Arial" charset="0"/>
              </a:rPr>
              <a:t>Sublenguaje</a:t>
            </a:r>
            <a:r>
              <a:rPr lang="es-MX" sz="2000" dirty="0">
                <a:latin typeface="Arial" charset="0"/>
              </a:rPr>
              <a:t> de Datos (SLD).</a:t>
            </a:r>
          </a:p>
          <a:p>
            <a:pPr>
              <a:defRPr/>
            </a:pPr>
            <a:r>
              <a:rPr lang="es-MX" sz="2000" dirty="0">
                <a:latin typeface="Arial" charset="0"/>
              </a:rPr>
              <a:t>El </a:t>
            </a:r>
            <a:r>
              <a:rPr lang="es-MX" sz="2000" i="1" dirty="0">
                <a:latin typeface="Arial" charset="0"/>
              </a:rPr>
              <a:t>DBA</a:t>
            </a:r>
            <a:r>
              <a:rPr lang="es-MX" sz="2000" dirty="0">
                <a:latin typeface="Arial" charset="0"/>
              </a:rPr>
              <a:t> dispone en el SMBD incluye un </a:t>
            </a:r>
            <a:r>
              <a:rPr lang="es-MX" sz="2000" dirty="0" err="1">
                <a:latin typeface="Arial" charset="0"/>
              </a:rPr>
              <a:t>sublenguaje</a:t>
            </a:r>
            <a:r>
              <a:rPr lang="es-MX" sz="2000" dirty="0">
                <a:latin typeface="Arial" charset="0"/>
              </a:rPr>
              <a:t> de datos inmerso (DDL y DML). </a:t>
            </a:r>
          </a:p>
          <a:p>
            <a:pPr>
              <a:defRPr/>
            </a:pPr>
            <a:r>
              <a:rPr lang="es-MX" sz="2000" dirty="0">
                <a:latin typeface="Arial" charset="0"/>
              </a:rPr>
              <a:t>Los usuarios sólo perciben lo sección de la BD que les interesa: Vista Externa.</a:t>
            </a:r>
          </a:p>
          <a:p>
            <a:pPr>
              <a:defRPr/>
            </a:pPr>
            <a:r>
              <a:rPr lang="es-MX" sz="2000" dirty="0">
                <a:latin typeface="Arial" charset="0"/>
              </a:rPr>
              <a:t>La vista externa se compone de varios registros externos, que no necesariamente coinciden con los registros almacenados.</a:t>
            </a:r>
          </a:p>
          <a:p>
            <a:pPr>
              <a:defRPr/>
            </a:pPr>
            <a:r>
              <a:rPr lang="es-MX" sz="2000" dirty="0">
                <a:latin typeface="Arial" charset="0"/>
              </a:rPr>
              <a:t>La vista externa se define con un esquema externo (define cada uno de los diversos tipos de registros externos)</a:t>
            </a:r>
          </a:p>
        </p:txBody>
      </p:sp>
      <p:sp>
        <p:nvSpPr>
          <p:cNvPr id="4" name="Marcador de número de diapositiva 3"/>
          <p:cNvSpPr>
            <a:spLocks noGrp="1"/>
          </p:cNvSpPr>
          <p:nvPr>
            <p:ph type="sldNum" sz="quarter" idx="12"/>
          </p:nvPr>
        </p:nvSpPr>
        <p:spPr/>
        <p:txBody>
          <a:bodyPr/>
          <a:lstStyle/>
          <a:p>
            <a:fld id="{535C381F-C058-4457-AC2A-473EAEE256FB}" type="slidenum">
              <a:rPr lang="es-MX" smtClean="0"/>
              <a:t>68</a:t>
            </a:fld>
            <a:endParaRPr lang="es-MX" dirty="0"/>
          </a:p>
        </p:txBody>
      </p:sp>
      <p:pic>
        <p:nvPicPr>
          <p:cNvPr id="5" name="Imagen 4"/>
          <p:cNvPicPr>
            <a:picLocks noChangeAspect="1"/>
          </p:cNvPicPr>
          <p:nvPr/>
        </p:nvPicPr>
        <p:blipFill rotWithShape="1">
          <a:blip r:embed="rId2"/>
          <a:srcRect l="28200" t="28150" r="35075" b="31770"/>
          <a:stretch/>
        </p:blipFill>
        <p:spPr>
          <a:xfrm>
            <a:off x="9710460" y="203700"/>
            <a:ext cx="1673091" cy="1240477"/>
          </a:xfrm>
          <a:prstGeom prst="rect">
            <a:avLst/>
          </a:prstGeom>
          <a:effectLst>
            <a:outerShdw blurRad="63500" sx="102000" sy="102000" algn="ctr" rotWithShape="0">
              <a:prstClr val="black">
                <a:alpha val="40000"/>
              </a:prstClr>
            </a:outerShdw>
          </a:effectLst>
        </p:spPr>
      </p:pic>
      <p:sp>
        <p:nvSpPr>
          <p:cNvPr id="6" name="Rectángulo 5"/>
          <p:cNvSpPr/>
          <p:nvPr/>
        </p:nvSpPr>
        <p:spPr>
          <a:xfrm>
            <a:off x="10258103" y="346841"/>
            <a:ext cx="210207" cy="2102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Rectángulo 6"/>
          <p:cNvSpPr/>
          <p:nvPr/>
        </p:nvSpPr>
        <p:spPr>
          <a:xfrm>
            <a:off x="10570922" y="346841"/>
            <a:ext cx="223211" cy="2102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Rectángulo 7"/>
          <p:cNvSpPr/>
          <p:nvPr/>
        </p:nvSpPr>
        <p:spPr>
          <a:xfrm>
            <a:off x="11133090" y="346841"/>
            <a:ext cx="229441" cy="2102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2515490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1" presetClass="entr" presetSubtype="1" fill="hold" nodeType="click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wheel(1)">
                                      <p:cBhvr>
                                        <p:cTn id="49"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i="1" dirty="0">
                <a:solidFill>
                  <a:schemeClr val="accent1">
                    <a:lumMod val="50000"/>
                  </a:schemeClr>
                </a:solidFill>
              </a:rPr>
              <a:t>1.3. </a:t>
            </a:r>
            <a:r>
              <a:rPr lang="en-US" b="1" i="1" dirty="0" err="1">
                <a:solidFill>
                  <a:schemeClr val="accent1">
                    <a:lumMod val="50000"/>
                  </a:schemeClr>
                </a:solidFill>
              </a:rPr>
              <a:t>Arquitectura</a:t>
            </a:r>
            <a:r>
              <a:rPr lang="en-US" b="1" i="1" dirty="0">
                <a:solidFill>
                  <a:schemeClr val="accent1">
                    <a:lumMod val="50000"/>
                  </a:schemeClr>
                </a:solidFill>
              </a:rPr>
              <a:t> de Bases de </a:t>
            </a:r>
            <a:r>
              <a:rPr lang="en-US" b="1" i="1" dirty="0" err="1">
                <a:solidFill>
                  <a:schemeClr val="accent1">
                    <a:lumMod val="50000"/>
                  </a:schemeClr>
                </a:solidFill>
              </a:rPr>
              <a:t>Datos</a:t>
            </a:r>
            <a:br>
              <a:rPr lang="es-MX" b="1" i="1" dirty="0">
                <a:solidFill>
                  <a:schemeClr val="accent1">
                    <a:lumMod val="50000"/>
                  </a:schemeClr>
                </a:solidFill>
              </a:rPr>
            </a:br>
            <a:endParaRPr lang="es-MX" b="1" dirty="0">
              <a:solidFill>
                <a:schemeClr val="accent1">
                  <a:lumMod val="50000"/>
                </a:schemeClr>
              </a:solidFill>
              <a:latin typeface="Arial" charset="0"/>
            </a:endParaRPr>
          </a:p>
        </p:txBody>
      </p:sp>
      <p:sp>
        <p:nvSpPr>
          <p:cNvPr id="3" name="Marcador de contenido 2"/>
          <p:cNvSpPr>
            <a:spLocks noGrp="1"/>
          </p:cNvSpPr>
          <p:nvPr>
            <p:ph sz="quarter" idx="13"/>
          </p:nvPr>
        </p:nvSpPr>
        <p:spPr>
          <a:xfrm>
            <a:off x="2005781" y="2104103"/>
            <a:ext cx="9459779" cy="4142714"/>
          </a:xfrm>
        </p:spPr>
        <p:txBody>
          <a:bodyPr/>
          <a:lstStyle/>
          <a:p>
            <a:pPr>
              <a:defRPr/>
            </a:pPr>
            <a:r>
              <a:rPr lang="es-MX" sz="2200" dirty="0">
                <a:latin typeface="Arial" charset="0"/>
              </a:rPr>
              <a:t>La </a:t>
            </a:r>
            <a:r>
              <a:rPr lang="es-MX" sz="2200" b="1" i="1" dirty="0">
                <a:solidFill>
                  <a:schemeClr val="accent1">
                    <a:lumMod val="75000"/>
                  </a:schemeClr>
                </a:solidFill>
                <a:latin typeface="Arial" charset="0"/>
              </a:rPr>
              <a:t>Vista Interna </a:t>
            </a:r>
            <a:r>
              <a:rPr lang="es-MX" sz="2200" dirty="0">
                <a:latin typeface="Arial" charset="0"/>
              </a:rPr>
              <a:t>es la representación de bajo nivel de toda la BD.</a:t>
            </a:r>
          </a:p>
          <a:p>
            <a:pPr>
              <a:defRPr/>
            </a:pPr>
            <a:r>
              <a:rPr lang="es-MX" sz="2200" dirty="0">
                <a:latin typeface="Arial" charset="0"/>
              </a:rPr>
              <a:t>Se compone de varias ocurrencias de varios tipos de registro interno (almacenado), pero es aún distante del nivel físico (bloques o páginas)</a:t>
            </a:r>
          </a:p>
          <a:p>
            <a:pPr>
              <a:defRPr/>
            </a:pPr>
            <a:r>
              <a:rPr lang="es-MX" sz="2200" dirty="0">
                <a:latin typeface="Arial" charset="0"/>
              </a:rPr>
              <a:t>Se define mediante el Esquema Interno: define los diversos tipos de registros, cuántos índices hay, cómo se representan los campos, en qué secuencia se encuentran los registros, etc.</a:t>
            </a:r>
          </a:p>
          <a:p>
            <a:pPr>
              <a:defRPr/>
            </a:pPr>
            <a:r>
              <a:rPr lang="es-MX" sz="2200" dirty="0">
                <a:latin typeface="Arial" charset="0"/>
              </a:rPr>
              <a:t>Generalmente, los programadores de la aplicación no operan con la vista interna.</a:t>
            </a:r>
          </a:p>
          <a:p>
            <a:endParaRPr lang="es-MX" dirty="0"/>
          </a:p>
        </p:txBody>
      </p:sp>
      <p:sp>
        <p:nvSpPr>
          <p:cNvPr id="4" name="Marcador de número de diapositiva 3"/>
          <p:cNvSpPr>
            <a:spLocks noGrp="1"/>
          </p:cNvSpPr>
          <p:nvPr>
            <p:ph type="sldNum" sz="quarter" idx="12"/>
          </p:nvPr>
        </p:nvSpPr>
        <p:spPr/>
        <p:txBody>
          <a:bodyPr/>
          <a:lstStyle/>
          <a:p>
            <a:fld id="{535C381F-C058-4457-AC2A-473EAEE256FB}" type="slidenum">
              <a:rPr lang="es-MX" smtClean="0"/>
              <a:t>69</a:t>
            </a:fld>
            <a:endParaRPr lang="es-MX" dirty="0"/>
          </a:p>
        </p:txBody>
      </p:sp>
      <p:pic>
        <p:nvPicPr>
          <p:cNvPr id="5" name="Imagen 4"/>
          <p:cNvPicPr>
            <a:picLocks noChangeAspect="1"/>
          </p:cNvPicPr>
          <p:nvPr/>
        </p:nvPicPr>
        <p:blipFill rotWithShape="1">
          <a:blip r:embed="rId2"/>
          <a:srcRect l="28200" t="28150" r="35075" b="31770"/>
          <a:stretch/>
        </p:blipFill>
        <p:spPr>
          <a:xfrm>
            <a:off x="9910150" y="203700"/>
            <a:ext cx="1673091" cy="1240477"/>
          </a:xfrm>
          <a:prstGeom prst="rect">
            <a:avLst/>
          </a:prstGeom>
          <a:effectLst>
            <a:outerShdw blurRad="63500" sx="102000" sy="102000" algn="ctr" rotWithShape="0">
              <a:prstClr val="black">
                <a:alpha val="40000"/>
              </a:prstClr>
            </a:outerShdw>
          </a:effectLst>
        </p:spPr>
      </p:pic>
      <p:sp>
        <p:nvSpPr>
          <p:cNvPr id="6" name="Rectángulo 5"/>
          <p:cNvSpPr/>
          <p:nvPr/>
        </p:nvSpPr>
        <p:spPr>
          <a:xfrm>
            <a:off x="10752083" y="1156138"/>
            <a:ext cx="409903" cy="1996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1082615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1" presetClass="entr" presetSubtype="1"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heel(1)">
                                      <p:cBhvr>
                                        <p:cTn id="35"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i="1" dirty="0">
                <a:solidFill>
                  <a:schemeClr val="accent1">
                    <a:lumMod val="50000"/>
                  </a:schemeClr>
                </a:solidFill>
              </a:rPr>
              <a:t>1.3. </a:t>
            </a:r>
            <a:r>
              <a:rPr lang="en-US" b="1" i="1" dirty="0" err="1">
                <a:solidFill>
                  <a:schemeClr val="accent1">
                    <a:lumMod val="50000"/>
                  </a:schemeClr>
                </a:solidFill>
              </a:rPr>
              <a:t>Arquitectura</a:t>
            </a:r>
            <a:r>
              <a:rPr lang="en-US" b="1" i="1" dirty="0">
                <a:solidFill>
                  <a:schemeClr val="accent1">
                    <a:lumMod val="50000"/>
                  </a:schemeClr>
                </a:solidFill>
              </a:rPr>
              <a:t> de Bases de </a:t>
            </a:r>
            <a:r>
              <a:rPr lang="en-US" b="1" i="1" dirty="0" err="1">
                <a:solidFill>
                  <a:schemeClr val="accent1">
                    <a:lumMod val="50000"/>
                  </a:schemeClr>
                </a:solidFill>
              </a:rPr>
              <a:t>Datos</a:t>
            </a:r>
            <a:br>
              <a:rPr lang="es-MX" b="1" i="1" dirty="0">
                <a:solidFill>
                  <a:schemeClr val="accent1">
                    <a:lumMod val="50000"/>
                  </a:schemeClr>
                </a:solidFill>
              </a:rPr>
            </a:br>
            <a:endParaRPr lang="es-MX" b="1" dirty="0">
              <a:solidFill>
                <a:schemeClr val="accent1">
                  <a:lumMod val="50000"/>
                </a:schemeClr>
              </a:solidFill>
              <a:latin typeface="Arial" charset="0"/>
            </a:endParaRPr>
          </a:p>
        </p:txBody>
      </p:sp>
      <p:sp>
        <p:nvSpPr>
          <p:cNvPr id="3" name="Marcador de contenido 2"/>
          <p:cNvSpPr>
            <a:spLocks noGrp="1"/>
          </p:cNvSpPr>
          <p:nvPr>
            <p:ph sz="quarter" idx="13"/>
          </p:nvPr>
        </p:nvSpPr>
        <p:spPr>
          <a:xfrm>
            <a:off x="2034745" y="1900819"/>
            <a:ext cx="9473514" cy="4820660"/>
          </a:xfrm>
        </p:spPr>
        <p:txBody>
          <a:bodyPr/>
          <a:lstStyle/>
          <a:p>
            <a:pPr>
              <a:defRPr/>
            </a:pPr>
            <a:r>
              <a:rPr lang="es-MX" sz="2000" dirty="0">
                <a:latin typeface="Arial" charset="0"/>
              </a:rPr>
              <a:t>Además de los tres niveles, la arquitectura considera también ciertas </a:t>
            </a:r>
            <a:r>
              <a:rPr lang="es-MX" sz="2000" b="1" i="1" dirty="0">
                <a:solidFill>
                  <a:schemeClr val="accent1">
                    <a:lumMod val="75000"/>
                  </a:schemeClr>
                </a:solidFill>
                <a:latin typeface="Arial" charset="0"/>
              </a:rPr>
              <a:t>transformaciones</a:t>
            </a:r>
            <a:r>
              <a:rPr lang="es-MX" sz="2000" b="1" dirty="0">
                <a:solidFill>
                  <a:schemeClr val="accent1">
                    <a:lumMod val="75000"/>
                  </a:schemeClr>
                </a:solidFill>
                <a:latin typeface="Arial" charset="0"/>
              </a:rPr>
              <a:t>:</a:t>
            </a:r>
          </a:p>
          <a:p>
            <a:pPr>
              <a:defRPr/>
            </a:pPr>
            <a:r>
              <a:rPr lang="es-MX" sz="2000" b="1" i="1" u="sng" dirty="0">
                <a:solidFill>
                  <a:schemeClr val="accent1">
                    <a:lumMod val="75000"/>
                  </a:schemeClr>
                </a:solidFill>
                <a:latin typeface="Arial" charset="0"/>
              </a:rPr>
              <a:t>Conceptual/interna</a:t>
            </a:r>
            <a:r>
              <a:rPr lang="es-MX" sz="2000" b="1" i="1" u="sng" dirty="0">
                <a:solidFill>
                  <a:schemeClr val="hlink"/>
                </a:solidFill>
                <a:latin typeface="Arial" charset="0"/>
              </a:rPr>
              <a:t>.</a:t>
            </a:r>
          </a:p>
          <a:p>
            <a:pPr>
              <a:defRPr/>
            </a:pPr>
            <a:r>
              <a:rPr lang="es-MX" sz="2000" dirty="0">
                <a:latin typeface="Arial" charset="0"/>
              </a:rPr>
              <a:t>Define la correspondencia entre la vista conceptual y la BD almacenada y especifica como están almacenados los registros y campos conceptuales en el nivel interno.</a:t>
            </a:r>
          </a:p>
          <a:p>
            <a:pPr>
              <a:defRPr/>
            </a:pPr>
            <a:r>
              <a:rPr lang="es-MX" sz="2000" dirty="0">
                <a:latin typeface="Arial" charset="0"/>
              </a:rPr>
              <a:t>Si se modifica la definición interna, debe modificarse la correspondencia conceptual/interna.</a:t>
            </a:r>
          </a:p>
          <a:p>
            <a:pPr>
              <a:defRPr/>
            </a:pPr>
            <a:r>
              <a:rPr lang="es-MX" sz="2000" b="1" i="1" u="sng" dirty="0">
                <a:solidFill>
                  <a:schemeClr val="accent1">
                    <a:lumMod val="75000"/>
                  </a:schemeClr>
                </a:solidFill>
                <a:latin typeface="Arial" charset="0"/>
              </a:rPr>
              <a:t>Externa/conceptual.</a:t>
            </a:r>
          </a:p>
          <a:p>
            <a:pPr>
              <a:defRPr/>
            </a:pPr>
            <a:r>
              <a:rPr lang="es-MX" sz="2000" dirty="0">
                <a:latin typeface="Arial" charset="0"/>
              </a:rPr>
              <a:t>Define la correspondencia entre una vista externa en particular y la vista conceptual.</a:t>
            </a:r>
          </a:p>
          <a:p>
            <a:pPr>
              <a:defRPr/>
            </a:pPr>
            <a:r>
              <a:rPr lang="es-MX" sz="2000" dirty="0">
                <a:latin typeface="Arial" charset="0"/>
              </a:rPr>
              <a:t>Pueden existir al mismo tiempo cualquier cantidad de vistas externas; cualquier cantidad de usuarios puede compartir una vista externa.</a:t>
            </a:r>
          </a:p>
          <a:p>
            <a:endParaRPr lang="es-MX" dirty="0"/>
          </a:p>
        </p:txBody>
      </p:sp>
      <p:sp>
        <p:nvSpPr>
          <p:cNvPr id="4" name="Marcador de número de diapositiva 3"/>
          <p:cNvSpPr>
            <a:spLocks noGrp="1"/>
          </p:cNvSpPr>
          <p:nvPr>
            <p:ph type="sldNum" sz="quarter" idx="12"/>
          </p:nvPr>
        </p:nvSpPr>
        <p:spPr/>
        <p:txBody>
          <a:bodyPr/>
          <a:lstStyle/>
          <a:p>
            <a:fld id="{535C381F-C058-4457-AC2A-473EAEE256FB}" type="slidenum">
              <a:rPr lang="es-MX" smtClean="0"/>
              <a:t>70</a:t>
            </a:fld>
            <a:endParaRPr lang="es-MX" dirty="0"/>
          </a:p>
        </p:txBody>
      </p:sp>
    </p:spTree>
    <p:extLst>
      <p:ext uri="{BB962C8B-B14F-4D97-AF65-F5344CB8AC3E}">
        <p14:creationId xmlns:p14="http://schemas.microsoft.com/office/powerpoint/2010/main" val="720811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out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out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out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37"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out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37"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outVertic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37"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arn(outVertic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37"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arn(outVertical)">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Forma libre 15"/>
          <p:cNvSpPr/>
          <p:nvPr/>
        </p:nvSpPr>
        <p:spPr>
          <a:xfrm>
            <a:off x="3247697" y="1891862"/>
            <a:ext cx="7231117" cy="2680138"/>
          </a:xfrm>
          <a:custGeom>
            <a:avLst/>
            <a:gdLst>
              <a:gd name="connsiteX0" fmla="*/ 0 w 7231117"/>
              <a:gd name="connsiteY0" fmla="*/ 0 h 2680138"/>
              <a:gd name="connsiteX1" fmla="*/ 7231117 w 7231117"/>
              <a:gd name="connsiteY1" fmla="*/ 31531 h 2680138"/>
              <a:gd name="connsiteX2" fmla="*/ 7231117 w 7231117"/>
              <a:gd name="connsiteY2" fmla="*/ 2680138 h 2680138"/>
              <a:gd name="connsiteX3" fmla="*/ 4960882 w 7231117"/>
              <a:gd name="connsiteY3" fmla="*/ 2680138 h 2680138"/>
              <a:gd name="connsiteX4" fmla="*/ 4950372 w 7231117"/>
              <a:gd name="connsiteY4" fmla="*/ 903890 h 2680138"/>
              <a:gd name="connsiteX5" fmla="*/ 52551 w 7231117"/>
              <a:gd name="connsiteY5" fmla="*/ 903890 h 2680138"/>
              <a:gd name="connsiteX6" fmla="*/ 0 w 7231117"/>
              <a:gd name="connsiteY6" fmla="*/ 0 h 2680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31117" h="2680138">
                <a:moveTo>
                  <a:pt x="0" y="0"/>
                </a:moveTo>
                <a:lnTo>
                  <a:pt x="7231117" y="31531"/>
                </a:lnTo>
                <a:lnTo>
                  <a:pt x="7231117" y="2680138"/>
                </a:lnTo>
                <a:lnTo>
                  <a:pt x="4960882" y="2680138"/>
                </a:lnTo>
                <a:cubicBezTo>
                  <a:pt x="4957379" y="2088055"/>
                  <a:pt x="4953875" y="1495973"/>
                  <a:pt x="4950372" y="903890"/>
                </a:cubicBezTo>
                <a:lnTo>
                  <a:pt x="52551" y="903890"/>
                </a:lnTo>
                <a:lnTo>
                  <a:pt x="0" y="0"/>
                </a:lnTo>
                <a:close/>
              </a:path>
            </a:pathLst>
          </a:cu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Forma libre 10"/>
          <p:cNvSpPr/>
          <p:nvPr/>
        </p:nvSpPr>
        <p:spPr>
          <a:xfrm>
            <a:off x="2280745" y="2860038"/>
            <a:ext cx="6787050" cy="2936348"/>
          </a:xfrm>
          <a:custGeom>
            <a:avLst/>
            <a:gdLst>
              <a:gd name="connsiteX0" fmla="*/ 0 w 6789683"/>
              <a:gd name="connsiteY0" fmla="*/ 0 h 2995448"/>
              <a:gd name="connsiteX1" fmla="*/ 3226676 w 6789683"/>
              <a:gd name="connsiteY1" fmla="*/ 63062 h 2995448"/>
              <a:gd name="connsiteX2" fmla="*/ 3436883 w 6789683"/>
              <a:gd name="connsiteY2" fmla="*/ 1061545 h 2995448"/>
              <a:gd name="connsiteX3" fmla="*/ 5065986 w 6789683"/>
              <a:gd name="connsiteY3" fmla="*/ 1061545 h 2995448"/>
              <a:gd name="connsiteX4" fmla="*/ 5087007 w 6789683"/>
              <a:gd name="connsiteY4" fmla="*/ 1776248 h 2995448"/>
              <a:gd name="connsiteX5" fmla="*/ 6789683 w 6789683"/>
              <a:gd name="connsiteY5" fmla="*/ 1755227 h 2995448"/>
              <a:gd name="connsiteX6" fmla="*/ 6789683 w 6789683"/>
              <a:gd name="connsiteY6" fmla="*/ 2995448 h 2995448"/>
              <a:gd name="connsiteX7" fmla="*/ 3037489 w 6789683"/>
              <a:gd name="connsiteY7" fmla="*/ 2806262 h 2995448"/>
              <a:gd name="connsiteX8" fmla="*/ 3016469 w 6789683"/>
              <a:gd name="connsiteY8" fmla="*/ 2060027 h 2995448"/>
              <a:gd name="connsiteX9" fmla="*/ 31531 w 6789683"/>
              <a:gd name="connsiteY9" fmla="*/ 2049517 h 2995448"/>
              <a:gd name="connsiteX10" fmla="*/ 0 w 6789683"/>
              <a:gd name="connsiteY10" fmla="*/ 0 h 2995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789683" h="2995448">
                <a:moveTo>
                  <a:pt x="0" y="0"/>
                </a:moveTo>
                <a:lnTo>
                  <a:pt x="3226676" y="63062"/>
                </a:lnTo>
                <a:lnTo>
                  <a:pt x="3436883" y="1061545"/>
                </a:lnTo>
                <a:lnTo>
                  <a:pt x="5065986" y="1061545"/>
                </a:lnTo>
                <a:lnTo>
                  <a:pt x="5087007" y="1776248"/>
                </a:lnTo>
                <a:lnTo>
                  <a:pt x="6789683" y="1755227"/>
                </a:lnTo>
                <a:lnTo>
                  <a:pt x="6789683" y="2995448"/>
                </a:lnTo>
                <a:lnTo>
                  <a:pt x="3037489" y="2806262"/>
                </a:lnTo>
                <a:lnTo>
                  <a:pt x="3016469" y="2060027"/>
                </a:lnTo>
                <a:lnTo>
                  <a:pt x="31531" y="2049517"/>
                </a:lnTo>
                <a:lnTo>
                  <a:pt x="0" y="0"/>
                </a:lnTo>
                <a:close/>
              </a:path>
            </a:pathLst>
          </a:cu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 name="Rectángulo 2"/>
          <p:cNvSpPr/>
          <p:nvPr/>
        </p:nvSpPr>
        <p:spPr>
          <a:xfrm>
            <a:off x="2165131" y="1857509"/>
            <a:ext cx="8366235" cy="4753500"/>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Elipse 3"/>
          <p:cNvSpPr/>
          <p:nvPr/>
        </p:nvSpPr>
        <p:spPr>
          <a:xfrm>
            <a:off x="3935333" y="1910059"/>
            <a:ext cx="1103586" cy="851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Título 1"/>
          <p:cNvSpPr>
            <a:spLocks noGrp="1"/>
          </p:cNvSpPr>
          <p:nvPr>
            <p:ph type="title"/>
          </p:nvPr>
        </p:nvSpPr>
        <p:spPr>
          <a:xfrm>
            <a:off x="1108709" y="832599"/>
            <a:ext cx="10245091" cy="668238"/>
          </a:xfrm>
        </p:spPr>
        <p:txBody>
          <a:bodyPr/>
          <a:lstStyle/>
          <a:p>
            <a:r>
              <a:rPr lang="es-MX" b="1" dirty="0">
                <a:solidFill>
                  <a:schemeClr val="accent1">
                    <a:lumMod val="50000"/>
                  </a:schemeClr>
                </a:solidFill>
              </a:rPr>
              <a:t>Diferentes Vistas de la BD</a:t>
            </a:r>
          </a:p>
        </p:txBody>
      </p:sp>
      <p:sp>
        <p:nvSpPr>
          <p:cNvPr id="5" name="CuadroTexto 4"/>
          <p:cNvSpPr txBox="1"/>
          <p:nvPr/>
        </p:nvSpPr>
        <p:spPr>
          <a:xfrm>
            <a:off x="4040437" y="2074118"/>
            <a:ext cx="998482" cy="523220"/>
          </a:xfrm>
          <a:prstGeom prst="rect">
            <a:avLst/>
          </a:prstGeom>
          <a:noFill/>
        </p:spPr>
        <p:txBody>
          <a:bodyPr wrap="square" rtlCol="0">
            <a:spAutoFit/>
          </a:bodyPr>
          <a:lstStyle/>
          <a:p>
            <a:r>
              <a:rPr lang="es-MX" sz="1400" dirty="0">
                <a:solidFill>
                  <a:schemeClr val="bg1"/>
                </a:solidFill>
              </a:rPr>
              <a:t>Registro Alumnos</a:t>
            </a:r>
          </a:p>
        </p:txBody>
      </p:sp>
      <p:sp>
        <p:nvSpPr>
          <p:cNvPr id="6" name="Rectángulo redondeado 5"/>
          <p:cNvSpPr/>
          <p:nvPr/>
        </p:nvSpPr>
        <p:spPr>
          <a:xfrm>
            <a:off x="1127036" y="1901180"/>
            <a:ext cx="777766" cy="552942"/>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DCE</a:t>
            </a:r>
          </a:p>
        </p:txBody>
      </p:sp>
      <p:cxnSp>
        <p:nvCxnSpPr>
          <p:cNvPr id="8" name="Conector recto de flecha 7"/>
          <p:cNvCxnSpPr>
            <a:endCxn id="4" idx="2"/>
          </p:cNvCxnSpPr>
          <p:nvPr/>
        </p:nvCxnSpPr>
        <p:spPr>
          <a:xfrm>
            <a:off x="1923129" y="2177651"/>
            <a:ext cx="2012204" cy="1580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ángulo 11"/>
          <p:cNvSpPr/>
          <p:nvPr/>
        </p:nvSpPr>
        <p:spPr>
          <a:xfrm>
            <a:off x="6096255" y="2290562"/>
            <a:ext cx="1224587" cy="32678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s-MX" sz="1400" dirty="0">
                <a:ln w="0"/>
                <a:solidFill>
                  <a:schemeClr val="bg1"/>
                </a:solidFill>
                <a:effectLst>
                  <a:outerShdw blurRad="38100" dist="19050" dir="2700000" algn="tl" rotWithShape="0">
                    <a:schemeClr val="dk1">
                      <a:alpha val="40000"/>
                    </a:schemeClr>
                  </a:outerShdw>
                </a:effectLst>
              </a:rPr>
              <a:t>Alumnos</a:t>
            </a:r>
          </a:p>
        </p:txBody>
      </p:sp>
      <p:cxnSp>
        <p:nvCxnSpPr>
          <p:cNvPr id="13" name="Conector recto de flecha 12"/>
          <p:cNvCxnSpPr>
            <a:stCxn id="5" idx="3"/>
            <a:endCxn id="12" idx="1"/>
          </p:cNvCxnSpPr>
          <p:nvPr/>
        </p:nvCxnSpPr>
        <p:spPr>
          <a:xfrm>
            <a:off x="5038919" y="2335728"/>
            <a:ext cx="1057336" cy="1182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Elipse 20"/>
          <p:cNvSpPr/>
          <p:nvPr/>
        </p:nvSpPr>
        <p:spPr>
          <a:xfrm>
            <a:off x="4031643" y="5519155"/>
            <a:ext cx="1103586" cy="851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 name="CuadroTexto 21"/>
          <p:cNvSpPr txBox="1"/>
          <p:nvPr/>
        </p:nvSpPr>
        <p:spPr>
          <a:xfrm>
            <a:off x="4073686" y="5651684"/>
            <a:ext cx="1129855" cy="523220"/>
          </a:xfrm>
          <a:prstGeom prst="rect">
            <a:avLst/>
          </a:prstGeom>
          <a:noFill/>
        </p:spPr>
        <p:txBody>
          <a:bodyPr wrap="square" rtlCol="0">
            <a:spAutoFit/>
          </a:bodyPr>
          <a:lstStyle/>
          <a:p>
            <a:r>
              <a:rPr lang="es-MX" sz="1400" dirty="0">
                <a:solidFill>
                  <a:schemeClr val="bg1"/>
                </a:solidFill>
              </a:rPr>
              <a:t>Registro Profesores</a:t>
            </a:r>
          </a:p>
        </p:txBody>
      </p:sp>
      <p:sp>
        <p:nvSpPr>
          <p:cNvPr id="23" name="Rectángulo redondeado 22"/>
          <p:cNvSpPr/>
          <p:nvPr/>
        </p:nvSpPr>
        <p:spPr>
          <a:xfrm>
            <a:off x="1090256" y="5290478"/>
            <a:ext cx="777766" cy="552942"/>
          </a:xfrm>
          <a:prstGeom prst="round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RH</a:t>
            </a:r>
          </a:p>
        </p:txBody>
      </p:sp>
      <p:cxnSp>
        <p:nvCxnSpPr>
          <p:cNvPr id="24" name="Conector recto de flecha 23"/>
          <p:cNvCxnSpPr>
            <a:stCxn id="23" idx="3"/>
            <a:endCxn id="21" idx="2"/>
          </p:cNvCxnSpPr>
          <p:nvPr/>
        </p:nvCxnSpPr>
        <p:spPr>
          <a:xfrm>
            <a:off x="1868022" y="5566949"/>
            <a:ext cx="2163621" cy="3778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Rectángulo 24"/>
          <p:cNvSpPr/>
          <p:nvPr/>
        </p:nvSpPr>
        <p:spPr>
          <a:xfrm>
            <a:off x="5639726" y="5796386"/>
            <a:ext cx="1224587" cy="32678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s-MX" sz="1400" dirty="0">
                <a:ln w="0"/>
                <a:solidFill>
                  <a:schemeClr val="bg1"/>
                </a:solidFill>
                <a:effectLst>
                  <a:outerShdw blurRad="38100" dist="19050" dir="2700000" algn="tl" rotWithShape="0">
                    <a:schemeClr val="dk1">
                      <a:alpha val="40000"/>
                    </a:schemeClr>
                  </a:outerShdw>
                </a:effectLst>
              </a:rPr>
              <a:t>Profesores</a:t>
            </a:r>
          </a:p>
        </p:txBody>
      </p:sp>
      <p:cxnSp>
        <p:nvCxnSpPr>
          <p:cNvPr id="26" name="Conector recto de flecha 25"/>
          <p:cNvCxnSpPr/>
          <p:nvPr/>
        </p:nvCxnSpPr>
        <p:spPr>
          <a:xfrm flipV="1">
            <a:off x="5135229" y="5968957"/>
            <a:ext cx="504497" cy="105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Elipse 34"/>
          <p:cNvSpPr/>
          <p:nvPr/>
        </p:nvSpPr>
        <p:spPr>
          <a:xfrm>
            <a:off x="4105207" y="3797333"/>
            <a:ext cx="1103586" cy="851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6" name="CuadroTexto 35"/>
          <p:cNvSpPr txBox="1"/>
          <p:nvPr/>
        </p:nvSpPr>
        <p:spPr>
          <a:xfrm>
            <a:off x="4136741" y="3961392"/>
            <a:ext cx="1171898" cy="523220"/>
          </a:xfrm>
          <a:prstGeom prst="rect">
            <a:avLst/>
          </a:prstGeom>
          <a:noFill/>
        </p:spPr>
        <p:txBody>
          <a:bodyPr wrap="square" rtlCol="0">
            <a:spAutoFit/>
          </a:bodyPr>
          <a:lstStyle/>
          <a:p>
            <a:r>
              <a:rPr lang="es-MX" sz="1400" dirty="0">
                <a:solidFill>
                  <a:schemeClr val="bg1"/>
                </a:solidFill>
              </a:rPr>
              <a:t>Registro Asignaturas</a:t>
            </a:r>
          </a:p>
        </p:txBody>
      </p:sp>
      <p:sp>
        <p:nvSpPr>
          <p:cNvPr id="37" name="Rectángulo redondeado 36"/>
          <p:cNvSpPr/>
          <p:nvPr/>
        </p:nvSpPr>
        <p:spPr>
          <a:xfrm>
            <a:off x="1079740" y="3777024"/>
            <a:ext cx="777766" cy="552942"/>
          </a:xfrm>
          <a:prstGeom prst="round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err="1"/>
              <a:t>DAc</a:t>
            </a:r>
            <a:endParaRPr lang="es-MX" dirty="0"/>
          </a:p>
        </p:txBody>
      </p:sp>
      <p:cxnSp>
        <p:nvCxnSpPr>
          <p:cNvPr id="38" name="Conector recto de flecha 37"/>
          <p:cNvCxnSpPr>
            <a:stCxn id="37" idx="3"/>
            <a:endCxn id="35" idx="2"/>
          </p:cNvCxnSpPr>
          <p:nvPr/>
        </p:nvCxnSpPr>
        <p:spPr>
          <a:xfrm>
            <a:off x="1857506" y="4053495"/>
            <a:ext cx="2247701" cy="1695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Rectángulo 38"/>
          <p:cNvSpPr/>
          <p:nvPr/>
        </p:nvSpPr>
        <p:spPr>
          <a:xfrm>
            <a:off x="5534609" y="4177836"/>
            <a:ext cx="1224587" cy="32678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s-MX" sz="1400" dirty="0">
                <a:ln w="0"/>
                <a:solidFill>
                  <a:schemeClr val="bg1"/>
                </a:solidFill>
                <a:effectLst>
                  <a:outerShdw blurRad="38100" dist="19050" dir="2700000" algn="tl" rotWithShape="0">
                    <a:schemeClr val="dk1">
                      <a:alpha val="40000"/>
                    </a:schemeClr>
                  </a:outerShdw>
                </a:effectLst>
              </a:rPr>
              <a:t>Asignaturas</a:t>
            </a:r>
          </a:p>
        </p:txBody>
      </p:sp>
      <p:cxnSp>
        <p:nvCxnSpPr>
          <p:cNvPr id="40" name="Conector recto de flecha 39"/>
          <p:cNvCxnSpPr>
            <a:endCxn id="39" idx="1"/>
          </p:cNvCxnSpPr>
          <p:nvPr/>
        </p:nvCxnSpPr>
        <p:spPr>
          <a:xfrm>
            <a:off x="5203541" y="4177836"/>
            <a:ext cx="331068" cy="1633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Elipse 43"/>
          <p:cNvSpPr/>
          <p:nvPr/>
        </p:nvSpPr>
        <p:spPr>
          <a:xfrm>
            <a:off x="5960279" y="4706474"/>
            <a:ext cx="1103586" cy="851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5" name="CuadroTexto 44"/>
          <p:cNvSpPr txBox="1"/>
          <p:nvPr/>
        </p:nvSpPr>
        <p:spPr>
          <a:xfrm>
            <a:off x="5991813" y="4870533"/>
            <a:ext cx="1171898" cy="523220"/>
          </a:xfrm>
          <a:prstGeom prst="rect">
            <a:avLst/>
          </a:prstGeom>
          <a:noFill/>
        </p:spPr>
        <p:txBody>
          <a:bodyPr wrap="square" rtlCol="0">
            <a:spAutoFit/>
          </a:bodyPr>
          <a:lstStyle/>
          <a:p>
            <a:r>
              <a:rPr lang="es-MX" sz="1400" dirty="0">
                <a:solidFill>
                  <a:schemeClr val="bg1"/>
                </a:solidFill>
              </a:rPr>
              <a:t>Registro Grupos</a:t>
            </a:r>
          </a:p>
        </p:txBody>
      </p:sp>
      <p:sp>
        <p:nvSpPr>
          <p:cNvPr id="48" name="Rectángulo 47"/>
          <p:cNvSpPr/>
          <p:nvPr/>
        </p:nvSpPr>
        <p:spPr>
          <a:xfrm>
            <a:off x="7568353" y="5034427"/>
            <a:ext cx="1224587" cy="32678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s-MX" sz="1400" dirty="0">
                <a:ln w="0"/>
                <a:solidFill>
                  <a:schemeClr val="bg1"/>
                </a:solidFill>
                <a:effectLst>
                  <a:outerShdw blurRad="38100" dist="19050" dir="2700000" algn="tl" rotWithShape="0">
                    <a:schemeClr val="dk1">
                      <a:alpha val="40000"/>
                    </a:schemeClr>
                  </a:outerShdw>
                </a:effectLst>
              </a:rPr>
              <a:t>Grupos</a:t>
            </a:r>
          </a:p>
        </p:txBody>
      </p:sp>
      <p:cxnSp>
        <p:nvCxnSpPr>
          <p:cNvPr id="49" name="Conector recto de flecha 48"/>
          <p:cNvCxnSpPr>
            <a:endCxn id="48" idx="1"/>
          </p:cNvCxnSpPr>
          <p:nvPr/>
        </p:nvCxnSpPr>
        <p:spPr>
          <a:xfrm>
            <a:off x="6454266" y="5197819"/>
            <a:ext cx="111408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Conector angular 50"/>
          <p:cNvCxnSpPr>
            <a:stCxn id="37" idx="2"/>
          </p:cNvCxnSpPr>
          <p:nvPr/>
        </p:nvCxnSpPr>
        <p:spPr>
          <a:xfrm rot="16200000" flipH="1">
            <a:off x="3348367" y="2450221"/>
            <a:ext cx="732168" cy="449165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Conector recto de flecha 59"/>
          <p:cNvCxnSpPr/>
          <p:nvPr/>
        </p:nvCxnSpPr>
        <p:spPr>
          <a:xfrm>
            <a:off x="6149470" y="4527616"/>
            <a:ext cx="331068" cy="1633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Conector recto de flecha 60"/>
          <p:cNvCxnSpPr/>
          <p:nvPr/>
        </p:nvCxnSpPr>
        <p:spPr>
          <a:xfrm flipV="1">
            <a:off x="6162413" y="5573277"/>
            <a:ext cx="349659" cy="2100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Elipse 68"/>
          <p:cNvSpPr/>
          <p:nvPr/>
        </p:nvSpPr>
        <p:spPr>
          <a:xfrm>
            <a:off x="2412393" y="2905495"/>
            <a:ext cx="1103586" cy="851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0" name="CuadroTexto 69"/>
          <p:cNvSpPr txBox="1"/>
          <p:nvPr/>
        </p:nvSpPr>
        <p:spPr>
          <a:xfrm>
            <a:off x="2557307" y="3072314"/>
            <a:ext cx="905984" cy="523220"/>
          </a:xfrm>
          <a:prstGeom prst="rect">
            <a:avLst/>
          </a:prstGeom>
          <a:noFill/>
        </p:spPr>
        <p:txBody>
          <a:bodyPr wrap="square" rtlCol="0">
            <a:spAutoFit/>
          </a:bodyPr>
          <a:lstStyle/>
          <a:p>
            <a:r>
              <a:rPr lang="es-MX" sz="1400" dirty="0">
                <a:solidFill>
                  <a:schemeClr val="bg1"/>
                </a:solidFill>
              </a:rPr>
              <a:t>Registro Carreras</a:t>
            </a:r>
          </a:p>
        </p:txBody>
      </p:sp>
      <p:sp>
        <p:nvSpPr>
          <p:cNvPr id="71" name="Rectángulo 70"/>
          <p:cNvSpPr/>
          <p:nvPr/>
        </p:nvSpPr>
        <p:spPr>
          <a:xfrm>
            <a:off x="4020476" y="3159866"/>
            <a:ext cx="1224587" cy="32678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s-MX" sz="1400" dirty="0">
                <a:ln w="0"/>
                <a:solidFill>
                  <a:schemeClr val="bg1"/>
                </a:solidFill>
                <a:effectLst>
                  <a:outerShdw blurRad="38100" dist="19050" dir="2700000" algn="tl" rotWithShape="0">
                    <a:schemeClr val="dk1">
                      <a:alpha val="40000"/>
                    </a:schemeClr>
                  </a:outerShdw>
                </a:effectLst>
              </a:rPr>
              <a:t>Carreras</a:t>
            </a:r>
          </a:p>
        </p:txBody>
      </p:sp>
      <p:cxnSp>
        <p:nvCxnSpPr>
          <p:cNvPr id="72" name="Conector recto de flecha 71"/>
          <p:cNvCxnSpPr/>
          <p:nvPr/>
        </p:nvCxnSpPr>
        <p:spPr>
          <a:xfrm flipV="1">
            <a:off x="3515979" y="3355297"/>
            <a:ext cx="504497" cy="105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Conector recto de flecha 72"/>
          <p:cNvCxnSpPr>
            <a:endCxn id="4" idx="4"/>
          </p:cNvCxnSpPr>
          <p:nvPr/>
        </p:nvCxnSpPr>
        <p:spPr>
          <a:xfrm flipH="1" flipV="1">
            <a:off x="4487126" y="2761397"/>
            <a:ext cx="56037" cy="3854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Conector recto de flecha 76"/>
          <p:cNvCxnSpPr/>
          <p:nvPr/>
        </p:nvCxnSpPr>
        <p:spPr>
          <a:xfrm flipV="1">
            <a:off x="1757660" y="3522703"/>
            <a:ext cx="779800" cy="270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Conector recto de flecha 80"/>
          <p:cNvCxnSpPr>
            <a:endCxn id="35" idx="0"/>
          </p:cNvCxnSpPr>
          <p:nvPr/>
        </p:nvCxnSpPr>
        <p:spPr>
          <a:xfrm>
            <a:off x="4571349" y="3483917"/>
            <a:ext cx="85651" cy="313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3" name="Rectángulo redondeado 82"/>
          <p:cNvSpPr/>
          <p:nvPr/>
        </p:nvSpPr>
        <p:spPr>
          <a:xfrm>
            <a:off x="10720616" y="1870700"/>
            <a:ext cx="915124" cy="552942"/>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ALUM</a:t>
            </a:r>
          </a:p>
        </p:txBody>
      </p:sp>
      <p:sp>
        <p:nvSpPr>
          <p:cNvPr id="88" name="Elipse 87"/>
          <p:cNvSpPr/>
          <p:nvPr/>
        </p:nvSpPr>
        <p:spPr>
          <a:xfrm>
            <a:off x="8790333" y="2185405"/>
            <a:ext cx="1103586" cy="851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9" name="CuadroTexto 88"/>
          <p:cNvSpPr txBox="1"/>
          <p:nvPr/>
        </p:nvSpPr>
        <p:spPr>
          <a:xfrm>
            <a:off x="8752366" y="2340794"/>
            <a:ext cx="1260314" cy="523220"/>
          </a:xfrm>
          <a:prstGeom prst="rect">
            <a:avLst/>
          </a:prstGeom>
          <a:noFill/>
        </p:spPr>
        <p:txBody>
          <a:bodyPr wrap="square" rtlCol="0">
            <a:spAutoFit/>
          </a:bodyPr>
          <a:lstStyle/>
          <a:p>
            <a:r>
              <a:rPr lang="es-MX" sz="1400" dirty="0">
                <a:solidFill>
                  <a:schemeClr val="bg1"/>
                </a:solidFill>
              </a:rPr>
              <a:t>Registro Inscripciones</a:t>
            </a:r>
          </a:p>
        </p:txBody>
      </p:sp>
      <p:cxnSp>
        <p:nvCxnSpPr>
          <p:cNvPr id="90" name="Conector recto de flecha 89"/>
          <p:cNvCxnSpPr>
            <a:stCxn id="83" idx="1"/>
          </p:cNvCxnSpPr>
          <p:nvPr/>
        </p:nvCxnSpPr>
        <p:spPr>
          <a:xfrm flipH="1">
            <a:off x="9893919" y="2147171"/>
            <a:ext cx="826697" cy="4501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Conector recto de flecha 94"/>
          <p:cNvCxnSpPr>
            <a:endCxn id="89" idx="1"/>
          </p:cNvCxnSpPr>
          <p:nvPr/>
        </p:nvCxnSpPr>
        <p:spPr>
          <a:xfrm>
            <a:off x="7320842" y="2479111"/>
            <a:ext cx="1431524" cy="1232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8" name="Rectángulo 97"/>
          <p:cNvSpPr/>
          <p:nvPr/>
        </p:nvSpPr>
        <p:spPr>
          <a:xfrm>
            <a:off x="9067795" y="3952387"/>
            <a:ext cx="1339428" cy="32678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s-MX" sz="1400" dirty="0">
                <a:ln w="0"/>
                <a:solidFill>
                  <a:schemeClr val="bg1"/>
                </a:solidFill>
                <a:effectLst>
                  <a:outerShdw blurRad="38100" dist="19050" dir="2700000" algn="tl" rotWithShape="0">
                    <a:schemeClr val="dk1">
                      <a:alpha val="40000"/>
                    </a:schemeClr>
                  </a:outerShdw>
                </a:effectLst>
              </a:rPr>
              <a:t>Calificaciones</a:t>
            </a:r>
          </a:p>
        </p:txBody>
      </p:sp>
      <p:cxnSp>
        <p:nvCxnSpPr>
          <p:cNvPr id="99" name="Conector recto de flecha 98"/>
          <p:cNvCxnSpPr/>
          <p:nvPr/>
        </p:nvCxnSpPr>
        <p:spPr>
          <a:xfrm flipV="1">
            <a:off x="8029903" y="3072314"/>
            <a:ext cx="1159817" cy="19898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Conector recto de flecha 100"/>
          <p:cNvCxnSpPr/>
          <p:nvPr/>
        </p:nvCxnSpPr>
        <p:spPr>
          <a:xfrm>
            <a:off x="9490841" y="3072314"/>
            <a:ext cx="116282" cy="8800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474174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6156251" y="1881963"/>
            <a:ext cx="3902149" cy="2105246"/>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Rectángulo 5"/>
          <p:cNvSpPr/>
          <p:nvPr/>
        </p:nvSpPr>
        <p:spPr>
          <a:xfrm>
            <a:off x="1682750" y="4582633"/>
            <a:ext cx="4146550" cy="1403497"/>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 name="Rectángulo 2"/>
          <p:cNvSpPr/>
          <p:nvPr/>
        </p:nvSpPr>
        <p:spPr>
          <a:xfrm>
            <a:off x="1669312" y="2169042"/>
            <a:ext cx="4125432" cy="2190307"/>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Título 1"/>
          <p:cNvSpPr>
            <a:spLocks noGrp="1"/>
          </p:cNvSpPr>
          <p:nvPr>
            <p:ph type="title"/>
          </p:nvPr>
        </p:nvSpPr>
        <p:spPr/>
        <p:txBody>
          <a:bodyPr/>
          <a:lstStyle/>
          <a:p>
            <a:r>
              <a:rPr lang="en-US" b="1" dirty="0" err="1">
                <a:solidFill>
                  <a:schemeClr val="accent1">
                    <a:lumMod val="50000"/>
                  </a:schemeClr>
                </a:solidFill>
                <a:latin typeface="Arial" charset="0"/>
              </a:rPr>
              <a:t>Esquema</a:t>
            </a:r>
            <a:r>
              <a:rPr lang="en-US" b="1" dirty="0">
                <a:solidFill>
                  <a:schemeClr val="accent1">
                    <a:lumMod val="50000"/>
                  </a:schemeClr>
                </a:solidFill>
                <a:latin typeface="Arial" charset="0"/>
              </a:rPr>
              <a:t> de la BD Escolar</a:t>
            </a:r>
            <a:br>
              <a:rPr lang="en-US" b="1" dirty="0">
                <a:solidFill>
                  <a:schemeClr val="accent1">
                    <a:lumMod val="50000"/>
                  </a:schemeClr>
                </a:solidFill>
                <a:latin typeface="Arial" charset="0"/>
              </a:rPr>
            </a:br>
            <a:r>
              <a:rPr lang="en-US" b="1" dirty="0">
                <a:solidFill>
                  <a:schemeClr val="accent1">
                    <a:lumMod val="50000"/>
                  </a:schemeClr>
                </a:solidFill>
                <a:latin typeface="Arial" charset="0"/>
              </a:rPr>
              <a:t>SQL – Data Definition Language</a:t>
            </a:r>
            <a:endParaRPr lang="es-MX" b="1" dirty="0">
              <a:solidFill>
                <a:schemeClr val="accent1">
                  <a:lumMod val="50000"/>
                </a:schemeClr>
              </a:solidFill>
              <a:latin typeface="Arial" charset="0"/>
            </a:endParaRPr>
          </a:p>
        </p:txBody>
      </p:sp>
      <p:sp>
        <p:nvSpPr>
          <p:cNvPr id="4" name="3 CuadroTexto"/>
          <p:cNvSpPr txBox="1">
            <a:spLocks noChangeArrowheads="1"/>
          </p:cNvSpPr>
          <p:nvPr/>
        </p:nvSpPr>
        <p:spPr bwMode="auto">
          <a:xfrm>
            <a:off x="1682750" y="1798638"/>
            <a:ext cx="4146550" cy="4370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9pPr>
          </a:lstStyle>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Create</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database</a:t>
            </a:r>
            <a:r>
              <a:rPr lang="es-MX" altLang="es-MX" sz="2000" dirty="0">
                <a:latin typeface="Arial" panose="020B0604020202020204" pitchFamily="34" charset="0"/>
                <a:cs typeface="Arial" panose="020B0604020202020204" pitchFamily="34" charset="0"/>
              </a:rPr>
              <a:t> escolar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Create</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Table</a:t>
            </a:r>
            <a:r>
              <a:rPr lang="es-MX" altLang="es-MX" sz="2000" dirty="0">
                <a:latin typeface="Arial" panose="020B0604020202020204" pitchFamily="34" charset="0"/>
                <a:cs typeface="Arial" panose="020B0604020202020204" pitchFamily="34" charset="0"/>
              </a:rPr>
              <a:t> Alumno (</a:t>
            </a:r>
          </a:p>
          <a:p>
            <a:pPr eaLnBrk="1" hangingPunct="1">
              <a:spcBef>
                <a:spcPct val="0"/>
              </a:spcBef>
              <a:buClrTx/>
              <a:buSzTx/>
              <a:buFontTx/>
              <a:buNone/>
            </a:pPr>
            <a:r>
              <a:rPr lang="es-MX" altLang="es-MX" sz="2000" dirty="0">
                <a:latin typeface="Arial" panose="020B0604020202020204" pitchFamily="34" charset="0"/>
                <a:cs typeface="Arial" panose="020B0604020202020204" pitchFamily="34" charset="0"/>
              </a:rPr>
              <a:t>Matricula  </a:t>
            </a:r>
            <a:r>
              <a:rPr lang="es-MX" altLang="es-MX" sz="2000" dirty="0" err="1">
                <a:latin typeface="Arial" panose="020B0604020202020204" pitchFamily="34" charset="0"/>
                <a:cs typeface="Arial" panose="020B0604020202020204" pitchFamily="34" charset="0"/>
              </a:rPr>
              <a:t>char</a:t>
            </a:r>
            <a:r>
              <a:rPr lang="es-MX" altLang="es-MX" sz="2000" dirty="0">
                <a:latin typeface="Arial" panose="020B0604020202020204" pitchFamily="34" charset="0"/>
                <a:cs typeface="Arial" panose="020B0604020202020204" pitchFamily="34" charset="0"/>
              </a:rPr>
              <a:t>(8) PRIMARY KEY,</a:t>
            </a:r>
          </a:p>
          <a:p>
            <a:pPr eaLnBrk="1" hangingPunct="1">
              <a:spcBef>
                <a:spcPct val="0"/>
              </a:spcBef>
              <a:buClrTx/>
              <a:buSzTx/>
              <a:buFontTx/>
              <a:buNone/>
            </a:pPr>
            <a:r>
              <a:rPr lang="es-MX" altLang="es-MX" sz="2000" dirty="0">
                <a:latin typeface="Arial" panose="020B0604020202020204" pitchFamily="34" charset="0"/>
                <a:cs typeface="Arial" panose="020B0604020202020204" pitchFamily="34" charset="0"/>
              </a:rPr>
              <a:t>Nombre    </a:t>
            </a:r>
            <a:r>
              <a:rPr lang="es-MX" altLang="es-MX" sz="2000" dirty="0" err="1">
                <a:latin typeface="Arial" panose="020B0604020202020204" pitchFamily="34" charset="0"/>
                <a:cs typeface="Arial" panose="020B0604020202020204" pitchFamily="34" charset="0"/>
              </a:rPr>
              <a:t>varchar</a:t>
            </a:r>
            <a:r>
              <a:rPr lang="es-MX" altLang="es-MX" sz="2000" dirty="0">
                <a:latin typeface="Arial" panose="020B0604020202020204" pitchFamily="34" charset="0"/>
                <a:cs typeface="Arial" panose="020B0604020202020204" pitchFamily="34" charset="0"/>
              </a:rPr>
              <a:t>(60),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Direccion</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varchar</a:t>
            </a:r>
            <a:r>
              <a:rPr lang="es-MX" altLang="es-MX" sz="2000" dirty="0">
                <a:latin typeface="Arial" panose="020B0604020202020204" pitchFamily="34" charset="0"/>
                <a:cs typeface="Arial" panose="020B0604020202020204" pitchFamily="34" charset="0"/>
              </a:rPr>
              <a:t>(60),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Telefono</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char</a:t>
            </a:r>
            <a:r>
              <a:rPr lang="es-MX" altLang="es-MX" sz="2000" dirty="0">
                <a:latin typeface="Arial" panose="020B0604020202020204" pitchFamily="34" charset="0"/>
                <a:cs typeface="Arial" panose="020B0604020202020204" pitchFamily="34" charset="0"/>
              </a:rPr>
              <a:t>(12),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ClvCar</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char</a:t>
            </a:r>
            <a:r>
              <a:rPr lang="es-MX" altLang="es-MX" sz="2000" dirty="0">
                <a:latin typeface="Arial" panose="020B0604020202020204" pitchFamily="34" charset="0"/>
                <a:cs typeface="Arial" panose="020B0604020202020204" pitchFamily="34" charset="0"/>
              </a:rPr>
              <a:t>(3) </a:t>
            </a:r>
            <a:r>
              <a:rPr lang="es-MX" altLang="es-MX" sz="2000" dirty="0" err="1">
                <a:latin typeface="Arial" panose="020B0604020202020204" pitchFamily="34" charset="0"/>
                <a:cs typeface="Arial" panose="020B0604020202020204" pitchFamily="34" charset="0"/>
              </a:rPr>
              <a:t>references</a:t>
            </a:r>
            <a:r>
              <a:rPr lang="es-MX" altLang="es-MX" sz="2000" dirty="0">
                <a:latin typeface="Arial" panose="020B0604020202020204" pitchFamily="34" charset="0"/>
                <a:cs typeface="Arial" panose="020B0604020202020204" pitchFamily="34" charset="0"/>
              </a:rPr>
              <a:t> carreras (</a:t>
            </a:r>
            <a:r>
              <a:rPr lang="es-MX" altLang="es-MX" sz="2000" dirty="0" err="1">
                <a:latin typeface="Arial" panose="020B0604020202020204" pitchFamily="34" charset="0"/>
                <a:cs typeface="Arial" panose="020B0604020202020204" pitchFamily="34" charset="0"/>
              </a:rPr>
              <a:t>clvcar</a:t>
            </a:r>
            <a:r>
              <a:rPr lang="es-MX" altLang="es-MX" sz="2000" dirty="0">
                <a:latin typeface="Arial" panose="020B0604020202020204" pitchFamily="34" charset="0"/>
                <a:cs typeface="Arial" panose="020B0604020202020204" pitchFamily="34" charset="0"/>
              </a:rPr>
              <a:t>))</a:t>
            </a:r>
          </a:p>
          <a:p>
            <a:pPr eaLnBrk="1" hangingPunct="1">
              <a:spcBef>
                <a:spcPct val="0"/>
              </a:spcBef>
              <a:buClrTx/>
              <a:buSzTx/>
              <a:buFontTx/>
              <a:buNone/>
            </a:pPr>
            <a:endParaRPr lang="es-MX" altLang="es-MX" sz="2000" dirty="0">
              <a:latin typeface="Arial" panose="020B0604020202020204" pitchFamily="34" charset="0"/>
              <a:cs typeface="Arial" panose="020B0604020202020204" pitchFamily="34" charset="0"/>
            </a:endParaRP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Create</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Table</a:t>
            </a:r>
            <a:r>
              <a:rPr lang="es-MX" altLang="es-MX" sz="2000" dirty="0">
                <a:latin typeface="Arial" panose="020B0604020202020204" pitchFamily="34" charset="0"/>
                <a:cs typeface="Arial" panose="020B0604020202020204" pitchFamily="34" charset="0"/>
              </a:rPr>
              <a:t> Carreras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ClvCar</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char</a:t>
            </a:r>
            <a:r>
              <a:rPr lang="es-MX" altLang="es-MX" sz="2000" dirty="0">
                <a:latin typeface="Arial" panose="020B0604020202020204" pitchFamily="34" charset="0"/>
                <a:cs typeface="Arial" panose="020B0604020202020204" pitchFamily="34" charset="0"/>
              </a:rPr>
              <a:t>(3) </a:t>
            </a:r>
            <a:r>
              <a:rPr lang="es-MX" altLang="es-MX" sz="2000" dirty="0" err="1">
                <a:latin typeface="Arial" panose="020B0604020202020204" pitchFamily="34" charset="0"/>
                <a:cs typeface="Arial" panose="020B0604020202020204" pitchFamily="34" charset="0"/>
              </a:rPr>
              <a:t>Primary</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key</a:t>
            </a:r>
            <a:r>
              <a:rPr lang="es-MX" altLang="es-MX" sz="2000" dirty="0">
                <a:latin typeface="Arial" panose="020B0604020202020204" pitchFamily="34" charset="0"/>
                <a:cs typeface="Arial" panose="020B0604020202020204" pitchFamily="34" charset="0"/>
              </a:rPr>
              <a:t>,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NomCarrera</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varchar</a:t>
            </a:r>
            <a:r>
              <a:rPr lang="es-MX" altLang="es-MX" sz="2000" dirty="0">
                <a:latin typeface="Arial" panose="020B0604020202020204" pitchFamily="34" charset="0"/>
                <a:cs typeface="Arial" panose="020B0604020202020204" pitchFamily="34" charset="0"/>
              </a:rPr>
              <a:t>(40),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Tcreditos</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integer</a:t>
            </a:r>
            <a:r>
              <a:rPr lang="es-MX" altLang="es-MX" sz="2000" dirty="0">
                <a:latin typeface="Arial" panose="020B0604020202020204" pitchFamily="34" charset="0"/>
                <a:cs typeface="Arial" panose="020B0604020202020204" pitchFamily="34" charset="0"/>
              </a:rPr>
              <a:t>)</a:t>
            </a:r>
          </a:p>
          <a:p>
            <a:pPr eaLnBrk="1" hangingPunct="1">
              <a:spcBef>
                <a:spcPct val="0"/>
              </a:spcBef>
              <a:buClrTx/>
              <a:buSzTx/>
              <a:buFontTx/>
              <a:buNone/>
            </a:pPr>
            <a:endParaRPr lang="es-MX" altLang="es-MX" sz="1800" dirty="0">
              <a:latin typeface="Arial" panose="020B0604020202020204" pitchFamily="34" charset="0"/>
              <a:cs typeface="Arial" panose="020B0604020202020204" pitchFamily="34" charset="0"/>
            </a:endParaRPr>
          </a:p>
        </p:txBody>
      </p:sp>
      <p:sp>
        <p:nvSpPr>
          <p:cNvPr id="5" name="6 CuadroTexto"/>
          <p:cNvSpPr txBox="1">
            <a:spLocks noChangeArrowheads="1"/>
          </p:cNvSpPr>
          <p:nvPr/>
        </p:nvSpPr>
        <p:spPr bwMode="auto">
          <a:xfrm>
            <a:off x="6145213" y="1798638"/>
            <a:ext cx="3959225"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9pPr>
          </a:lstStyle>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Create</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Table</a:t>
            </a:r>
            <a:r>
              <a:rPr lang="es-MX" altLang="es-MX" sz="2000" dirty="0">
                <a:latin typeface="Arial" panose="020B0604020202020204" pitchFamily="34" charset="0"/>
                <a:cs typeface="Arial" panose="020B0604020202020204" pitchFamily="34" charset="0"/>
              </a:rPr>
              <a:t> Materias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ClvMat</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char</a:t>
            </a:r>
            <a:r>
              <a:rPr lang="es-MX" altLang="es-MX" sz="2000" dirty="0">
                <a:latin typeface="Arial" panose="020B0604020202020204" pitchFamily="34" charset="0"/>
                <a:cs typeface="Arial" panose="020B0604020202020204" pitchFamily="34" charset="0"/>
              </a:rPr>
              <a:t>(6) </a:t>
            </a:r>
            <a:r>
              <a:rPr lang="es-MX" altLang="es-MX" sz="2000" dirty="0" err="1">
                <a:latin typeface="Arial" panose="020B0604020202020204" pitchFamily="34" charset="0"/>
                <a:cs typeface="Arial" panose="020B0604020202020204" pitchFamily="34" charset="0"/>
              </a:rPr>
              <a:t>Primary</a:t>
            </a:r>
            <a:r>
              <a:rPr lang="es-MX" altLang="es-MX" sz="2000" dirty="0">
                <a:latin typeface="Arial" panose="020B0604020202020204" pitchFamily="34" charset="0"/>
                <a:cs typeface="Arial" panose="020B0604020202020204" pitchFamily="34" charset="0"/>
              </a:rPr>
              <a:t> Key, </a:t>
            </a:r>
            <a:r>
              <a:rPr lang="es-MX" altLang="es-MX" sz="2000" dirty="0" err="1">
                <a:latin typeface="Arial" panose="020B0604020202020204" pitchFamily="34" charset="0"/>
                <a:cs typeface="Arial" panose="020B0604020202020204" pitchFamily="34" charset="0"/>
              </a:rPr>
              <a:t>NomMat</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varchar</a:t>
            </a:r>
            <a:r>
              <a:rPr lang="es-MX" altLang="es-MX" sz="2000" dirty="0">
                <a:latin typeface="Arial" panose="020B0604020202020204" pitchFamily="34" charset="0"/>
                <a:cs typeface="Arial" panose="020B0604020202020204" pitchFamily="34" charset="0"/>
              </a:rPr>
              <a:t>(40),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ClvCar</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char</a:t>
            </a:r>
            <a:r>
              <a:rPr lang="es-MX" altLang="es-MX" sz="2000" dirty="0">
                <a:latin typeface="Arial" panose="020B0604020202020204" pitchFamily="34" charset="0"/>
                <a:cs typeface="Arial" panose="020B0604020202020204" pitchFamily="34" charset="0"/>
              </a:rPr>
              <a:t>(3) </a:t>
            </a:r>
            <a:r>
              <a:rPr lang="es-MX" altLang="es-MX" sz="2000" dirty="0" err="1">
                <a:latin typeface="Arial" panose="020B0604020202020204" pitchFamily="34" charset="0"/>
                <a:cs typeface="Arial" panose="020B0604020202020204" pitchFamily="34" charset="0"/>
              </a:rPr>
              <a:t>references</a:t>
            </a:r>
            <a:r>
              <a:rPr lang="es-MX" altLang="es-MX" sz="2000" dirty="0">
                <a:latin typeface="Arial" panose="020B0604020202020204" pitchFamily="34" charset="0"/>
                <a:cs typeface="Arial" panose="020B0604020202020204" pitchFamily="34" charset="0"/>
              </a:rPr>
              <a:t> carrera (</a:t>
            </a:r>
            <a:r>
              <a:rPr lang="es-MX" altLang="es-MX" sz="2000" dirty="0" err="1">
                <a:latin typeface="Arial" panose="020B0604020202020204" pitchFamily="34" charset="0"/>
                <a:cs typeface="Arial" panose="020B0604020202020204" pitchFamily="34" charset="0"/>
              </a:rPr>
              <a:t>clvcar</a:t>
            </a:r>
            <a:r>
              <a:rPr lang="es-MX" altLang="es-MX" sz="2000" dirty="0">
                <a:latin typeface="Arial" panose="020B0604020202020204" pitchFamily="34" charset="0"/>
                <a:cs typeface="Arial" panose="020B0604020202020204" pitchFamily="34" charset="0"/>
              </a:rPr>
              <a:t>),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Ncreditos</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integer</a:t>
            </a:r>
            <a:r>
              <a:rPr lang="es-MX" altLang="es-MX" sz="2000" dirty="0">
                <a:latin typeface="Arial" panose="020B0604020202020204" pitchFamily="34" charset="0"/>
                <a:cs typeface="Arial" panose="020B0604020202020204" pitchFamily="34" charset="0"/>
              </a:rPr>
              <a:t>)</a:t>
            </a:r>
          </a:p>
          <a:p>
            <a:pPr eaLnBrk="1" hangingPunct="1">
              <a:spcBef>
                <a:spcPct val="0"/>
              </a:spcBef>
              <a:buClrTx/>
              <a:buSzTx/>
              <a:buFontTx/>
              <a:buNone/>
            </a:pPr>
            <a:endParaRPr lang="es-MX" altLang="es-MX" sz="2000" dirty="0">
              <a:latin typeface="Arial" panose="020B0604020202020204" pitchFamily="34" charset="0"/>
              <a:cs typeface="Arial" panose="020B0604020202020204" pitchFamily="34" charset="0"/>
            </a:endParaRPr>
          </a:p>
          <a:p>
            <a:pPr eaLnBrk="1" hangingPunct="1">
              <a:spcBef>
                <a:spcPct val="0"/>
              </a:spcBef>
              <a:buClrTx/>
              <a:buSzTx/>
              <a:buFontTx/>
              <a:buNone/>
            </a:pPr>
            <a:endParaRPr lang="es-MX" altLang="es-MX" sz="2000" dirty="0">
              <a:latin typeface="Arial" panose="020B0604020202020204" pitchFamily="34" charset="0"/>
              <a:cs typeface="Arial" panose="020B0604020202020204" pitchFamily="34" charset="0"/>
            </a:endParaRP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Create</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Table</a:t>
            </a:r>
            <a:r>
              <a:rPr lang="es-MX" altLang="es-MX" sz="2000" dirty="0">
                <a:latin typeface="Arial" panose="020B0604020202020204" pitchFamily="34" charset="0"/>
                <a:cs typeface="Arial" panose="020B0604020202020204" pitchFamily="34" charset="0"/>
              </a:rPr>
              <a:t> Profesores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ClVProf</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char</a:t>
            </a:r>
            <a:r>
              <a:rPr lang="es-MX" altLang="es-MX" sz="2000" dirty="0">
                <a:latin typeface="Arial" panose="020B0604020202020204" pitchFamily="34" charset="0"/>
                <a:cs typeface="Arial" panose="020B0604020202020204" pitchFamily="34" charset="0"/>
              </a:rPr>
              <a:t>(4) </a:t>
            </a:r>
            <a:r>
              <a:rPr lang="es-MX" altLang="es-MX" sz="2000" dirty="0" err="1">
                <a:latin typeface="Arial" panose="020B0604020202020204" pitchFamily="34" charset="0"/>
                <a:cs typeface="Arial" panose="020B0604020202020204" pitchFamily="34" charset="0"/>
              </a:rPr>
              <a:t>Primary</a:t>
            </a:r>
            <a:r>
              <a:rPr lang="es-MX" altLang="es-MX" sz="2000" dirty="0">
                <a:latin typeface="Arial" panose="020B0604020202020204" pitchFamily="34" charset="0"/>
                <a:cs typeface="Arial" panose="020B0604020202020204" pitchFamily="34" charset="0"/>
              </a:rPr>
              <a:t> Key, </a:t>
            </a:r>
            <a:r>
              <a:rPr lang="es-MX" altLang="es-MX" sz="2000" dirty="0" err="1">
                <a:latin typeface="Arial" panose="020B0604020202020204" pitchFamily="34" charset="0"/>
                <a:cs typeface="Arial" panose="020B0604020202020204" pitchFamily="34" charset="0"/>
              </a:rPr>
              <a:t>NomProf</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varchar</a:t>
            </a:r>
            <a:r>
              <a:rPr lang="es-MX" altLang="es-MX" sz="2000" dirty="0">
                <a:latin typeface="Arial" panose="020B0604020202020204" pitchFamily="34" charset="0"/>
                <a:cs typeface="Arial" panose="020B0604020202020204" pitchFamily="34" charset="0"/>
              </a:rPr>
              <a:t>(50), </a:t>
            </a:r>
          </a:p>
          <a:p>
            <a:pPr eaLnBrk="1" hangingPunct="1">
              <a:spcBef>
                <a:spcPct val="0"/>
              </a:spcBef>
              <a:buClrTx/>
              <a:buSzTx/>
              <a:buFontTx/>
              <a:buNone/>
            </a:pPr>
            <a:r>
              <a:rPr lang="es-MX" altLang="es-MX" sz="2000" dirty="0">
                <a:latin typeface="Arial" panose="020B0604020202020204" pitchFamily="34" charset="0"/>
                <a:cs typeface="Arial" panose="020B0604020202020204" pitchFamily="34" charset="0"/>
              </a:rPr>
              <a:t>Grado  </a:t>
            </a:r>
            <a:r>
              <a:rPr lang="es-MX" altLang="es-MX" sz="2000" dirty="0" err="1">
                <a:latin typeface="Arial" panose="020B0604020202020204" pitchFamily="34" charset="0"/>
                <a:cs typeface="Arial" panose="020B0604020202020204" pitchFamily="34" charset="0"/>
              </a:rPr>
              <a:t>varchar</a:t>
            </a:r>
            <a:r>
              <a:rPr lang="es-MX" altLang="es-MX" sz="2000" dirty="0">
                <a:latin typeface="Arial" panose="020B0604020202020204" pitchFamily="34" charset="0"/>
                <a:cs typeface="Arial" panose="020B0604020202020204" pitchFamily="34" charset="0"/>
              </a:rPr>
              <a:t>(30),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FechaIng</a:t>
            </a:r>
            <a:r>
              <a:rPr lang="es-MX" altLang="es-MX" sz="2000" dirty="0">
                <a:latin typeface="Arial" panose="020B0604020202020204" pitchFamily="34" charset="0"/>
                <a:cs typeface="Arial" panose="020B0604020202020204" pitchFamily="34" charset="0"/>
              </a:rPr>
              <a:t>  date, </a:t>
            </a:r>
          </a:p>
          <a:p>
            <a:pPr eaLnBrk="1" hangingPunct="1">
              <a:spcBef>
                <a:spcPct val="0"/>
              </a:spcBef>
              <a:buClrTx/>
              <a:buSzTx/>
              <a:buFontTx/>
              <a:buNone/>
            </a:pPr>
            <a:r>
              <a:rPr lang="es-MX" altLang="es-MX" sz="2000" dirty="0" err="1">
                <a:latin typeface="Arial" panose="020B0604020202020204" pitchFamily="34" charset="0"/>
                <a:cs typeface="Arial" panose="020B0604020202020204" pitchFamily="34" charset="0"/>
              </a:rPr>
              <a:t>Ncubiculo</a:t>
            </a:r>
            <a:r>
              <a:rPr lang="es-MX" altLang="es-MX" sz="2000" dirty="0">
                <a:latin typeface="Arial" panose="020B0604020202020204" pitchFamily="34" charset="0"/>
                <a:cs typeface="Arial" panose="020B0604020202020204" pitchFamily="34" charset="0"/>
              </a:rPr>
              <a:t> </a:t>
            </a:r>
            <a:r>
              <a:rPr lang="es-MX" altLang="es-MX" sz="2000" dirty="0" err="1">
                <a:latin typeface="Arial" panose="020B0604020202020204" pitchFamily="34" charset="0"/>
                <a:cs typeface="Arial" panose="020B0604020202020204" pitchFamily="34" charset="0"/>
              </a:rPr>
              <a:t>varchar</a:t>
            </a:r>
            <a:r>
              <a:rPr lang="es-MX" altLang="es-MX" sz="2000" dirty="0">
                <a:latin typeface="Arial" panose="020B0604020202020204" pitchFamily="34" charset="0"/>
                <a:cs typeface="Arial" panose="020B0604020202020204" pitchFamily="34" charset="0"/>
              </a:rPr>
              <a:t>(20))</a:t>
            </a:r>
          </a:p>
        </p:txBody>
      </p:sp>
    </p:spTree>
    <p:extLst>
      <p:ext uri="{BB962C8B-B14F-4D97-AF65-F5344CB8AC3E}">
        <p14:creationId xmlns:p14="http://schemas.microsoft.com/office/powerpoint/2010/main" val="251698657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5762847" y="1914525"/>
            <a:ext cx="5589366" cy="224280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 name="Rectángulo 2"/>
          <p:cNvSpPr/>
          <p:nvPr/>
        </p:nvSpPr>
        <p:spPr>
          <a:xfrm>
            <a:off x="1015105" y="1841500"/>
            <a:ext cx="4141677" cy="4048937"/>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Título 1"/>
          <p:cNvSpPr>
            <a:spLocks noGrp="1"/>
          </p:cNvSpPr>
          <p:nvPr>
            <p:ph type="title"/>
          </p:nvPr>
        </p:nvSpPr>
        <p:spPr>
          <a:xfrm>
            <a:off x="1108709" y="800099"/>
            <a:ext cx="10245091" cy="700737"/>
          </a:xfrm>
        </p:spPr>
        <p:txBody>
          <a:bodyPr/>
          <a:lstStyle/>
          <a:p>
            <a:r>
              <a:rPr lang="en-US" b="1" dirty="0" err="1">
                <a:solidFill>
                  <a:schemeClr val="accent1">
                    <a:lumMod val="50000"/>
                  </a:schemeClr>
                </a:solidFill>
                <a:latin typeface="Arial" charset="0"/>
              </a:rPr>
              <a:t>Ejemplo</a:t>
            </a:r>
            <a:r>
              <a:rPr lang="en-US" b="1" dirty="0">
                <a:solidFill>
                  <a:schemeClr val="accent1">
                    <a:lumMod val="50000"/>
                  </a:schemeClr>
                </a:solidFill>
                <a:latin typeface="Arial" charset="0"/>
              </a:rPr>
              <a:t> BD Escolar</a:t>
            </a:r>
            <a:endParaRPr lang="es-MX" b="1" dirty="0">
              <a:solidFill>
                <a:schemeClr val="accent1">
                  <a:lumMod val="50000"/>
                </a:schemeClr>
              </a:solidFill>
              <a:latin typeface="Arial" charset="0"/>
            </a:endParaRPr>
          </a:p>
        </p:txBody>
      </p:sp>
      <p:sp>
        <p:nvSpPr>
          <p:cNvPr id="4" name="2 CuadroTexto"/>
          <p:cNvSpPr txBox="1">
            <a:spLocks noChangeArrowheads="1"/>
          </p:cNvSpPr>
          <p:nvPr/>
        </p:nvSpPr>
        <p:spPr bwMode="auto">
          <a:xfrm>
            <a:off x="1206499" y="1841500"/>
            <a:ext cx="3652579"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9pPr>
          </a:lstStyle>
          <a:p>
            <a:pPr eaLnBrk="1" hangingPunct="1">
              <a:spcBef>
                <a:spcPct val="0"/>
              </a:spcBef>
              <a:buClrTx/>
              <a:buSzTx/>
              <a:buFontTx/>
              <a:buNone/>
            </a:pPr>
            <a:r>
              <a:rPr lang="es-MX" altLang="es-MX" sz="1800" dirty="0" err="1">
                <a:latin typeface="Arial" panose="020B0604020202020204" pitchFamily="34" charset="0"/>
                <a:cs typeface="Arial" panose="020B0604020202020204" pitchFamily="34" charset="0"/>
              </a:rPr>
              <a:t>Create</a:t>
            </a:r>
            <a:r>
              <a:rPr lang="es-MX" altLang="es-MX" sz="1800" dirty="0">
                <a:latin typeface="Arial" panose="020B0604020202020204" pitchFamily="34" charset="0"/>
                <a:cs typeface="Arial" panose="020B0604020202020204" pitchFamily="34" charset="0"/>
              </a:rPr>
              <a:t> </a:t>
            </a:r>
            <a:r>
              <a:rPr lang="es-MX" altLang="es-MX" sz="1800" dirty="0" err="1">
                <a:latin typeface="Arial" panose="020B0604020202020204" pitchFamily="34" charset="0"/>
                <a:cs typeface="Arial" panose="020B0604020202020204" pitchFamily="34" charset="0"/>
              </a:rPr>
              <a:t>Table</a:t>
            </a:r>
            <a:r>
              <a:rPr lang="es-MX" altLang="es-MX" sz="1800" dirty="0">
                <a:latin typeface="Arial" panose="020B0604020202020204" pitchFamily="34" charset="0"/>
                <a:cs typeface="Arial" panose="020B0604020202020204" pitchFamily="34" charset="0"/>
              </a:rPr>
              <a:t> Grupos (</a:t>
            </a:r>
          </a:p>
          <a:p>
            <a:pPr eaLnBrk="1" hangingPunct="1">
              <a:spcBef>
                <a:spcPct val="0"/>
              </a:spcBef>
              <a:buClrTx/>
              <a:buSzTx/>
              <a:buFontTx/>
              <a:buNone/>
            </a:pPr>
            <a:r>
              <a:rPr lang="es-MX" altLang="es-MX" sz="1800" dirty="0" err="1">
                <a:latin typeface="Arial" panose="020B0604020202020204" pitchFamily="34" charset="0"/>
                <a:cs typeface="Arial" panose="020B0604020202020204" pitchFamily="34" charset="0"/>
              </a:rPr>
              <a:t>ClvProf</a:t>
            </a:r>
            <a:r>
              <a:rPr lang="es-MX" altLang="es-MX" sz="1800" dirty="0">
                <a:latin typeface="Arial" panose="020B0604020202020204" pitchFamily="34" charset="0"/>
                <a:cs typeface="Arial" panose="020B0604020202020204" pitchFamily="34" charset="0"/>
              </a:rPr>
              <a:t>   </a:t>
            </a:r>
            <a:r>
              <a:rPr lang="es-MX" altLang="es-MX" sz="1800" dirty="0" err="1">
                <a:latin typeface="Arial" panose="020B0604020202020204" pitchFamily="34" charset="0"/>
                <a:cs typeface="Arial" panose="020B0604020202020204" pitchFamily="34" charset="0"/>
              </a:rPr>
              <a:t>char</a:t>
            </a:r>
            <a:r>
              <a:rPr lang="es-MX" altLang="es-MX" sz="1800" dirty="0">
                <a:latin typeface="Arial" panose="020B0604020202020204" pitchFamily="34" charset="0"/>
                <a:cs typeface="Arial" panose="020B0604020202020204" pitchFamily="34" charset="0"/>
              </a:rPr>
              <a:t>(4), </a:t>
            </a:r>
          </a:p>
          <a:p>
            <a:pPr eaLnBrk="1" hangingPunct="1">
              <a:spcBef>
                <a:spcPct val="0"/>
              </a:spcBef>
              <a:buClrTx/>
              <a:buSzTx/>
              <a:buFontTx/>
              <a:buNone/>
            </a:pPr>
            <a:r>
              <a:rPr lang="es-MX" altLang="es-MX" sz="1800" dirty="0" err="1">
                <a:latin typeface="Arial" panose="020B0604020202020204" pitchFamily="34" charset="0"/>
                <a:cs typeface="Arial" panose="020B0604020202020204" pitchFamily="34" charset="0"/>
              </a:rPr>
              <a:t>ClvMat</a:t>
            </a:r>
            <a:r>
              <a:rPr lang="es-MX" altLang="es-MX" sz="1800" dirty="0">
                <a:latin typeface="Arial" panose="020B0604020202020204" pitchFamily="34" charset="0"/>
                <a:cs typeface="Arial" panose="020B0604020202020204" pitchFamily="34" charset="0"/>
              </a:rPr>
              <a:t>    </a:t>
            </a:r>
            <a:r>
              <a:rPr lang="es-MX" altLang="es-MX" sz="1800" dirty="0" err="1">
                <a:latin typeface="Arial" panose="020B0604020202020204" pitchFamily="34" charset="0"/>
                <a:cs typeface="Arial" panose="020B0604020202020204" pitchFamily="34" charset="0"/>
              </a:rPr>
              <a:t>char</a:t>
            </a:r>
            <a:r>
              <a:rPr lang="es-MX" altLang="es-MX" sz="1800" dirty="0">
                <a:latin typeface="Arial" panose="020B0604020202020204" pitchFamily="34" charset="0"/>
                <a:cs typeface="Arial" panose="020B0604020202020204" pitchFamily="34" charset="0"/>
              </a:rPr>
              <a:t>(6),</a:t>
            </a:r>
          </a:p>
          <a:p>
            <a:pPr eaLnBrk="1" hangingPunct="1">
              <a:spcBef>
                <a:spcPct val="0"/>
              </a:spcBef>
              <a:buClrTx/>
              <a:buSzTx/>
              <a:buFontTx/>
              <a:buNone/>
            </a:pPr>
            <a:r>
              <a:rPr lang="es-MX" altLang="es-MX" sz="1800" dirty="0" err="1">
                <a:latin typeface="Arial" panose="020B0604020202020204" pitchFamily="34" charset="0"/>
                <a:cs typeface="Arial" panose="020B0604020202020204" pitchFamily="34" charset="0"/>
              </a:rPr>
              <a:t>HorarioLun</a:t>
            </a:r>
            <a:r>
              <a:rPr lang="es-MX" altLang="es-MX" sz="1800" dirty="0">
                <a:latin typeface="Arial" panose="020B0604020202020204" pitchFamily="34" charset="0"/>
                <a:cs typeface="Arial" panose="020B0604020202020204" pitchFamily="34" charset="0"/>
              </a:rPr>
              <a:t> </a:t>
            </a:r>
            <a:r>
              <a:rPr lang="es-MX" altLang="es-MX" sz="1800" dirty="0" err="1">
                <a:latin typeface="Arial" panose="020B0604020202020204" pitchFamily="34" charset="0"/>
                <a:cs typeface="Arial" panose="020B0604020202020204" pitchFamily="34" charset="0"/>
              </a:rPr>
              <a:t>char</a:t>
            </a:r>
            <a:r>
              <a:rPr lang="es-MX" altLang="es-MX" sz="1800" dirty="0">
                <a:latin typeface="Arial" panose="020B0604020202020204" pitchFamily="34" charset="0"/>
                <a:cs typeface="Arial" panose="020B0604020202020204" pitchFamily="34" charset="0"/>
              </a:rPr>
              <a:t>(11), </a:t>
            </a:r>
          </a:p>
          <a:p>
            <a:pPr eaLnBrk="1" hangingPunct="1">
              <a:spcBef>
                <a:spcPct val="0"/>
              </a:spcBef>
              <a:buClrTx/>
              <a:buSzTx/>
              <a:buFontTx/>
              <a:buNone/>
            </a:pPr>
            <a:r>
              <a:rPr lang="es-MX" altLang="es-MX" sz="1800" dirty="0">
                <a:latin typeface="Arial" panose="020B0604020202020204" pitchFamily="34" charset="0"/>
                <a:cs typeface="Arial" panose="020B0604020202020204" pitchFamily="34" charset="0"/>
              </a:rPr>
              <a:t>Aula       </a:t>
            </a:r>
            <a:r>
              <a:rPr lang="es-MX" altLang="es-MX" sz="1800" dirty="0" err="1">
                <a:latin typeface="Arial" panose="020B0604020202020204" pitchFamily="34" charset="0"/>
                <a:cs typeface="Arial" panose="020B0604020202020204" pitchFamily="34" charset="0"/>
              </a:rPr>
              <a:t>char</a:t>
            </a:r>
            <a:r>
              <a:rPr lang="es-MX" altLang="es-MX" sz="1800" dirty="0">
                <a:latin typeface="Arial" panose="020B0604020202020204" pitchFamily="34" charset="0"/>
                <a:cs typeface="Arial" panose="020B0604020202020204" pitchFamily="34" charset="0"/>
              </a:rPr>
              <a:t>(6),</a:t>
            </a:r>
          </a:p>
          <a:p>
            <a:pPr eaLnBrk="1" hangingPunct="1">
              <a:spcBef>
                <a:spcPct val="0"/>
              </a:spcBef>
              <a:buClrTx/>
              <a:buSzTx/>
              <a:buFontTx/>
              <a:buNone/>
            </a:pPr>
            <a:r>
              <a:rPr lang="es-MX" altLang="es-MX" sz="1800" dirty="0" err="1">
                <a:latin typeface="Arial" panose="020B0604020202020204" pitchFamily="34" charset="0"/>
                <a:cs typeface="Arial" panose="020B0604020202020204" pitchFamily="34" charset="0"/>
              </a:rPr>
              <a:t>HorarioMar</a:t>
            </a:r>
            <a:r>
              <a:rPr lang="es-MX" altLang="es-MX" sz="1800" dirty="0">
                <a:latin typeface="Arial" panose="020B0604020202020204" pitchFamily="34" charset="0"/>
                <a:cs typeface="Arial" panose="020B0604020202020204" pitchFamily="34" charset="0"/>
              </a:rPr>
              <a:t> </a:t>
            </a:r>
            <a:r>
              <a:rPr lang="es-MX" altLang="es-MX" sz="1800" dirty="0" err="1">
                <a:latin typeface="Arial" panose="020B0604020202020204" pitchFamily="34" charset="0"/>
                <a:cs typeface="Arial" panose="020B0604020202020204" pitchFamily="34" charset="0"/>
              </a:rPr>
              <a:t>char</a:t>
            </a:r>
            <a:r>
              <a:rPr lang="es-MX" altLang="es-MX" sz="1800" dirty="0">
                <a:latin typeface="Arial" panose="020B0604020202020204" pitchFamily="34" charset="0"/>
                <a:cs typeface="Arial" panose="020B0604020202020204" pitchFamily="34" charset="0"/>
              </a:rPr>
              <a:t>(11), </a:t>
            </a:r>
          </a:p>
          <a:p>
            <a:pPr eaLnBrk="1" hangingPunct="1">
              <a:spcBef>
                <a:spcPct val="0"/>
              </a:spcBef>
              <a:buClrTx/>
              <a:buSzTx/>
              <a:buFontTx/>
              <a:buNone/>
            </a:pPr>
            <a:r>
              <a:rPr lang="es-MX" altLang="es-MX" sz="1800" dirty="0">
                <a:latin typeface="Arial" panose="020B0604020202020204" pitchFamily="34" charset="0"/>
                <a:cs typeface="Arial" panose="020B0604020202020204" pitchFamily="34" charset="0"/>
              </a:rPr>
              <a:t>Aula       </a:t>
            </a:r>
            <a:r>
              <a:rPr lang="es-MX" altLang="es-MX" sz="1800" dirty="0" err="1">
                <a:latin typeface="Arial" panose="020B0604020202020204" pitchFamily="34" charset="0"/>
                <a:cs typeface="Arial" panose="020B0604020202020204" pitchFamily="34" charset="0"/>
              </a:rPr>
              <a:t>char</a:t>
            </a:r>
            <a:r>
              <a:rPr lang="es-MX" altLang="es-MX" sz="1800" dirty="0">
                <a:latin typeface="Arial" panose="020B0604020202020204" pitchFamily="34" charset="0"/>
                <a:cs typeface="Arial" panose="020B0604020202020204" pitchFamily="34" charset="0"/>
              </a:rPr>
              <a:t>(6),</a:t>
            </a:r>
          </a:p>
          <a:p>
            <a:pPr eaLnBrk="1" hangingPunct="1">
              <a:spcBef>
                <a:spcPct val="0"/>
              </a:spcBef>
              <a:buClrTx/>
              <a:buSzTx/>
              <a:buFontTx/>
              <a:buNone/>
            </a:pPr>
            <a:r>
              <a:rPr lang="es-MX" altLang="es-MX" sz="1800" dirty="0" err="1">
                <a:latin typeface="Arial" panose="020B0604020202020204" pitchFamily="34" charset="0"/>
                <a:cs typeface="Arial" panose="020B0604020202020204" pitchFamily="34" charset="0"/>
              </a:rPr>
              <a:t>HorarioMie</a:t>
            </a:r>
            <a:r>
              <a:rPr lang="es-MX" altLang="es-MX" sz="1800" dirty="0">
                <a:latin typeface="Arial" panose="020B0604020202020204" pitchFamily="34" charset="0"/>
                <a:cs typeface="Arial" panose="020B0604020202020204" pitchFamily="34" charset="0"/>
              </a:rPr>
              <a:t> </a:t>
            </a:r>
            <a:r>
              <a:rPr lang="es-MX" altLang="es-MX" sz="1800" dirty="0" err="1">
                <a:latin typeface="Arial" panose="020B0604020202020204" pitchFamily="34" charset="0"/>
                <a:cs typeface="Arial" panose="020B0604020202020204" pitchFamily="34" charset="0"/>
              </a:rPr>
              <a:t>char</a:t>
            </a:r>
            <a:r>
              <a:rPr lang="es-MX" altLang="es-MX" sz="1800" dirty="0">
                <a:latin typeface="Arial" panose="020B0604020202020204" pitchFamily="34" charset="0"/>
                <a:cs typeface="Arial" panose="020B0604020202020204" pitchFamily="34" charset="0"/>
              </a:rPr>
              <a:t>(11), </a:t>
            </a:r>
          </a:p>
          <a:p>
            <a:pPr eaLnBrk="1" hangingPunct="1">
              <a:spcBef>
                <a:spcPct val="0"/>
              </a:spcBef>
              <a:buClrTx/>
              <a:buSzTx/>
              <a:buFontTx/>
              <a:buNone/>
            </a:pPr>
            <a:r>
              <a:rPr lang="es-MX" altLang="es-MX" sz="1800" dirty="0">
                <a:latin typeface="Arial" panose="020B0604020202020204" pitchFamily="34" charset="0"/>
                <a:cs typeface="Arial" panose="020B0604020202020204" pitchFamily="34" charset="0"/>
              </a:rPr>
              <a:t>Aula       </a:t>
            </a:r>
            <a:r>
              <a:rPr lang="es-MX" altLang="es-MX" sz="1800" dirty="0" err="1">
                <a:latin typeface="Arial" panose="020B0604020202020204" pitchFamily="34" charset="0"/>
                <a:cs typeface="Arial" panose="020B0604020202020204" pitchFamily="34" charset="0"/>
              </a:rPr>
              <a:t>char</a:t>
            </a:r>
            <a:r>
              <a:rPr lang="es-MX" altLang="es-MX" sz="1800" dirty="0">
                <a:latin typeface="Arial" panose="020B0604020202020204" pitchFamily="34" charset="0"/>
                <a:cs typeface="Arial" panose="020B0604020202020204" pitchFamily="34" charset="0"/>
              </a:rPr>
              <a:t>(6),</a:t>
            </a:r>
          </a:p>
          <a:p>
            <a:pPr eaLnBrk="1" hangingPunct="1">
              <a:spcBef>
                <a:spcPct val="0"/>
              </a:spcBef>
              <a:buClrTx/>
              <a:buSzTx/>
              <a:buFontTx/>
              <a:buNone/>
            </a:pPr>
            <a:r>
              <a:rPr lang="es-MX" altLang="es-MX" sz="1800" dirty="0" err="1">
                <a:latin typeface="Arial" panose="020B0604020202020204" pitchFamily="34" charset="0"/>
                <a:cs typeface="Arial" panose="020B0604020202020204" pitchFamily="34" charset="0"/>
              </a:rPr>
              <a:t>HorarioJue</a:t>
            </a:r>
            <a:r>
              <a:rPr lang="es-MX" altLang="es-MX" sz="1800" dirty="0">
                <a:latin typeface="Arial" panose="020B0604020202020204" pitchFamily="34" charset="0"/>
                <a:cs typeface="Arial" panose="020B0604020202020204" pitchFamily="34" charset="0"/>
              </a:rPr>
              <a:t> </a:t>
            </a:r>
            <a:r>
              <a:rPr lang="es-MX" altLang="es-MX" sz="1800" dirty="0" err="1">
                <a:latin typeface="Arial" panose="020B0604020202020204" pitchFamily="34" charset="0"/>
                <a:cs typeface="Arial" panose="020B0604020202020204" pitchFamily="34" charset="0"/>
              </a:rPr>
              <a:t>char</a:t>
            </a:r>
            <a:r>
              <a:rPr lang="es-MX" altLang="es-MX" sz="1800" dirty="0">
                <a:latin typeface="Arial" panose="020B0604020202020204" pitchFamily="34" charset="0"/>
                <a:cs typeface="Arial" panose="020B0604020202020204" pitchFamily="34" charset="0"/>
              </a:rPr>
              <a:t>(11), </a:t>
            </a:r>
          </a:p>
          <a:p>
            <a:pPr eaLnBrk="1" hangingPunct="1">
              <a:spcBef>
                <a:spcPct val="0"/>
              </a:spcBef>
              <a:buClrTx/>
              <a:buSzTx/>
              <a:buFontTx/>
              <a:buNone/>
            </a:pPr>
            <a:r>
              <a:rPr lang="es-MX" altLang="es-MX" sz="1800" dirty="0">
                <a:latin typeface="Arial" panose="020B0604020202020204" pitchFamily="34" charset="0"/>
                <a:cs typeface="Arial" panose="020B0604020202020204" pitchFamily="34" charset="0"/>
              </a:rPr>
              <a:t>Aula       </a:t>
            </a:r>
            <a:r>
              <a:rPr lang="es-MX" altLang="es-MX" sz="1800" dirty="0" err="1">
                <a:latin typeface="Arial" panose="020B0604020202020204" pitchFamily="34" charset="0"/>
                <a:cs typeface="Arial" panose="020B0604020202020204" pitchFamily="34" charset="0"/>
              </a:rPr>
              <a:t>char</a:t>
            </a:r>
            <a:r>
              <a:rPr lang="es-MX" altLang="es-MX" sz="1800" dirty="0">
                <a:latin typeface="Arial" panose="020B0604020202020204" pitchFamily="34" charset="0"/>
                <a:cs typeface="Arial" panose="020B0604020202020204" pitchFamily="34" charset="0"/>
              </a:rPr>
              <a:t>(6),</a:t>
            </a:r>
          </a:p>
          <a:p>
            <a:pPr eaLnBrk="1" hangingPunct="1">
              <a:spcBef>
                <a:spcPct val="0"/>
              </a:spcBef>
              <a:buClrTx/>
              <a:buSzTx/>
              <a:buFontTx/>
              <a:buNone/>
            </a:pPr>
            <a:r>
              <a:rPr lang="es-MX" altLang="es-MX" sz="1800" dirty="0" err="1">
                <a:latin typeface="Arial" panose="020B0604020202020204" pitchFamily="34" charset="0"/>
                <a:cs typeface="Arial" panose="020B0604020202020204" pitchFamily="34" charset="0"/>
              </a:rPr>
              <a:t>HorarioVie</a:t>
            </a:r>
            <a:r>
              <a:rPr lang="es-MX" altLang="es-MX" sz="1800" dirty="0">
                <a:latin typeface="Arial" panose="020B0604020202020204" pitchFamily="34" charset="0"/>
                <a:cs typeface="Arial" panose="020B0604020202020204" pitchFamily="34" charset="0"/>
              </a:rPr>
              <a:t> </a:t>
            </a:r>
            <a:r>
              <a:rPr lang="es-MX" altLang="es-MX" sz="1800" dirty="0" err="1">
                <a:latin typeface="Arial" panose="020B0604020202020204" pitchFamily="34" charset="0"/>
                <a:cs typeface="Arial" panose="020B0604020202020204" pitchFamily="34" charset="0"/>
              </a:rPr>
              <a:t>char</a:t>
            </a:r>
            <a:r>
              <a:rPr lang="es-MX" altLang="es-MX" sz="1800" dirty="0">
                <a:latin typeface="Arial" panose="020B0604020202020204" pitchFamily="34" charset="0"/>
                <a:cs typeface="Arial" panose="020B0604020202020204" pitchFamily="34" charset="0"/>
              </a:rPr>
              <a:t>(11), </a:t>
            </a:r>
          </a:p>
          <a:p>
            <a:pPr eaLnBrk="1" hangingPunct="1">
              <a:spcBef>
                <a:spcPct val="0"/>
              </a:spcBef>
              <a:buClrTx/>
              <a:buSzTx/>
              <a:buFontTx/>
              <a:buNone/>
            </a:pPr>
            <a:r>
              <a:rPr lang="es-MX" altLang="es-MX" sz="1800" dirty="0">
                <a:latin typeface="Arial" panose="020B0604020202020204" pitchFamily="34" charset="0"/>
                <a:cs typeface="Arial" panose="020B0604020202020204" pitchFamily="34" charset="0"/>
              </a:rPr>
              <a:t>Aula       </a:t>
            </a:r>
            <a:r>
              <a:rPr lang="es-MX" altLang="es-MX" sz="1800" dirty="0" err="1">
                <a:latin typeface="Arial" panose="020B0604020202020204" pitchFamily="34" charset="0"/>
                <a:cs typeface="Arial" panose="020B0604020202020204" pitchFamily="34" charset="0"/>
              </a:rPr>
              <a:t>char</a:t>
            </a:r>
            <a:r>
              <a:rPr lang="es-MX" altLang="es-MX" sz="1800" dirty="0">
                <a:latin typeface="Arial" panose="020B0604020202020204" pitchFamily="34" charset="0"/>
                <a:cs typeface="Arial" panose="020B0604020202020204" pitchFamily="34" charset="0"/>
              </a:rPr>
              <a:t>(6),</a:t>
            </a:r>
          </a:p>
          <a:p>
            <a:pPr eaLnBrk="1" hangingPunct="1">
              <a:spcBef>
                <a:spcPct val="0"/>
              </a:spcBef>
              <a:buClrTx/>
              <a:buSzTx/>
              <a:buFontTx/>
              <a:buNone/>
            </a:pPr>
            <a:r>
              <a:rPr lang="es-MX" altLang="es-MX" sz="1800" dirty="0">
                <a:latin typeface="Arial" panose="020B0604020202020204" pitchFamily="34" charset="0"/>
                <a:cs typeface="Arial" panose="020B0604020202020204" pitchFamily="34" charset="0"/>
              </a:rPr>
              <a:t>PRIMARY KEY (</a:t>
            </a:r>
            <a:r>
              <a:rPr lang="es-MX" altLang="es-MX" sz="1800" dirty="0" err="1">
                <a:latin typeface="Arial" panose="020B0604020202020204" pitchFamily="34" charset="0"/>
                <a:cs typeface="Arial" panose="020B0604020202020204" pitchFamily="34" charset="0"/>
              </a:rPr>
              <a:t>clvprof</a:t>
            </a:r>
            <a:r>
              <a:rPr lang="es-MX" altLang="es-MX" sz="1800" dirty="0">
                <a:latin typeface="Arial" panose="020B0604020202020204" pitchFamily="34" charset="0"/>
                <a:cs typeface="Arial" panose="020B0604020202020204" pitchFamily="34" charset="0"/>
              </a:rPr>
              <a:t>, </a:t>
            </a:r>
            <a:r>
              <a:rPr lang="es-MX" altLang="es-MX" sz="1800" dirty="0" err="1">
                <a:latin typeface="Arial" panose="020B0604020202020204" pitchFamily="34" charset="0"/>
                <a:cs typeface="Arial" panose="020B0604020202020204" pitchFamily="34" charset="0"/>
              </a:rPr>
              <a:t>clvmat</a:t>
            </a:r>
            <a:r>
              <a:rPr lang="es-MX" altLang="es-MX" sz="1800" dirty="0">
                <a:latin typeface="Arial" panose="020B0604020202020204" pitchFamily="34" charset="0"/>
                <a:cs typeface="Arial" panose="020B0604020202020204" pitchFamily="34" charset="0"/>
              </a:rPr>
              <a:t>))</a:t>
            </a:r>
          </a:p>
        </p:txBody>
      </p:sp>
      <p:sp>
        <p:nvSpPr>
          <p:cNvPr id="5" name="3 CuadroTexto"/>
          <p:cNvSpPr txBox="1">
            <a:spLocks noChangeArrowheads="1"/>
          </p:cNvSpPr>
          <p:nvPr/>
        </p:nvSpPr>
        <p:spPr bwMode="auto">
          <a:xfrm>
            <a:off x="5951538" y="1914525"/>
            <a:ext cx="5400675"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9pPr>
          </a:lstStyle>
          <a:p>
            <a:pPr eaLnBrk="1" hangingPunct="1">
              <a:spcBef>
                <a:spcPct val="0"/>
              </a:spcBef>
              <a:buClrTx/>
              <a:buSzTx/>
              <a:buFontTx/>
              <a:buNone/>
            </a:pPr>
            <a:r>
              <a:rPr lang="es-MX" altLang="es-MX" sz="1800" dirty="0" err="1">
                <a:latin typeface="Arial" panose="020B0604020202020204" pitchFamily="34" charset="0"/>
                <a:cs typeface="Arial" panose="020B0604020202020204" pitchFamily="34" charset="0"/>
              </a:rPr>
              <a:t>Create</a:t>
            </a:r>
            <a:r>
              <a:rPr lang="es-MX" altLang="es-MX" sz="1800" dirty="0">
                <a:latin typeface="Arial" panose="020B0604020202020204" pitchFamily="34" charset="0"/>
                <a:cs typeface="Arial" panose="020B0604020202020204" pitchFamily="34" charset="0"/>
              </a:rPr>
              <a:t> </a:t>
            </a:r>
            <a:r>
              <a:rPr lang="es-MX" altLang="es-MX" sz="1800" dirty="0" err="1">
                <a:latin typeface="Arial" panose="020B0604020202020204" pitchFamily="34" charset="0"/>
                <a:cs typeface="Arial" panose="020B0604020202020204" pitchFamily="34" charset="0"/>
              </a:rPr>
              <a:t>Table</a:t>
            </a:r>
            <a:r>
              <a:rPr lang="es-MX" altLang="es-MX" sz="1800" dirty="0">
                <a:latin typeface="Arial" panose="020B0604020202020204" pitchFamily="34" charset="0"/>
                <a:cs typeface="Arial" panose="020B0604020202020204" pitchFamily="34" charset="0"/>
              </a:rPr>
              <a:t> </a:t>
            </a:r>
            <a:r>
              <a:rPr lang="es-MX" altLang="es-MX" sz="1800" dirty="0" err="1">
                <a:latin typeface="Arial" panose="020B0604020202020204" pitchFamily="34" charset="0"/>
                <a:cs typeface="Arial" panose="020B0604020202020204" pitchFamily="34" charset="0"/>
              </a:rPr>
              <a:t>Inscripcion</a:t>
            </a:r>
            <a:r>
              <a:rPr lang="es-MX" altLang="es-MX" sz="1800" dirty="0">
                <a:latin typeface="Arial" panose="020B0604020202020204" pitchFamily="34" charset="0"/>
                <a:cs typeface="Arial" panose="020B0604020202020204" pitchFamily="34" charset="0"/>
              </a:rPr>
              <a:t> (</a:t>
            </a:r>
          </a:p>
          <a:p>
            <a:pPr eaLnBrk="1" hangingPunct="1">
              <a:spcBef>
                <a:spcPct val="0"/>
              </a:spcBef>
              <a:buClrTx/>
              <a:buSzTx/>
              <a:buFontTx/>
              <a:buNone/>
            </a:pPr>
            <a:r>
              <a:rPr lang="es-MX" altLang="es-MX" sz="1800" dirty="0">
                <a:latin typeface="Arial" panose="020B0604020202020204" pitchFamily="34" charset="0"/>
                <a:cs typeface="Arial" panose="020B0604020202020204" pitchFamily="34" charset="0"/>
              </a:rPr>
              <a:t>Matricula  </a:t>
            </a:r>
            <a:r>
              <a:rPr lang="es-MX" altLang="es-MX" sz="1800" dirty="0" err="1">
                <a:latin typeface="Arial" panose="020B0604020202020204" pitchFamily="34" charset="0"/>
                <a:cs typeface="Arial" panose="020B0604020202020204" pitchFamily="34" charset="0"/>
              </a:rPr>
              <a:t>char</a:t>
            </a:r>
            <a:r>
              <a:rPr lang="es-MX" altLang="es-MX" sz="1800" dirty="0">
                <a:latin typeface="Arial" panose="020B0604020202020204" pitchFamily="34" charset="0"/>
                <a:cs typeface="Arial" panose="020B0604020202020204" pitchFamily="34" charset="0"/>
              </a:rPr>
              <a:t>(8) </a:t>
            </a:r>
            <a:r>
              <a:rPr lang="es-MX" altLang="es-MX" sz="1800" dirty="0" err="1">
                <a:latin typeface="Arial" panose="020B0604020202020204" pitchFamily="34" charset="0"/>
                <a:cs typeface="Arial" panose="020B0604020202020204" pitchFamily="34" charset="0"/>
              </a:rPr>
              <a:t>references</a:t>
            </a:r>
            <a:r>
              <a:rPr lang="es-MX" altLang="es-MX" sz="1800" dirty="0">
                <a:latin typeface="Arial" panose="020B0604020202020204" pitchFamily="34" charset="0"/>
                <a:cs typeface="Arial" panose="020B0604020202020204" pitchFamily="34" charset="0"/>
              </a:rPr>
              <a:t> alumno (matricula),</a:t>
            </a:r>
          </a:p>
          <a:p>
            <a:pPr eaLnBrk="1" hangingPunct="1">
              <a:spcBef>
                <a:spcPct val="0"/>
              </a:spcBef>
              <a:buClrTx/>
              <a:buSzTx/>
              <a:buFontTx/>
              <a:buNone/>
            </a:pPr>
            <a:r>
              <a:rPr lang="es-MX" altLang="es-MX" sz="1800" dirty="0" err="1">
                <a:latin typeface="Arial" panose="020B0604020202020204" pitchFamily="34" charset="0"/>
                <a:cs typeface="Arial" panose="020B0604020202020204" pitchFamily="34" charset="0"/>
              </a:rPr>
              <a:t>ClvProf</a:t>
            </a:r>
            <a:r>
              <a:rPr lang="es-MX" altLang="es-MX" sz="1800" dirty="0">
                <a:latin typeface="Arial" panose="020B0604020202020204" pitchFamily="34" charset="0"/>
                <a:cs typeface="Arial" panose="020B0604020202020204" pitchFamily="34" charset="0"/>
              </a:rPr>
              <a:t>   </a:t>
            </a:r>
            <a:r>
              <a:rPr lang="es-MX" altLang="es-MX" sz="1800" dirty="0" err="1">
                <a:latin typeface="Arial" panose="020B0604020202020204" pitchFamily="34" charset="0"/>
                <a:cs typeface="Arial" panose="020B0604020202020204" pitchFamily="34" charset="0"/>
              </a:rPr>
              <a:t>char</a:t>
            </a:r>
            <a:r>
              <a:rPr lang="es-MX" altLang="es-MX" sz="1800" dirty="0">
                <a:latin typeface="Arial" panose="020B0604020202020204" pitchFamily="34" charset="0"/>
                <a:cs typeface="Arial" panose="020B0604020202020204" pitchFamily="34" charset="0"/>
              </a:rPr>
              <a:t>(4) </a:t>
            </a:r>
            <a:r>
              <a:rPr lang="es-MX" altLang="es-MX" sz="1800" dirty="0" err="1">
                <a:latin typeface="Arial" panose="020B0604020202020204" pitchFamily="34" charset="0"/>
                <a:cs typeface="Arial" panose="020B0604020202020204" pitchFamily="34" charset="0"/>
              </a:rPr>
              <a:t>references</a:t>
            </a:r>
            <a:r>
              <a:rPr lang="es-MX" altLang="es-MX" sz="1800" dirty="0">
                <a:latin typeface="Arial" panose="020B0604020202020204" pitchFamily="34" charset="0"/>
                <a:cs typeface="Arial" panose="020B0604020202020204" pitchFamily="34" charset="0"/>
              </a:rPr>
              <a:t> profesores (</a:t>
            </a:r>
            <a:r>
              <a:rPr lang="es-MX" altLang="es-MX" sz="1800" dirty="0" err="1">
                <a:latin typeface="Arial" panose="020B0604020202020204" pitchFamily="34" charset="0"/>
                <a:cs typeface="Arial" panose="020B0604020202020204" pitchFamily="34" charset="0"/>
              </a:rPr>
              <a:t>clvprof</a:t>
            </a:r>
            <a:r>
              <a:rPr lang="es-MX" altLang="es-MX" sz="1800" dirty="0">
                <a:latin typeface="Arial" panose="020B0604020202020204" pitchFamily="34" charset="0"/>
                <a:cs typeface="Arial" panose="020B0604020202020204" pitchFamily="34" charset="0"/>
              </a:rPr>
              <a:t>),</a:t>
            </a:r>
          </a:p>
          <a:p>
            <a:pPr eaLnBrk="1" hangingPunct="1">
              <a:spcBef>
                <a:spcPct val="0"/>
              </a:spcBef>
              <a:buClrTx/>
              <a:buSzTx/>
              <a:buFontTx/>
              <a:buNone/>
            </a:pPr>
            <a:r>
              <a:rPr lang="es-MX" altLang="es-MX" sz="1800" dirty="0" err="1">
                <a:latin typeface="Arial" panose="020B0604020202020204" pitchFamily="34" charset="0"/>
                <a:cs typeface="Arial" panose="020B0604020202020204" pitchFamily="34" charset="0"/>
              </a:rPr>
              <a:t>ClvMat</a:t>
            </a:r>
            <a:r>
              <a:rPr lang="es-MX" altLang="es-MX" sz="1800" dirty="0">
                <a:latin typeface="Arial" panose="020B0604020202020204" pitchFamily="34" charset="0"/>
                <a:cs typeface="Arial" panose="020B0604020202020204" pitchFamily="34" charset="0"/>
              </a:rPr>
              <a:t>    </a:t>
            </a:r>
            <a:r>
              <a:rPr lang="es-MX" altLang="es-MX" sz="1800" dirty="0" err="1">
                <a:latin typeface="Arial" panose="020B0604020202020204" pitchFamily="34" charset="0"/>
                <a:cs typeface="Arial" panose="020B0604020202020204" pitchFamily="34" charset="0"/>
              </a:rPr>
              <a:t>char</a:t>
            </a:r>
            <a:r>
              <a:rPr lang="es-MX" altLang="es-MX" sz="1800" dirty="0">
                <a:latin typeface="Arial" panose="020B0604020202020204" pitchFamily="34" charset="0"/>
                <a:cs typeface="Arial" panose="020B0604020202020204" pitchFamily="34" charset="0"/>
              </a:rPr>
              <a:t>(6) </a:t>
            </a:r>
            <a:r>
              <a:rPr lang="es-MX" altLang="es-MX" sz="1800" dirty="0" err="1">
                <a:latin typeface="Arial" panose="020B0604020202020204" pitchFamily="34" charset="0"/>
                <a:cs typeface="Arial" panose="020B0604020202020204" pitchFamily="34" charset="0"/>
              </a:rPr>
              <a:t>references</a:t>
            </a:r>
            <a:r>
              <a:rPr lang="es-MX" altLang="es-MX" sz="1800" dirty="0">
                <a:latin typeface="Arial" panose="020B0604020202020204" pitchFamily="34" charset="0"/>
                <a:cs typeface="Arial" panose="020B0604020202020204" pitchFamily="34" charset="0"/>
              </a:rPr>
              <a:t> materia (</a:t>
            </a:r>
            <a:r>
              <a:rPr lang="es-MX" altLang="es-MX" sz="1800" dirty="0" err="1">
                <a:latin typeface="Arial" panose="020B0604020202020204" pitchFamily="34" charset="0"/>
                <a:cs typeface="Arial" panose="020B0604020202020204" pitchFamily="34" charset="0"/>
              </a:rPr>
              <a:t>clvmat</a:t>
            </a:r>
            <a:r>
              <a:rPr lang="es-MX" altLang="es-MX" sz="1800" dirty="0">
                <a:latin typeface="Arial" panose="020B0604020202020204" pitchFamily="34" charset="0"/>
                <a:cs typeface="Arial" panose="020B0604020202020204" pitchFamily="34" charset="0"/>
              </a:rPr>
              <a:t>),</a:t>
            </a:r>
          </a:p>
          <a:p>
            <a:pPr eaLnBrk="1" hangingPunct="1">
              <a:spcBef>
                <a:spcPct val="0"/>
              </a:spcBef>
              <a:buClrTx/>
              <a:buSzTx/>
              <a:buFontTx/>
              <a:buNone/>
            </a:pPr>
            <a:r>
              <a:rPr lang="es-MX" altLang="es-MX" sz="1800" dirty="0" err="1">
                <a:latin typeface="Arial" panose="020B0604020202020204" pitchFamily="34" charset="0"/>
                <a:cs typeface="Arial" panose="020B0604020202020204" pitchFamily="34" charset="0"/>
              </a:rPr>
              <a:t>Calificacion</a:t>
            </a:r>
            <a:r>
              <a:rPr lang="es-MX" altLang="es-MX" sz="1800" dirty="0">
                <a:latin typeface="Arial" panose="020B0604020202020204" pitchFamily="34" charset="0"/>
                <a:cs typeface="Arial" panose="020B0604020202020204" pitchFamily="34" charset="0"/>
              </a:rPr>
              <a:t>  </a:t>
            </a:r>
            <a:r>
              <a:rPr lang="es-MX" altLang="es-MX" sz="1800" dirty="0" err="1">
                <a:latin typeface="Arial" panose="020B0604020202020204" pitchFamily="34" charset="0"/>
                <a:cs typeface="Arial" panose="020B0604020202020204" pitchFamily="34" charset="0"/>
              </a:rPr>
              <a:t>integer</a:t>
            </a:r>
            <a:r>
              <a:rPr lang="es-MX" altLang="es-MX" sz="1800" dirty="0">
                <a:latin typeface="Arial" panose="020B0604020202020204" pitchFamily="34" charset="0"/>
                <a:cs typeface="Arial" panose="020B0604020202020204" pitchFamily="34" charset="0"/>
              </a:rPr>
              <a:t>, </a:t>
            </a:r>
          </a:p>
          <a:p>
            <a:pPr eaLnBrk="1" hangingPunct="1">
              <a:spcBef>
                <a:spcPct val="0"/>
              </a:spcBef>
              <a:buClrTx/>
              <a:buSzTx/>
              <a:buFontTx/>
              <a:buNone/>
            </a:pPr>
            <a:r>
              <a:rPr lang="es-MX" altLang="es-MX" sz="1800" dirty="0" err="1">
                <a:latin typeface="Arial" panose="020B0604020202020204" pitchFamily="34" charset="0"/>
                <a:cs typeface="Arial" panose="020B0604020202020204" pitchFamily="34" charset="0"/>
              </a:rPr>
              <a:t>TipoExa</a:t>
            </a:r>
            <a:r>
              <a:rPr lang="es-MX" altLang="es-MX" sz="1800" dirty="0">
                <a:latin typeface="Arial" panose="020B0604020202020204" pitchFamily="34" charset="0"/>
                <a:cs typeface="Arial" panose="020B0604020202020204" pitchFamily="34" charset="0"/>
              </a:rPr>
              <a:t>   </a:t>
            </a:r>
            <a:r>
              <a:rPr lang="es-MX" altLang="es-MX" sz="1800" dirty="0" err="1">
                <a:latin typeface="Arial" panose="020B0604020202020204" pitchFamily="34" charset="0"/>
                <a:cs typeface="Arial" panose="020B0604020202020204" pitchFamily="34" charset="0"/>
              </a:rPr>
              <a:t>char</a:t>
            </a:r>
            <a:r>
              <a:rPr lang="es-MX" altLang="es-MX" sz="1800" dirty="0">
                <a:latin typeface="Arial" panose="020B0604020202020204" pitchFamily="34" charset="0"/>
                <a:cs typeface="Arial" panose="020B0604020202020204" pitchFamily="34" charset="0"/>
              </a:rPr>
              <a:t>(4),</a:t>
            </a:r>
          </a:p>
          <a:p>
            <a:pPr eaLnBrk="1" hangingPunct="1">
              <a:spcBef>
                <a:spcPct val="0"/>
              </a:spcBef>
              <a:buClrTx/>
              <a:buSzTx/>
              <a:buFontTx/>
              <a:buNone/>
            </a:pPr>
            <a:r>
              <a:rPr lang="es-MX" altLang="es-MX" sz="1800" dirty="0">
                <a:latin typeface="Arial" panose="020B0604020202020204" pitchFamily="34" charset="0"/>
                <a:cs typeface="Arial" panose="020B0604020202020204" pitchFamily="34" charset="0"/>
              </a:rPr>
              <a:t>PRIMARY KEY (matricula, </a:t>
            </a:r>
            <a:r>
              <a:rPr lang="es-MX" altLang="es-MX" sz="1800" dirty="0" err="1">
                <a:latin typeface="Arial" panose="020B0604020202020204" pitchFamily="34" charset="0"/>
                <a:cs typeface="Arial" panose="020B0604020202020204" pitchFamily="34" charset="0"/>
              </a:rPr>
              <a:t>clvprof</a:t>
            </a:r>
            <a:r>
              <a:rPr lang="es-MX" altLang="es-MX" sz="1800" dirty="0">
                <a:latin typeface="Arial" panose="020B0604020202020204" pitchFamily="34" charset="0"/>
                <a:cs typeface="Arial" panose="020B0604020202020204" pitchFamily="34" charset="0"/>
              </a:rPr>
              <a:t>, </a:t>
            </a:r>
            <a:r>
              <a:rPr lang="es-MX" altLang="es-MX" sz="1800" dirty="0" err="1">
                <a:latin typeface="Arial" panose="020B0604020202020204" pitchFamily="34" charset="0"/>
                <a:cs typeface="Arial" panose="020B0604020202020204" pitchFamily="34" charset="0"/>
              </a:rPr>
              <a:t>clvmat</a:t>
            </a:r>
            <a:r>
              <a:rPr lang="es-MX" altLang="es-MX" sz="1800" dirty="0">
                <a:latin typeface="Arial" panose="020B0604020202020204" pitchFamily="34" charset="0"/>
                <a:cs typeface="Arial" panose="020B0604020202020204" pitchFamily="34" charset="0"/>
              </a:rPr>
              <a:t>))</a:t>
            </a:r>
          </a:p>
          <a:p>
            <a:pPr eaLnBrk="1" hangingPunct="1">
              <a:spcBef>
                <a:spcPct val="0"/>
              </a:spcBef>
              <a:buClrTx/>
              <a:buSzTx/>
              <a:buFontTx/>
              <a:buNone/>
            </a:pPr>
            <a:endParaRPr lang="es-MX" altLang="es-MX"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4988699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11" y="749220"/>
            <a:ext cx="10245091" cy="846210"/>
          </a:xfrm>
        </p:spPr>
        <p:txBody>
          <a:bodyPr/>
          <a:lstStyle/>
          <a:p>
            <a:r>
              <a:rPr lang="es-MX" b="1" i="1" dirty="0">
                <a:solidFill>
                  <a:schemeClr val="accent1">
                    <a:lumMod val="50000"/>
                  </a:schemeClr>
                </a:solidFill>
              </a:rPr>
              <a:t>1.3. </a:t>
            </a:r>
            <a:r>
              <a:rPr lang="en-US" b="1" i="1" dirty="0" err="1">
                <a:solidFill>
                  <a:schemeClr val="accent1">
                    <a:lumMod val="50000"/>
                  </a:schemeClr>
                </a:solidFill>
              </a:rPr>
              <a:t>Arquitectura</a:t>
            </a:r>
            <a:r>
              <a:rPr lang="en-US" b="1" i="1" dirty="0">
                <a:solidFill>
                  <a:schemeClr val="accent1">
                    <a:lumMod val="50000"/>
                  </a:schemeClr>
                </a:solidFill>
              </a:rPr>
              <a:t> de Bases de </a:t>
            </a:r>
            <a:r>
              <a:rPr lang="en-US" b="1" i="1" dirty="0" err="1">
                <a:solidFill>
                  <a:schemeClr val="accent1">
                    <a:lumMod val="50000"/>
                  </a:schemeClr>
                </a:solidFill>
              </a:rPr>
              <a:t>Datos</a:t>
            </a:r>
            <a:br>
              <a:rPr lang="es-MX" b="1" i="1" dirty="0">
                <a:solidFill>
                  <a:schemeClr val="accent1">
                    <a:lumMod val="50000"/>
                  </a:schemeClr>
                </a:solidFill>
              </a:rPr>
            </a:br>
            <a:endParaRPr lang="es-MX" b="1" dirty="0">
              <a:solidFill>
                <a:schemeClr val="accent1">
                  <a:lumMod val="50000"/>
                </a:schemeClr>
              </a:solidFill>
              <a:latin typeface="Arial" charset="0"/>
            </a:endParaRPr>
          </a:p>
        </p:txBody>
      </p:sp>
      <p:sp>
        <p:nvSpPr>
          <p:cNvPr id="3" name="Marcador de contenido 2"/>
          <p:cNvSpPr>
            <a:spLocks noGrp="1"/>
          </p:cNvSpPr>
          <p:nvPr>
            <p:ph sz="quarter" idx="13"/>
          </p:nvPr>
        </p:nvSpPr>
        <p:spPr>
          <a:xfrm>
            <a:off x="1521075" y="2097920"/>
            <a:ext cx="8710319" cy="4107707"/>
          </a:xfrm>
        </p:spPr>
        <p:txBody>
          <a:bodyPr/>
          <a:lstStyle/>
          <a:p>
            <a:pPr>
              <a:defRPr/>
            </a:pPr>
            <a:r>
              <a:rPr lang="es-MX" sz="1800" dirty="0">
                <a:latin typeface="Arial" charset="0"/>
              </a:rPr>
              <a:t>El </a:t>
            </a:r>
            <a:r>
              <a:rPr lang="es-MX" sz="1800" b="1" i="1" dirty="0">
                <a:solidFill>
                  <a:schemeClr val="accent1">
                    <a:lumMod val="75000"/>
                  </a:schemeClr>
                </a:solidFill>
                <a:latin typeface="Arial" charset="0"/>
              </a:rPr>
              <a:t>Administrador de la BD (DBA) </a:t>
            </a:r>
            <a:r>
              <a:rPr lang="es-MX" sz="1800" dirty="0">
                <a:latin typeface="Arial" charset="0"/>
              </a:rPr>
              <a:t>es la persona o grupo de personas que toma las decisiones estratégicas y de política con respecto a la información de la empresa, proporciona el apoyo técnico necesario para poner en prácticas esas decisiones.</a:t>
            </a:r>
          </a:p>
          <a:p>
            <a:pPr>
              <a:defRPr/>
            </a:pPr>
            <a:r>
              <a:rPr lang="es-MX" sz="1800" dirty="0">
                <a:latin typeface="Arial" charset="0"/>
              </a:rPr>
              <a:t>Sus funciones son:</a:t>
            </a:r>
          </a:p>
          <a:p>
            <a:pPr lvl="1">
              <a:buClr>
                <a:schemeClr val="tx1"/>
              </a:buClr>
              <a:defRPr/>
            </a:pPr>
            <a:r>
              <a:rPr lang="es-MX" sz="1800" dirty="0">
                <a:latin typeface="Arial" charset="0"/>
              </a:rPr>
              <a:t>Definir el esquema conceptual (Diseño Lógico de la BD)</a:t>
            </a:r>
          </a:p>
          <a:p>
            <a:pPr lvl="1">
              <a:buClr>
                <a:schemeClr val="tx1"/>
              </a:buClr>
              <a:defRPr/>
            </a:pPr>
            <a:r>
              <a:rPr lang="es-MX" sz="1800" dirty="0">
                <a:latin typeface="Arial" charset="0"/>
              </a:rPr>
              <a:t>Definir de esquema interno (Diseño Físico)</a:t>
            </a:r>
          </a:p>
          <a:p>
            <a:pPr lvl="1">
              <a:buClr>
                <a:schemeClr val="tx1"/>
              </a:buClr>
              <a:defRPr/>
            </a:pPr>
            <a:r>
              <a:rPr lang="es-MX" sz="1800" dirty="0">
                <a:latin typeface="Arial" charset="0"/>
              </a:rPr>
              <a:t>Vincularse con los usuarios para asegurar que los datos necesarios estén disponibles.</a:t>
            </a:r>
          </a:p>
          <a:p>
            <a:pPr lvl="1">
              <a:buClr>
                <a:schemeClr val="tx1"/>
              </a:buClr>
              <a:defRPr/>
            </a:pPr>
            <a:r>
              <a:rPr lang="es-MX" sz="1800" dirty="0">
                <a:latin typeface="Arial" charset="0"/>
              </a:rPr>
              <a:t>Definir las verificaciones de seguridad e integridad (El DDL debe incluir facilidades para dicha tarea)</a:t>
            </a:r>
          </a:p>
          <a:p>
            <a:pPr lvl="1">
              <a:buClr>
                <a:schemeClr val="tx1"/>
              </a:buClr>
              <a:defRPr/>
            </a:pPr>
            <a:r>
              <a:rPr lang="es-MX" sz="1800" dirty="0">
                <a:latin typeface="Arial" charset="0"/>
              </a:rPr>
              <a:t>Definir procedimientos de respaldo y recuperación</a:t>
            </a:r>
          </a:p>
          <a:p>
            <a:pPr lvl="1">
              <a:buClr>
                <a:schemeClr val="tx1"/>
              </a:buClr>
              <a:defRPr/>
            </a:pPr>
            <a:r>
              <a:rPr lang="es-MX" sz="1800" dirty="0">
                <a:latin typeface="Arial" charset="0"/>
              </a:rPr>
              <a:t>Supervisar el desempeño y responder a cambios en las necesidades (requerimientos)</a:t>
            </a:r>
            <a:endParaRPr lang="es-ES" sz="1800" dirty="0">
              <a:latin typeface="Arial" charset="0"/>
            </a:endParaRPr>
          </a:p>
          <a:p>
            <a:endParaRPr lang="es-MX" dirty="0"/>
          </a:p>
        </p:txBody>
      </p:sp>
      <p:sp>
        <p:nvSpPr>
          <p:cNvPr id="4" name="Marcador de número de diapositiva 3"/>
          <p:cNvSpPr>
            <a:spLocks noGrp="1"/>
          </p:cNvSpPr>
          <p:nvPr>
            <p:ph type="sldNum" sz="quarter" idx="12"/>
          </p:nvPr>
        </p:nvSpPr>
        <p:spPr/>
        <p:txBody>
          <a:bodyPr/>
          <a:lstStyle/>
          <a:p>
            <a:fld id="{535C381F-C058-4457-AC2A-473EAEE256FB}" type="slidenum">
              <a:rPr lang="es-MX" smtClean="0"/>
              <a:t>74</a:t>
            </a:fld>
            <a:endParaRPr lang="es-MX" dirty="0"/>
          </a:p>
        </p:txBody>
      </p:sp>
      <p:pic>
        <p:nvPicPr>
          <p:cNvPr id="5" name="Imagen 4"/>
          <p:cNvPicPr>
            <a:picLocks noChangeAspect="1"/>
          </p:cNvPicPr>
          <p:nvPr/>
        </p:nvPicPr>
        <p:blipFill>
          <a:blip r:embed="rId2"/>
          <a:stretch>
            <a:fillRect/>
          </a:stretch>
        </p:blipFill>
        <p:spPr>
          <a:xfrm>
            <a:off x="303856" y="3426233"/>
            <a:ext cx="1609709" cy="2007615"/>
          </a:xfrm>
          <a:prstGeom prst="rect">
            <a:avLst/>
          </a:prstGeom>
        </p:spPr>
      </p:pic>
    </p:spTree>
    <p:extLst>
      <p:ext uri="{BB962C8B-B14F-4D97-AF65-F5344CB8AC3E}">
        <p14:creationId xmlns:p14="http://schemas.microsoft.com/office/powerpoint/2010/main" val="3812581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randombar(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randombar(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randombar(horizontal)">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966951"/>
            <a:ext cx="10245091" cy="533885"/>
          </a:xfrm>
        </p:spPr>
        <p:txBody>
          <a:bodyPr/>
          <a:lstStyle/>
          <a:p>
            <a:r>
              <a:rPr lang="es-MX" b="1" i="1" dirty="0">
                <a:solidFill>
                  <a:schemeClr val="accent1">
                    <a:lumMod val="50000"/>
                  </a:schemeClr>
                </a:solidFill>
              </a:rPr>
              <a:t>1.3. </a:t>
            </a:r>
            <a:r>
              <a:rPr lang="en-US" b="1" i="1" dirty="0" err="1">
                <a:solidFill>
                  <a:schemeClr val="accent1">
                    <a:lumMod val="50000"/>
                  </a:schemeClr>
                </a:solidFill>
              </a:rPr>
              <a:t>Arquitectura</a:t>
            </a:r>
            <a:r>
              <a:rPr lang="en-US" b="1" i="1" dirty="0">
                <a:solidFill>
                  <a:schemeClr val="accent1">
                    <a:lumMod val="50000"/>
                  </a:schemeClr>
                </a:solidFill>
              </a:rPr>
              <a:t> de Bases de </a:t>
            </a:r>
            <a:r>
              <a:rPr lang="en-US" b="1" i="1" dirty="0" err="1">
                <a:solidFill>
                  <a:schemeClr val="accent1">
                    <a:lumMod val="50000"/>
                  </a:schemeClr>
                </a:solidFill>
              </a:rPr>
              <a:t>Datos</a:t>
            </a:r>
            <a:br>
              <a:rPr lang="es-MX" b="1" i="1" dirty="0">
                <a:solidFill>
                  <a:schemeClr val="accent1">
                    <a:lumMod val="50000"/>
                  </a:schemeClr>
                </a:solidFill>
              </a:rPr>
            </a:br>
            <a:endParaRPr lang="es-MX" b="1" dirty="0">
              <a:solidFill>
                <a:schemeClr val="accent1">
                  <a:lumMod val="50000"/>
                </a:schemeClr>
              </a:solidFill>
            </a:endParaRPr>
          </a:p>
        </p:txBody>
      </p:sp>
      <p:sp>
        <p:nvSpPr>
          <p:cNvPr id="3" name="Marcador de contenido 2"/>
          <p:cNvSpPr>
            <a:spLocks noGrp="1"/>
          </p:cNvSpPr>
          <p:nvPr>
            <p:ph sz="quarter" idx="13"/>
          </p:nvPr>
        </p:nvSpPr>
        <p:spPr>
          <a:xfrm>
            <a:off x="651641" y="1814164"/>
            <a:ext cx="6330705" cy="4432653"/>
          </a:xfrm>
        </p:spPr>
        <p:txBody>
          <a:bodyPr/>
          <a:lstStyle/>
          <a:p>
            <a:pPr>
              <a:defRPr/>
            </a:pPr>
            <a:r>
              <a:rPr lang="es-MX" sz="2000" dirty="0">
                <a:latin typeface="Arial" charset="0"/>
              </a:rPr>
              <a:t>El </a:t>
            </a:r>
            <a:r>
              <a:rPr lang="es-MX" sz="2000" b="1" i="1" dirty="0">
                <a:solidFill>
                  <a:schemeClr val="accent1">
                    <a:lumMod val="75000"/>
                  </a:schemeClr>
                </a:solidFill>
                <a:latin typeface="Arial" charset="0"/>
              </a:rPr>
              <a:t>DBMS</a:t>
            </a:r>
            <a:r>
              <a:rPr lang="es-MX" sz="2000" dirty="0">
                <a:latin typeface="Arial" charset="0"/>
              </a:rPr>
              <a:t> es el software que maneja todos los accesos a la Base de Datos.</a:t>
            </a:r>
          </a:p>
          <a:p>
            <a:pPr>
              <a:defRPr/>
            </a:pPr>
            <a:r>
              <a:rPr lang="es-MX" sz="2000" dirty="0">
                <a:latin typeface="Arial" charset="0"/>
              </a:rPr>
              <a:t>Durante un acceso a la BD:</a:t>
            </a:r>
          </a:p>
          <a:p>
            <a:pPr>
              <a:defRPr/>
            </a:pPr>
            <a:r>
              <a:rPr lang="es-MX" sz="2000" b="1" dirty="0">
                <a:latin typeface="Arial" charset="0"/>
              </a:rPr>
              <a:t>1. Un usuario solicita un acceso con un SLD</a:t>
            </a:r>
          </a:p>
          <a:p>
            <a:pPr>
              <a:defRPr/>
            </a:pPr>
            <a:r>
              <a:rPr lang="es-MX" sz="2000" b="1" dirty="0">
                <a:latin typeface="Arial" charset="0"/>
              </a:rPr>
              <a:t>2. El SMBD interpreta la solicitud y la analiza.</a:t>
            </a:r>
          </a:p>
          <a:p>
            <a:pPr>
              <a:defRPr/>
            </a:pPr>
            <a:r>
              <a:rPr lang="es-MX" sz="2000" b="1" dirty="0">
                <a:latin typeface="Arial" charset="0"/>
              </a:rPr>
              <a:t>3. El SMBD inspecciona: esquema externo, correspondencia externa/conceptual, esquema conceptual, correspondencia conceptual/interna, y esquema interno.</a:t>
            </a:r>
          </a:p>
          <a:p>
            <a:pPr>
              <a:defRPr/>
            </a:pPr>
            <a:r>
              <a:rPr lang="es-MX" sz="2000" b="1" dirty="0">
                <a:latin typeface="Arial" charset="0"/>
              </a:rPr>
              <a:t>4. El SMBD realiza las operaciones sobre la BD almacenada.</a:t>
            </a:r>
          </a:p>
          <a:p>
            <a:endParaRPr lang="es-MX" dirty="0"/>
          </a:p>
        </p:txBody>
      </p:sp>
      <p:pic>
        <p:nvPicPr>
          <p:cNvPr id="4"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l="1796" t="11250" r="5206" b="13644"/>
          <a:stretch>
            <a:fillRect/>
          </a:stretch>
        </p:blipFill>
        <p:spPr bwMode="auto">
          <a:xfrm>
            <a:off x="6982346" y="2310582"/>
            <a:ext cx="4694647" cy="2843341"/>
          </a:xfrm>
          <a:prstGeom prst="rect">
            <a:avLst/>
          </a:prstGeom>
          <a:noFill/>
          <a:ln w="38100" cmpd="dbl">
            <a:solidFill>
              <a:schemeClr val="tx2"/>
            </a:solidFill>
            <a:miter lim="800000"/>
            <a:headEnd/>
            <a:tailEnd/>
          </a:ln>
          <a:extLst>
            <a:ext uri="{909E8E84-426E-40DD-AFC4-6F175D3DCCD1}">
              <a14:hiddenFill xmlns:a14="http://schemas.microsoft.com/office/drawing/2010/main">
                <a:solidFill>
                  <a:srgbClr val="FFFFFF"/>
                </a:solidFill>
              </a14:hiddenFill>
            </a:ext>
          </a:extLst>
        </p:spPr>
      </p:pic>
      <p:sp>
        <p:nvSpPr>
          <p:cNvPr id="5" name="Marcador de número de diapositiva 4"/>
          <p:cNvSpPr>
            <a:spLocks noGrp="1"/>
          </p:cNvSpPr>
          <p:nvPr>
            <p:ph type="sldNum" sz="quarter" idx="12"/>
          </p:nvPr>
        </p:nvSpPr>
        <p:spPr/>
        <p:txBody>
          <a:bodyPr/>
          <a:lstStyle/>
          <a:p>
            <a:fld id="{535C381F-C058-4457-AC2A-473EAEE256FB}" type="slidenum">
              <a:rPr lang="es-MX" smtClean="0"/>
              <a:t>75</a:t>
            </a:fld>
            <a:endParaRPr lang="es-MX" dirty="0"/>
          </a:p>
        </p:txBody>
      </p:sp>
    </p:spTree>
    <p:extLst>
      <p:ext uri="{BB962C8B-B14F-4D97-AF65-F5344CB8AC3E}">
        <p14:creationId xmlns:p14="http://schemas.microsoft.com/office/powerpoint/2010/main" val="132081601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11" y="776362"/>
            <a:ext cx="10245091" cy="846210"/>
          </a:xfrm>
        </p:spPr>
        <p:txBody>
          <a:bodyPr/>
          <a:lstStyle/>
          <a:p>
            <a:r>
              <a:rPr lang="es-MX" b="1" i="1" dirty="0">
                <a:solidFill>
                  <a:schemeClr val="accent1">
                    <a:lumMod val="50000"/>
                  </a:schemeClr>
                </a:solidFill>
              </a:rPr>
              <a:t>1.3. </a:t>
            </a:r>
            <a:r>
              <a:rPr lang="en-US" b="1" i="1" dirty="0" err="1">
                <a:solidFill>
                  <a:schemeClr val="accent1">
                    <a:lumMod val="50000"/>
                  </a:schemeClr>
                </a:solidFill>
              </a:rPr>
              <a:t>Arquitectura</a:t>
            </a:r>
            <a:r>
              <a:rPr lang="en-US" b="1" i="1" dirty="0">
                <a:solidFill>
                  <a:schemeClr val="accent1">
                    <a:lumMod val="50000"/>
                  </a:schemeClr>
                </a:solidFill>
              </a:rPr>
              <a:t> de Bases de </a:t>
            </a:r>
            <a:r>
              <a:rPr lang="en-US" b="1" i="1" dirty="0" err="1">
                <a:solidFill>
                  <a:schemeClr val="accent1">
                    <a:lumMod val="50000"/>
                  </a:schemeClr>
                </a:solidFill>
              </a:rPr>
              <a:t>Datos</a:t>
            </a:r>
            <a:br>
              <a:rPr lang="es-MX" b="1" i="1" dirty="0">
                <a:solidFill>
                  <a:schemeClr val="accent1">
                    <a:lumMod val="50000"/>
                  </a:schemeClr>
                </a:solidFill>
              </a:rPr>
            </a:br>
            <a:endParaRPr lang="es-MX" b="1" dirty="0">
              <a:solidFill>
                <a:schemeClr val="accent1">
                  <a:lumMod val="50000"/>
                </a:schemeClr>
              </a:solidFill>
              <a:latin typeface="Arial" charset="0"/>
            </a:endParaRPr>
          </a:p>
        </p:txBody>
      </p:sp>
      <p:sp>
        <p:nvSpPr>
          <p:cNvPr id="3" name="Marcador de contenido 2"/>
          <p:cNvSpPr>
            <a:spLocks noGrp="1"/>
          </p:cNvSpPr>
          <p:nvPr>
            <p:ph sz="quarter" idx="13"/>
          </p:nvPr>
        </p:nvSpPr>
        <p:spPr>
          <a:xfrm>
            <a:off x="606569" y="2342495"/>
            <a:ext cx="6618383" cy="3899033"/>
          </a:xfrm>
        </p:spPr>
        <p:txBody>
          <a:bodyPr/>
          <a:lstStyle/>
          <a:p>
            <a:pPr>
              <a:defRPr/>
            </a:pPr>
            <a:r>
              <a:rPr lang="es-MX" dirty="0">
                <a:latin typeface="Arial" charset="0"/>
              </a:rPr>
              <a:t>Las funciones del </a:t>
            </a:r>
            <a:r>
              <a:rPr lang="es-MX" b="1" dirty="0">
                <a:latin typeface="Arial" charset="0"/>
              </a:rPr>
              <a:t>SMBD</a:t>
            </a:r>
            <a:r>
              <a:rPr lang="es-MX" dirty="0">
                <a:latin typeface="Arial" charset="0"/>
              </a:rPr>
              <a:t> son:</a:t>
            </a:r>
          </a:p>
          <a:p>
            <a:pPr lvl="1">
              <a:buClr>
                <a:schemeClr val="tx1"/>
              </a:buClr>
              <a:defRPr/>
            </a:pPr>
            <a:r>
              <a:rPr lang="es-MX" sz="2000" dirty="0">
                <a:latin typeface="Arial" charset="0"/>
              </a:rPr>
              <a:t>Definición de los datos (Data </a:t>
            </a:r>
            <a:r>
              <a:rPr lang="es-MX" sz="2000" dirty="0" err="1">
                <a:latin typeface="Arial" charset="0"/>
              </a:rPr>
              <a:t>Definition</a:t>
            </a:r>
            <a:r>
              <a:rPr lang="es-MX" sz="2000" dirty="0">
                <a:latin typeface="Arial" charset="0"/>
              </a:rPr>
              <a:t>, DD)</a:t>
            </a:r>
          </a:p>
          <a:p>
            <a:pPr lvl="1">
              <a:buClr>
                <a:schemeClr val="tx1"/>
              </a:buClr>
              <a:defRPr/>
            </a:pPr>
            <a:r>
              <a:rPr lang="es-MX" sz="2000" dirty="0">
                <a:latin typeface="Arial" charset="0"/>
              </a:rPr>
              <a:t>Manipulación de los Datos (Data </a:t>
            </a:r>
            <a:r>
              <a:rPr lang="es-MX" sz="2000" dirty="0" err="1">
                <a:latin typeface="Arial" charset="0"/>
              </a:rPr>
              <a:t>Manipulation</a:t>
            </a:r>
            <a:r>
              <a:rPr lang="es-MX" sz="2000" dirty="0">
                <a:latin typeface="Arial" charset="0"/>
              </a:rPr>
              <a:t>, DM)</a:t>
            </a:r>
          </a:p>
          <a:p>
            <a:pPr lvl="2">
              <a:buClr>
                <a:schemeClr val="tx1"/>
              </a:buClr>
              <a:defRPr/>
            </a:pPr>
            <a:r>
              <a:rPr lang="es-MX" dirty="0">
                <a:latin typeface="Arial" charset="0"/>
              </a:rPr>
              <a:t>Requisiciones planeadas (estructuradas)</a:t>
            </a:r>
          </a:p>
          <a:p>
            <a:pPr lvl="2">
              <a:buClr>
                <a:schemeClr val="tx1"/>
              </a:buClr>
              <a:defRPr/>
            </a:pPr>
            <a:r>
              <a:rPr lang="es-MX" dirty="0">
                <a:latin typeface="Arial" charset="0"/>
              </a:rPr>
              <a:t>Requisiciones no planeadas (no estructuradas)</a:t>
            </a:r>
          </a:p>
          <a:p>
            <a:pPr lvl="1">
              <a:buClr>
                <a:schemeClr val="tx1"/>
              </a:buClr>
              <a:defRPr/>
            </a:pPr>
            <a:r>
              <a:rPr lang="es-MX" sz="2000" dirty="0">
                <a:latin typeface="Arial" charset="0"/>
              </a:rPr>
              <a:t>Seguridad e integridad de los datos</a:t>
            </a:r>
          </a:p>
          <a:p>
            <a:pPr lvl="1">
              <a:buClr>
                <a:schemeClr val="tx1"/>
              </a:buClr>
              <a:defRPr/>
            </a:pPr>
            <a:r>
              <a:rPr lang="es-MX" sz="2000" dirty="0">
                <a:latin typeface="Arial" charset="0"/>
              </a:rPr>
              <a:t>Recuperación y concurrencia</a:t>
            </a:r>
          </a:p>
          <a:p>
            <a:pPr lvl="1">
              <a:buClr>
                <a:schemeClr val="tx1"/>
              </a:buClr>
              <a:defRPr/>
            </a:pPr>
            <a:r>
              <a:rPr lang="es-MX" sz="2000" dirty="0">
                <a:latin typeface="Arial" charset="0"/>
              </a:rPr>
              <a:t>Diccionario de datos</a:t>
            </a:r>
          </a:p>
          <a:p>
            <a:pPr lvl="1">
              <a:buClr>
                <a:schemeClr val="tx1"/>
              </a:buClr>
              <a:defRPr/>
            </a:pPr>
            <a:r>
              <a:rPr lang="es-MX" sz="2000" dirty="0">
                <a:latin typeface="Arial" charset="0"/>
              </a:rPr>
              <a:t>Desempeño</a:t>
            </a:r>
            <a:endParaRPr lang="es-ES" sz="2000" dirty="0">
              <a:latin typeface="Arial" charset="0"/>
            </a:endParaRPr>
          </a:p>
          <a:p>
            <a:endParaRPr lang="es-MX" dirty="0"/>
          </a:p>
        </p:txBody>
      </p:sp>
      <p:sp>
        <p:nvSpPr>
          <p:cNvPr id="4" name="Marcador de número de diapositiva 3"/>
          <p:cNvSpPr>
            <a:spLocks noGrp="1"/>
          </p:cNvSpPr>
          <p:nvPr>
            <p:ph type="sldNum" sz="quarter" idx="12"/>
          </p:nvPr>
        </p:nvSpPr>
        <p:spPr/>
        <p:txBody>
          <a:bodyPr/>
          <a:lstStyle/>
          <a:p>
            <a:fld id="{535C381F-C058-4457-AC2A-473EAEE256FB}" type="slidenum">
              <a:rPr lang="es-MX" smtClean="0"/>
              <a:t>76</a:t>
            </a:fld>
            <a:endParaRPr lang="es-MX" dirty="0"/>
          </a:p>
        </p:txBody>
      </p:sp>
      <p:pic>
        <p:nvPicPr>
          <p:cNvPr id="5" name="Imagen 4"/>
          <p:cNvPicPr>
            <a:picLocks noChangeAspect="1"/>
          </p:cNvPicPr>
          <p:nvPr/>
        </p:nvPicPr>
        <p:blipFill>
          <a:blip r:embed="rId2"/>
          <a:stretch>
            <a:fillRect/>
          </a:stretch>
        </p:blipFill>
        <p:spPr>
          <a:xfrm>
            <a:off x="7224952" y="1862546"/>
            <a:ext cx="4810161" cy="4858933"/>
          </a:xfrm>
          <a:prstGeom prst="rect">
            <a:avLst/>
          </a:prstGeom>
        </p:spPr>
      </p:pic>
    </p:spTree>
    <p:extLst>
      <p:ext uri="{BB962C8B-B14F-4D97-AF65-F5344CB8AC3E}">
        <p14:creationId xmlns:p14="http://schemas.microsoft.com/office/powerpoint/2010/main" val="322766173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p:cNvSpPr>
            <a:spLocks noGrp="1"/>
          </p:cNvSpPr>
          <p:nvPr>
            <p:ph sz="quarter" idx="13"/>
          </p:nvPr>
        </p:nvSpPr>
        <p:spPr>
          <a:xfrm>
            <a:off x="1515285" y="2054289"/>
            <a:ext cx="10298359" cy="1878615"/>
          </a:xfrm>
        </p:spPr>
        <p:txBody>
          <a:bodyPr/>
          <a:lstStyle/>
          <a:p>
            <a:pPr algn="just"/>
            <a:r>
              <a:rPr lang="es-MX" dirty="0"/>
              <a:t>La arquitectura de un SBD se encuentra influenciada en gran medida por el sistema informático subyacente en el que se ejecuta, particularmente debe considerar aspectos como la arquitectura de la computadora, la conexión en red, el paralelismo y la distribución.</a:t>
            </a:r>
            <a:endParaRPr lang="es-MX" sz="6600" b="1" dirty="0">
              <a:latin typeface="Arial" panose="020B0604020202020204" pitchFamily="34" charset="0"/>
              <a:cs typeface="Arial" panose="020B0604020202020204" pitchFamily="34" charset="0"/>
            </a:endParaRPr>
          </a:p>
        </p:txBody>
      </p:sp>
      <p:pic>
        <p:nvPicPr>
          <p:cNvPr id="3" name="Imagen 2"/>
          <p:cNvPicPr>
            <a:picLocks noChangeAspect="1"/>
          </p:cNvPicPr>
          <p:nvPr/>
        </p:nvPicPr>
        <p:blipFill>
          <a:blip r:embed="rId2"/>
          <a:stretch>
            <a:fillRect/>
          </a:stretch>
        </p:blipFill>
        <p:spPr>
          <a:xfrm>
            <a:off x="1515285" y="4061254"/>
            <a:ext cx="2915842" cy="1801770"/>
          </a:xfrm>
          <a:prstGeom prst="rect">
            <a:avLst/>
          </a:prstGeom>
          <a:effectLst>
            <a:outerShdw blurRad="63500" sx="102000" sy="102000" algn="ctr" rotWithShape="0">
              <a:prstClr val="black">
                <a:alpha val="40000"/>
              </a:prstClr>
            </a:outerShdw>
          </a:effectLst>
        </p:spPr>
      </p:pic>
      <p:pic>
        <p:nvPicPr>
          <p:cNvPr id="4" name="Imagen 3"/>
          <p:cNvPicPr>
            <a:picLocks noChangeAspect="1"/>
          </p:cNvPicPr>
          <p:nvPr/>
        </p:nvPicPr>
        <p:blipFill>
          <a:blip r:embed="rId3"/>
          <a:stretch>
            <a:fillRect/>
          </a:stretch>
        </p:blipFill>
        <p:spPr>
          <a:xfrm>
            <a:off x="5197671" y="4061254"/>
            <a:ext cx="2820727" cy="1883761"/>
          </a:xfrm>
          <a:prstGeom prst="rect">
            <a:avLst/>
          </a:prstGeom>
          <a:effectLst>
            <a:outerShdw blurRad="63500" sx="102000" sy="102000" algn="ctr" rotWithShape="0">
              <a:prstClr val="black">
                <a:alpha val="40000"/>
              </a:prstClr>
            </a:outerShdw>
          </a:effectLst>
        </p:spPr>
      </p:pic>
      <p:pic>
        <p:nvPicPr>
          <p:cNvPr id="6" name="Imagen 5"/>
          <p:cNvPicPr>
            <a:picLocks noChangeAspect="1"/>
          </p:cNvPicPr>
          <p:nvPr/>
        </p:nvPicPr>
        <p:blipFill rotWithShape="1">
          <a:blip r:embed="rId4"/>
          <a:srcRect l="18521" t="30952" r="4911" b="9305"/>
          <a:stretch/>
        </p:blipFill>
        <p:spPr>
          <a:xfrm>
            <a:off x="8777570" y="4066331"/>
            <a:ext cx="3070300" cy="1796694"/>
          </a:xfrm>
          <a:prstGeom prst="rect">
            <a:avLst/>
          </a:prstGeom>
          <a:effectLst>
            <a:outerShdw blurRad="63500" sx="102000" sy="102000" algn="ctr" rotWithShape="0">
              <a:prstClr val="black">
                <a:alpha val="40000"/>
              </a:prstClr>
            </a:outerShdw>
          </a:effectLst>
        </p:spPr>
      </p:pic>
      <p:sp>
        <p:nvSpPr>
          <p:cNvPr id="7" name="Título 1"/>
          <p:cNvSpPr>
            <a:spLocks noGrp="1"/>
          </p:cNvSpPr>
          <p:nvPr>
            <p:ph type="title"/>
          </p:nvPr>
        </p:nvSpPr>
        <p:spPr>
          <a:xfrm>
            <a:off x="1108709" y="966951"/>
            <a:ext cx="10245091" cy="533885"/>
          </a:xfrm>
        </p:spPr>
        <p:txBody>
          <a:bodyPr/>
          <a:lstStyle/>
          <a:p>
            <a:r>
              <a:rPr lang="es-MX" b="1" i="1" dirty="0">
                <a:solidFill>
                  <a:schemeClr val="accent1">
                    <a:lumMod val="50000"/>
                  </a:schemeClr>
                </a:solidFill>
              </a:rPr>
              <a:t>1.3. </a:t>
            </a:r>
            <a:r>
              <a:rPr lang="en-US" b="1" i="1" dirty="0" err="1">
                <a:solidFill>
                  <a:schemeClr val="accent1">
                    <a:lumMod val="50000"/>
                  </a:schemeClr>
                </a:solidFill>
              </a:rPr>
              <a:t>Arquitectura</a:t>
            </a:r>
            <a:r>
              <a:rPr lang="en-US" b="1" i="1" dirty="0">
                <a:solidFill>
                  <a:schemeClr val="accent1">
                    <a:lumMod val="50000"/>
                  </a:schemeClr>
                </a:solidFill>
              </a:rPr>
              <a:t> de Bases de </a:t>
            </a:r>
            <a:r>
              <a:rPr lang="en-US" b="1" i="1" dirty="0" err="1">
                <a:solidFill>
                  <a:schemeClr val="accent1">
                    <a:lumMod val="50000"/>
                  </a:schemeClr>
                </a:solidFill>
              </a:rPr>
              <a:t>Datos</a:t>
            </a:r>
            <a:br>
              <a:rPr lang="es-MX" b="1" i="1" dirty="0">
                <a:solidFill>
                  <a:schemeClr val="accent1">
                    <a:lumMod val="50000"/>
                  </a:schemeClr>
                </a:solidFill>
              </a:rPr>
            </a:br>
            <a:endParaRPr lang="es-MX" b="1" dirty="0">
              <a:solidFill>
                <a:schemeClr val="accent1">
                  <a:lumMod val="50000"/>
                </a:schemeClr>
              </a:solidFill>
            </a:endParaRPr>
          </a:p>
        </p:txBody>
      </p:sp>
    </p:spTree>
    <p:extLst>
      <p:ext uri="{BB962C8B-B14F-4D97-AF65-F5344CB8AC3E}">
        <p14:creationId xmlns:p14="http://schemas.microsoft.com/office/powerpoint/2010/main" val="621531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randombar(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inVertic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arn(inVertical)">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p:cNvSpPr>
            <a:spLocks noGrp="1"/>
          </p:cNvSpPr>
          <p:nvPr>
            <p:ph sz="quarter" idx="13"/>
          </p:nvPr>
        </p:nvSpPr>
        <p:spPr>
          <a:xfrm>
            <a:off x="1515285" y="2054289"/>
            <a:ext cx="10298359" cy="1151027"/>
          </a:xfrm>
        </p:spPr>
        <p:txBody>
          <a:bodyPr/>
          <a:lstStyle/>
          <a:p>
            <a:pPr algn="just"/>
            <a:r>
              <a:rPr lang="es-MX" dirty="0"/>
              <a:t>Los sistemas de bases de datos centralizados son aquellos que se ejecutan en un único sistema informático sin interaccionar con ninguna otra computadora.</a:t>
            </a:r>
            <a:endParaRPr lang="es-MX" sz="6600" b="1" dirty="0">
              <a:latin typeface="Arial" panose="020B0604020202020204" pitchFamily="34" charset="0"/>
              <a:cs typeface="Arial" panose="020B0604020202020204" pitchFamily="34" charset="0"/>
            </a:endParaRPr>
          </a:p>
        </p:txBody>
      </p:sp>
      <p:sp>
        <p:nvSpPr>
          <p:cNvPr id="7" name="Marcador de contenido 2"/>
          <p:cNvSpPr txBox="1">
            <a:spLocks/>
          </p:cNvSpPr>
          <p:nvPr/>
        </p:nvSpPr>
        <p:spPr>
          <a:xfrm>
            <a:off x="1602659" y="3327566"/>
            <a:ext cx="10210986" cy="2463634"/>
          </a:xfrm>
          <a:prstGeom prst="rect">
            <a:avLst/>
          </a:prstGeom>
        </p:spPr>
        <p:txBody>
          <a:bodyPr/>
          <a:lstStyle>
            <a:lvl1pPr marL="0" indent="0" algn="l" defTabSz="914377"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buFont typeface="Wingdings" panose="05000000000000000000" pitchFamily="2" charset="2"/>
              <a:buChar char="§"/>
            </a:pPr>
            <a:r>
              <a:rPr lang="en-US" sz="2000" dirty="0"/>
              <a:t>Una </a:t>
            </a:r>
            <a:r>
              <a:rPr lang="en-US" sz="2000" dirty="0" err="1"/>
              <a:t>computadora</a:t>
            </a:r>
            <a:r>
              <a:rPr lang="en-US" sz="2000" dirty="0"/>
              <a:t> </a:t>
            </a:r>
            <a:r>
              <a:rPr lang="en-US" sz="2000" dirty="0" err="1"/>
              <a:t>integra</a:t>
            </a:r>
            <a:r>
              <a:rPr lang="en-US" sz="2000" dirty="0"/>
              <a:t> </a:t>
            </a:r>
            <a:r>
              <a:rPr lang="es-MX" sz="2000" dirty="0"/>
              <a:t>una o varias CPU y un número determinado de controladores para dispositivos que se encuentran conectados a través de un bus, el cual proporciona acceso a </a:t>
            </a:r>
            <a:r>
              <a:rPr lang="en-US" sz="2000" dirty="0"/>
              <a:t>la </a:t>
            </a:r>
            <a:r>
              <a:rPr lang="en-US" sz="2000" dirty="0" err="1"/>
              <a:t>memoria</a:t>
            </a:r>
            <a:r>
              <a:rPr lang="en-US" sz="2000" dirty="0"/>
              <a:t> </a:t>
            </a:r>
            <a:r>
              <a:rPr lang="en-US" sz="2000" dirty="0" err="1"/>
              <a:t>compartida</a:t>
            </a:r>
            <a:r>
              <a:rPr lang="en-US" sz="2000" dirty="0"/>
              <a:t>. </a:t>
            </a:r>
          </a:p>
          <a:p>
            <a:pPr marL="342900" indent="-342900" algn="just">
              <a:buFont typeface="Wingdings" panose="05000000000000000000" pitchFamily="2" charset="2"/>
              <a:buChar char="§"/>
            </a:pPr>
            <a:r>
              <a:rPr lang="en-US" sz="2000" dirty="0"/>
              <a:t>Las CPU </a:t>
            </a:r>
            <a:r>
              <a:rPr lang="en-US" sz="2000" dirty="0" err="1"/>
              <a:t>poseen</a:t>
            </a:r>
            <a:r>
              <a:rPr lang="en-US" sz="2000" dirty="0"/>
              <a:t> </a:t>
            </a:r>
            <a:r>
              <a:rPr lang="en-US" sz="2000" dirty="0" err="1"/>
              <a:t>memorias</a:t>
            </a:r>
            <a:r>
              <a:rPr lang="en-US" sz="2000" dirty="0"/>
              <a:t> </a:t>
            </a:r>
            <a:r>
              <a:rPr lang="en-US" sz="2000" i="1" dirty="0" err="1"/>
              <a:t>caché</a:t>
            </a:r>
            <a:r>
              <a:rPr lang="en-US" sz="2000" dirty="0"/>
              <a:t> </a:t>
            </a:r>
            <a:r>
              <a:rPr lang="es-MX" sz="2000" dirty="0"/>
              <a:t>locales donde se almacenan copias de ciertas partes de la memoria para acelerar el acceso a los datos</a:t>
            </a:r>
            <a:r>
              <a:rPr lang="en-US" sz="2000" dirty="0"/>
              <a:t>.</a:t>
            </a:r>
          </a:p>
          <a:p>
            <a:pPr marL="342900" indent="-342900" algn="just">
              <a:buFont typeface="Wingdings" panose="05000000000000000000" pitchFamily="2" charset="2"/>
              <a:buChar char="§"/>
            </a:pPr>
            <a:r>
              <a:rPr lang="es-MX" sz="2000" dirty="0"/>
              <a:t>Se distinguen dos maneras de utilizarlas: un solo usuario, o permitiendo el acceso multiusuarios.</a:t>
            </a:r>
          </a:p>
        </p:txBody>
      </p:sp>
      <p:sp>
        <p:nvSpPr>
          <p:cNvPr id="6" name="Título 1"/>
          <p:cNvSpPr>
            <a:spLocks noGrp="1"/>
          </p:cNvSpPr>
          <p:nvPr>
            <p:ph type="title"/>
          </p:nvPr>
        </p:nvSpPr>
        <p:spPr>
          <a:xfrm>
            <a:off x="1108709" y="966951"/>
            <a:ext cx="10245091" cy="533885"/>
          </a:xfrm>
        </p:spPr>
        <p:txBody>
          <a:bodyPr/>
          <a:lstStyle/>
          <a:p>
            <a:r>
              <a:rPr lang="es-MX" b="1" i="1" dirty="0">
                <a:solidFill>
                  <a:schemeClr val="accent1">
                    <a:lumMod val="50000"/>
                  </a:schemeClr>
                </a:solidFill>
              </a:rPr>
              <a:t>1.3. </a:t>
            </a:r>
            <a:r>
              <a:rPr lang="en-US" b="1" i="1" dirty="0" err="1">
                <a:solidFill>
                  <a:schemeClr val="accent1">
                    <a:lumMod val="50000"/>
                  </a:schemeClr>
                </a:solidFill>
              </a:rPr>
              <a:t>Arquitectura</a:t>
            </a:r>
            <a:r>
              <a:rPr lang="en-US" b="1" i="1" dirty="0">
                <a:solidFill>
                  <a:schemeClr val="accent1">
                    <a:lumMod val="50000"/>
                  </a:schemeClr>
                </a:solidFill>
              </a:rPr>
              <a:t> de Bases de </a:t>
            </a:r>
            <a:r>
              <a:rPr lang="en-US" b="1" i="1" dirty="0" err="1">
                <a:solidFill>
                  <a:schemeClr val="accent1">
                    <a:lumMod val="50000"/>
                  </a:schemeClr>
                </a:solidFill>
              </a:rPr>
              <a:t>Datos</a:t>
            </a:r>
            <a:br>
              <a:rPr lang="es-MX" b="1" i="1" dirty="0">
                <a:solidFill>
                  <a:schemeClr val="accent1">
                    <a:lumMod val="50000"/>
                  </a:schemeClr>
                </a:solidFill>
              </a:rPr>
            </a:br>
            <a:endParaRPr lang="es-MX" b="1" dirty="0">
              <a:solidFill>
                <a:schemeClr val="accent1">
                  <a:lumMod val="50000"/>
                </a:schemeClr>
              </a:solidFill>
            </a:endParaRPr>
          </a:p>
        </p:txBody>
      </p:sp>
    </p:spTree>
    <p:extLst>
      <p:ext uri="{BB962C8B-B14F-4D97-AF65-F5344CB8AC3E}">
        <p14:creationId xmlns:p14="http://schemas.microsoft.com/office/powerpoint/2010/main" val="2352405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randombar(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randombar(horizontal)">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randombar(horizontal)">
                                      <p:cBhvr>
                                        <p:cTn id="17" dur="500"/>
                                        <p:tgtEl>
                                          <p:spTgt spid="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7">
                                            <p:txEl>
                                              <p:pRg st="2" end="2"/>
                                            </p:txEl>
                                          </p:spTgt>
                                        </p:tgtEl>
                                        <p:attrNameLst>
                                          <p:attrName>style.visibility</p:attrName>
                                        </p:attrNameLst>
                                      </p:cBhvr>
                                      <p:to>
                                        <p:strVal val="visible"/>
                                      </p:to>
                                    </p:set>
                                    <p:animEffect transition="in" filter="randombar(horizontal)">
                                      <p:cBhvr>
                                        <p:cTn id="22"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7"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p:cNvSpPr>
            <a:spLocks noGrp="1"/>
          </p:cNvSpPr>
          <p:nvPr>
            <p:ph sz="quarter" idx="13"/>
          </p:nvPr>
        </p:nvSpPr>
        <p:spPr>
          <a:xfrm>
            <a:off x="1515285" y="2054289"/>
            <a:ext cx="10298359" cy="1583646"/>
          </a:xfrm>
        </p:spPr>
        <p:txBody>
          <a:bodyPr/>
          <a:lstStyle/>
          <a:p>
            <a:pPr algn="just"/>
            <a:r>
              <a:rPr lang="en-US" dirty="0"/>
              <a:t>Un </a:t>
            </a:r>
            <a:r>
              <a:rPr lang="en-US" b="1" dirty="0" err="1">
                <a:solidFill>
                  <a:schemeClr val="accent1">
                    <a:lumMod val="75000"/>
                  </a:schemeClr>
                </a:solidFill>
              </a:rPr>
              <a:t>sistema</a:t>
            </a:r>
            <a:r>
              <a:rPr lang="en-US" b="1" dirty="0">
                <a:solidFill>
                  <a:schemeClr val="accent1">
                    <a:lumMod val="75000"/>
                  </a:schemeClr>
                </a:solidFill>
              </a:rPr>
              <a:t> </a:t>
            </a:r>
            <a:r>
              <a:rPr lang="en-US" b="1" dirty="0" err="1">
                <a:solidFill>
                  <a:schemeClr val="accent1">
                    <a:lumMod val="75000"/>
                  </a:schemeClr>
                </a:solidFill>
              </a:rPr>
              <a:t>monousuario</a:t>
            </a:r>
            <a:r>
              <a:rPr lang="en-US" b="1" dirty="0">
                <a:solidFill>
                  <a:schemeClr val="accent1">
                    <a:lumMod val="75000"/>
                  </a:schemeClr>
                </a:solidFill>
              </a:rPr>
              <a:t> </a:t>
            </a:r>
            <a:r>
              <a:rPr lang="en-US" dirty="0" err="1"/>
              <a:t>típico</a:t>
            </a:r>
            <a:r>
              <a:rPr lang="en-US" dirty="0"/>
              <a:t> </a:t>
            </a:r>
            <a:r>
              <a:rPr lang="es-MX" dirty="0"/>
              <a:t>es una unidad de escritorio utilizada por una única persona (a la vez) que dispone de una/dos CPU, de uno o dos discos fijos y que trabaja con un sistema operativo que sólo </a:t>
            </a:r>
            <a:r>
              <a:rPr lang="en-US" dirty="0" err="1"/>
              <a:t>permite</a:t>
            </a:r>
            <a:r>
              <a:rPr lang="en-US" dirty="0"/>
              <a:t> un </a:t>
            </a:r>
            <a:r>
              <a:rPr lang="en-US" dirty="0" err="1"/>
              <a:t>único</a:t>
            </a:r>
            <a:r>
              <a:rPr lang="en-US" dirty="0"/>
              <a:t> </a:t>
            </a:r>
            <a:r>
              <a:rPr lang="en-US" dirty="0" err="1"/>
              <a:t>usuario</a:t>
            </a:r>
            <a:r>
              <a:rPr lang="en-US" dirty="0"/>
              <a:t>.</a:t>
            </a:r>
            <a:endParaRPr lang="es-MX" sz="6600" b="1" dirty="0">
              <a:latin typeface="Arial" panose="020B0604020202020204" pitchFamily="34" charset="0"/>
              <a:cs typeface="Arial" panose="020B0604020202020204" pitchFamily="34" charset="0"/>
            </a:endParaRPr>
          </a:p>
        </p:txBody>
      </p:sp>
      <p:pic>
        <p:nvPicPr>
          <p:cNvPr id="3" name="Imagen 2"/>
          <p:cNvPicPr>
            <a:picLocks noChangeAspect="1"/>
          </p:cNvPicPr>
          <p:nvPr/>
        </p:nvPicPr>
        <p:blipFill>
          <a:blip r:embed="rId2"/>
          <a:stretch>
            <a:fillRect/>
          </a:stretch>
        </p:blipFill>
        <p:spPr>
          <a:xfrm>
            <a:off x="5758784" y="3792331"/>
            <a:ext cx="4081820" cy="2382326"/>
          </a:xfrm>
          <a:prstGeom prst="rect">
            <a:avLst/>
          </a:prstGeom>
        </p:spPr>
      </p:pic>
      <p:sp>
        <p:nvSpPr>
          <p:cNvPr id="7" name="Título 1"/>
          <p:cNvSpPr>
            <a:spLocks noGrp="1"/>
          </p:cNvSpPr>
          <p:nvPr>
            <p:ph type="title"/>
          </p:nvPr>
        </p:nvSpPr>
        <p:spPr>
          <a:xfrm>
            <a:off x="1108709" y="966951"/>
            <a:ext cx="10245091" cy="533885"/>
          </a:xfrm>
        </p:spPr>
        <p:txBody>
          <a:bodyPr/>
          <a:lstStyle/>
          <a:p>
            <a:r>
              <a:rPr lang="es-MX" b="1" i="1" dirty="0">
                <a:solidFill>
                  <a:schemeClr val="accent1">
                    <a:lumMod val="50000"/>
                  </a:schemeClr>
                </a:solidFill>
              </a:rPr>
              <a:t>1.3. </a:t>
            </a:r>
            <a:r>
              <a:rPr lang="en-US" b="1" i="1" dirty="0" err="1">
                <a:solidFill>
                  <a:schemeClr val="accent1">
                    <a:lumMod val="50000"/>
                  </a:schemeClr>
                </a:solidFill>
              </a:rPr>
              <a:t>Arquitectura</a:t>
            </a:r>
            <a:r>
              <a:rPr lang="en-US" b="1" i="1" dirty="0">
                <a:solidFill>
                  <a:schemeClr val="accent1">
                    <a:lumMod val="50000"/>
                  </a:schemeClr>
                </a:solidFill>
              </a:rPr>
              <a:t> de Bases de </a:t>
            </a:r>
            <a:r>
              <a:rPr lang="en-US" b="1" i="1" dirty="0" err="1">
                <a:solidFill>
                  <a:schemeClr val="accent1">
                    <a:lumMod val="50000"/>
                  </a:schemeClr>
                </a:solidFill>
              </a:rPr>
              <a:t>Datos</a:t>
            </a:r>
            <a:br>
              <a:rPr lang="es-MX" b="1" i="1" dirty="0">
                <a:solidFill>
                  <a:schemeClr val="accent1">
                    <a:lumMod val="50000"/>
                  </a:schemeClr>
                </a:solidFill>
              </a:rPr>
            </a:br>
            <a:endParaRPr lang="es-MX" b="1" dirty="0">
              <a:solidFill>
                <a:schemeClr val="accent1">
                  <a:lumMod val="50000"/>
                </a:schemeClr>
              </a:solidFill>
            </a:endParaRPr>
          </a:p>
        </p:txBody>
      </p:sp>
    </p:spTree>
    <p:extLst>
      <p:ext uri="{BB962C8B-B14F-4D97-AF65-F5344CB8AC3E}">
        <p14:creationId xmlns:p14="http://schemas.microsoft.com/office/powerpoint/2010/main" val="2139315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randombar(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randombar(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93379"/>
            <a:ext cx="10245091" cy="607458"/>
          </a:xfrm>
        </p:spPr>
        <p:txBody>
          <a:bodyPr/>
          <a:lstStyle/>
          <a:p>
            <a:r>
              <a:rPr lang="es-MX" b="1" dirty="0">
                <a:solidFill>
                  <a:schemeClr val="accent1">
                    <a:lumMod val="50000"/>
                  </a:schemeClr>
                </a:solidFill>
                <a:latin typeface="Arial" charset="0"/>
              </a:rPr>
              <a:t>Arquitecturas de los SBD: Sistemas Centralizados</a:t>
            </a:r>
            <a:endParaRPr lang="es-MX" dirty="0"/>
          </a:p>
        </p:txBody>
      </p:sp>
      <p:sp>
        <p:nvSpPr>
          <p:cNvPr id="5" name="Marcador de contenido 2"/>
          <p:cNvSpPr>
            <a:spLocks noGrp="1"/>
          </p:cNvSpPr>
          <p:nvPr>
            <p:ph sz="quarter" idx="13"/>
          </p:nvPr>
        </p:nvSpPr>
        <p:spPr>
          <a:xfrm>
            <a:off x="1515285" y="2054289"/>
            <a:ext cx="10298359" cy="1583646"/>
          </a:xfrm>
        </p:spPr>
        <p:txBody>
          <a:bodyPr/>
          <a:lstStyle/>
          <a:p>
            <a:pPr algn="just"/>
            <a:r>
              <a:rPr lang="en-US" dirty="0"/>
              <a:t>Un </a:t>
            </a:r>
            <a:r>
              <a:rPr lang="en-US" b="1" i="1" dirty="0" err="1">
                <a:solidFill>
                  <a:schemeClr val="accent1">
                    <a:lumMod val="75000"/>
                  </a:schemeClr>
                </a:solidFill>
              </a:rPr>
              <a:t>sistema</a:t>
            </a:r>
            <a:r>
              <a:rPr lang="en-US" b="1" i="1" dirty="0">
                <a:solidFill>
                  <a:schemeClr val="accent1">
                    <a:lumMod val="75000"/>
                  </a:schemeClr>
                </a:solidFill>
              </a:rPr>
              <a:t> </a:t>
            </a:r>
            <a:r>
              <a:rPr lang="es-MX" b="1" i="1" dirty="0">
                <a:solidFill>
                  <a:schemeClr val="accent1">
                    <a:lumMod val="75000"/>
                  </a:schemeClr>
                </a:solidFill>
              </a:rPr>
              <a:t>multiusuario </a:t>
            </a:r>
            <a:r>
              <a:rPr lang="es-MX" dirty="0"/>
              <a:t>típico tiene más discos y más memoria, puede disponer de varias CPU y trabaja con un sistema </a:t>
            </a:r>
            <a:r>
              <a:rPr lang="en-US" dirty="0" err="1"/>
              <a:t>operativo</a:t>
            </a:r>
            <a:r>
              <a:rPr lang="en-US" dirty="0"/>
              <a:t> </a:t>
            </a:r>
            <a:r>
              <a:rPr lang="en-US" dirty="0" err="1"/>
              <a:t>multiusuario</a:t>
            </a:r>
            <a:r>
              <a:rPr lang="en-US" dirty="0"/>
              <a:t>. Se </a:t>
            </a:r>
            <a:r>
              <a:rPr lang="en-US" dirty="0" err="1"/>
              <a:t>encarga</a:t>
            </a:r>
            <a:r>
              <a:rPr lang="en-US" dirty="0"/>
              <a:t> de </a:t>
            </a:r>
            <a:r>
              <a:rPr lang="en-US" dirty="0" err="1"/>
              <a:t>dar</a:t>
            </a:r>
            <a:r>
              <a:rPr lang="en-US" dirty="0"/>
              <a:t> </a:t>
            </a:r>
            <a:r>
              <a:rPr lang="en-US" dirty="0" err="1"/>
              <a:t>servicio</a:t>
            </a:r>
            <a:r>
              <a:rPr lang="en-US" dirty="0"/>
              <a:t> a un </a:t>
            </a:r>
            <a:r>
              <a:rPr lang="es-MX" dirty="0"/>
              <a:t>gran número de usuarios que están conectados al sistema </a:t>
            </a:r>
            <a:r>
              <a:rPr lang="en-US" dirty="0"/>
              <a:t>a </a:t>
            </a:r>
            <a:r>
              <a:rPr lang="en-US" dirty="0" err="1"/>
              <a:t>través</a:t>
            </a:r>
            <a:r>
              <a:rPr lang="en-US" dirty="0"/>
              <a:t> de </a:t>
            </a:r>
            <a:r>
              <a:rPr lang="en-US" dirty="0" err="1"/>
              <a:t>terminales</a:t>
            </a:r>
            <a:r>
              <a:rPr lang="en-US" dirty="0"/>
              <a:t>.</a:t>
            </a:r>
            <a:endParaRPr lang="es-MX" sz="6600" b="1" dirty="0">
              <a:latin typeface="Arial" panose="020B0604020202020204" pitchFamily="34" charset="0"/>
              <a:cs typeface="Arial" panose="020B0604020202020204" pitchFamily="34" charset="0"/>
            </a:endParaRPr>
          </a:p>
        </p:txBody>
      </p:sp>
      <p:pic>
        <p:nvPicPr>
          <p:cNvPr id="7170" name="Picture 2" descr="Resultado de imagen para sistema multiusuari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1741" y="3637935"/>
            <a:ext cx="5238750" cy="3105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7486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randombar(horizontal)">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p:cNvSpPr>
            <a:spLocks noGrp="1"/>
          </p:cNvSpPr>
          <p:nvPr>
            <p:ph sz="quarter" idx="13"/>
          </p:nvPr>
        </p:nvSpPr>
        <p:spPr>
          <a:xfrm>
            <a:off x="1515283" y="1999025"/>
            <a:ext cx="10298359" cy="1437858"/>
          </a:xfrm>
        </p:spPr>
        <p:txBody>
          <a:bodyPr/>
          <a:lstStyle/>
          <a:p>
            <a:pPr algn="just"/>
            <a:r>
              <a:rPr lang="en-US" dirty="0"/>
              <a:t>Los </a:t>
            </a:r>
            <a:r>
              <a:rPr lang="en-US" b="1" dirty="0" err="1">
                <a:solidFill>
                  <a:schemeClr val="accent1">
                    <a:lumMod val="75000"/>
                  </a:schemeClr>
                </a:solidFill>
              </a:rPr>
              <a:t>sistemas</a:t>
            </a:r>
            <a:r>
              <a:rPr lang="en-US" b="1" dirty="0">
                <a:solidFill>
                  <a:schemeClr val="accent1">
                    <a:lumMod val="75000"/>
                  </a:schemeClr>
                </a:solidFill>
              </a:rPr>
              <a:t> </a:t>
            </a:r>
            <a:r>
              <a:rPr lang="es-MX" b="1" dirty="0">
                <a:solidFill>
                  <a:schemeClr val="accent1">
                    <a:lumMod val="75000"/>
                  </a:schemeClr>
                </a:solidFill>
              </a:rPr>
              <a:t>monousuario </a:t>
            </a:r>
            <a:r>
              <a:rPr lang="en-US" dirty="0"/>
              <a:t>no </a:t>
            </a:r>
            <a:r>
              <a:rPr lang="en-US" dirty="0" err="1"/>
              <a:t>tienen</a:t>
            </a:r>
            <a:r>
              <a:rPr lang="en-US" dirty="0"/>
              <a:t> </a:t>
            </a:r>
            <a:r>
              <a:rPr lang="es-MX" dirty="0"/>
              <a:t>control de concurrencia y elementos de seguridad limitados. Las facilidades de recuperación en estos sistemas o no existen o son primitivas, y la mayoría admiten poca funcionalidad del SQL.</a:t>
            </a:r>
            <a:endParaRPr lang="es-MX" sz="6600" b="1" dirty="0">
              <a:latin typeface="Arial" panose="020B0604020202020204" pitchFamily="34" charset="0"/>
              <a:cs typeface="Arial" panose="020B0604020202020204" pitchFamily="34" charset="0"/>
            </a:endParaRPr>
          </a:p>
        </p:txBody>
      </p:sp>
      <p:sp>
        <p:nvSpPr>
          <p:cNvPr id="6" name="Marcador de contenido 2"/>
          <p:cNvSpPr txBox="1">
            <a:spLocks/>
          </p:cNvSpPr>
          <p:nvPr/>
        </p:nvSpPr>
        <p:spPr>
          <a:xfrm>
            <a:off x="1515283" y="3436883"/>
            <a:ext cx="10298359" cy="929801"/>
          </a:xfrm>
          <a:prstGeom prst="rect">
            <a:avLst/>
          </a:prstGeom>
        </p:spPr>
        <p:txBody>
          <a:bodyPr/>
          <a:lstStyle>
            <a:lvl1pPr marL="0" indent="0" algn="l" defTabSz="914377"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Los SMBD</a:t>
            </a:r>
            <a:r>
              <a:rPr lang="es-MX" dirty="0"/>
              <a:t> diseñados para</a:t>
            </a:r>
            <a:r>
              <a:rPr lang="en-US" dirty="0"/>
              <a:t> </a:t>
            </a:r>
            <a:r>
              <a:rPr lang="en-US" b="1" dirty="0" err="1">
                <a:solidFill>
                  <a:schemeClr val="accent1">
                    <a:lumMod val="75000"/>
                  </a:schemeClr>
                </a:solidFill>
              </a:rPr>
              <a:t>sistemas</a:t>
            </a:r>
            <a:r>
              <a:rPr lang="en-US" b="1" dirty="0">
                <a:solidFill>
                  <a:schemeClr val="accent1">
                    <a:lumMod val="75000"/>
                  </a:schemeClr>
                </a:solidFill>
              </a:rPr>
              <a:t> </a:t>
            </a:r>
            <a:r>
              <a:rPr lang="es-MX" b="1" dirty="0">
                <a:solidFill>
                  <a:schemeClr val="accent1">
                    <a:lumMod val="75000"/>
                  </a:schemeClr>
                </a:solidFill>
              </a:rPr>
              <a:t>multiusuario</a:t>
            </a:r>
            <a:r>
              <a:rPr lang="es-MX" b="1" dirty="0">
                <a:solidFill>
                  <a:srgbClr val="FF0000"/>
                </a:solidFill>
              </a:rPr>
              <a:t> </a:t>
            </a:r>
            <a:r>
              <a:rPr lang="es-MX" dirty="0"/>
              <a:t>soportan todas las características para el manejo de transacciones antes citadas.</a:t>
            </a:r>
            <a:endParaRPr lang="es-MX" sz="6600" b="1" dirty="0"/>
          </a:p>
        </p:txBody>
      </p:sp>
      <p:sp>
        <p:nvSpPr>
          <p:cNvPr id="7" name="Título 1"/>
          <p:cNvSpPr>
            <a:spLocks noGrp="1"/>
          </p:cNvSpPr>
          <p:nvPr>
            <p:ph type="title"/>
          </p:nvPr>
        </p:nvSpPr>
        <p:spPr>
          <a:xfrm>
            <a:off x="1108709" y="966951"/>
            <a:ext cx="10245091" cy="533885"/>
          </a:xfrm>
        </p:spPr>
        <p:txBody>
          <a:bodyPr/>
          <a:lstStyle/>
          <a:p>
            <a:r>
              <a:rPr lang="es-MX" b="1" i="1" dirty="0">
                <a:solidFill>
                  <a:schemeClr val="accent1">
                    <a:lumMod val="50000"/>
                  </a:schemeClr>
                </a:solidFill>
              </a:rPr>
              <a:t>1.3. </a:t>
            </a:r>
            <a:r>
              <a:rPr lang="en-US" b="1" i="1" dirty="0" err="1">
                <a:solidFill>
                  <a:schemeClr val="accent1">
                    <a:lumMod val="50000"/>
                  </a:schemeClr>
                </a:solidFill>
              </a:rPr>
              <a:t>Arquitectura</a:t>
            </a:r>
            <a:r>
              <a:rPr lang="en-US" b="1" i="1" dirty="0">
                <a:solidFill>
                  <a:schemeClr val="accent1">
                    <a:lumMod val="50000"/>
                  </a:schemeClr>
                </a:solidFill>
              </a:rPr>
              <a:t> de Bases de </a:t>
            </a:r>
            <a:r>
              <a:rPr lang="en-US" b="1" i="1" dirty="0" err="1">
                <a:solidFill>
                  <a:schemeClr val="accent1">
                    <a:lumMod val="50000"/>
                  </a:schemeClr>
                </a:solidFill>
              </a:rPr>
              <a:t>Datos</a:t>
            </a:r>
            <a:br>
              <a:rPr lang="es-MX" b="1" i="1" dirty="0">
                <a:solidFill>
                  <a:schemeClr val="accent1">
                    <a:lumMod val="50000"/>
                  </a:schemeClr>
                </a:solidFill>
              </a:rPr>
            </a:br>
            <a:endParaRPr lang="es-MX" b="1" dirty="0">
              <a:solidFill>
                <a:schemeClr val="accent1">
                  <a:lumMod val="50000"/>
                </a:schemeClr>
              </a:solidFill>
            </a:endParaRPr>
          </a:p>
        </p:txBody>
      </p:sp>
    </p:spTree>
    <p:extLst>
      <p:ext uri="{BB962C8B-B14F-4D97-AF65-F5344CB8AC3E}">
        <p14:creationId xmlns:p14="http://schemas.microsoft.com/office/powerpoint/2010/main" val="3112645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randombar(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randombar(horizontal)">
                                      <p:cBhvr>
                                        <p:cTn id="12"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p:cNvSpPr>
            <a:spLocks noGrp="1"/>
          </p:cNvSpPr>
          <p:nvPr>
            <p:ph sz="quarter" idx="13"/>
          </p:nvPr>
        </p:nvSpPr>
        <p:spPr>
          <a:xfrm>
            <a:off x="1248698" y="1964376"/>
            <a:ext cx="10564946" cy="1661694"/>
          </a:xfrm>
        </p:spPr>
        <p:txBody>
          <a:bodyPr/>
          <a:lstStyle/>
          <a:p>
            <a:pPr algn="just"/>
            <a:r>
              <a:rPr lang="en-US" dirty="0"/>
              <a:t>L</a:t>
            </a:r>
            <a:r>
              <a:rPr lang="es-MX" dirty="0"/>
              <a:t>os sistemas multiusuario han sido sustituidos </a:t>
            </a:r>
            <a:r>
              <a:rPr lang="en-US" dirty="0" err="1"/>
              <a:t>por</a:t>
            </a:r>
            <a:r>
              <a:rPr lang="en-US" dirty="0"/>
              <a:t> </a:t>
            </a:r>
            <a:r>
              <a:rPr lang="en-US" dirty="0" err="1"/>
              <a:t>computadoras</a:t>
            </a:r>
            <a:r>
              <a:rPr lang="en-US" dirty="0"/>
              <a:t> </a:t>
            </a:r>
            <a:r>
              <a:rPr lang="en-US" dirty="0" err="1"/>
              <a:t>personales</a:t>
            </a:r>
            <a:r>
              <a:rPr lang="en-US" dirty="0"/>
              <a:t> con </a:t>
            </a:r>
            <a:r>
              <a:rPr lang="en-US" dirty="0" err="1"/>
              <a:t>capacidades</a:t>
            </a:r>
            <a:r>
              <a:rPr lang="en-US" dirty="0"/>
              <a:t> de </a:t>
            </a:r>
            <a:r>
              <a:rPr lang="en-US" dirty="0" err="1"/>
              <a:t>procesamiento</a:t>
            </a:r>
            <a:r>
              <a:rPr lang="en-US" dirty="0"/>
              <a:t> y </a:t>
            </a:r>
            <a:r>
              <a:rPr lang="en-US" dirty="0" err="1"/>
              <a:t>almacenamiento</a:t>
            </a:r>
            <a:r>
              <a:rPr lang="es-MX" dirty="0"/>
              <a:t> (clientes) conectados con “sistemas servidores” que satisfacen las peticiones generadas por los “sistemas clientes”.</a:t>
            </a:r>
          </a:p>
        </p:txBody>
      </p:sp>
      <p:sp>
        <p:nvSpPr>
          <p:cNvPr id="6" name="Título 1"/>
          <p:cNvSpPr>
            <a:spLocks noGrp="1"/>
          </p:cNvSpPr>
          <p:nvPr>
            <p:ph type="title"/>
          </p:nvPr>
        </p:nvSpPr>
        <p:spPr>
          <a:xfrm>
            <a:off x="1108709" y="966951"/>
            <a:ext cx="10245091" cy="533885"/>
          </a:xfrm>
        </p:spPr>
        <p:txBody>
          <a:bodyPr/>
          <a:lstStyle/>
          <a:p>
            <a:r>
              <a:rPr lang="es-MX" b="1" i="1" dirty="0">
                <a:solidFill>
                  <a:schemeClr val="accent1">
                    <a:lumMod val="50000"/>
                  </a:schemeClr>
                </a:solidFill>
              </a:rPr>
              <a:t>1.3. </a:t>
            </a:r>
            <a:r>
              <a:rPr lang="en-US" b="1" i="1" dirty="0" err="1">
                <a:solidFill>
                  <a:schemeClr val="accent1">
                    <a:lumMod val="50000"/>
                  </a:schemeClr>
                </a:solidFill>
              </a:rPr>
              <a:t>Arquitectura</a:t>
            </a:r>
            <a:r>
              <a:rPr lang="en-US" b="1" i="1" dirty="0">
                <a:solidFill>
                  <a:schemeClr val="accent1">
                    <a:lumMod val="50000"/>
                  </a:schemeClr>
                </a:solidFill>
              </a:rPr>
              <a:t> de Bases de </a:t>
            </a:r>
            <a:r>
              <a:rPr lang="en-US" b="1" i="1" dirty="0" err="1">
                <a:solidFill>
                  <a:schemeClr val="accent1">
                    <a:lumMod val="50000"/>
                  </a:schemeClr>
                </a:solidFill>
              </a:rPr>
              <a:t>Datos</a:t>
            </a:r>
            <a:br>
              <a:rPr lang="es-MX" b="1" i="1" dirty="0">
                <a:solidFill>
                  <a:schemeClr val="accent1">
                    <a:lumMod val="50000"/>
                  </a:schemeClr>
                </a:solidFill>
              </a:rPr>
            </a:br>
            <a:endParaRPr lang="es-MX" b="1" dirty="0">
              <a:solidFill>
                <a:schemeClr val="accent1">
                  <a:lumMod val="50000"/>
                </a:schemeClr>
              </a:solidFill>
            </a:endParaRPr>
          </a:p>
        </p:txBody>
      </p:sp>
      <p:pic>
        <p:nvPicPr>
          <p:cNvPr id="8" name="Imagen 7"/>
          <p:cNvPicPr>
            <a:picLocks noChangeAspect="1"/>
          </p:cNvPicPr>
          <p:nvPr/>
        </p:nvPicPr>
        <p:blipFill rotWithShape="1">
          <a:blip r:embed="rId2"/>
          <a:srcRect b="24731"/>
          <a:stretch/>
        </p:blipFill>
        <p:spPr>
          <a:xfrm>
            <a:off x="3414694" y="3543267"/>
            <a:ext cx="5470136" cy="3097575"/>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109930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randombar(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heel(1)">
                                      <p:cBhvr>
                                        <p:cTn id="12"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p:cNvSpPr>
            <a:spLocks noGrp="1"/>
          </p:cNvSpPr>
          <p:nvPr>
            <p:ph type="title"/>
          </p:nvPr>
        </p:nvSpPr>
        <p:spPr>
          <a:xfrm>
            <a:off x="1108709" y="966951"/>
            <a:ext cx="10245091" cy="533885"/>
          </a:xfrm>
        </p:spPr>
        <p:txBody>
          <a:bodyPr/>
          <a:lstStyle/>
          <a:p>
            <a:r>
              <a:rPr lang="es-MX" b="1" i="1" dirty="0">
                <a:solidFill>
                  <a:schemeClr val="accent1">
                    <a:lumMod val="50000"/>
                  </a:schemeClr>
                </a:solidFill>
              </a:rPr>
              <a:t>1.3. </a:t>
            </a:r>
            <a:r>
              <a:rPr lang="en-US" b="1" i="1" dirty="0" err="1">
                <a:solidFill>
                  <a:schemeClr val="accent1">
                    <a:lumMod val="50000"/>
                  </a:schemeClr>
                </a:solidFill>
              </a:rPr>
              <a:t>Arquitectura</a:t>
            </a:r>
            <a:r>
              <a:rPr lang="en-US" b="1" i="1" dirty="0">
                <a:solidFill>
                  <a:schemeClr val="accent1">
                    <a:lumMod val="50000"/>
                  </a:schemeClr>
                </a:solidFill>
              </a:rPr>
              <a:t> de Bases de </a:t>
            </a:r>
            <a:r>
              <a:rPr lang="en-US" b="1" i="1" dirty="0" err="1">
                <a:solidFill>
                  <a:schemeClr val="accent1">
                    <a:lumMod val="50000"/>
                  </a:schemeClr>
                </a:solidFill>
              </a:rPr>
              <a:t>Datos</a:t>
            </a:r>
            <a:br>
              <a:rPr lang="es-MX" b="1" i="1" dirty="0">
                <a:solidFill>
                  <a:schemeClr val="accent1">
                    <a:lumMod val="50000"/>
                  </a:schemeClr>
                </a:solidFill>
              </a:rPr>
            </a:br>
            <a:endParaRPr lang="es-MX" b="1" dirty="0">
              <a:solidFill>
                <a:schemeClr val="accent1">
                  <a:lumMod val="50000"/>
                </a:schemeClr>
              </a:solidFill>
            </a:endParaRPr>
          </a:p>
        </p:txBody>
      </p:sp>
      <p:pic>
        <p:nvPicPr>
          <p:cNvPr id="8194" name="Picture 2" descr="Resultado de imagen para sistema multiusuari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2044" y="2010213"/>
            <a:ext cx="5762625"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561524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93379"/>
            <a:ext cx="10581846" cy="607458"/>
          </a:xfrm>
        </p:spPr>
        <p:txBody>
          <a:bodyPr/>
          <a:lstStyle/>
          <a:p>
            <a:r>
              <a:rPr lang="es-MX" b="1" dirty="0">
                <a:solidFill>
                  <a:schemeClr val="accent1">
                    <a:lumMod val="50000"/>
                  </a:schemeClr>
                </a:solidFill>
                <a:latin typeface="Arial" charset="0"/>
              </a:rPr>
              <a:t>Arquitecturas de los SBD: Sistemas Cliente-Servidor </a:t>
            </a:r>
            <a:endParaRPr lang="es-MX" dirty="0"/>
          </a:p>
        </p:txBody>
      </p:sp>
      <p:sp>
        <p:nvSpPr>
          <p:cNvPr id="5" name="Marcador de contenido 2"/>
          <p:cNvSpPr>
            <a:spLocks noGrp="1"/>
          </p:cNvSpPr>
          <p:nvPr>
            <p:ph sz="quarter" idx="13"/>
          </p:nvPr>
        </p:nvSpPr>
        <p:spPr>
          <a:xfrm>
            <a:off x="1248698" y="1964375"/>
            <a:ext cx="10564946" cy="2263496"/>
          </a:xfrm>
        </p:spPr>
        <p:txBody>
          <a:bodyPr/>
          <a:lstStyle/>
          <a:p>
            <a:pPr algn="just"/>
            <a:r>
              <a:rPr lang="es-MX" dirty="0"/>
              <a:t>La funcionalidad de un SBD se puede dividir a grandes rasgos en dos partes: la parte visible al usuario y el sistema subyacente. </a:t>
            </a:r>
          </a:p>
          <a:p>
            <a:pPr marL="342900" indent="-342900" algn="just">
              <a:buFont typeface="Wingdings" panose="05000000000000000000" pitchFamily="2" charset="2"/>
              <a:buChar char="§"/>
            </a:pPr>
            <a:r>
              <a:rPr lang="es-MX" sz="2000" dirty="0"/>
              <a:t>El </a:t>
            </a:r>
            <a:r>
              <a:rPr lang="es-MX" sz="2000" b="1" dirty="0">
                <a:solidFill>
                  <a:schemeClr val="accent1">
                    <a:lumMod val="75000"/>
                  </a:schemeClr>
                </a:solidFill>
              </a:rPr>
              <a:t>sistema subyacente (back </a:t>
            </a:r>
            <a:r>
              <a:rPr lang="es-MX" sz="2000" b="1" dirty="0" err="1">
                <a:solidFill>
                  <a:schemeClr val="accent1">
                    <a:lumMod val="75000"/>
                  </a:schemeClr>
                </a:solidFill>
              </a:rPr>
              <a:t>end</a:t>
            </a:r>
            <a:r>
              <a:rPr lang="es-MX" sz="2000" b="1" dirty="0">
                <a:solidFill>
                  <a:schemeClr val="accent1">
                    <a:lumMod val="75000"/>
                  </a:schemeClr>
                </a:solidFill>
              </a:rPr>
              <a:t>) </a:t>
            </a:r>
            <a:r>
              <a:rPr lang="es-MX" sz="2000" dirty="0"/>
              <a:t>gestiona el acceso a las estructuras, la evaluación y optimización de consultas, el control de concurrencia y la recuperación.</a:t>
            </a:r>
          </a:p>
          <a:p>
            <a:pPr marL="342900" indent="-342900" algn="just">
              <a:buFont typeface="Wingdings" panose="05000000000000000000" pitchFamily="2" charset="2"/>
              <a:buChar char="§"/>
            </a:pPr>
            <a:r>
              <a:rPr lang="es-MX" sz="2000" dirty="0"/>
              <a:t>La </a:t>
            </a:r>
            <a:r>
              <a:rPr lang="es-MX" sz="2000" b="1" dirty="0">
                <a:solidFill>
                  <a:schemeClr val="accent1">
                    <a:lumMod val="75000"/>
                  </a:schemeClr>
                </a:solidFill>
              </a:rPr>
              <a:t>parte visible (</a:t>
            </a:r>
            <a:r>
              <a:rPr lang="es-MX" sz="2000" b="1" dirty="0" err="1">
                <a:solidFill>
                  <a:schemeClr val="accent1">
                    <a:lumMod val="75000"/>
                  </a:schemeClr>
                </a:solidFill>
              </a:rPr>
              <a:t>front</a:t>
            </a:r>
            <a:r>
              <a:rPr lang="es-MX" sz="2000" b="1" dirty="0">
                <a:solidFill>
                  <a:schemeClr val="accent1">
                    <a:lumMod val="75000"/>
                  </a:schemeClr>
                </a:solidFill>
              </a:rPr>
              <a:t> </a:t>
            </a:r>
            <a:r>
              <a:rPr lang="es-MX" sz="2000" b="1" dirty="0" err="1">
                <a:solidFill>
                  <a:schemeClr val="accent1">
                    <a:lumMod val="75000"/>
                  </a:schemeClr>
                </a:solidFill>
              </a:rPr>
              <a:t>end</a:t>
            </a:r>
            <a:r>
              <a:rPr lang="es-MX" sz="2000" b="1" dirty="0">
                <a:solidFill>
                  <a:schemeClr val="accent1">
                    <a:lumMod val="75000"/>
                  </a:schemeClr>
                </a:solidFill>
              </a:rPr>
              <a:t>)</a:t>
            </a:r>
            <a:r>
              <a:rPr lang="es-MX" sz="2000" b="1" dirty="0">
                <a:solidFill>
                  <a:srgbClr val="FF0000"/>
                </a:solidFill>
              </a:rPr>
              <a:t> </a:t>
            </a:r>
            <a:r>
              <a:rPr lang="es-MX" sz="2000" dirty="0"/>
              <a:t>al usuario de un sistema de base de datos está formado por un conjunto de herramientas para el usuario (la aplicación).</a:t>
            </a:r>
          </a:p>
        </p:txBody>
      </p:sp>
      <p:pic>
        <p:nvPicPr>
          <p:cNvPr id="3" name="Imagen 2"/>
          <p:cNvPicPr>
            <a:picLocks noChangeAspect="1"/>
          </p:cNvPicPr>
          <p:nvPr/>
        </p:nvPicPr>
        <p:blipFill rotWithShape="1">
          <a:blip r:embed="rId2"/>
          <a:srcRect l="13387" t="25951" r="28549" b="27598"/>
          <a:stretch/>
        </p:blipFill>
        <p:spPr>
          <a:xfrm>
            <a:off x="3904148" y="4326194"/>
            <a:ext cx="4990967" cy="2245934"/>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473417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randombar(horizontal)">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randombar(horizontal)">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randombar(horizontal)">
                                      <p:cBhvr>
                                        <p:cTn id="2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p:cNvSpPr>
            <a:spLocks noGrp="1"/>
          </p:cNvSpPr>
          <p:nvPr>
            <p:ph sz="quarter" idx="13"/>
          </p:nvPr>
        </p:nvSpPr>
        <p:spPr>
          <a:xfrm>
            <a:off x="1248698" y="1964375"/>
            <a:ext cx="10564946" cy="4043136"/>
          </a:xfrm>
        </p:spPr>
        <p:txBody>
          <a:bodyPr/>
          <a:lstStyle/>
          <a:p>
            <a:pPr algn="just"/>
            <a:r>
              <a:rPr lang="es-MX" dirty="0"/>
              <a:t>Los </a:t>
            </a:r>
            <a:r>
              <a:rPr lang="es-MX" b="1" dirty="0">
                <a:solidFill>
                  <a:schemeClr val="accent1">
                    <a:lumMod val="75000"/>
                  </a:schemeClr>
                </a:solidFill>
              </a:rPr>
              <a:t>sistemas servidores </a:t>
            </a:r>
            <a:r>
              <a:rPr lang="es-MX" dirty="0"/>
              <a:t>pueden dividirse en servidores de transacciones y servidores de datos: </a:t>
            </a:r>
          </a:p>
          <a:p>
            <a:pPr marL="342900" indent="-342900" algn="just">
              <a:buFont typeface="Wingdings" panose="05000000000000000000" pitchFamily="2" charset="2"/>
              <a:buChar char="§"/>
            </a:pPr>
            <a:r>
              <a:rPr lang="es-MX" sz="2000" dirty="0"/>
              <a:t>Los sistemas </a:t>
            </a:r>
            <a:r>
              <a:rPr lang="es-MX" sz="2000" b="1" dirty="0"/>
              <a:t>servidores de transacciones</a:t>
            </a:r>
            <a:r>
              <a:rPr lang="es-MX" sz="2000" dirty="0"/>
              <a:t>, </a:t>
            </a:r>
            <a:r>
              <a:rPr lang="en-US" sz="2000" dirty="0" err="1"/>
              <a:t>proporcionan</a:t>
            </a:r>
            <a:r>
              <a:rPr lang="en-US" sz="2000" dirty="0"/>
              <a:t> </a:t>
            </a:r>
            <a:r>
              <a:rPr lang="es-MX" sz="2000" dirty="0"/>
              <a:t>una interfaz a través de la cual los clientes pueden enviar peticiones para realizar una acción que el servidor ejecutará y cuyos resultados se devolverán </a:t>
            </a:r>
            <a:r>
              <a:rPr lang="en-US" sz="2000" dirty="0"/>
              <a:t>al </a:t>
            </a:r>
            <a:r>
              <a:rPr lang="en-US" sz="2000" dirty="0" err="1"/>
              <a:t>cliente</a:t>
            </a:r>
            <a:r>
              <a:rPr lang="en-US" sz="2000" dirty="0"/>
              <a:t>.</a:t>
            </a:r>
          </a:p>
          <a:p>
            <a:pPr marL="342900" indent="-342900" algn="just">
              <a:buFont typeface="Wingdings" panose="05000000000000000000" pitchFamily="2" charset="2"/>
              <a:buChar char="§"/>
            </a:pPr>
            <a:r>
              <a:rPr lang="es-MX" sz="2000" dirty="0"/>
              <a:t>Los </a:t>
            </a:r>
            <a:r>
              <a:rPr lang="es-MX" sz="2000" b="1" dirty="0"/>
              <a:t>sistemas servidores de datos </a:t>
            </a:r>
            <a:r>
              <a:rPr lang="es-MX" sz="2000" dirty="0"/>
              <a:t>permiten a los clientes interaccionar con los servidores realizando peticiones de lectura o modificación de datos en </a:t>
            </a:r>
            <a:r>
              <a:rPr lang="en-US" sz="2000" dirty="0" err="1"/>
              <a:t>unidades</a:t>
            </a:r>
            <a:r>
              <a:rPr lang="en-US" sz="2000" dirty="0"/>
              <a:t>, tales </a:t>
            </a:r>
            <a:r>
              <a:rPr lang="en-US" sz="2000" dirty="0" err="1"/>
              <a:t>como</a:t>
            </a:r>
            <a:r>
              <a:rPr lang="en-US" sz="2000" dirty="0"/>
              <a:t> </a:t>
            </a:r>
            <a:r>
              <a:rPr lang="en-US" sz="2000" dirty="0" err="1"/>
              <a:t>archivos</a:t>
            </a:r>
            <a:r>
              <a:rPr lang="en-US" sz="2000" dirty="0"/>
              <a:t> o </a:t>
            </a:r>
            <a:r>
              <a:rPr lang="en-US" sz="2000" dirty="0" err="1"/>
              <a:t>páginas</a:t>
            </a:r>
            <a:r>
              <a:rPr lang="en-US" sz="2000" dirty="0"/>
              <a:t>. </a:t>
            </a:r>
          </a:p>
          <a:p>
            <a:pPr marL="342900" indent="-342900" algn="just">
              <a:buFont typeface="Wingdings" panose="05000000000000000000" pitchFamily="2" charset="2"/>
              <a:buChar char="§"/>
            </a:pPr>
            <a:r>
              <a:rPr lang="es-MX" sz="2000" dirty="0"/>
              <a:t>Los servidores de datos de los SBD ofrecen mayores funcionalidades; por ejemplo, éstos proporcionan facilidades de indexación de los datos, así como facilidades de transacción de modo que los datos nunca se quedan en un estado inconsistente. Soportan unidades de datos de menor tamaño que los archivos, como páginas, </a:t>
            </a:r>
            <a:r>
              <a:rPr lang="es-MX" sz="2000" dirty="0" err="1"/>
              <a:t>tuplas</a:t>
            </a:r>
            <a:r>
              <a:rPr lang="es-MX" sz="2000" dirty="0"/>
              <a:t> u objetos</a:t>
            </a:r>
          </a:p>
        </p:txBody>
      </p:sp>
      <p:sp>
        <p:nvSpPr>
          <p:cNvPr id="6" name="Título 1"/>
          <p:cNvSpPr>
            <a:spLocks noGrp="1"/>
          </p:cNvSpPr>
          <p:nvPr>
            <p:ph type="title"/>
          </p:nvPr>
        </p:nvSpPr>
        <p:spPr>
          <a:xfrm>
            <a:off x="1108709" y="966951"/>
            <a:ext cx="10245091" cy="533885"/>
          </a:xfrm>
        </p:spPr>
        <p:txBody>
          <a:bodyPr/>
          <a:lstStyle/>
          <a:p>
            <a:r>
              <a:rPr lang="es-MX" b="1" i="1" dirty="0">
                <a:solidFill>
                  <a:schemeClr val="accent1">
                    <a:lumMod val="50000"/>
                  </a:schemeClr>
                </a:solidFill>
              </a:rPr>
              <a:t>1.3. </a:t>
            </a:r>
            <a:r>
              <a:rPr lang="en-US" b="1" i="1" dirty="0" err="1">
                <a:solidFill>
                  <a:schemeClr val="accent1">
                    <a:lumMod val="50000"/>
                  </a:schemeClr>
                </a:solidFill>
              </a:rPr>
              <a:t>Arquitectura</a:t>
            </a:r>
            <a:r>
              <a:rPr lang="en-US" b="1" i="1" dirty="0">
                <a:solidFill>
                  <a:schemeClr val="accent1">
                    <a:lumMod val="50000"/>
                  </a:schemeClr>
                </a:solidFill>
              </a:rPr>
              <a:t> de Bases de </a:t>
            </a:r>
            <a:r>
              <a:rPr lang="en-US" b="1" i="1" dirty="0" err="1">
                <a:solidFill>
                  <a:schemeClr val="accent1">
                    <a:lumMod val="50000"/>
                  </a:schemeClr>
                </a:solidFill>
              </a:rPr>
              <a:t>Datos</a:t>
            </a:r>
            <a:br>
              <a:rPr lang="es-MX" b="1" i="1" dirty="0">
                <a:solidFill>
                  <a:schemeClr val="accent1">
                    <a:lumMod val="50000"/>
                  </a:schemeClr>
                </a:solidFill>
              </a:rPr>
            </a:br>
            <a:endParaRPr lang="es-MX" b="1" dirty="0">
              <a:solidFill>
                <a:schemeClr val="accent1">
                  <a:lumMod val="50000"/>
                </a:schemeClr>
              </a:solidFill>
            </a:endParaRPr>
          </a:p>
        </p:txBody>
      </p:sp>
    </p:spTree>
    <p:extLst>
      <p:ext uri="{BB962C8B-B14F-4D97-AF65-F5344CB8AC3E}">
        <p14:creationId xmlns:p14="http://schemas.microsoft.com/office/powerpoint/2010/main" val="3041853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93379"/>
            <a:ext cx="10245091" cy="607458"/>
          </a:xfrm>
        </p:spPr>
        <p:txBody>
          <a:bodyPr/>
          <a:lstStyle/>
          <a:p>
            <a:r>
              <a:rPr lang="es-MX" b="1" dirty="0">
                <a:solidFill>
                  <a:schemeClr val="accent1">
                    <a:lumMod val="50000"/>
                  </a:schemeClr>
                </a:solidFill>
              </a:rPr>
              <a:t>Modelos de datos. Exposiciones</a:t>
            </a:r>
          </a:p>
        </p:txBody>
      </p:sp>
      <p:graphicFrame>
        <p:nvGraphicFramePr>
          <p:cNvPr id="4" name="Tabla 3"/>
          <p:cNvGraphicFramePr>
            <a:graphicFrameLocks noGrp="1"/>
          </p:cNvGraphicFramePr>
          <p:nvPr>
            <p:extLst>
              <p:ext uri="{D42A27DB-BD31-4B8C-83A1-F6EECF244321}">
                <p14:modId xmlns:p14="http://schemas.microsoft.com/office/powerpoint/2010/main" val="3519562871"/>
              </p:ext>
            </p:extLst>
          </p:nvPr>
        </p:nvGraphicFramePr>
        <p:xfrm>
          <a:off x="1909379" y="1739170"/>
          <a:ext cx="8127999" cy="4079240"/>
        </p:xfrm>
        <a:graphic>
          <a:graphicData uri="http://schemas.openxmlformats.org/drawingml/2006/table">
            <a:tbl>
              <a:tblPr firstRow="1" bandRow="1">
                <a:tableStyleId>{5C22544A-7EE6-4342-B048-85BDC9FD1C3A}</a:tableStyleId>
              </a:tblPr>
              <a:tblGrid>
                <a:gridCol w="753241">
                  <a:extLst>
                    <a:ext uri="{9D8B030D-6E8A-4147-A177-3AD203B41FA5}">
                      <a16:colId xmlns:a16="http://schemas.microsoft.com/office/drawing/2014/main" val="2624385770"/>
                    </a:ext>
                  </a:extLst>
                </a:gridCol>
                <a:gridCol w="3244194">
                  <a:extLst>
                    <a:ext uri="{9D8B030D-6E8A-4147-A177-3AD203B41FA5}">
                      <a16:colId xmlns:a16="http://schemas.microsoft.com/office/drawing/2014/main" val="3666179005"/>
                    </a:ext>
                  </a:extLst>
                </a:gridCol>
                <a:gridCol w="4130564">
                  <a:extLst>
                    <a:ext uri="{9D8B030D-6E8A-4147-A177-3AD203B41FA5}">
                      <a16:colId xmlns:a16="http://schemas.microsoft.com/office/drawing/2014/main" val="3888556949"/>
                    </a:ext>
                  </a:extLst>
                </a:gridCol>
              </a:tblGrid>
              <a:tr h="370840">
                <a:tc>
                  <a:txBody>
                    <a:bodyPr/>
                    <a:lstStyle/>
                    <a:p>
                      <a:pPr algn="ctr"/>
                      <a:r>
                        <a:rPr lang="es-MX" dirty="0"/>
                        <a:t>No.</a:t>
                      </a:r>
                    </a:p>
                  </a:txBody>
                  <a:tcPr/>
                </a:tc>
                <a:tc>
                  <a:txBody>
                    <a:bodyPr/>
                    <a:lstStyle/>
                    <a:p>
                      <a:pPr algn="ctr"/>
                      <a:r>
                        <a:rPr lang="es-MX" dirty="0"/>
                        <a:t>Modelo</a:t>
                      </a:r>
                    </a:p>
                  </a:txBody>
                  <a:tcPr/>
                </a:tc>
                <a:tc>
                  <a:txBody>
                    <a:bodyPr/>
                    <a:lstStyle/>
                    <a:p>
                      <a:pPr algn="ctr"/>
                      <a:r>
                        <a:rPr lang="es-MX" dirty="0"/>
                        <a:t>Equipo</a:t>
                      </a:r>
                    </a:p>
                  </a:txBody>
                  <a:tcPr/>
                </a:tc>
                <a:extLst>
                  <a:ext uri="{0D108BD9-81ED-4DB2-BD59-A6C34878D82A}">
                    <a16:rowId xmlns:a16="http://schemas.microsoft.com/office/drawing/2014/main" val="3020862479"/>
                  </a:ext>
                </a:extLst>
              </a:tr>
              <a:tr h="370840">
                <a:tc>
                  <a:txBody>
                    <a:bodyPr/>
                    <a:lstStyle/>
                    <a:p>
                      <a:pPr algn="ctr"/>
                      <a:r>
                        <a:rPr lang="es-MX" dirty="0"/>
                        <a:t>1</a:t>
                      </a:r>
                    </a:p>
                  </a:txBody>
                  <a:tcPr/>
                </a:tc>
                <a:tc>
                  <a:txBody>
                    <a:bodyPr/>
                    <a:lstStyle/>
                    <a:p>
                      <a:r>
                        <a:rPr lang="es-MX" b="1" dirty="0"/>
                        <a:t>Jerárquico</a:t>
                      </a:r>
                    </a:p>
                  </a:txBody>
                  <a:tcPr/>
                </a:tc>
                <a:tc>
                  <a:txBody>
                    <a:bodyPr/>
                    <a:lstStyle/>
                    <a:p>
                      <a:r>
                        <a:rPr lang="es-MX" dirty="0" err="1"/>
                        <a:t>Eq</a:t>
                      </a:r>
                      <a:r>
                        <a:rPr lang="es-MX" dirty="0"/>
                        <a:t>   </a:t>
                      </a:r>
                    </a:p>
                  </a:txBody>
                  <a:tcPr/>
                </a:tc>
                <a:extLst>
                  <a:ext uri="{0D108BD9-81ED-4DB2-BD59-A6C34878D82A}">
                    <a16:rowId xmlns:a16="http://schemas.microsoft.com/office/drawing/2014/main" val="1375437411"/>
                  </a:ext>
                </a:extLst>
              </a:tr>
              <a:tr h="370840">
                <a:tc>
                  <a:txBody>
                    <a:bodyPr/>
                    <a:lstStyle/>
                    <a:p>
                      <a:pPr algn="ctr"/>
                      <a:r>
                        <a:rPr lang="es-MX" dirty="0"/>
                        <a:t>2</a:t>
                      </a:r>
                    </a:p>
                  </a:txBody>
                  <a:tcPr/>
                </a:tc>
                <a:tc>
                  <a:txBody>
                    <a:bodyPr/>
                    <a:lstStyle/>
                    <a:p>
                      <a:r>
                        <a:rPr lang="es-MX" b="1" dirty="0"/>
                        <a:t>Redes</a:t>
                      </a:r>
                    </a:p>
                  </a:txBody>
                  <a:tcPr/>
                </a:tc>
                <a:tc>
                  <a:txBody>
                    <a:bodyPr/>
                    <a:lstStyle/>
                    <a:p>
                      <a:r>
                        <a:rPr lang="es-MX" dirty="0" err="1"/>
                        <a:t>Eq</a:t>
                      </a:r>
                      <a:r>
                        <a:rPr lang="es-MX" dirty="0"/>
                        <a:t> </a:t>
                      </a:r>
                    </a:p>
                  </a:txBody>
                  <a:tcPr/>
                </a:tc>
                <a:extLst>
                  <a:ext uri="{0D108BD9-81ED-4DB2-BD59-A6C34878D82A}">
                    <a16:rowId xmlns:a16="http://schemas.microsoft.com/office/drawing/2014/main" val="17845068"/>
                  </a:ext>
                </a:extLst>
              </a:tr>
              <a:tr h="370840">
                <a:tc>
                  <a:txBody>
                    <a:bodyPr/>
                    <a:lstStyle/>
                    <a:p>
                      <a:pPr algn="ctr"/>
                      <a:r>
                        <a:rPr lang="es-MX" dirty="0"/>
                        <a:t>3</a:t>
                      </a:r>
                    </a:p>
                  </a:txBody>
                  <a:tcPr/>
                </a:tc>
                <a:tc>
                  <a:txBody>
                    <a:bodyPr/>
                    <a:lstStyle/>
                    <a:p>
                      <a:r>
                        <a:rPr lang="es-MX" b="1" dirty="0">
                          <a:solidFill>
                            <a:srgbClr val="FFFF00"/>
                          </a:solidFill>
                        </a:rPr>
                        <a:t>Relacional</a:t>
                      </a:r>
                    </a:p>
                  </a:txBody>
                  <a:tcPr/>
                </a:tc>
                <a:tc>
                  <a:txBody>
                    <a:bodyPr/>
                    <a:lstStyle/>
                    <a:p>
                      <a:r>
                        <a:rPr lang="es-MX" dirty="0" err="1"/>
                        <a:t>Eq</a:t>
                      </a:r>
                      <a:r>
                        <a:rPr lang="es-MX" dirty="0"/>
                        <a:t> </a:t>
                      </a:r>
                    </a:p>
                  </a:txBody>
                  <a:tcPr/>
                </a:tc>
                <a:extLst>
                  <a:ext uri="{0D108BD9-81ED-4DB2-BD59-A6C34878D82A}">
                    <a16:rowId xmlns:a16="http://schemas.microsoft.com/office/drawing/2014/main" val="4069380368"/>
                  </a:ext>
                </a:extLst>
              </a:tr>
              <a:tr h="370840">
                <a:tc>
                  <a:txBody>
                    <a:bodyPr/>
                    <a:lstStyle/>
                    <a:p>
                      <a:pPr algn="ctr"/>
                      <a:r>
                        <a:rPr lang="es-MX" dirty="0"/>
                        <a:t>4</a:t>
                      </a:r>
                    </a:p>
                  </a:txBody>
                  <a:tcPr/>
                </a:tc>
                <a:tc>
                  <a:txBody>
                    <a:bodyPr/>
                    <a:lstStyle/>
                    <a:p>
                      <a:r>
                        <a:rPr lang="es-MX" b="1" dirty="0"/>
                        <a:t>Entidad-Relación</a:t>
                      </a:r>
                    </a:p>
                  </a:txBody>
                  <a:tcPr/>
                </a:tc>
                <a:tc>
                  <a:txBody>
                    <a:bodyPr/>
                    <a:lstStyle/>
                    <a:p>
                      <a:r>
                        <a:rPr lang="es-MX" dirty="0" err="1"/>
                        <a:t>Eq</a:t>
                      </a:r>
                      <a:r>
                        <a:rPr lang="es-MX" dirty="0"/>
                        <a:t> </a:t>
                      </a:r>
                    </a:p>
                  </a:txBody>
                  <a:tcPr/>
                </a:tc>
                <a:extLst>
                  <a:ext uri="{0D108BD9-81ED-4DB2-BD59-A6C34878D82A}">
                    <a16:rowId xmlns:a16="http://schemas.microsoft.com/office/drawing/2014/main" val="3406457195"/>
                  </a:ext>
                </a:extLst>
              </a:tr>
              <a:tr h="370840">
                <a:tc>
                  <a:txBody>
                    <a:bodyPr/>
                    <a:lstStyle/>
                    <a:p>
                      <a:pPr algn="ctr"/>
                      <a:r>
                        <a:rPr lang="es-MX" dirty="0"/>
                        <a:t>5</a:t>
                      </a:r>
                    </a:p>
                  </a:txBody>
                  <a:tcPr/>
                </a:tc>
                <a:tc>
                  <a:txBody>
                    <a:bodyPr/>
                    <a:lstStyle/>
                    <a:p>
                      <a:r>
                        <a:rPr lang="es-MX" b="1" dirty="0">
                          <a:solidFill>
                            <a:srgbClr val="FFFF00"/>
                          </a:solidFill>
                        </a:rPr>
                        <a:t>Semántico</a:t>
                      </a:r>
                    </a:p>
                  </a:txBody>
                  <a:tcPr/>
                </a:tc>
                <a:tc>
                  <a:txBody>
                    <a:bodyPr/>
                    <a:lstStyle/>
                    <a:p>
                      <a:r>
                        <a:rPr lang="es-MX" dirty="0" err="1"/>
                        <a:t>Eq</a:t>
                      </a:r>
                      <a:r>
                        <a:rPr lang="es-MX" dirty="0"/>
                        <a:t> </a:t>
                      </a:r>
                    </a:p>
                  </a:txBody>
                  <a:tcPr/>
                </a:tc>
                <a:extLst>
                  <a:ext uri="{0D108BD9-81ED-4DB2-BD59-A6C34878D82A}">
                    <a16:rowId xmlns:a16="http://schemas.microsoft.com/office/drawing/2014/main" val="1282590340"/>
                  </a:ext>
                </a:extLst>
              </a:tr>
              <a:tr h="370840">
                <a:tc>
                  <a:txBody>
                    <a:bodyPr/>
                    <a:lstStyle/>
                    <a:p>
                      <a:pPr algn="ctr"/>
                      <a:r>
                        <a:rPr lang="es-MX" dirty="0"/>
                        <a:t>6</a:t>
                      </a:r>
                    </a:p>
                  </a:txBody>
                  <a:tcPr/>
                </a:tc>
                <a:tc>
                  <a:txBody>
                    <a:bodyPr/>
                    <a:lstStyle/>
                    <a:p>
                      <a:r>
                        <a:rPr lang="es-MX" b="1" dirty="0"/>
                        <a:t>Relacional-Objetos</a:t>
                      </a:r>
                    </a:p>
                  </a:txBody>
                  <a:tcPr/>
                </a:tc>
                <a:tc>
                  <a:txBody>
                    <a:bodyPr/>
                    <a:lstStyle/>
                    <a:p>
                      <a:r>
                        <a:rPr lang="es-MX" dirty="0" err="1"/>
                        <a:t>Eq</a:t>
                      </a:r>
                      <a:r>
                        <a:rPr lang="es-MX" dirty="0"/>
                        <a:t> </a:t>
                      </a:r>
                    </a:p>
                  </a:txBody>
                  <a:tcPr/>
                </a:tc>
                <a:extLst>
                  <a:ext uri="{0D108BD9-81ED-4DB2-BD59-A6C34878D82A}">
                    <a16:rowId xmlns:a16="http://schemas.microsoft.com/office/drawing/2014/main" val="1901381199"/>
                  </a:ext>
                </a:extLst>
              </a:tr>
              <a:tr h="370840">
                <a:tc>
                  <a:txBody>
                    <a:bodyPr/>
                    <a:lstStyle/>
                    <a:p>
                      <a:pPr algn="ctr"/>
                      <a:r>
                        <a:rPr lang="es-MX" dirty="0"/>
                        <a:t>7</a:t>
                      </a:r>
                    </a:p>
                  </a:txBody>
                  <a:tcPr/>
                </a:tc>
                <a:tc>
                  <a:txBody>
                    <a:bodyPr/>
                    <a:lstStyle/>
                    <a:p>
                      <a:r>
                        <a:rPr lang="es-MX" b="1" dirty="0"/>
                        <a:t>Orientado a Objetos</a:t>
                      </a:r>
                      <a:r>
                        <a:rPr lang="es-MX" b="1" baseline="0" dirty="0"/>
                        <a:t> (1)</a:t>
                      </a:r>
                      <a:endParaRPr lang="es-MX" b="1" dirty="0"/>
                    </a:p>
                  </a:txBody>
                  <a:tcPr/>
                </a:tc>
                <a:tc>
                  <a:txBody>
                    <a:bodyPr/>
                    <a:lstStyle/>
                    <a:p>
                      <a:r>
                        <a:rPr lang="es-MX" dirty="0" err="1"/>
                        <a:t>Eq</a:t>
                      </a:r>
                      <a:r>
                        <a:rPr lang="es-MX" dirty="0"/>
                        <a:t> </a:t>
                      </a:r>
                    </a:p>
                  </a:txBody>
                  <a:tcPr/>
                </a:tc>
                <a:extLst>
                  <a:ext uri="{0D108BD9-81ED-4DB2-BD59-A6C34878D82A}">
                    <a16:rowId xmlns:a16="http://schemas.microsoft.com/office/drawing/2014/main" val="3389330242"/>
                  </a:ext>
                </a:extLst>
              </a:tr>
              <a:tr h="370840">
                <a:tc>
                  <a:txBody>
                    <a:bodyPr/>
                    <a:lstStyle/>
                    <a:p>
                      <a:pPr algn="ctr"/>
                      <a:r>
                        <a:rPr lang="es-MX" dirty="0"/>
                        <a:t>8</a:t>
                      </a:r>
                    </a:p>
                  </a:txBody>
                  <a:tcPr/>
                </a:tc>
                <a:tc>
                  <a:txBody>
                    <a:bodyPr/>
                    <a:lstStyle/>
                    <a:p>
                      <a:r>
                        <a:rPr lang="es-MX" b="1" dirty="0"/>
                        <a:t>Orientado a Objetos (2)</a:t>
                      </a:r>
                    </a:p>
                  </a:txBody>
                  <a:tcPr/>
                </a:tc>
                <a:tc>
                  <a:txBody>
                    <a:bodyPr/>
                    <a:lstStyle/>
                    <a:p>
                      <a:r>
                        <a:rPr lang="es-MX" dirty="0" err="1"/>
                        <a:t>Eq</a:t>
                      </a:r>
                      <a:r>
                        <a:rPr lang="es-MX" dirty="0"/>
                        <a:t> </a:t>
                      </a:r>
                    </a:p>
                  </a:txBody>
                  <a:tcPr/>
                </a:tc>
                <a:extLst>
                  <a:ext uri="{0D108BD9-81ED-4DB2-BD59-A6C34878D82A}">
                    <a16:rowId xmlns:a16="http://schemas.microsoft.com/office/drawing/2014/main" val="3902131035"/>
                  </a:ext>
                </a:extLst>
              </a:tr>
              <a:tr h="370840">
                <a:tc>
                  <a:txBody>
                    <a:bodyPr/>
                    <a:lstStyle/>
                    <a:p>
                      <a:pPr algn="ctr"/>
                      <a:r>
                        <a:rPr lang="es-MX" dirty="0"/>
                        <a:t>9</a:t>
                      </a:r>
                    </a:p>
                  </a:txBody>
                  <a:tcPr/>
                </a:tc>
                <a:tc>
                  <a:txBody>
                    <a:bodyPr/>
                    <a:lstStyle/>
                    <a:p>
                      <a:r>
                        <a:rPr lang="es-MX" b="1" dirty="0"/>
                        <a:t>NOSQL</a:t>
                      </a:r>
                    </a:p>
                  </a:txBody>
                  <a:tcPr/>
                </a:tc>
                <a:tc>
                  <a:txBody>
                    <a:bodyPr/>
                    <a:lstStyle/>
                    <a:p>
                      <a:r>
                        <a:rPr lang="es-MX" dirty="0" err="1"/>
                        <a:t>Eq</a:t>
                      </a:r>
                      <a:r>
                        <a:rPr lang="es-MX" dirty="0"/>
                        <a:t> </a:t>
                      </a:r>
                    </a:p>
                  </a:txBody>
                  <a:tcPr/>
                </a:tc>
                <a:extLst>
                  <a:ext uri="{0D108BD9-81ED-4DB2-BD59-A6C34878D82A}">
                    <a16:rowId xmlns:a16="http://schemas.microsoft.com/office/drawing/2014/main" val="2138066546"/>
                  </a:ext>
                </a:extLst>
              </a:tr>
              <a:tr h="370840">
                <a:tc>
                  <a:txBody>
                    <a:bodyPr/>
                    <a:lstStyle/>
                    <a:p>
                      <a:pPr algn="ctr"/>
                      <a:r>
                        <a:rPr lang="es-MX" dirty="0"/>
                        <a:t>10</a:t>
                      </a:r>
                    </a:p>
                  </a:txBody>
                  <a:tcPr/>
                </a:tc>
                <a:tc>
                  <a:txBody>
                    <a:bodyPr/>
                    <a:lstStyle/>
                    <a:p>
                      <a:r>
                        <a:rPr lang="es-MX" b="1" dirty="0"/>
                        <a:t>BD</a:t>
                      </a:r>
                      <a:r>
                        <a:rPr lang="es-MX" b="1" baseline="0" dirty="0"/>
                        <a:t> Distribuidas</a:t>
                      </a:r>
                      <a:endParaRPr lang="es-MX" b="1" dirty="0"/>
                    </a:p>
                  </a:txBody>
                  <a:tcPr/>
                </a:tc>
                <a:tc>
                  <a:txBody>
                    <a:bodyPr/>
                    <a:lstStyle/>
                    <a:p>
                      <a:r>
                        <a:rPr lang="es-ES" dirty="0" err="1"/>
                        <a:t>Eq</a:t>
                      </a:r>
                      <a:endParaRPr lang="es-MX" dirty="0"/>
                    </a:p>
                  </a:txBody>
                  <a:tcPr/>
                </a:tc>
                <a:extLst>
                  <a:ext uri="{0D108BD9-81ED-4DB2-BD59-A6C34878D82A}">
                    <a16:rowId xmlns:a16="http://schemas.microsoft.com/office/drawing/2014/main" val="4108138086"/>
                  </a:ext>
                </a:extLst>
              </a:tr>
            </a:tbl>
          </a:graphicData>
        </a:graphic>
      </p:graphicFrame>
    </p:spTree>
    <p:extLst>
      <p:ext uri="{BB962C8B-B14F-4D97-AF65-F5344CB8AC3E}">
        <p14:creationId xmlns:p14="http://schemas.microsoft.com/office/powerpoint/2010/main" val="131921901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35137" y="830972"/>
            <a:ext cx="10245091" cy="846210"/>
          </a:xfrm>
        </p:spPr>
        <p:txBody>
          <a:bodyPr/>
          <a:lstStyle/>
          <a:p>
            <a:r>
              <a:rPr lang="es-MX" b="1" dirty="0">
                <a:solidFill>
                  <a:schemeClr val="accent1">
                    <a:lumMod val="50000"/>
                  </a:schemeClr>
                </a:solidFill>
                <a:latin typeface="Arial" charset="0"/>
              </a:rPr>
              <a:t>Conceptos</a:t>
            </a:r>
          </a:p>
        </p:txBody>
      </p:sp>
    </p:spTree>
    <p:extLst>
      <p:ext uri="{BB962C8B-B14F-4D97-AF65-F5344CB8AC3E}">
        <p14:creationId xmlns:p14="http://schemas.microsoft.com/office/powerpoint/2010/main" val="383987558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MX" b="1" dirty="0">
                <a:solidFill>
                  <a:schemeClr val="accent1">
                    <a:lumMod val="50000"/>
                  </a:schemeClr>
                </a:solidFill>
              </a:rPr>
              <a:t>Los Modelos de Datos</a:t>
            </a:r>
            <a:br>
              <a:rPr lang="es-MX" b="1" dirty="0">
                <a:solidFill>
                  <a:schemeClr val="accent1">
                    <a:lumMod val="50000"/>
                  </a:schemeClr>
                </a:solidFill>
              </a:rPr>
            </a:br>
            <a:r>
              <a:rPr lang="es-MX" b="1" dirty="0">
                <a:solidFill>
                  <a:schemeClr val="accent1">
                    <a:lumMod val="50000"/>
                  </a:schemeClr>
                </a:solidFill>
              </a:rPr>
              <a:t>                 </a:t>
            </a:r>
            <a:r>
              <a:rPr lang="es-MX" sz="2000" b="1" dirty="0">
                <a:solidFill>
                  <a:schemeClr val="accent1">
                    <a:lumMod val="50000"/>
                  </a:schemeClr>
                </a:solidFill>
              </a:rPr>
              <a:t>Coronel. Bases de datos: Diseño, implementación y administración</a:t>
            </a:r>
            <a:endParaRPr lang="es-MX" dirty="0"/>
          </a:p>
        </p:txBody>
      </p:sp>
      <p:sp>
        <p:nvSpPr>
          <p:cNvPr id="4" name="Rectángulo 3"/>
          <p:cNvSpPr/>
          <p:nvPr/>
        </p:nvSpPr>
        <p:spPr>
          <a:xfrm>
            <a:off x="952293" y="2562726"/>
            <a:ext cx="10345354" cy="27311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 name="Marcador de contenido 2"/>
          <p:cNvSpPr>
            <a:spLocks noGrp="1"/>
          </p:cNvSpPr>
          <p:nvPr>
            <p:ph sz="quarter" idx="13"/>
          </p:nvPr>
        </p:nvSpPr>
        <p:spPr/>
        <p:txBody>
          <a:bodyPr/>
          <a:lstStyle/>
          <a:p>
            <a:pPr>
              <a:lnSpc>
                <a:spcPct val="80000"/>
              </a:lnSpc>
              <a:defRPr/>
            </a:pPr>
            <a:endParaRPr lang="en-US" b="1" dirty="0">
              <a:solidFill>
                <a:schemeClr val="accent1">
                  <a:lumMod val="50000"/>
                </a:schemeClr>
              </a:solidFill>
              <a:latin typeface="Arial" charset="0"/>
            </a:endParaRPr>
          </a:p>
          <a:p>
            <a:pPr>
              <a:lnSpc>
                <a:spcPct val="80000"/>
              </a:lnSpc>
              <a:defRPr/>
            </a:pPr>
            <a:endParaRPr lang="en-US" dirty="0">
              <a:latin typeface="Arial" charset="0"/>
            </a:endParaRPr>
          </a:p>
          <a:p>
            <a:pPr lvl="1">
              <a:lnSpc>
                <a:spcPct val="80000"/>
              </a:lnSpc>
              <a:buFontTx/>
              <a:buChar char="•"/>
              <a:defRPr/>
            </a:pPr>
            <a:endParaRPr lang="en-US" sz="2000" b="1" dirty="0">
              <a:latin typeface="Arial" charset="0"/>
            </a:endParaRPr>
          </a:p>
          <a:p>
            <a:pPr lvl="1">
              <a:lnSpc>
                <a:spcPct val="80000"/>
              </a:lnSpc>
              <a:spcBef>
                <a:spcPts val="1800"/>
              </a:spcBef>
              <a:buFontTx/>
              <a:buChar char="•"/>
              <a:defRPr/>
            </a:pPr>
            <a:r>
              <a:rPr lang="en-US" b="1" dirty="0" err="1">
                <a:solidFill>
                  <a:schemeClr val="bg1"/>
                </a:solidFill>
                <a:latin typeface="Arial" charset="0"/>
              </a:rPr>
              <a:t>Modelos</a:t>
            </a:r>
            <a:r>
              <a:rPr lang="en-US" b="1" dirty="0">
                <a:solidFill>
                  <a:schemeClr val="bg1"/>
                </a:solidFill>
                <a:latin typeface="Arial" charset="0"/>
              </a:rPr>
              <a:t> de </a:t>
            </a:r>
            <a:r>
              <a:rPr lang="en-US" b="1" dirty="0" err="1">
                <a:solidFill>
                  <a:schemeClr val="bg1"/>
                </a:solidFill>
                <a:latin typeface="Arial" charset="0"/>
              </a:rPr>
              <a:t>Datos</a:t>
            </a:r>
            <a:r>
              <a:rPr lang="en-US" b="1" dirty="0">
                <a:solidFill>
                  <a:schemeClr val="bg1"/>
                </a:solidFill>
                <a:latin typeface="Arial" charset="0"/>
              </a:rPr>
              <a:t>. </a:t>
            </a:r>
            <a:r>
              <a:rPr lang="en-US" b="1" dirty="0" err="1">
                <a:solidFill>
                  <a:schemeClr val="bg1"/>
                </a:solidFill>
                <a:latin typeface="Arial" charset="0"/>
              </a:rPr>
              <a:t>Definición</a:t>
            </a:r>
            <a:endParaRPr lang="en-US" b="1" dirty="0">
              <a:solidFill>
                <a:schemeClr val="bg1"/>
              </a:solidFill>
              <a:latin typeface="Arial" charset="0"/>
            </a:endParaRPr>
          </a:p>
          <a:p>
            <a:pPr lvl="1">
              <a:lnSpc>
                <a:spcPct val="80000"/>
              </a:lnSpc>
              <a:spcBef>
                <a:spcPts val="1800"/>
              </a:spcBef>
              <a:buFontTx/>
              <a:buChar char="•"/>
              <a:defRPr/>
            </a:pPr>
            <a:r>
              <a:rPr lang="en-US" b="1" dirty="0" err="1">
                <a:solidFill>
                  <a:schemeClr val="bg1"/>
                </a:solidFill>
                <a:latin typeface="Arial" charset="0"/>
              </a:rPr>
              <a:t>Modelado</a:t>
            </a:r>
            <a:r>
              <a:rPr lang="en-US" b="1" dirty="0">
                <a:solidFill>
                  <a:schemeClr val="bg1"/>
                </a:solidFill>
                <a:latin typeface="Arial" charset="0"/>
              </a:rPr>
              <a:t> de </a:t>
            </a:r>
            <a:r>
              <a:rPr lang="en-US" b="1" dirty="0" err="1">
                <a:solidFill>
                  <a:schemeClr val="bg1"/>
                </a:solidFill>
                <a:latin typeface="Arial" charset="0"/>
              </a:rPr>
              <a:t>Datos</a:t>
            </a:r>
            <a:endParaRPr lang="en-US" b="1" dirty="0">
              <a:solidFill>
                <a:schemeClr val="bg1"/>
              </a:solidFill>
              <a:latin typeface="Arial" charset="0"/>
            </a:endParaRPr>
          </a:p>
          <a:p>
            <a:pPr lvl="1">
              <a:lnSpc>
                <a:spcPct val="80000"/>
              </a:lnSpc>
              <a:spcBef>
                <a:spcPts val="1800"/>
              </a:spcBef>
              <a:buFontTx/>
              <a:buChar char="•"/>
              <a:defRPr/>
            </a:pPr>
            <a:r>
              <a:rPr lang="en-US" b="1" dirty="0" err="1">
                <a:solidFill>
                  <a:schemeClr val="bg1"/>
                </a:solidFill>
                <a:latin typeface="Arial" charset="0"/>
              </a:rPr>
              <a:t>Elementos</a:t>
            </a:r>
            <a:r>
              <a:rPr lang="en-US" b="1" dirty="0">
                <a:solidFill>
                  <a:schemeClr val="bg1"/>
                </a:solidFill>
                <a:latin typeface="Arial" charset="0"/>
              </a:rPr>
              <a:t> del </a:t>
            </a:r>
            <a:r>
              <a:rPr lang="en-US" b="1" dirty="0" err="1">
                <a:solidFill>
                  <a:schemeClr val="bg1"/>
                </a:solidFill>
                <a:latin typeface="Arial" charset="0"/>
              </a:rPr>
              <a:t>Modelo</a:t>
            </a:r>
            <a:r>
              <a:rPr lang="en-US" b="1" dirty="0">
                <a:solidFill>
                  <a:schemeClr val="bg1"/>
                </a:solidFill>
                <a:latin typeface="Arial" charset="0"/>
              </a:rPr>
              <a:t> de </a:t>
            </a:r>
            <a:r>
              <a:rPr lang="en-US" b="1" dirty="0" err="1">
                <a:solidFill>
                  <a:schemeClr val="bg1"/>
                </a:solidFill>
                <a:latin typeface="Arial" charset="0"/>
              </a:rPr>
              <a:t>Datos</a:t>
            </a:r>
            <a:endParaRPr lang="en-US" b="1" dirty="0">
              <a:solidFill>
                <a:schemeClr val="bg1"/>
              </a:solidFill>
              <a:latin typeface="Arial" charset="0"/>
            </a:endParaRPr>
          </a:p>
          <a:p>
            <a:pPr lvl="1">
              <a:lnSpc>
                <a:spcPct val="80000"/>
              </a:lnSpc>
              <a:spcBef>
                <a:spcPts val="1800"/>
              </a:spcBef>
              <a:buFontTx/>
              <a:buChar char="•"/>
              <a:defRPr/>
            </a:pPr>
            <a:r>
              <a:rPr lang="en-US" b="1" dirty="0" err="1">
                <a:solidFill>
                  <a:schemeClr val="bg1"/>
                </a:solidFill>
                <a:latin typeface="Arial" charset="0"/>
              </a:rPr>
              <a:t>Reglas</a:t>
            </a:r>
            <a:r>
              <a:rPr lang="en-US" b="1" dirty="0">
                <a:solidFill>
                  <a:schemeClr val="bg1"/>
                </a:solidFill>
                <a:latin typeface="Arial" charset="0"/>
              </a:rPr>
              <a:t> de </a:t>
            </a:r>
            <a:r>
              <a:rPr lang="en-US" b="1" dirty="0" err="1">
                <a:solidFill>
                  <a:schemeClr val="bg1"/>
                </a:solidFill>
                <a:latin typeface="Arial" charset="0"/>
              </a:rPr>
              <a:t>Negocio</a:t>
            </a:r>
            <a:endParaRPr lang="en-US" b="1" dirty="0">
              <a:solidFill>
                <a:schemeClr val="bg1"/>
              </a:solidFill>
              <a:latin typeface="Arial" charset="0"/>
            </a:endParaRPr>
          </a:p>
          <a:p>
            <a:pPr marL="457189" lvl="1" indent="0">
              <a:lnSpc>
                <a:spcPct val="80000"/>
              </a:lnSpc>
              <a:buNone/>
              <a:defRPr/>
            </a:pPr>
            <a:endParaRPr lang="en-US" sz="2000" b="1" dirty="0">
              <a:solidFill>
                <a:schemeClr val="bg1"/>
              </a:solidFill>
              <a:latin typeface="Arial" charset="0"/>
            </a:endParaRPr>
          </a:p>
          <a:p>
            <a:endParaRPr lang="es-MX" dirty="0">
              <a:solidFill>
                <a:schemeClr val="bg1"/>
              </a:solidFill>
            </a:endParaRPr>
          </a:p>
        </p:txBody>
      </p:sp>
    </p:spTree>
    <p:extLst>
      <p:ext uri="{BB962C8B-B14F-4D97-AF65-F5344CB8AC3E}">
        <p14:creationId xmlns:p14="http://schemas.microsoft.com/office/powerpoint/2010/main" val="2345480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82869"/>
            <a:ext cx="10245091" cy="617968"/>
          </a:xfrm>
        </p:spPr>
        <p:txBody>
          <a:bodyPr/>
          <a:lstStyle/>
          <a:p>
            <a:r>
              <a:rPr lang="es-MX" b="1" dirty="0">
                <a:solidFill>
                  <a:schemeClr val="accent1">
                    <a:lumMod val="50000"/>
                  </a:schemeClr>
                </a:solidFill>
              </a:rPr>
              <a:t>Modelos de datos</a:t>
            </a:r>
          </a:p>
        </p:txBody>
      </p:sp>
      <p:sp>
        <p:nvSpPr>
          <p:cNvPr id="3" name="Marcador de contenido 2"/>
          <p:cNvSpPr>
            <a:spLocks noGrp="1"/>
          </p:cNvSpPr>
          <p:nvPr>
            <p:ph sz="quarter" idx="13"/>
          </p:nvPr>
        </p:nvSpPr>
        <p:spPr/>
        <p:txBody>
          <a:bodyPr/>
          <a:lstStyle/>
          <a:p>
            <a:r>
              <a:rPr lang="es-MX" dirty="0"/>
              <a:t>Un </a:t>
            </a:r>
            <a:r>
              <a:rPr lang="es-MX" b="1" dirty="0">
                <a:solidFill>
                  <a:schemeClr val="accent1">
                    <a:lumMod val="50000"/>
                  </a:schemeClr>
                </a:solidFill>
              </a:rPr>
              <a:t>Modelo de Datos</a:t>
            </a:r>
            <a:r>
              <a:rPr lang="es-MX" dirty="0"/>
              <a:t> es la representación gráfica de estructuras de datos más complejas (es una abstracción de un objeto o hecho más complejo).</a:t>
            </a:r>
          </a:p>
          <a:p>
            <a:r>
              <a:rPr lang="es-MX" b="1" dirty="0">
                <a:solidFill>
                  <a:schemeClr val="accent1">
                    <a:lumMod val="50000"/>
                  </a:schemeClr>
                </a:solidFill>
              </a:rPr>
              <a:t>Función principal:</a:t>
            </a:r>
            <a:r>
              <a:rPr lang="es-MX" dirty="0"/>
              <a:t> </a:t>
            </a:r>
          </a:p>
          <a:p>
            <a:r>
              <a:rPr lang="es-MX" dirty="0"/>
              <a:t>ayudar a entender las complejidades del ambiente real.</a:t>
            </a:r>
          </a:p>
          <a:p>
            <a:endParaRPr lang="es-MX" dirty="0"/>
          </a:p>
          <a:p>
            <a:r>
              <a:rPr lang="es-MX" dirty="0"/>
              <a:t>El </a:t>
            </a:r>
            <a:r>
              <a:rPr lang="es-MX" b="1" dirty="0">
                <a:solidFill>
                  <a:schemeClr val="accent1">
                    <a:lumMod val="50000"/>
                  </a:schemeClr>
                </a:solidFill>
              </a:rPr>
              <a:t>Modelado de datos</a:t>
            </a:r>
            <a:r>
              <a:rPr lang="es-MX" dirty="0">
                <a:solidFill>
                  <a:schemeClr val="accent1">
                    <a:lumMod val="50000"/>
                  </a:schemeClr>
                </a:solidFill>
              </a:rPr>
              <a:t> </a:t>
            </a:r>
            <a:r>
              <a:rPr lang="es-MX" dirty="0"/>
              <a:t>permite la comunicación entre los diseñadores, programadores y usuarios finales, al reducir las complejidades del DBD a abstracciones que se entienden con más facilidad y que definen las entidades y sus interrelaciones.</a:t>
            </a:r>
          </a:p>
        </p:txBody>
      </p:sp>
    </p:spTree>
    <p:extLst>
      <p:ext uri="{BB962C8B-B14F-4D97-AF65-F5344CB8AC3E}">
        <p14:creationId xmlns:p14="http://schemas.microsoft.com/office/powerpoint/2010/main" val="365165242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914399"/>
            <a:ext cx="10245091" cy="586437"/>
          </a:xfrm>
        </p:spPr>
        <p:txBody>
          <a:bodyPr/>
          <a:lstStyle/>
          <a:p>
            <a:r>
              <a:rPr lang="es-MX" b="1" dirty="0">
                <a:solidFill>
                  <a:schemeClr val="accent1">
                    <a:lumMod val="50000"/>
                  </a:schemeClr>
                </a:solidFill>
              </a:rPr>
              <a:t>El Modelado de datos</a:t>
            </a:r>
          </a:p>
        </p:txBody>
      </p:sp>
      <p:sp>
        <p:nvSpPr>
          <p:cNvPr id="3" name="Marcador de contenido 2"/>
          <p:cNvSpPr>
            <a:spLocks noGrp="1"/>
          </p:cNvSpPr>
          <p:nvPr>
            <p:ph sz="quarter" idx="13"/>
          </p:nvPr>
        </p:nvSpPr>
        <p:spPr/>
        <p:txBody>
          <a:bodyPr/>
          <a:lstStyle/>
          <a:p>
            <a:pPr marL="342900" indent="-342900">
              <a:spcBef>
                <a:spcPts val="600"/>
              </a:spcBef>
              <a:buFont typeface="Arial" panose="020B0604020202020204" pitchFamily="34" charset="0"/>
              <a:buChar char="•"/>
            </a:pPr>
            <a:r>
              <a:rPr lang="es-MX" sz="2000" dirty="0"/>
              <a:t>Es un proceso iterativo y progresivo.</a:t>
            </a:r>
          </a:p>
          <a:p>
            <a:pPr marL="342900" indent="-342900">
              <a:spcBef>
                <a:spcPts val="600"/>
              </a:spcBef>
              <a:buFont typeface="Arial" panose="020B0604020202020204" pitchFamily="34" charset="0"/>
              <a:buChar char="•"/>
            </a:pPr>
            <a:r>
              <a:rPr lang="es-MX" sz="2000" dirty="0"/>
              <a:t>El modelo es un “plano”, en lenguaje no ambiguo, sencillo y claro, para construir la BD que satisfará las necesidades del usuario.</a:t>
            </a:r>
          </a:p>
          <a:p>
            <a:r>
              <a:rPr lang="es-MX" sz="2000" b="1" dirty="0">
                <a:solidFill>
                  <a:schemeClr val="accent1">
                    <a:lumMod val="50000"/>
                  </a:schemeClr>
                </a:solidFill>
              </a:rPr>
              <a:t>El modelo debe contener:</a:t>
            </a:r>
          </a:p>
          <a:p>
            <a:pPr marL="342900" indent="-342900">
              <a:spcBef>
                <a:spcPts val="600"/>
              </a:spcBef>
              <a:buFont typeface="Arial" panose="020B0604020202020204" pitchFamily="34" charset="0"/>
              <a:buChar char="•"/>
            </a:pPr>
            <a:r>
              <a:rPr lang="es-MX" sz="2000" dirty="0"/>
              <a:t>Descripción de la estructura donde se guardarán los datos</a:t>
            </a:r>
          </a:p>
          <a:p>
            <a:pPr marL="342900" indent="-342900">
              <a:spcBef>
                <a:spcPts val="600"/>
              </a:spcBef>
              <a:buFont typeface="Arial" panose="020B0604020202020204" pitchFamily="34" charset="0"/>
              <a:buChar char="•"/>
            </a:pPr>
            <a:r>
              <a:rPr lang="es-MX" sz="2000" dirty="0"/>
              <a:t>Conjunto de reglas para garantizar la integridad de los datos</a:t>
            </a:r>
          </a:p>
          <a:p>
            <a:pPr marL="342900" indent="-342900">
              <a:spcBef>
                <a:spcPts val="600"/>
              </a:spcBef>
              <a:buFont typeface="Arial" panose="020B0604020202020204" pitchFamily="34" charset="0"/>
              <a:buChar char="•"/>
            </a:pPr>
            <a:r>
              <a:rPr lang="es-MX" sz="2000" dirty="0"/>
              <a:t>Metodología de manipulación de los datos para apoyar las transformaciones.</a:t>
            </a:r>
          </a:p>
          <a:p>
            <a:r>
              <a:rPr lang="es-MX" sz="2000" b="1" dirty="0">
                <a:solidFill>
                  <a:schemeClr val="accent1">
                    <a:lumMod val="50000"/>
                  </a:schemeClr>
                </a:solidFill>
              </a:rPr>
              <a:t>Importancia</a:t>
            </a:r>
          </a:p>
          <a:p>
            <a:r>
              <a:rPr lang="es-MX" sz="2000" dirty="0"/>
              <a:t>Permite que todos los actores puedan percibir de la misma forma el conjunto de datos requeridos para una aplicación</a:t>
            </a:r>
          </a:p>
          <a:p>
            <a:endParaRPr lang="es-MX" dirty="0"/>
          </a:p>
        </p:txBody>
      </p:sp>
    </p:spTree>
    <p:extLst>
      <p:ext uri="{BB962C8B-B14F-4D97-AF65-F5344CB8AC3E}">
        <p14:creationId xmlns:p14="http://schemas.microsoft.com/office/powerpoint/2010/main" val="171741399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756745"/>
            <a:ext cx="10245091" cy="744092"/>
          </a:xfrm>
        </p:spPr>
        <p:txBody>
          <a:bodyPr/>
          <a:lstStyle/>
          <a:p>
            <a:r>
              <a:rPr lang="es-MX" b="1" dirty="0">
                <a:solidFill>
                  <a:schemeClr val="accent1">
                    <a:lumMod val="50000"/>
                  </a:schemeClr>
                </a:solidFill>
              </a:rPr>
              <a:t>Elementos básicos de un Modelo de datos</a:t>
            </a:r>
          </a:p>
        </p:txBody>
      </p:sp>
      <p:sp>
        <p:nvSpPr>
          <p:cNvPr id="3" name="Marcador de contenido 2"/>
          <p:cNvSpPr>
            <a:spLocks noGrp="1"/>
          </p:cNvSpPr>
          <p:nvPr>
            <p:ph sz="quarter" idx="13"/>
          </p:nvPr>
        </p:nvSpPr>
        <p:spPr/>
        <p:txBody>
          <a:bodyPr/>
          <a:lstStyle/>
          <a:p>
            <a:r>
              <a:rPr lang="es-MX" b="1" dirty="0">
                <a:solidFill>
                  <a:schemeClr val="accent1">
                    <a:lumMod val="50000"/>
                  </a:schemeClr>
                </a:solidFill>
              </a:rPr>
              <a:t>Entidad</a:t>
            </a:r>
          </a:p>
          <a:p>
            <a:r>
              <a:rPr lang="es-MX" dirty="0"/>
              <a:t>Objeto del mundo real acerca del cual se van a colectar y guardar datos</a:t>
            </a:r>
          </a:p>
          <a:p>
            <a:r>
              <a:rPr lang="es-MX" b="1" dirty="0">
                <a:solidFill>
                  <a:schemeClr val="accent1">
                    <a:lumMod val="50000"/>
                  </a:schemeClr>
                </a:solidFill>
              </a:rPr>
              <a:t>Atributo</a:t>
            </a:r>
          </a:p>
          <a:p>
            <a:r>
              <a:rPr lang="es-MX" dirty="0"/>
              <a:t>Es una característica o propiedad de una entidad; describen a las entidades.</a:t>
            </a:r>
          </a:p>
          <a:p>
            <a:r>
              <a:rPr lang="es-MX" b="1" dirty="0">
                <a:solidFill>
                  <a:schemeClr val="accent1">
                    <a:lumMod val="50000"/>
                  </a:schemeClr>
                </a:solidFill>
              </a:rPr>
              <a:t>Interrelación</a:t>
            </a:r>
          </a:p>
          <a:p>
            <a:r>
              <a:rPr lang="es-MX" dirty="0"/>
              <a:t>Es una asociación entre entidades</a:t>
            </a:r>
          </a:p>
          <a:p>
            <a:r>
              <a:rPr lang="es-MX" b="1" dirty="0">
                <a:solidFill>
                  <a:schemeClr val="accent1">
                    <a:lumMod val="50000"/>
                  </a:schemeClr>
                </a:solidFill>
              </a:rPr>
              <a:t>Restricción</a:t>
            </a:r>
          </a:p>
          <a:p>
            <a:r>
              <a:rPr lang="es-MX" dirty="0"/>
              <a:t>Ayudan a asegurar la integridad de los datos. Se expresan en términos de reglas: el valor de calificación está entre 0 y 100.</a:t>
            </a:r>
          </a:p>
          <a:p>
            <a:endParaRPr lang="es-MX" dirty="0"/>
          </a:p>
        </p:txBody>
      </p:sp>
    </p:spTree>
    <p:extLst>
      <p:ext uri="{BB962C8B-B14F-4D97-AF65-F5344CB8AC3E}">
        <p14:creationId xmlns:p14="http://schemas.microsoft.com/office/powerpoint/2010/main" val="115094033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19807"/>
            <a:ext cx="10245091" cy="681030"/>
          </a:xfrm>
        </p:spPr>
        <p:txBody>
          <a:bodyPr/>
          <a:lstStyle/>
          <a:p>
            <a:r>
              <a:rPr lang="es-MX" b="1" dirty="0">
                <a:solidFill>
                  <a:schemeClr val="accent1">
                    <a:lumMod val="50000"/>
                  </a:schemeClr>
                </a:solidFill>
              </a:rPr>
              <a:t>Reglas de Negocio</a:t>
            </a:r>
          </a:p>
        </p:txBody>
      </p:sp>
      <p:sp>
        <p:nvSpPr>
          <p:cNvPr id="3" name="Marcador de contenido 2"/>
          <p:cNvSpPr>
            <a:spLocks noGrp="1"/>
          </p:cNvSpPr>
          <p:nvPr>
            <p:ph sz="quarter" idx="13"/>
          </p:nvPr>
        </p:nvSpPr>
        <p:spPr/>
        <p:txBody>
          <a:bodyPr/>
          <a:lstStyle/>
          <a:p>
            <a:r>
              <a:rPr lang="es-MX" dirty="0"/>
              <a:t>Una </a:t>
            </a:r>
            <a:r>
              <a:rPr lang="es-MX" b="1" dirty="0">
                <a:solidFill>
                  <a:schemeClr val="accent1">
                    <a:lumMod val="50000"/>
                  </a:schemeClr>
                </a:solidFill>
              </a:rPr>
              <a:t>Regla de Negocio</a:t>
            </a:r>
            <a:r>
              <a:rPr lang="es-MX" dirty="0"/>
              <a:t> </a:t>
            </a:r>
          </a:p>
          <a:p>
            <a:pPr marL="342900" indent="-342900">
              <a:spcBef>
                <a:spcPts val="600"/>
              </a:spcBef>
              <a:buFont typeface="Arial" panose="020B0604020202020204" pitchFamily="34" charset="0"/>
              <a:buChar char="•"/>
            </a:pPr>
            <a:r>
              <a:rPr lang="es-MX" dirty="0"/>
              <a:t>Es una descripción breve, precisa y no ambigua de una política, procedimiento o principio dentro de una organización.</a:t>
            </a:r>
          </a:p>
          <a:p>
            <a:pPr marL="342900" indent="-342900">
              <a:spcBef>
                <a:spcPts val="600"/>
              </a:spcBef>
              <a:buFont typeface="Arial" panose="020B0604020202020204" pitchFamily="34" charset="0"/>
              <a:buChar char="•"/>
            </a:pPr>
            <a:r>
              <a:rPr lang="es-MX" dirty="0"/>
              <a:t>Ayudan a crear y a hacer cumplir acciones dentro del ambiente de una organización.</a:t>
            </a:r>
          </a:p>
          <a:p>
            <a:pPr marL="342900" indent="-342900">
              <a:spcBef>
                <a:spcPts val="600"/>
              </a:spcBef>
              <a:buFont typeface="Arial" panose="020B0604020202020204" pitchFamily="34" charset="0"/>
              <a:buChar char="•"/>
            </a:pPr>
            <a:r>
              <a:rPr lang="es-MX" dirty="0"/>
              <a:t>Se usan para definir entidades, atributos, interrelaciones y restricciones.</a:t>
            </a:r>
          </a:p>
          <a:p>
            <a:pPr marL="342900" indent="-342900">
              <a:spcBef>
                <a:spcPts val="600"/>
              </a:spcBef>
              <a:buFont typeface="Arial" panose="020B0604020202020204" pitchFamily="34" charset="0"/>
              <a:buChar char="•"/>
            </a:pPr>
            <a:r>
              <a:rPr lang="es-MX" dirty="0"/>
              <a:t>Deben ser fáciles de entender y todos las deben conocer</a:t>
            </a:r>
          </a:p>
          <a:p>
            <a:pPr marL="342900" indent="-342900">
              <a:spcBef>
                <a:spcPts val="600"/>
              </a:spcBef>
              <a:buFont typeface="Arial" panose="020B0604020202020204" pitchFamily="34" charset="0"/>
              <a:buChar char="•"/>
            </a:pPr>
            <a:r>
              <a:rPr lang="es-MX" dirty="0"/>
              <a:t>Describen de manera sencilla la manera en que la empresa </a:t>
            </a:r>
            <a:r>
              <a:rPr lang="es-MX" i="1" dirty="0"/>
              <a:t>percibe</a:t>
            </a:r>
            <a:r>
              <a:rPr lang="es-MX" dirty="0"/>
              <a:t> los datos</a:t>
            </a:r>
          </a:p>
        </p:txBody>
      </p:sp>
    </p:spTree>
    <p:extLst>
      <p:ext uri="{BB962C8B-B14F-4D97-AF65-F5344CB8AC3E}">
        <p14:creationId xmlns:p14="http://schemas.microsoft.com/office/powerpoint/2010/main" val="429031173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85F11A-F637-D4DB-EAF0-A532E7A44E7E}"/>
              </a:ext>
            </a:extLst>
          </p:cNvPr>
          <p:cNvSpPr>
            <a:spLocks noGrp="1"/>
          </p:cNvSpPr>
          <p:nvPr>
            <p:ph type="title"/>
          </p:nvPr>
        </p:nvSpPr>
        <p:spPr>
          <a:xfrm>
            <a:off x="1108709" y="978195"/>
            <a:ext cx="10245091" cy="522642"/>
          </a:xfrm>
        </p:spPr>
        <p:txBody>
          <a:bodyPr/>
          <a:lstStyle/>
          <a:p>
            <a:r>
              <a:rPr lang="es-MX" b="1" dirty="0">
                <a:solidFill>
                  <a:schemeClr val="accent1">
                    <a:lumMod val="50000"/>
                  </a:schemeClr>
                </a:solidFill>
              </a:rPr>
              <a:t>Reglas de Negocio</a:t>
            </a:r>
            <a:endParaRPr lang="es-MX" dirty="0"/>
          </a:p>
        </p:txBody>
      </p:sp>
      <p:sp>
        <p:nvSpPr>
          <p:cNvPr id="3" name="Marcador de contenido 2">
            <a:extLst>
              <a:ext uri="{FF2B5EF4-FFF2-40B4-BE49-F238E27FC236}">
                <a16:creationId xmlns:a16="http://schemas.microsoft.com/office/drawing/2014/main" id="{63B16626-72A0-B138-4EAC-3A38CBCF5291}"/>
              </a:ext>
            </a:extLst>
          </p:cNvPr>
          <p:cNvSpPr>
            <a:spLocks noGrp="1"/>
          </p:cNvSpPr>
          <p:nvPr>
            <p:ph sz="quarter" idx="13"/>
          </p:nvPr>
        </p:nvSpPr>
        <p:spPr/>
        <p:txBody>
          <a:bodyPr/>
          <a:lstStyle/>
          <a:p>
            <a:r>
              <a:rPr lang="es-ES" dirty="0"/>
              <a:t>Ejemplos:</a:t>
            </a:r>
          </a:p>
          <a:p>
            <a:r>
              <a:rPr lang="es-ES" dirty="0"/>
              <a:t>Toda asignatura tiene un profesor.</a:t>
            </a:r>
          </a:p>
          <a:p>
            <a:r>
              <a:rPr lang="es-ES" dirty="0"/>
              <a:t>Un profesor puede impartir 0 o más asignaturas</a:t>
            </a:r>
          </a:p>
          <a:p>
            <a:r>
              <a:rPr lang="es-ES" dirty="0"/>
              <a:t>Un alumno es regular si se inscribe en al menos una asignatura.</a:t>
            </a:r>
          </a:p>
          <a:p>
            <a:r>
              <a:rPr lang="es-ES" dirty="0"/>
              <a:t>Un cliente puede tener una o más cuentas</a:t>
            </a:r>
          </a:p>
          <a:p>
            <a:r>
              <a:rPr lang="es-MX" dirty="0"/>
              <a:t>Una factura sólo aplica a un cliente</a:t>
            </a:r>
          </a:p>
          <a:p>
            <a:endParaRPr lang="es-MX" dirty="0"/>
          </a:p>
        </p:txBody>
      </p:sp>
    </p:spTree>
    <p:extLst>
      <p:ext uri="{BB962C8B-B14F-4D97-AF65-F5344CB8AC3E}">
        <p14:creationId xmlns:p14="http://schemas.microsoft.com/office/powerpoint/2010/main" val="125949209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19807"/>
            <a:ext cx="10245091" cy="681030"/>
          </a:xfrm>
        </p:spPr>
        <p:txBody>
          <a:bodyPr/>
          <a:lstStyle/>
          <a:p>
            <a:r>
              <a:rPr lang="es-MX" b="1" dirty="0">
                <a:solidFill>
                  <a:schemeClr val="accent1">
                    <a:lumMod val="50000"/>
                  </a:schemeClr>
                </a:solidFill>
              </a:rPr>
              <a:t>Reglas de Negocio. Identificación</a:t>
            </a:r>
          </a:p>
        </p:txBody>
      </p:sp>
      <p:sp>
        <p:nvSpPr>
          <p:cNvPr id="3" name="Marcador de contenido 2"/>
          <p:cNvSpPr>
            <a:spLocks noGrp="1"/>
          </p:cNvSpPr>
          <p:nvPr>
            <p:ph sz="quarter" idx="13"/>
          </p:nvPr>
        </p:nvSpPr>
        <p:spPr/>
        <p:txBody>
          <a:bodyPr/>
          <a:lstStyle/>
          <a:p>
            <a:r>
              <a:rPr lang="es-MX" b="1" dirty="0">
                <a:solidFill>
                  <a:schemeClr val="accent1">
                    <a:lumMod val="50000"/>
                  </a:schemeClr>
                </a:solidFill>
              </a:rPr>
              <a:t>El proceso de Identificación de Reglas de Negocio es importante porque:</a:t>
            </a:r>
          </a:p>
          <a:p>
            <a:pPr marL="342900" indent="-342900">
              <a:spcBef>
                <a:spcPts val="600"/>
              </a:spcBef>
              <a:buFont typeface="Arial" panose="020B0604020202020204" pitchFamily="34" charset="0"/>
              <a:buChar char="•"/>
            </a:pPr>
            <a:r>
              <a:rPr lang="es-MX" dirty="0"/>
              <a:t>Ayudan a estandarizar la visión de los datos</a:t>
            </a:r>
          </a:p>
          <a:p>
            <a:pPr marL="342900" indent="-342900">
              <a:spcBef>
                <a:spcPts val="600"/>
              </a:spcBef>
              <a:buFont typeface="Arial" panose="020B0604020202020204" pitchFamily="34" charset="0"/>
              <a:buChar char="•"/>
            </a:pPr>
            <a:r>
              <a:rPr lang="es-MX" dirty="0"/>
              <a:t>Pueden ser una herramienta de comunicación entre los UF y los diseñadores</a:t>
            </a:r>
          </a:p>
          <a:p>
            <a:pPr marL="342900" indent="-342900">
              <a:spcBef>
                <a:spcPts val="600"/>
              </a:spcBef>
              <a:buFont typeface="Arial" panose="020B0604020202020204" pitchFamily="34" charset="0"/>
              <a:buChar char="•"/>
            </a:pPr>
            <a:r>
              <a:rPr lang="es-MX" dirty="0"/>
              <a:t>Permiten que el diseñador entienda la función y propósito de los datos</a:t>
            </a:r>
          </a:p>
          <a:p>
            <a:pPr marL="342900" indent="-342900">
              <a:spcBef>
                <a:spcPts val="600"/>
              </a:spcBef>
              <a:buFont typeface="Arial" panose="020B0604020202020204" pitchFamily="34" charset="0"/>
              <a:buChar char="•"/>
            </a:pPr>
            <a:r>
              <a:rPr lang="es-MX" dirty="0"/>
              <a:t>Permiten que el diseñador entienda los procesos de la empresa</a:t>
            </a:r>
          </a:p>
          <a:p>
            <a:pPr marL="342900" indent="-342900">
              <a:spcBef>
                <a:spcPts val="600"/>
              </a:spcBef>
              <a:buFont typeface="Arial" panose="020B0604020202020204" pitchFamily="34" charset="0"/>
              <a:buChar char="•"/>
            </a:pPr>
            <a:r>
              <a:rPr lang="es-MX" dirty="0"/>
              <a:t>Permiten que el diseñador defina las restricciones y reglas apropiadas para crear el modelo correcto</a:t>
            </a:r>
          </a:p>
          <a:p>
            <a:pPr>
              <a:spcBef>
                <a:spcPts val="600"/>
              </a:spcBef>
            </a:pPr>
            <a:endParaRPr lang="es-MX" dirty="0">
              <a:solidFill>
                <a:srgbClr val="002060"/>
              </a:solidFill>
            </a:endParaRPr>
          </a:p>
          <a:p>
            <a:pPr>
              <a:spcBef>
                <a:spcPts val="600"/>
              </a:spcBef>
            </a:pPr>
            <a:r>
              <a:rPr lang="es-MX" dirty="0">
                <a:solidFill>
                  <a:srgbClr val="002060"/>
                </a:solidFill>
              </a:rPr>
              <a:t>Fuente:</a:t>
            </a:r>
            <a:r>
              <a:rPr lang="es-MX" dirty="0"/>
              <a:t> Administradores, usuarios finales y procedimientos.</a:t>
            </a:r>
          </a:p>
        </p:txBody>
      </p:sp>
    </p:spTree>
    <p:extLst>
      <p:ext uri="{BB962C8B-B14F-4D97-AF65-F5344CB8AC3E}">
        <p14:creationId xmlns:p14="http://schemas.microsoft.com/office/powerpoint/2010/main" val="94311268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30317"/>
            <a:ext cx="10245091" cy="670520"/>
          </a:xfrm>
        </p:spPr>
        <p:txBody>
          <a:bodyPr/>
          <a:lstStyle/>
          <a:p>
            <a:r>
              <a:rPr lang="es-MX" b="1" dirty="0">
                <a:solidFill>
                  <a:schemeClr val="accent1">
                    <a:lumMod val="50000"/>
                  </a:schemeClr>
                </a:solidFill>
              </a:rPr>
              <a:t>Evolución de los principales modelos de datos</a:t>
            </a:r>
          </a:p>
        </p:txBody>
      </p:sp>
      <p:pic>
        <p:nvPicPr>
          <p:cNvPr id="8"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74640" y="1841938"/>
            <a:ext cx="6410325"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uadroTexto 2">
            <a:extLst>
              <a:ext uri="{FF2B5EF4-FFF2-40B4-BE49-F238E27FC236}">
                <a16:creationId xmlns:a16="http://schemas.microsoft.com/office/drawing/2014/main" id="{B06D9040-478F-1A3B-5732-B92F2BB9D416}"/>
              </a:ext>
            </a:extLst>
          </p:cNvPr>
          <p:cNvSpPr txBox="1"/>
          <p:nvPr/>
        </p:nvSpPr>
        <p:spPr>
          <a:xfrm>
            <a:off x="393405" y="2073349"/>
            <a:ext cx="4306186" cy="3416320"/>
          </a:xfrm>
          <a:prstGeom prst="rect">
            <a:avLst/>
          </a:prstGeom>
          <a:noFill/>
        </p:spPr>
        <p:txBody>
          <a:bodyPr wrap="square" rtlCol="0">
            <a:spAutoFit/>
          </a:bodyPr>
          <a:lstStyle/>
          <a:p>
            <a:r>
              <a:rPr lang="es-ES" b="1" dirty="0">
                <a:solidFill>
                  <a:srgbClr val="002060"/>
                </a:solidFill>
              </a:rPr>
              <a:t>Los modelos de datos</a:t>
            </a:r>
            <a:r>
              <a:rPr lang="es-ES" dirty="0">
                <a:solidFill>
                  <a:srgbClr val="002060"/>
                </a:solidFill>
              </a:rPr>
              <a:t> </a:t>
            </a:r>
            <a:r>
              <a:rPr lang="es-ES" dirty="0"/>
              <a:t>tratan de resolver los problemas </a:t>
            </a:r>
            <a:r>
              <a:rPr lang="es-ES"/>
              <a:t>del Sistema </a:t>
            </a:r>
            <a:r>
              <a:rPr lang="es-ES" dirty="0"/>
              <a:t>de Archivos.</a:t>
            </a:r>
          </a:p>
          <a:p>
            <a:r>
              <a:rPr lang="es-ES" b="1" dirty="0">
                <a:solidFill>
                  <a:srgbClr val="002060"/>
                </a:solidFill>
              </a:rPr>
              <a:t>Presentan:</a:t>
            </a:r>
          </a:p>
          <a:p>
            <a:pPr marL="285750" indent="-285750">
              <a:buFont typeface="Arial" panose="020B0604020202020204" pitchFamily="34" charset="0"/>
              <a:buChar char="•"/>
            </a:pPr>
            <a:r>
              <a:rPr lang="es-ES" dirty="0"/>
              <a:t>Filosofías de lo que los datos deben hacer</a:t>
            </a:r>
          </a:p>
          <a:p>
            <a:pPr marL="285750" indent="-285750">
              <a:buFont typeface="Arial" panose="020B0604020202020204" pitchFamily="34" charset="0"/>
              <a:buChar char="•"/>
            </a:pPr>
            <a:r>
              <a:rPr lang="es-ES" dirty="0"/>
              <a:t>Tipos de estructuras de datos </a:t>
            </a:r>
          </a:p>
          <a:p>
            <a:pPr marL="285750" indent="-285750">
              <a:buFont typeface="Arial" panose="020B0604020202020204" pitchFamily="34" charset="0"/>
              <a:buChar char="•"/>
            </a:pPr>
            <a:r>
              <a:rPr lang="es-ES" dirty="0"/>
              <a:t>Tecnología para implementar esta tecnología</a:t>
            </a:r>
          </a:p>
          <a:p>
            <a:pPr marL="285750" indent="-285750">
              <a:buFont typeface="Arial" panose="020B0604020202020204" pitchFamily="34" charset="0"/>
              <a:buChar char="•"/>
            </a:pPr>
            <a:endParaRPr lang="es-ES" dirty="0"/>
          </a:p>
          <a:p>
            <a:r>
              <a:rPr lang="es-ES" b="1" dirty="0">
                <a:solidFill>
                  <a:srgbClr val="002060"/>
                </a:solidFill>
              </a:rPr>
              <a:t>Modelo de datos VS Modelos de bases de datos</a:t>
            </a:r>
            <a:r>
              <a:rPr lang="es-ES" b="1" dirty="0"/>
              <a:t>.</a:t>
            </a:r>
            <a:endParaRPr lang="es-MX" b="1" dirty="0"/>
          </a:p>
        </p:txBody>
      </p:sp>
    </p:spTree>
    <p:extLst>
      <p:ext uri="{BB962C8B-B14F-4D97-AF65-F5344CB8AC3E}">
        <p14:creationId xmlns:p14="http://schemas.microsoft.com/office/powerpoint/2010/main" val="104515796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MX" b="1" dirty="0">
                <a:solidFill>
                  <a:schemeClr val="accent1">
                    <a:lumMod val="50000"/>
                  </a:schemeClr>
                </a:solidFill>
              </a:rPr>
              <a:t>Conceptos de Bases de Datos</a:t>
            </a:r>
            <a:br>
              <a:rPr lang="es-MX" b="1" dirty="0">
                <a:solidFill>
                  <a:schemeClr val="accent1">
                    <a:lumMod val="50000"/>
                  </a:schemeClr>
                </a:solidFill>
              </a:rPr>
            </a:br>
            <a:r>
              <a:rPr lang="es-MX" sz="2000" b="1" dirty="0">
                <a:solidFill>
                  <a:schemeClr val="accent1">
                    <a:lumMod val="50000"/>
                  </a:schemeClr>
                </a:solidFill>
              </a:rPr>
              <a:t>Repaso</a:t>
            </a:r>
            <a:endParaRPr lang="es-MX" dirty="0"/>
          </a:p>
        </p:txBody>
      </p:sp>
      <p:sp>
        <p:nvSpPr>
          <p:cNvPr id="4" name="Rectángulo 3"/>
          <p:cNvSpPr/>
          <p:nvPr/>
        </p:nvSpPr>
        <p:spPr>
          <a:xfrm>
            <a:off x="952293" y="1876926"/>
            <a:ext cx="10345354" cy="39974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 name="Marcador de contenido 2"/>
          <p:cNvSpPr>
            <a:spLocks noGrp="1"/>
          </p:cNvSpPr>
          <p:nvPr>
            <p:ph sz="quarter" idx="13"/>
          </p:nvPr>
        </p:nvSpPr>
        <p:spPr/>
        <p:txBody>
          <a:bodyPr/>
          <a:lstStyle/>
          <a:p>
            <a:pPr marL="457189" lvl="1" indent="0">
              <a:lnSpc>
                <a:spcPct val="80000"/>
              </a:lnSpc>
              <a:spcBef>
                <a:spcPts val="1800"/>
              </a:spcBef>
              <a:buNone/>
              <a:defRPr/>
            </a:pPr>
            <a:endParaRPr lang="en-US" b="1" dirty="0">
              <a:solidFill>
                <a:schemeClr val="bg1"/>
              </a:solidFill>
              <a:latin typeface="Arial" charset="0"/>
            </a:endParaRPr>
          </a:p>
          <a:p>
            <a:pPr lvl="1">
              <a:lnSpc>
                <a:spcPct val="80000"/>
              </a:lnSpc>
              <a:spcBef>
                <a:spcPts val="1800"/>
              </a:spcBef>
              <a:buFontTx/>
              <a:buChar char="•"/>
              <a:defRPr/>
            </a:pPr>
            <a:r>
              <a:rPr lang="en-US" b="1" dirty="0" err="1">
                <a:solidFill>
                  <a:schemeClr val="bg1"/>
                </a:solidFill>
                <a:latin typeface="Arial" charset="0"/>
              </a:rPr>
              <a:t>Esquemas</a:t>
            </a:r>
            <a:r>
              <a:rPr lang="en-US" b="1" dirty="0">
                <a:solidFill>
                  <a:schemeClr val="bg1"/>
                </a:solidFill>
                <a:latin typeface="Arial" charset="0"/>
              </a:rPr>
              <a:t> e </a:t>
            </a:r>
            <a:r>
              <a:rPr lang="en-US" b="1" dirty="0" err="1">
                <a:solidFill>
                  <a:schemeClr val="bg1"/>
                </a:solidFill>
                <a:latin typeface="Arial" charset="0"/>
              </a:rPr>
              <a:t>Instancias</a:t>
            </a:r>
            <a:endParaRPr lang="en-US" b="1" dirty="0">
              <a:solidFill>
                <a:schemeClr val="bg1"/>
              </a:solidFill>
              <a:latin typeface="Arial" charset="0"/>
            </a:endParaRPr>
          </a:p>
          <a:p>
            <a:pPr lvl="1">
              <a:lnSpc>
                <a:spcPct val="80000"/>
              </a:lnSpc>
              <a:spcBef>
                <a:spcPts val="1800"/>
              </a:spcBef>
              <a:buFontTx/>
              <a:buChar char="•"/>
              <a:defRPr/>
            </a:pPr>
            <a:r>
              <a:rPr lang="en-US" b="1" dirty="0">
                <a:solidFill>
                  <a:schemeClr val="bg1"/>
                </a:solidFill>
                <a:latin typeface="Arial" charset="0"/>
              </a:rPr>
              <a:t>SQL</a:t>
            </a:r>
          </a:p>
          <a:p>
            <a:pPr lvl="1">
              <a:lnSpc>
                <a:spcPct val="80000"/>
              </a:lnSpc>
              <a:spcBef>
                <a:spcPts val="1800"/>
              </a:spcBef>
              <a:buFontTx/>
              <a:buChar char="•"/>
              <a:defRPr/>
            </a:pPr>
            <a:r>
              <a:rPr lang="en-US" b="1" dirty="0" err="1">
                <a:solidFill>
                  <a:schemeClr val="bg1"/>
                </a:solidFill>
                <a:latin typeface="Arial" charset="0"/>
              </a:rPr>
              <a:t>Procesamiento</a:t>
            </a:r>
            <a:r>
              <a:rPr lang="en-US" b="1" dirty="0">
                <a:solidFill>
                  <a:schemeClr val="bg1"/>
                </a:solidFill>
                <a:latin typeface="Arial" charset="0"/>
              </a:rPr>
              <a:t> de </a:t>
            </a:r>
            <a:r>
              <a:rPr lang="en-US" b="1" dirty="0" err="1">
                <a:solidFill>
                  <a:schemeClr val="bg1"/>
                </a:solidFill>
                <a:latin typeface="Arial" charset="0"/>
              </a:rPr>
              <a:t>Consultas</a:t>
            </a:r>
            <a:endParaRPr lang="en-US" b="1" dirty="0">
              <a:solidFill>
                <a:schemeClr val="bg1"/>
              </a:solidFill>
              <a:latin typeface="Arial" charset="0"/>
            </a:endParaRPr>
          </a:p>
          <a:p>
            <a:pPr lvl="1">
              <a:lnSpc>
                <a:spcPct val="80000"/>
              </a:lnSpc>
              <a:spcBef>
                <a:spcPts val="1800"/>
              </a:spcBef>
              <a:buFontTx/>
              <a:buChar char="•"/>
              <a:defRPr/>
            </a:pPr>
            <a:r>
              <a:rPr lang="en-US" b="1" dirty="0" err="1">
                <a:solidFill>
                  <a:schemeClr val="bg1"/>
                </a:solidFill>
                <a:latin typeface="Arial" charset="0"/>
              </a:rPr>
              <a:t>Transacciones</a:t>
            </a:r>
            <a:endParaRPr lang="en-US" b="1" dirty="0">
              <a:solidFill>
                <a:schemeClr val="bg1"/>
              </a:solidFill>
              <a:latin typeface="Arial" charset="0"/>
            </a:endParaRPr>
          </a:p>
          <a:p>
            <a:pPr lvl="1">
              <a:lnSpc>
                <a:spcPct val="80000"/>
              </a:lnSpc>
              <a:spcBef>
                <a:spcPts val="1800"/>
              </a:spcBef>
              <a:buFontTx/>
              <a:buChar char="•"/>
              <a:defRPr/>
            </a:pPr>
            <a:r>
              <a:rPr lang="en-US" b="1" dirty="0" err="1">
                <a:solidFill>
                  <a:schemeClr val="bg1"/>
                </a:solidFill>
                <a:latin typeface="Arial" charset="0"/>
              </a:rPr>
              <a:t>Historia</a:t>
            </a:r>
            <a:r>
              <a:rPr lang="en-US" b="1" dirty="0">
                <a:solidFill>
                  <a:schemeClr val="bg1"/>
                </a:solidFill>
                <a:latin typeface="Arial" charset="0"/>
              </a:rPr>
              <a:t> de bases de </a:t>
            </a:r>
            <a:r>
              <a:rPr lang="en-US" b="1" dirty="0" err="1">
                <a:solidFill>
                  <a:schemeClr val="bg1"/>
                </a:solidFill>
                <a:latin typeface="Arial" charset="0"/>
              </a:rPr>
              <a:t>datos</a:t>
            </a:r>
            <a:endParaRPr lang="en-US" b="1" dirty="0">
              <a:solidFill>
                <a:schemeClr val="bg1"/>
              </a:solidFill>
              <a:latin typeface="Arial" charset="0"/>
            </a:endParaRPr>
          </a:p>
          <a:p>
            <a:pPr marL="457189" lvl="1" indent="0">
              <a:lnSpc>
                <a:spcPct val="80000"/>
              </a:lnSpc>
              <a:buNone/>
              <a:defRPr/>
            </a:pPr>
            <a:endParaRPr lang="en-US" sz="2000" b="1" dirty="0">
              <a:solidFill>
                <a:schemeClr val="bg1"/>
              </a:solidFill>
              <a:latin typeface="Arial" charset="0"/>
            </a:endParaRPr>
          </a:p>
          <a:p>
            <a:endParaRPr lang="es-MX" dirty="0">
              <a:solidFill>
                <a:schemeClr val="bg1"/>
              </a:solidFill>
            </a:endParaRPr>
          </a:p>
        </p:txBody>
      </p:sp>
    </p:spTree>
    <p:extLst>
      <p:ext uri="{BB962C8B-B14F-4D97-AF65-F5344CB8AC3E}">
        <p14:creationId xmlns:p14="http://schemas.microsoft.com/office/powerpoint/2010/main" val="179320875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a:solidFill>
                  <a:schemeClr val="accent1">
                    <a:lumMod val="50000"/>
                  </a:schemeClr>
                </a:solidFill>
                <a:latin typeface="Arial" charset="0"/>
              </a:rPr>
              <a:t>Niveles</a:t>
            </a:r>
            <a:r>
              <a:rPr lang="en-US" b="1" dirty="0">
                <a:solidFill>
                  <a:schemeClr val="accent1">
                    <a:lumMod val="50000"/>
                  </a:schemeClr>
                </a:solidFill>
                <a:latin typeface="Arial" charset="0"/>
              </a:rPr>
              <a:t> de </a:t>
            </a:r>
            <a:r>
              <a:rPr lang="en-US" b="1" dirty="0" err="1">
                <a:solidFill>
                  <a:schemeClr val="accent1">
                    <a:lumMod val="50000"/>
                  </a:schemeClr>
                </a:solidFill>
                <a:latin typeface="Arial" charset="0"/>
              </a:rPr>
              <a:t>Abstracción</a:t>
            </a:r>
            <a:endParaRPr lang="es-MX" b="1" dirty="0">
              <a:solidFill>
                <a:schemeClr val="accent1">
                  <a:lumMod val="50000"/>
                </a:schemeClr>
              </a:solidFill>
              <a:latin typeface="Arial" charset="0"/>
            </a:endParaRPr>
          </a:p>
        </p:txBody>
      </p:sp>
      <p:sp>
        <p:nvSpPr>
          <p:cNvPr id="3" name="Marcador de contenido 2"/>
          <p:cNvSpPr>
            <a:spLocks noGrp="1"/>
          </p:cNvSpPr>
          <p:nvPr>
            <p:ph sz="quarter" idx="13"/>
          </p:nvPr>
        </p:nvSpPr>
        <p:spPr/>
        <p:txBody>
          <a:bodyPr/>
          <a:lstStyle/>
          <a:p>
            <a:pPr>
              <a:tabLst>
                <a:tab pos="1820863" algn="l"/>
                <a:tab pos="3659188" algn="l"/>
                <a:tab pos="3943350" algn="l"/>
              </a:tabLst>
              <a:defRPr/>
            </a:pPr>
            <a:r>
              <a:rPr lang="en-US" sz="2200" b="1" dirty="0" err="1">
                <a:solidFill>
                  <a:schemeClr val="tx2"/>
                </a:solidFill>
              </a:rPr>
              <a:t>Nivel</a:t>
            </a:r>
            <a:r>
              <a:rPr lang="en-US" sz="2200" b="1" dirty="0">
                <a:solidFill>
                  <a:schemeClr val="tx2"/>
                </a:solidFill>
              </a:rPr>
              <a:t> </a:t>
            </a:r>
            <a:r>
              <a:rPr lang="en-US" sz="2200" b="1" dirty="0" err="1">
                <a:solidFill>
                  <a:schemeClr val="tx2"/>
                </a:solidFill>
              </a:rPr>
              <a:t>Físico</a:t>
            </a:r>
            <a:r>
              <a:rPr lang="en-US" sz="2200" b="1" dirty="0">
                <a:solidFill>
                  <a:schemeClr val="tx2"/>
                </a:solidFill>
              </a:rPr>
              <a:t> :</a:t>
            </a:r>
            <a:r>
              <a:rPr lang="en-US" sz="2200" dirty="0"/>
              <a:t> describe la forma de </a:t>
            </a:r>
            <a:r>
              <a:rPr lang="en-US" sz="2200" dirty="0" err="1"/>
              <a:t>almacenamiento</a:t>
            </a:r>
            <a:r>
              <a:rPr lang="en-US" sz="2200" dirty="0"/>
              <a:t> de un </a:t>
            </a:r>
            <a:r>
              <a:rPr lang="en-US" sz="2200" dirty="0" err="1"/>
              <a:t>registro</a:t>
            </a:r>
            <a:r>
              <a:rPr lang="en-US" sz="2200" dirty="0"/>
              <a:t> (p. e., customer).</a:t>
            </a:r>
          </a:p>
          <a:p>
            <a:pPr>
              <a:tabLst>
                <a:tab pos="1820863" algn="l"/>
                <a:tab pos="3659188" algn="l"/>
                <a:tab pos="3943350" algn="l"/>
              </a:tabLst>
              <a:defRPr/>
            </a:pPr>
            <a:r>
              <a:rPr lang="en-US" sz="2200" b="1" dirty="0" err="1">
                <a:solidFill>
                  <a:schemeClr val="tx2"/>
                </a:solidFill>
              </a:rPr>
              <a:t>Nivel</a:t>
            </a:r>
            <a:r>
              <a:rPr lang="en-US" sz="2200" b="1" dirty="0">
                <a:solidFill>
                  <a:schemeClr val="tx2"/>
                </a:solidFill>
              </a:rPr>
              <a:t> </a:t>
            </a:r>
            <a:r>
              <a:rPr lang="en-US" sz="2200" b="1" dirty="0" err="1">
                <a:solidFill>
                  <a:schemeClr val="tx2"/>
                </a:solidFill>
              </a:rPr>
              <a:t>Lógico</a:t>
            </a:r>
            <a:r>
              <a:rPr lang="en-US" sz="2200" b="1" dirty="0">
                <a:solidFill>
                  <a:schemeClr val="tx2"/>
                </a:solidFill>
              </a:rPr>
              <a:t>:</a:t>
            </a:r>
            <a:r>
              <a:rPr lang="en-US" sz="2200" dirty="0"/>
              <a:t> describe </a:t>
            </a:r>
            <a:r>
              <a:rPr lang="en-US" sz="2200" dirty="0" err="1"/>
              <a:t>los</a:t>
            </a:r>
            <a:r>
              <a:rPr lang="en-US" sz="2200" dirty="0"/>
              <a:t> </a:t>
            </a:r>
            <a:r>
              <a:rPr lang="en-US" sz="2200" dirty="0" err="1"/>
              <a:t>datos</a:t>
            </a:r>
            <a:r>
              <a:rPr lang="en-US" sz="2200" dirty="0"/>
              <a:t> </a:t>
            </a:r>
            <a:r>
              <a:rPr lang="en-US" sz="2200" dirty="0" err="1"/>
              <a:t>almacenados</a:t>
            </a:r>
            <a:r>
              <a:rPr lang="en-US" sz="2200" dirty="0"/>
              <a:t> </a:t>
            </a:r>
            <a:r>
              <a:rPr lang="en-US" sz="2200" dirty="0" err="1"/>
              <a:t>en</a:t>
            </a:r>
            <a:r>
              <a:rPr lang="en-US" sz="2200" dirty="0"/>
              <a:t> la base de </a:t>
            </a:r>
            <a:r>
              <a:rPr lang="en-US" sz="2200" dirty="0" err="1"/>
              <a:t>datos</a:t>
            </a:r>
            <a:r>
              <a:rPr lang="en-US" sz="2200" dirty="0"/>
              <a:t> y las </a:t>
            </a:r>
            <a:r>
              <a:rPr lang="en-US" sz="2200" dirty="0" err="1"/>
              <a:t>relaciones</a:t>
            </a:r>
            <a:r>
              <a:rPr lang="en-US" sz="2200" dirty="0"/>
              <a:t> entre </a:t>
            </a:r>
            <a:r>
              <a:rPr lang="en-US" sz="2200" dirty="0" err="1"/>
              <a:t>ellos</a:t>
            </a:r>
            <a:r>
              <a:rPr lang="en-US" sz="2200" dirty="0"/>
              <a:t>.</a:t>
            </a:r>
          </a:p>
          <a:p>
            <a:pPr lvl="1">
              <a:buNone/>
              <a:tabLst>
                <a:tab pos="1820863" algn="l"/>
                <a:tab pos="3659188" algn="l"/>
                <a:tab pos="3943350" algn="l"/>
              </a:tabLst>
              <a:defRPr/>
            </a:pPr>
            <a:r>
              <a:rPr lang="en-US" sz="2200" b="1" dirty="0">
                <a:latin typeface="Arial" pitchFamily="34" charset="0"/>
                <a:cs typeface="Arial" pitchFamily="34" charset="0"/>
              </a:rPr>
              <a:t>	type</a:t>
            </a:r>
            <a:r>
              <a:rPr lang="en-US" sz="2200" dirty="0">
                <a:latin typeface="Arial" pitchFamily="34" charset="0"/>
                <a:cs typeface="Arial" pitchFamily="34" charset="0"/>
              </a:rPr>
              <a:t> </a:t>
            </a:r>
            <a:r>
              <a:rPr lang="en-US" sz="2200" i="1" dirty="0">
                <a:latin typeface="Arial" pitchFamily="34" charset="0"/>
                <a:cs typeface="Arial" pitchFamily="34" charset="0"/>
              </a:rPr>
              <a:t>customer</a:t>
            </a:r>
            <a:r>
              <a:rPr lang="en-US" sz="2200" dirty="0">
                <a:latin typeface="Arial" pitchFamily="34" charset="0"/>
                <a:cs typeface="Arial" pitchFamily="34" charset="0"/>
              </a:rPr>
              <a:t> = </a:t>
            </a:r>
            <a:r>
              <a:rPr lang="en-US" sz="2200" b="1" dirty="0">
                <a:latin typeface="Arial" pitchFamily="34" charset="0"/>
                <a:cs typeface="Arial" pitchFamily="34" charset="0"/>
              </a:rPr>
              <a:t>record</a:t>
            </a:r>
            <a:endParaRPr lang="en-US" sz="2200" dirty="0">
              <a:latin typeface="Arial" pitchFamily="34" charset="0"/>
              <a:cs typeface="Arial" pitchFamily="34" charset="0"/>
            </a:endParaRPr>
          </a:p>
          <a:p>
            <a:pPr lvl="1">
              <a:buNone/>
              <a:tabLst>
                <a:tab pos="1820863" algn="l"/>
                <a:tab pos="3659188" algn="l"/>
                <a:tab pos="3943350" algn="l"/>
              </a:tabLst>
              <a:defRPr/>
            </a:pPr>
            <a:r>
              <a:rPr lang="en-US" sz="2200" dirty="0">
                <a:latin typeface="Arial" pitchFamily="34" charset="0"/>
                <a:cs typeface="Arial" pitchFamily="34" charset="0"/>
              </a:rPr>
              <a:t>		</a:t>
            </a:r>
            <a:r>
              <a:rPr lang="en-US" sz="2200" i="1" dirty="0" err="1">
                <a:latin typeface="Arial" pitchFamily="34" charset="0"/>
                <a:cs typeface="Arial" pitchFamily="34" charset="0"/>
              </a:rPr>
              <a:t>customer_id</a:t>
            </a:r>
            <a:r>
              <a:rPr lang="en-US" sz="2200" dirty="0">
                <a:latin typeface="Arial" pitchFamily="34" charset="0"/>
                <a:cs typeface="Arial" pitchFamily="34" charset="0"/>
              </a:rPr>
              <a:t> : string; </a:t>
            </a:r>
            <a:br>
              <a:rPr lang="en-US" sz="2200" dirty="0">
                <a:latin typeface="Arial" pitchFamily="34" charset="0"/>
                <a:cs typeface="Arial" pitchFamily="34" charset="0"/>
              </a:rPr>
            </a:br>
            <a:r>
              <a:rPr lang="en-US" sz="2200" dirty="0">
                <a:latin typeface="Arial" pitchFamily="34" charset="0"/>
                <a:cs typeface="Arial" pitchFamily="34" charset="0"/>
              </a:rPr>
              <a:t>	</a:t>
            </a:r>
            <a:r>
              <a:rPr lang="en-US" sz="2200" i="1" dirty="0" err="1">
                <a:latin typeface="Arial" pitchFamily="34" charset="0"/>
                <a:cs typeface="Arial" pitchFamily="34" charset="0"/>
              </a:rPr>
              <a:t>customer_name</a:t>
            </a:r>
            <a:r>
              <a:rPr lang="en-US" sz="2200" dirty="0">
                <a:latin typeface="Arial" pitchFamily="34" charset="0"/>
                <a:cs typeface="Arial" pitchFamily="34" charset="0"/>
              </a:rPr>
              <a:t> : string;</a:t>
            </a:r>
            <a:br>
              <a:rPr lang="en-US" sz="2200" dirty="0">
                <a:latin typeface="Arial" pitchFamily="34" charset="0"/>
                <a:cs typeface="Arial" pitchFamily="34" charset="0"/>
              </a:rPr>
            </a:br>
            <a:r>
              <a:rPr lang="en-US" sz="2200" dirty="0">
                <a:latin typeface="Arial" pitchFamily="34" charset="0"/>
                <a:cs typeface="Arial" pitchFamily="34" charset="0"/>
              </a:rPr>
              <a:t>	</a:t>
            </a:r>
            <a:r>
              <a:rPr lang="en-US" sz="2200" i="1" dirty="0" err="1">
                <a:latin typeface="Arial" pitchFamily="34" charset="0"/>
                <a:cs typeface="Arial" pitchFamily="34" charset="0"/>
              </a:rPr>
              <a:t>customer</a:t>
            </a:r>
            <a:r>
              <a:rPr lang="en-US" sz="2200" dirty="0" err="1">
                <a:latin typeface="Arial" pitchFamily="34" charset="0"/>
                <a:cs typeface="Arial" pitchFamily="34" charset="0"/>
              </a:rPr>
              <a:t>_</a:t>
            </a:r>
            <a:r>
              <a:rPr lang="en-US" sz="2200" i="1" dirty="0" err="1">
                <a:latin typeface="Arial" pitchFamily="34" charset="0"/>
                <a:cs typeface="Arial" pitchFamily="34" charset="0"/>
              </a:rPr>
              <a:t>street</a:t>
            </a:r>
            <a:r>
              <a:rPr lang="en-US" sz="2200" dirty="0">
                <a:latin typeface="Arial" pitchFamily="34" charset="0"/>
                <a:cs typeface="Arial" pitchFamily="34" charset="0"/>
              </a:rPr>
              <a:t> : string;</a:t>
            </a:r>
            <a:br>
              <a:rPr lang="en-US" sz="2200" dirty="0">
                <a:latin typeface="Arial" pitchFamily="34" charset="0"/>
                <a:cs typeface="Arial" pitchFamily="34" charset="0"/>
              </a:rPr>
            </a:br>
            <a:r>
              <a:rPr lang="en-US" sz="2200" dirty="0">
                <a:latin typeface="Arial" pitchFamily="34" charset="0"/>
                <a:cs typeface="Arial" pitchFamily="34" charset="0"/>
              </a:rPr>
              <a:t>	</a:t>
            </a:r>
            <a:r>
              <a:rPr lang="en-US" sz="2200" i="1" dirty="0" err="1">
                <a:latin typeface="Arial" pitchFamily="34" charset="0"/>
                <a:cs typeface="Arial" pitchFamily="34" charset="0"/>
              </a:rPr>
              <a:t>customer_city</a:t>
            </a:r>
            <a:r>
              <a:rPr lang="en-US" sz="2200" dirty="0">
                <a:latin typeface="Arial" pitchFamily="34" charset="0"/>
                <a:cs typeface="Arial" pitchFamily="34" charset="0"/>
              </a:rPr>
              <a:t> : integer;</a:t>
            </a:r>
          </a:p>
          <a:p>
            <a:pPr lvl="4">
              <a:buNone/>
              <a:tabLst>
                <a:tab pos="1820863" algn="l"/>
                <a:tab pos="3659188" algn="l"/>
                <a:tab pos="3943350" algn="l"/>
              </a:tabLst>
              <a:defRPr/>
            </a:pPr>
            <a:r>
              <a:rPr lang="en-US" sz="2200" b="1" dirty="0">
                <a:latin typeface="Arial" pitchFamily="34" charset="0"/>
                <a:cs typeface="Arial" pitchFamily="34" charset="0"/>
              </a:rPr>
              <a:t>end</a:t>
            </a:r>
            <a:r>
              <a:rPr lang="en-US" sz="2200" dirty="0">
                <a:latin typeface="Arial" pitchFamily="34" charset="0"/>
                <a:cs typeface="Arial" pitchFamily="34" charset="0"/>
              </a:rPr>
              <a:t>;</a:t>
            </a:r>
          </a:p>
          <a:p>
            <a:pPr>
              <a:tabLst>
                <a:tab pos="1820863" algn="l"/>
                <a:tab pos="3659188" algn="l"/>
                <a:tab pos="3943350" algn="l"/>
              </a:tabLst>
              <a:defRPr/>
            </a:pPr>
            <a:r>
              <a:rPr lang="en-US" sz="2200" b="1" dirty="0" err="1">
                <a:solidFill>
                  <a:schemeClr val="tx2"/>
                </a:solidFill>
              </a:rPr>
              <a:t>Nivel</a:t>
            </a:r>
            <a:r>
              <a:rPr lang="en-US" sz="2200" b="1" dirty="0">
                <a:solidFill>
                  <a:schemeClr val="tx2"/>
                </a:solidFill>
              </a:rPr>
              <a:t> Vista:</a:t>
            </a:r>
            <a:r>
              <a:rPr lang="en-US" sz="2200" dirty="0"/>
              <a:t> </a:t>
            </a:r>
            <a:r>
              <a:rPr lang="en-US" sz="2200" dirty="0" err="1"/>
              <a:t>los</a:t>
            </a:r>
            <a:r>
              <a:rPr lang="en-US" sz="2200" dirty="0"/>
              <a:t> </a:t>
            </a:r>
            <a:r>
              <a:rPr lang="en-US" sz="2200" dirty="0" err="1"/>
              <a:t>programas</a:t>
            </a:r>
            <a:r>
              <a:rPr lang="en-US" sz="2200" dirty="0"/>
              <a:t> de </a:t>
            </a:r>
            <a:r>
              <a:rPr lang="en-US" sz="2200" dirty="0" err="1"/>
              <a:t>aplicación</a:t>
            </a:r>
            <a:r>
              <a:rPr lang="en-US" sz="2200" dirty="0"/>
              <a:t> </a:t>
            </a:r>
            <a:r>
              <a:rPr lang="en-US" sz="2200" dirty="0" err="1"/>
              <a:t>esconden</a:t>
            </a:r>
            <a:r>
              <a:rPr lang="en-US" sz="2200" dirty="0"/>
              <a:t> </a:t>
            </a:r>
            <a:r>
              <a:rPr lang="en-US" sz="2200" dirty="0" err="1"/>
              <a:t>detalles</a:t>
            </a:r>
            <a:r>
              <a:rPr lang="en-US" sz="2200" dirty="0"/>
              <a:t> de </a:t>
            </a:r>
            <a:r>
              <a:rPr lang="en-US" sz="2200" dirty="0" err="1"/>
              <a:t>los</a:t>
            </a:r>
            <a:r>
              <a:rPr lang="en-US" sz="2200" dirty="0"/>
              <a:t> </a:t>
            </a:r>
            <a:r>
              <a:rPr lang="en-US" sz="2200" dirty="0" err="1"/>
              <a:t>tipos</a:t>
            </a:r>
            <a:r>
              <a:rPr lang="en-US" sz="2200" dirty="0"/>
              <a:t> de </a:t>
            </a:r>
            <a:r>
              <a:rPr lang="en-US" sz="2200" dirty="0" err="1"/>
              <a:t>datos</a:t>
            </a:r>
            <a:r>
              <a:rPr lang="en-US" sz="2200" dirty="0"/>
              <a:t>.</a:t>
            </a:r>
          </a:p>
          <a:p>
            <a:endParaRPr lang="es-MX" dirty="0"/>
          </a:p>
        </p:txBody>
      </p:sp>
    </p:spTree>
    <p:extLst>
      <p:ext uri="{BB962C8B-B14F-4D97-AF65-F5344CB8AC3E}">
        <p14:creationId xmlns:p14="http://schemas.microsoft.com/office/powerpoint/2010/main" val="144560704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68679"/>
            <a:ext cx="10245091" cy="632157"/>
          </a:xfrm>
        </p:spPr>
        <p:txBody>
          <a:bodyPr/>
          <a:lstStyle/>
          <a:p>
            <a:r>
              <a:rPr lang="en-US" b="1" dirty="0">
                <a:solidFill>
                  <a:schemeClr val="accent1">
                    <a:lumMod val="50000"/>
                  </a:schemeClr>
                </a:solidFill>
                <a:latin typeface="Arial" charset="0"/>
              </a:rPr>
              <a:t>Vista de </a:t>
            </a:r>
            <a:r>
              <a:rPr lang="en-US" b="1" dirty="0" err="1">
                <a:solidFill>
                  <a:schemeClr val="accent1">
                    <a:lumMod val="50000"/>
                  </a:schemeClr>
                </a:solidFill>
                <a:latin typeface="Arial" charset="0"/>
              </a:rPr>
              <a:t>los</a:t>
            </a:r>
            <a:r>
              <a:rPr lang="en-US" b="1" dirty="0">
                <a:solidFill>
                  <a:schemeClr val="accent1">
                    <a:lumMod val="50000"/>
                  </a:schemeClr>
                </a:solidFill>
                <a:latin typeface="Arial" charset="0"/>
              </a:rPr>
              <a:t> </a:t>
            </a:r>
            <a:r>
              <a:rPr lang="en-US" b="1" dirty="0" err="1">
                <a:solidFill>
                  <a:schemeClr val="accent1">
                    <a:lumMod val="50000"/>
                  </a:schemeClr>
                </a:solidFill>
                <a:latin typeface="Arial" charset="0"/>
              </a:rPr>
              <a:t>datos</a:t>
            </a:r>
            <a:endParaRPr lang="es-MX" b="1" dirty="0">
              <a:solidFill>
                <a:schemeClr val="accent1">
                  <a:lumMod val="50000"/>
                </a:schemeClr>
              </a:solidFill>
              <a:latin typeface="Arial"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l="3358" t="14328" r="1120" b="10448"/>
          <a:stretch>
            <a:fillRect/>
          </a:stretch>
        </p:blipFill>
        <p:spPr bwMode="auto">
          <a:xfrm>
            <a:off x="2945130" y="2110105"/>
            <a:ext cx="7310438" cy="4318000"/>
          </a:xfrm>
          <a:prstGeom prst="rect">
            <a:avLst/>
          </a:prstGeom>
          <a:noFill/>
          <a:ln w="38100" cmpd="dbl">
            <a:solidFill>
              <a:schemeClr val="tx2"/>
            </a:solidFill>
            <a:miter lim="800000"/>
            <a:headEnd/>
            <a:tailEnd/>
          </a:ln>
          <a:extLst>
            <a:ext uri="{909E8E84-426E-40DD-AFC4-6F175D3DCCD1}">
              <a14:hiddenFill xmlns:a14="http://schemas.microsoft.com/office/drawing/2010/main">
                <a:solidFill>
                  <a:srgbClr val="FFFFFF"/>
                </a:solidFill>
              </a14:hiddenFill>
            </a:ext>
          </a:extLst>
        </p:spPr>
      </p:pic>
      <p:sp>
        <p:nvSpPr>
          <p:cNvPr id="5" name="Text Box 3"/>
          <p:cNvSpPr txBox="1">
            <a:spLocks noChangeArrowheads="1"/>
          </p:cNvSpPr>
          <p:nvPr/>
        </p:nvSpPr>
        <p:spPr bwMode="auto">
          <a:xfrm>
            <a:off x="1024890" y="1724025"/>
            <a:ext cx="69977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9pPr>
          </a:lstStyle>
          <a:p>
            <a:pPr algn="ctr" eaLnBrk="1" hangingPunct="1">
              <a:spcBef>
                <a:spcPct val="50000"/>
              </a:spcBef>
              <a:buClrTx/>
              <a:buSzTx/>
              <a:buFontTx/>
              <a:buNone/>
            </a:pPr>
            <a:r>
              <a:rPr lang="en-US" altLang="es-MX" sz="2400" dirty="0" err="1">
                <a:latin typeface="Arial" panose="020B0604020202020204" pitchFamily="34" charset="0"/>
                <a:cs typeface="Arial" panose="020B0604020202020204" pitchFamily="34" charset="0"/>
              </a:rPr>
              <a:t>Una</a:t>
            </a:r>
            <a:r>
              <a:rPr lang="en-US" altLang="es-MX" sz="2400" dirty="0">
                <a:latin typeface="Arial" panose="020B0604020202020204" pitchFamily="34" charset="0"/>
                <a:cs typeface="Arial" panose="020B0604020202020204" pitchFamily="34" charset="0"/>
              </a:rPr>
              <a:t> </a:t>
            </a:r>
            <a:r>
              <a:rPr lang="en-US" altLang="es-MX" sz="2400" dirty="0" err="1">
                <a:latin typeface="Arial" panose="020B0604020202020204" pitchFamily="34" charset="0"/>
                <a:cs typeface="Arial" panose="020B0604020202020204" pitchFamily="34" charset="0"/>
              </a:rPr>
              <a:t>arquitectura</a:t>
            </a:r>
            <a:r>
              <a:rPr lang="en-US" altLang="es-MX" sz="2400" dirty="0">
                <a:latin typeface="Arial" panose="020B0604020202020204" pitchFamily="34" charset="0"/>
                <a:cs typeface="Arial" panose="020B0604020202020204" pitchFamily="34" charset="0"/>
              </a:rPr>
              <a:t> de un </a:t>
            </a:r>
            <a:r>
              <a:rPr lang="en-US" altLang="es-MX" sz="2400" dirty="0" err="1">
                <a:latin typeface="Arial" panose="020B0604020202020204" pitchFamily="34" charset="0"/>
                <a:cs typeface="Arial" panose="020B0604020202020204" pitchFamily="34" charset="0"/>
              </a:rPr>
              <a:t>sistema</a:t>
            </a:r>
            <a:r>
              <a:rPr lang="en-US" altLang="es-MX" sz="2400" dirty="0">
                <a:latin typeface="Arial" panose="020B0604020202020204" pitchFamily="34" charset="0"/>
                <a:cs typeface="Arial" panose="020B0604020202020204" pitchFamily="34" charset="0"/>
              </a:rPr>
              <a:t> de base de </a:t>
            </a:r>
            <a:r>
              <a:rPr lang="en-US" altLang="es-MX" sz="2400" dirty="0" err="1">
                <a:latin typeface="Arial" panose="020B0604020202020204" pitchFamily="34" charset="0"/>
                <a:cs typeface="Arial" panose="020B0604020202020204" pitchFamily="34" charset="0"/>
              </a:rPr>
              <a:t>datos</a:t>
            </a:r>
            <a:r>
              <a:rPr lang="en-US" altLang="es-MX" sz="24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00112422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61847"/>
            <a:ext cx="10245091" cy="638989"/>
          </a:xfrm>
        </p:spPr>
        <p:txBody>
          <a:bodyPr/>
          <a:lstStyle/>
          <a:p>
            <a:r>
              <a:rPr lang="en-US" b="1" dirty="0" err="1">
                <a:solidFill>
                  <a:schemeClr val="accent1">
                    <a:lumMod val="50000"/>
                  </a:schemeClr>
                </a:solidFill>
              </a:rPr>
              <a:t>Esquemas</a:t>
            </a:r>
            <a:r>
              <a:rPr lang="en-US" b="1" dirty="0">
                <a:solidFill>
                  <a:schemeClr val="accent1">
                    <a:lumMod val="50000"/>
                  </a:schemeClr>
                </a:solidFill>
              </a:rPr>
              <a:t> e </a:t>
            </a:r>
            <a:r>
              <a:rPr lang="en-US" b="1" dirty="0" err="1">
                <a:solidFill>
                  <a:schemeClr val="accent1">
                    <a:lumMod val="50000"/>
                  </a:schemeClr>
                </a:solidFill>
              </a:rPr>
              <a:t>Instancias</a:t>
            </a:r>
            <a:endParaRPr lang="es-MX" b="1" dirty="0">
              <a:solidFill>
                <a:schemeClr val="accent1">
                  <a:lumMod val="50000"/>
                </a:schemeClr>
              </a:solidFill>
            </a:endParaRPr>
          </a:p>
        </p:txBody>
      </p:sp>
      <p:sp>
        <p:nvSpPr>
          <p:cNvPr id="3" name="Marcador de contenido 2"/>
          <p:cNvSpPr>
            <a:spLocks noGrp="1"/>
          </p:cNvSpPr>
          <p:nvPr>
            <p:ph sz="quarter" idx="13"/>
          </p:nvPr>
        </p:nvSpPr>
        <p:spPr/>
        <p:txBody>
          <a:bodyPr/>
          <a:lstStyle/>
          <a:p>
            <a:pPr>
              <a:defRPr/>
            </a:pPr>
            <a:r>
              <a:rPr lang="en-US" dirty="0"/>
              <a:t>Similar a </a:t>
            </a:r>
            <a:r>
              <a:rPr lang="en-US" dirty="0" err="1"/>
              <a:t>tipos</a:t>
            </a:r>
            <a:r>
              <a:rPr lang="en-US" dirty="0"/>
              <a:t> y variables </a:t>
            </a:r>
            <a:r>
              <a:rPr lang="en-US" dirty="0" err="1"/>
              <a:t>en</a:t>
            </a:r>
            <a:r>
              <a:rPr lang="en-US" dirty="0"/>
              <a:t> </a:t>
            </a:r>
            <a:r>
              <a:rPr lang="en-US" dirty="0" err="1"/>
              <a:t>los</a:t>
            </a:r>
            <a:r>
              <a:rPr lang="en-US" dirty="0"/>
              <a:t> </a:t>
            </a:r>
            <a:r>
              <a:rPr lang="en-US" dirty="0" err="1"/>
              <a:t>Lenguajes</a:t>
            </a:r>
            <a:r>
              <a:rPr lang="en-US" dirty="0"/>
              <a:t> de </a:t>
            </a:r>
            <a:r>
              <a:rPr lang="en-US" dirty="0" err="1"/>
              <a:t>Programación</a:t>
            </a:r>
            <a:endParaRPr lang="en-US" dirty="0"/>
          </a:p>
          <a:p>
            <a:pPr>
              <a:defRPr/>
            </a:pPr>
            <a:r>
              <a:rPr lang="en-US" b="1" dirty="0" err="1">
                <a:solidFill>
                  <a:schemeClr val="tx2"/>
                </a:solidFill>
              </a:rPr>
              <a:t>Esquema</a:t>
            </a:r>
            <a:r>
              <a:rPr lang="en-US" dirty="0"/>
              <a:t> – la </a:t>
            </a:r>
            <a:r>
              <a:rPr lang="en-US" dirty="0" err="1"/>
              <a:t>estructura</a:t>
            </a:r>
            <a:r>
              <a:rPr lang="en-US" dirty="0"/>
              <a:t> </a:t>
            </a:r>
            <a:r>
              <a:rPr lang="en-US" dirty="0" err="1"/>
              <a:t>lógica</a:t>
            </a:r>
            <a:r>
              <a:rPr lang="en-US" dirty="0"/>
              <a:t> de la base de </a:t>
            </a:r>
            <a:r>
              <a:rPr lang="en-US" dirty="0" err="1"/>
              <a:t>datos</a:t>
            </a:r>
            <a:endParaRPr lang="en-US" dirty="0"/>
          </a:p>
          <a:p>
            <a:pPr lvl="1">
              <a:defRPr/>
            </a:pPr>
            <a:r>
              <a:rPr lang="en-US" dirty="0" err="1">
                <a:latin typeface="Arial" pitchFamily="34" charset="0"/>
                <a:cs typeface="Arial" pitchFamily="34" charset="0"/>
              </a:rPr>
              <a:t>Ejemplo</a:t>
            </a:r>
            <a:r>
              <a:rPr lang="en-US" dirty="0">
                <a:latin typeface="Arial" pitchFamily="34" charset="0"/>
                <a:cs typeface="Arial" pitchFamily="34" charset="0"/>
              </a:rPr>
              <a:t>: La BD </a:t>
            </a:r>
            <a:r>
              <a:rPr lang="en-US" dirty="0" err="1">
                <a:latin typeface="Arial" pitchFamily="34" charset="0"/>
                <a:cs typeface="Arial" pitchFamily="34" charset="0"/>
              </a:rPr>
              <a:t>consiste</a:t>
            </a:r>
            <a:r>
              <a:rPr lang="en-US" dirty="0">
                <a:latin typeface="Arial" pitchFamily="34" charset="0"/>
                <a:cs typeface="Arial" pitchFamily="34" charset="0"/>
              </a:rPr>
              <a:t> de </a:t>
            </a:r>
            <a:r>
              <a:rPr lang="en-US" dirty="0" err="1">
                <a:latin typeface="Arial" pitchFamily="34" charset="0"/>
                <a:cs typeface="Arial" pitchFamily="34" charset="0"/>
              </a:rPr>
              <a:t>información</a:t>
            </a:r>
            <a:r>
              <a:rPr lang="en-US" dirty="0">
                <a:latin typeface="Arial" pitchFamily="34" charset="0"/>
                <a:cs typeface="Arial" pitchFamily="34" charset="0"/>
              </a:rPr>
              <a:t> </a:t>
            </a:r>
            <a:r>
              <a:rPr lang="en-US" dirty="0" err="1">
                <a:latin typeface="Arial" pitchFamily="34" charset="0"/>
                <a:cs typeface="Arial" pitchFamily="34" charset="0"/>
              </a:rPr>
              <a:t>sobre</a:t>
            </a:r>
            <a:r>
              <a:rPr lang="en-US" dirty="0">
                <a:latin typeface="Arial" pitchFamily="34" charset="0"/>
                <a:cs typeface="Arial" pitchFamily="34" charset="0"/>
              </a:rPr>
              <a:t> un </a:t>
            </a:r>
            <a:r>
              <a:rPr lang="en-US" dirty="0" err="1">
                <a:latin typeface="Arial" pitchFamily="34" charset="0"/>
                <a:cs typeface="Arial" pitchFamily="34" charset="0"/>
              </a:rPr>
              <a:t>conjunto</a:t>
            </a:r>
            <a:r>
              <a:rPr lang="en-US" dirty="0">
                <a:latin typeface="Arial" pitchFamily="34" charset="0"/>
                <a:cs typeface="Arial" pitchFamily="34" charset="0"/>
              </a:rPr>
              <a:t> de </a:t>
            </a:r>
            <a:r>
              <a:rPr lang="en-US" dirty="0" err="1">
                <a:latin typeface="Arial" pitchFamily="34" charset="0"/>
                <a:cs typeface="Arial" pitchFamily="34" charset="0"/>
              </a:rPr>
              <a:t>clientes</a:t>
            </a:r>
            <a:r>
              <a:rPr lang="en-US" dirty="0">
                <a:latin typeface="Arial" pitchFamily="34" charset="0"/>
                <a:cs typeface="Arial" pitchFamily="34" charset="0"/>
              </a:rPr>
              <a:t> y </a:t>
            </a:r>
            <a:r>
              <a:rPr lang="en-US" dirty="0" err="1">
                <a:latin typeface="Arial" pitchFamily="34" charset="0"/>
                <a:cs typeface="Arial" pitchFamily="34" charset="0"/>
              </a:rPr>
              <a:t>cuentas</a:t>
            </a:r>
            <a:r>
              <a:rPr lang="en-US" dirty="0">
                <a:latin typeface="Arial" pitchFamily="34" charset="0"/>
                <a:cs typeface="Arial" pitchFamily="34" charset="0"/>
              </a:rPr>
              <a:t> y las </a:t>
            </a:r>
            <a:r>
              <a:rPr lang="en-US" dirty="0" err="1">
                <a:latin typeface="Arial" pitchFamily="34" charset="0"/>
                <a:cs typeface="Arial" pitchFamily="34" charset="0"/>
              </a:rPr>
              <a:t>relaciones</a:t>
            </a:r>
            <a:r>
              <a:rPr lang="en-US" dirty="0">
                <a:latin typeface="Arial" pitchFamily="34" charset="0"/>
                <a:cs typeface="Arial" pitchFamily="34" charset="0"/>
              </a:rPr>
              <a:t> entre </a:t>
            </a:r>
            <a:r>
              <a:rPr lang="en-US" dirty="0" err="1">
                <a:latin typeface="Arial" pitchFamily="34" charset="0"/>
                <a:cs typeface="Arial" pitchFamily="34" charset="0"/>
              </a:rPr>
              <a:t>ellos</a:t>
            </a:r>
            <a:endParaRPr lang="en-US" dirty="0">
              <a:latin typeface="Arial" pitchFamily="34" charset="0"/>
              <a:cs typeface="Arial" pitchFamily="34" charset="0"/>
            </a:endParaRPr>
          </a:p>
          <a:p>
            <a:pPr lvl="1">
              <a:defRPr/>
            </a:pPr>
            <a:r>
              <a:rPr lang="en-US" dirty="0" err="1">
                <a:latin typeface="Arial" pitchFamily="34" charset="0"/>
                <a:cs typeface="Arial" pitchFamily="34" charset="0"/>
              </a:rPr>
              <a:t>Análogo</a:t>
            </a:r>
            <a:r>
              <a:rPr lang="en-US" dirty="0">
                <a:latin typeface="Arial" pitchFamily="34" charset="0"/>
                <a:cs typeface="Arial" pitchFamily="34" charset="0"/>
              </a:rPr>
              <a:t> a la </a:t>
            </a:r>
            <a:r>
              <a:rPr lang="en-US" dirty="0" err="1">
                <a:latin typeface="Arial" pitchFamily="34" charset="0"/>
                <a:cs typeface="Arial" pitchFamily="34" charset="0"/>
              </a:rPr>
              <a:t>información</a:t>
            </a:r>
            <a:r>
              <a:rPr lang="en-US" dirty="0">
                <a:latin typeface="Arial" pitchFamily="34" charset="0"/>
                <a:cs typeface="Arial" pitchFamily="34" charset="0"/>
              </a:rPr>
              <a:t> de </a:t>
            </a:r>
            <a:r>
              <a:rPr lang="en-US" dirty="0" err="1">
                <a:latin typeface="Arial" pitchFamily="34" charset="0"/>
                <a:cs typeface="Arial" pitchFamily="34" charset="0"/>
              </a:rPr>
              <a:t>tipos</a:t>
            </a:r>
            <a:r>
              <a:rPr lang="en-US" dirty="0">
                <a:latin typeface="Arial" pitchFamily="34" charset="0"/>
                <a:cs typeface="Arial" pitchFamily="34" charset="0"/>
              </a:rPr>
              <a:t> de  las variables </a:t>
            </a:r>
            <a:r>
              <a:rPr lang="en-US" dirty="0" err="1">
                <a:latin typeface="Arial" pitchFamily="34" charset="0"/>
                <a:cs typeface="Arial" pitchFamily="34" charset="0"/>
              </a:rPr>
              <a:t>en</a:t>
            </a:r>
            <a:r>
              <a:rPr lang="en-US" dirty="0">
                <a:latin typeface="Arial" pitchFamily="34" charset="0"/>
                <a:cs typeface="Arial" pitchFamily="34" charset="0"/>
              </a:rPr>
              <a:t> un </a:t>
            </a:r>
            <a:r>
              <a:rPr lang="en-US" dirty="0" err="1">
                <a:latin typeface="Arial" pitchFamily="34" charset="0"/>
                <a:cs typeface="Arial" pitchFamily="34" charset="0"/>
              </a:rPr>
              <a:t>programa</a:t>
            </a:r>
            <a:endParaRPr lang="en-US" dirty="0">
              <a:latin typeface="Arial" pitchFamily="34" charset="0"/>
              <a:cs typeface="Arial" pitchFamily="34" charset="0"/>
            </a:endParaRPr>
          </a:p>
          <a:p>
            <a:pPr lvl="1">
              <a:defRPr/>
            </a:pPr>
            <a:r>
              <a:rPr lang="en-US" b="1" dirty="0" err="1">
                <a:latin typeface="Arial" pitchFamily="34" charset="0"/>
                <a:cs typeface="Arial" pitchFamily="34" charset="0"/>
              </a:rPr>
              <a:t>Esquema</a:t>
            </a:r>
            <a:r>
              <a:rPr lang="en-US" b="1" dirty="0">
                <a:latin typeface="Arial" pitchFamily="34" charset="0"/>
                <a:cs typeface="Arial" pitchFamily="34" charset="0"/>
              </a:rPr>
              <a:t> </a:t>
            </a:r>
            <a:r>
              <a:rPr lang="en-US" b="1" dirty="0" err="1">
                <a:latin typeface="Arial" pitchFamily="34" charset="0"/>
                <a:cs typeface="Arial" pitchFamily="34" charset="0"/>
              </a:rPr>
              <a:t>Físico</a:t>
            </a:r>
            <a:r>
              <a:rPr lang="en-US" dirty="0">
                <a:latin typeface="Arial" pitchFamily="34" charset="0"/>
                <a:cs typeface="Arial" pitchFamily="34" charset="0"/>
              </a:rPr>
              <a:t>: </a:t>
            </a:r>
            <a:r>
              <a:rPr lang="en-US" dirty="0" err="1">
                <a:latin typeface="Arial" pitchFamily="34" charset="0"/>
                <a:cs typeface="Arial" pitchFamily="34" charset="0"/>
              </a:rPr>
              <a:t>es</a:t>
            </a:r>
            <a:r>
              <a:rPr lang="en-US" dirty="0">
                <a:latin typeface="Arial" pitchFamily="34" charset="0"/>
                <a:cs typeface="Arial" pitchFamily="34" charset="0"/>
              </a:rPr>
              <a:t> el </a:t>
            </a:r>
            <a:r>
              <a:rPr lang="en-US" dirty="0" err="1">
                <a:latin typeface="Arial" pitchFamily="34" charset="0"/>
                <a:cs typeface="Arial" pitchFamily="34" charset="0"/>
              </a:rPr>
              <a:t>diseño</a:t>
            </a:r>
            <a:r>
              <a:rPr lang="en-US" dirty="0">
                <a:latin typeface="Arial" pitchFamily="34" charset="0"/>
                <a:cs typeface="Arial" pitchFamily="34" charset="0"/>
              </a:rPr>
              <a:t> de la BD </a:t>
            </a:r>
            <a:r>
              <a:rPr lang="en-US" dirty="0" err="1">
                <a:latin typeface="Arial" pitchFamily="34" charset="0"/>
                <a:cs typeface="Arial" pitchFamily="34" charset="0"/>
              </a:rPr>
              <a:t>en</a:t>
            </a:r>
            <a:r>
              <a:rPr lang="en-US" dirty="0">
                <a:latin typeface="Arial" pitchFamily="34" charset="0"/>
                <a:cs typeface="Arial" pitchFamily="34" charset="0"/>
              </a:rPr>
              <a:t> el </a:t>
            </a:r>
            <a:r>
              <a:rPr lang="en-US" dirty="0" err="1">
                <a:latin typeface="Arial" pitchFamily="34" charset="0"/>
                <a:cs typeface="Arial" pitchFamily="34" charset="0"/>
              </a:rPr>
              <a:t>nivel</a:t>
            </a:r>
            <a:r>
              <a:rPr lang="en-US" dirty="0">
                <a:latin typeface="Arial" pitchFamily="34" charset="0"/>
                <a:cs typeface="Arial" pitchFamily="34" charset="0"/>
              </a:rPr>
              <a:t> </a:t>
            </a:r>
            <a:r>
              <a:rPr lang="en-US" dirty="0" err="1">
                <a:latin typeface="Arial" pitchFamily="34" charset="0"/>
                <a:cs typeface="Arial" pitchFamily="34" charset="0"/>
              </a:rPr>
              <a:t>físico</a:t>
            </a:r>
            <a:endParaRPr lang="en-US" dirty="0">
              <a:latin typeface="Arial" pitchFamily="34" charset="0"/>
              <a:cs typeface="Arial" pitchFamily="34" charset="0"/>
            </a:endParaRPr>
          </a:p>
          <a:p>
            <a:pPr lvl="1">
              <a:defRPr/>
            </a:pPr>
            <a:r>
              <a:rPr lang="en-US" b="1" dirty="0" err="1">
                <a:latin typeface="Arial" pitchFamily="34" charset="0"/>
                <a:cs typeface="Arial" pitchFamily="34" charset="0"/>
              </a:rPr>
              <a:t>Esquema</a:t>
            </a:r>
            <a:r>
              <a:rPr lang="en-US" b="1" dirty="0">
                <a:latin typeface="Arial" pitchFamily="34" charset="0"/>
                <a:cs typeface="Arial" pitchFamily="34" charset="0"/>
              </a:rPr>
              <a:t> </a:t>
            </a:r>
            <a:r>
              <a:rPr lang="en-US" b="1" dirty="0" err="1">
                <a:latin typeface="Arial" pitchFamily="34" charset="0"/>
                <a:cs typeface="Arial" pitchFamily="34" charset="0"/>
              </a:rPr>
              <a:t>Lógico</a:t>
            </a:r>
            <a:r>
              <a:rPr lang="en-US" dirty="0">
                <a:latin typeface="Arial" pitchFamily="34" charset="0"/>
                <a:cs typeface="Arial" pitchFamily="34" charset="0"/>
              </a:rPr>
              <a:t>: </a:t>
            </a:r>
            <a:r>
              <a:rPr lang="en-US" dirty="0" err="1">
                <a:latin typeface="Arial" pitchFamily="34" charset="0"/>
                <a:cs typeface="Arial" pitchFamily="34" charset="0"/>
              </a:rPr>
              <a:t>es</a:t>
            </a:r>
            <a:r>
              <a:rPr lang="en-US" dirty="0">
                <a:latin typeface="Arial" pitchFamily="34" charset="0"/>
                <a:cs typeface="Arial" pitchFamily="34" charset="0"/>
              </a:rPr>
              <a:t> el </a:t>
            </a:r>
            <a:r>
              <a:rPr lang="en-US" dirty="0" err="1">
                <a:latin typeface="Arial" pitchFamily="34" charset="0"/>
                <a:cs typeface="Arial" pitchFamily="34" charset="0"/>
              </a:rPr>
              <a:t>diseño</a:t>
            </a:r>
            <a:r>
              <a:rPr lang="en-US" dirty="0">
                <a:latin typeface="Arial" pitchFamily="34" charset="0"/>
                <a:cs typeface="Arial" pitchFamily="34" charset="0"/>
              </a:rPr>
              <a:t> de la BD </a:t>
            </a:r>
            <a:r>
              <a:rPr lang="en-US" dirty="0" err="1">
                <a:latin typeface="Arial" pitchFamily="34" charset="0"/>
                <a:cs typeface="Arial" pitchFamily="34" charset="0"/>
              </a:rPr>
              <a:t>en</a:t>
            </a:r>
            <a:r>
              <a:rPr lang="en-US" dirty="0">
                <a:latin typeface="Arial" pitchFamily="34" charset="0"/>
                <a:cs typeface="Arial" pitchFamily="34" charset="0"/>
              </a:rPr>
              <a:t> el </a:t>
            </a:r>
            <a:r>
              <a:rPr lang="en-US" dirty="0" err="1">
                <a:latin typeface="Arial" pitchFamily="34" charset="0"/>
                <a:cs typeface="Arial" pitchFamily="34" charset="0"/>
              </a:rPr>
              <a:t>nivel</a:t>
            </a:r>
            <a:r>
              <a:rPr lang="en-US" dirty="0">
                <a:latin typeface="Arial" pitchFamily="34" charset="0"/>
                <a:cs typeface="Arial" pitchFamily="34" charset="0"/>
              </a:rPr>
              <a:t> </a:t>
            </a:r>
            <a:r>
              <a:rPr lang="en-US" dirty="0" err="1">
                <a:latin typeface="Arial" pitchFamily="34" charset="0"/>
                <a:cs typeface="Arial" pitchFamily="34" charset="0"/>
              </a:rPr>
              <a:t>lógico</a:t>
            </a:r>
            <a:endParaRPr lang="en-US" dirty="0">
              <a:latin typeface="Arial" pitchFamily="34" charset="0"/>
              <a:cs typeface="Arial" pitchFamily="34" charset="0"/>
            </a:endParaRPr>
          </a:p>
          <a:p>
            <a:pPr lvl="1">
              <a:defRPr/>
            </a:pPr>
            <a:endParaRPr lang="en-US" dirty="0">
              <a:latin typeface="Arial" pitchFamily="34" charset="0"/>
              <a:cs typeface="Arial" pitchFamily="34" charset="0"/>
            </a:endParaRPr>
          </a:p>
          <a:p>
            <a:pPr>
              <a:defRPr/>
            </a:pPr>
            <a:r>
              <a:rPr lang="en-US" b="1" dirty="0" err="1">
                <a:solidFill>
                  <a:schemeClr val="tx2"/>
                </a:solidFill>
              </a:rPr>
              <a:t>Instancia</a:t>
            </a:r>
            <a:r>
              <a:rPr lang="en-US" dirty="0"/>
              <a:t> – el </a:t>
            </a:r>
            <a:r>
              <a:rPr lang="en-US" dirty="0" err="1"/>
              <a:t>contenido</a:t>
            </a:r>
            <a:r>
              <a:rPr lang="en-US" dirty="0"/>
              <a:t> real de la BD </a:t>
            </a:r>
            <a:r>
              <a:rPr lang="en-US" dirty="0" err="1"/>
              <a:t>en</a:t>
            </a:r>
            <a:r>
              <a:rPr lang="en-US" dirty="0"/>
              <a:t> un </a:t>
            </a:r>
            <a:r>
              <a:rPr lang="en-US" dirty="0" err="1"/>
              <a:t>punto</a:t>
            </a:r>
            <a:r>
              <a:rPr lang="en-US" dirty="0"/>
              <a:t> particular del </a:t>
            </a:r>
            <a:r>
              <a:rPr lang="en-US" dirty="0" err="1"/>
              <a:t>tiempo</a:t>
            </a:r>
            <a:endParaRPr lang="en-US" dirty="0"/>
          </a:p>
          <a:p>
            <a:pPr lvl="1">
              <a:defRPr/>
            </a:pPr>
            <a:r>
              <a:rPr lang="en-US" dirty="0" err="1">
                <a:latin typeface="Arial" pitchFamily="34" charset="0"/>
                <a:cs typeface="Arial" pitchFamily="34" charset="0"/>
              </a:rPr>
              <a:t>Análogo</a:t>
            </a:r>
            <a:r>
              <a:rPr lang="en-US" dirty="0">
                <a:latin typeface="Arial" pitchFamily="34" charset="0"/>
                <a:cs typeface="Arial" pitchFamily="34" charset="0"/>
              </a:rPr>
              <a:t> al valor de </a:t>
            </a:r>
            <a:r>
              <a:rPr lang="en-US" dirty="0" err="1">
                <a:latin typeface="Arial" pitchFamily="34" charset="0"/>
                <a:cs typeface="Arial" pitchFamily="34" charset="0"/>
              </a:rPr>
              <a:t>una</a:t>
            </a:r>
            <a:r>
              <a:rPr lang="en-US" dirty="0">
                <a:latin typeface="Arial" pitchFamily="34" charset="0"/>
                <a:cs typeface="Arial" pitchFamily="34" charset="0"/>
              </a:rPr>
              <a:t> variable</a:t>
            </a:r>
          </a:p>
          <a:p>
            <a:pPr lvl="1">
              <a:defRPr/>
            </a:pPr>
            <a:endParaRPr lang="en-US" dirty="0">
              <a:latin typeface="Arial" pitchFamily="34" charset="0"/>
              <a:cs typeface="Arial" pitchFamily="34" charset="0"/>
            </a:endParaRPr>
          </a:p>
          <a:p>
            <a:endParaRPr lang="es-MX" dirty="0"/>
          </a:p>
        </p:txBody>
      </p:sp>
    </p:spTree>
    <p:extLst>
      <p:ext uri="{BB962C8B-B14F-4D97-AF65-F5344CB8AC3E}">
        <p14:creationId xmlns:p14="http://schemas.microsoft.com/office/powerpoint/2010/main" val="12662608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51337"/>
            <a:ext cx="10245091" cy="649499"/>
          </a:xfrm>
        </p:spPr>
        <p:txBody>
          <a:bodyPr/>
          <a:lstStyle/>
          <a:p>
            <a:r>
              <a:rPr lang="en-US" b="1" dirty="0" err="1">
                <a:solidFill>
                  <a:schemeClr val="accent1">
                    <a:lumMod val="50000"/>
                  </a:schemeClr>
                </a:solidFill>
                <a:latin typeface="Arial" charset="0"/>
              </a:rPr>
              <a:t>Independencia</a:t>
            </a:r>
            <a:r>
              <a:rPr lang="en-US" b="1" dirty="0">
                <a:solidFill>
                  <a:schemeClr val="accent1">
                    <a:lumMod val="50000"/>
                  </a:schemeClr>
                </a:solidFill>
                <a:latin typeface="Arial" charset="0"/>
              </a:rPr>
              <a:t> de </a:t>
            </a:r>
            <a:r>
              <a:rPr lang="en-US" b="1" dirty="0" err="1">
                <a:solidFill>
                  <a:schemeClr val="accent1">
                    <a:lumMod val="50000"/>
                  </a:schemeClr>
                </a:solidFill>
                <a:latin typeface="Arial" charset="0"/>
              </a:rPr>
              <a:t>Datos</a:t>
            </a:r>
            <a:endParaRPr lang="es-MX" b="1" dirty="0">
              <a:solidFill>
                <a:schemeClr val="accent1">
                  <a:lumMod val="50000"/>
                </a:schemeClr>
              </a:solidFill>
              <a:latin typeface="Arial" charset="0"/>
            </a:endParaRPr>
          </a:p>
        </p:txBody>
      </p:sp>
      <p:sp>
        <p:nvSpPr>
          <p:cNvPr id="3" name="Marcador de contenido 2"/>
          <p:cNvSpPr>
            <a:spLocks noGrp="1"/>
          </p:cNvSpPr>
          <p:nvPr>
            <p:ph sz="quarter" idx="13"/>
          </p:nvPr>
        </p:nvSpPr>
        <p:spPr/>
        <p:txBody>
          <a:bodyPr/>
          <a:lstStyle/>
          <a:p>
            <a:pPr lvl="1">
              <a:defRPr/>
            </a:pPr>
            <a:endParaRPr lang="en-US" sz="900" dirty="0">
              <a:latin typeface="Arial" pitchFamily="34" charset="0"/>
              <a:cs typeface="Arial" pitchFamily="34" charset="0"/>
            </a:endParaRPr>
          </a:p>
          <a:p>
            <a:pPr>
              <a:defRPr/>
            </a:pPr>
            <a:r>
              <a:rPr lang="en-US" b="1" dirty="0" err="1">
                <a:solidFill>
                  <a:schemeClr val="tx2"/>
                </a:solidFill>
              </a:rPr>
              <a:t>Independencia</a:t>
            </a:r>
            <a:r>
              <a:rPr lang="en-US" b="1" dirty="0">
                <a:solidFill>
                  <a:schemeClr val="tx2"/>
                </a:solidFill>
              </a:rPr>
              <a:t> </a:t>
            </a:r>
            <a:r>
              <a:rPr lang="en-US" b="1" dirty="0" err="1">
                <a:solidFill>
                  <a:schemeClr val="tx2"/>
                </a:solidFill>
              </a:rPr>
              <a:t>Física</a:t>
            </a:r>
            <a:r>
              <a:rPr lang="en-US" b="1" dirty="0">
                <a:solidFill>
                  <a:schemeClr val="tx2"/>
                </a:solidFill>
              </a:rPr>
              <a:t> de </a:t>
            </a:r>
            <a:r>
              <a:rPr lang="en-US" b="1" dirty="0" err="1">
                <a:solidFill>
                  <a:schemeClr val="tx2"/>
                </a:solidFill>
              </a:rPr>
              <a:t>los</a:t>
            </a:r>
            <a:r>
              <a:rPr lang="en-US" b="1" dirty="0">
                <a:solidFill>
                  <a:schemeClr val="tx2"/>
                </a:solidFill>
              </a:rPr>
              <a:t> </a:t>
            </a:r>
            <a:r>
              <a:rPr lang="en-US" b="1" dirty="0" err="1">
                <a:solidFill>
                  <a:schemeClr val="tx2"/>
                </a:solidFill>
              </a:rPr>
              <a:t>datos</a:t>
            </a:r>
            <a:r>
              <a:rPr lang="en-US" b="1" dirty="0">
                <a:solidFill>
                  <a:schemeClr val="tx2"/>
                </a:solidFill>
              </a:rPr>
              <a:t> </a:t>
            </a:r>
            <a:r>
              <a:rPr lang="en-US" dirty="0"/>
              <a:t>– la </a:t>
            </a:r>
            <a:r>
              <a:rPr lang="en-US" dirty="0" err="1"/>
              <a:t>habilidad</a:t>
            </a:r>
            <a:r>
              <a:rPr lang="en-US" dirty="0"/>
              <a:t> de </a:t>
            </a:r>
            <a:r>
              <a:rPr lang="en-US" dirty="0" err="1"/>
              <a:t>modificar</a:t>
            </a:r>
            <a:r>
              <a:rPr lang="en-US" dirty="0"/>
              <a:t> el </a:t>
            </a:r>
            <a:r>
              <a:rPr lang="en-US" dirty="0" err="1"/>
              <a:t>esquema</a:t>
            </a:r>
            <a:r>
              <a:rPr lang="en-US" dirty="0"/>
              <a:t> </a:t>
            </a:r>
            <a:r>
              <a:rPr lang="en-US" dirty="0" err="1"/>
              <a:t>físico</a:t>
            </a:r>
            <a:r>
              <a:rPr lang="en-US" dirty="0"/>
              <a:t> sin </a:t>
            </a:r>
            <a:r>
              <a:rPr lang="en-US" dirty="0" err="1"/>
              <a:t>cambiar</a:t>
            </a:r>
            <a:r>
              <a:rPr lang="en-US" dirty="0"/>
              <a:t> el </a:t>
            </a:r>
            <a:r>
              <a:rPr lang="en-US" dirty="0" err="1"/>
              <a:t>esquema</a:t>
            </a:r>
            <a:r>
              <a:rPr lang="en-US" dirty="0"/>
              <a:t> </a:t>
            </a:r>
            <a:r>
              <a:rPr lang="en-US" dirty="0" err="1"/>
              <a:t>lógico</a:t>
            </a:r>
            <a:endParaRPr lang="en-US" dirty="0"/>
          </a:p>
          <a:p>
            <a:pPr lvl="1">
              <a:defRPr/>
            </a:pPr>
            <a:r>
              <a:rPr lang="en-US" dirty="0">
                <a:latin typeface="Arial" pitchFamily="34" charset="0"/>
                <a:cs typeface="Arial" pitchFamily="34" charset="0"/>
              </a:rPr>
              <a:t>Las </a:t>
            </a:r>
            <a:r>
              <a:rPr lang="en-US" dirty="0" err="1">
                <a:latin typeface="Arial" pitchFamily="34" charset="0"/>
                <a:cs typeface="Arial" pitchFamily="34" charset="0"/>
              </a:rPr>
              <a:t>aplicaciones</a:t>
            </a:r>
            <a:r>
              <a:rPr lang="en-US" dirty="0">
                <a:latin typeface="Arial" pitchFamily="34" charset="0"/>
                <a:cs typeface="Arial" pitchFamily="34" charset="0"/>
              </a:rPr>
              <a:t> </a:t>
            </a:r>
            <a:r>
              <a:rPr lang="en-US" dirty="0" err="1">
                <a:latin typeface="Arial" pitchFamily="34" charset="0"/>
                <a:cs typeface="Arial" pitchFamily="34" charset="0"/>
              </a:rPr>
              <a:t>dependen</a:t>
            </a:r>
            <a:r>
              <a:rPr lang="en-US" dirty="0">
                <a:latin typeface="Arial" pitchFamily="34" charset="0"/>
                <a:cs typeface="Arial" pitchFamily="34" charset="0"/>
              </a:rPr>
              <a:t> del </a:t>
            </a:r>
            <a:r>
              <a:rPr lang="en-US" dirty="0" err="1">
                <a:latin typeface="Arial" pitchFamily="34" charset="0"/>
                <a:cs typeface="Arial" pitchFamily="34" charset="0"/>
              </a:rPr>
              <a:t>esquema</a:t>
            </a:r>
            <a:r>
              <a:rPr lang="en-US" dirty="0">
                <a:latin typeface="Arial" pitchFamily="34" charset="0"/>
                <a:cs typeface="Arial" pitchFamily="34" charset="0"/>
              </a:rPr>
              <a:t> </a:t>
            </a:r>
            <a:r>
              <a:rPr lang="en-US" dirty="0" err="1">
                <a:latin typeface="Arial" pitchFamily="34" charset="0"/>
                <a:cs typeface="Arial" pitchFamily="34" charset="0"/>
              </a:rPr>
              <a:t>lógico</a:t>
            </a:r>
            <a:endParaRPr lang="en-US" dirty="0">
              <a:latin typeface="Arial" pitchFamily="34" charset="0"/>
              <a:cs typeface="Arial" pitchFamily="34" charset="0"/>
            </a:endParaRPr>
          </a:p>
          <a:p>
            <a:pPr lvl="1">
              <a:defRPr/>
            </a:pPr>
            <a:r>
              <a:rPr lang="en-US" dirty="0" err="1">
                <a:latin typeface="Arial" pitchFamily="34" charset="0"/>
                <a:cs typeface="Arial" pitchFamily="34" charset="0"/>
              </a:rPr>
              <a:t>En</a:t>
            </a:r>
            <a:r>
              <a:rPr lang="en-US" dirty="0">
                <a:latin typeface="Arial" pitchFamily="34" charset="0"/>
                <a:cs typeface="Arial" pitchFamily="34" charset="0"/>
              </a:rPr>
              <a:t> general, las interfaces entre </a:t>
            </a:r>
            <a:r>
              <a:rPr lang="en-US" dirty="0" err="1">
                <a:latin typeface="Arial" pitchFamily="34" charset="0"/>
                <a:cs typeface="Arial" pitchFamily="34" charset="0"/>
              </a:rPr>
              <a:t>los</a:t>
            </a:r>
            <a:r>
              <a:rPr lang="en-US" dirty="0">
                <a:latin typeface="Arial" pitchFamily="34" charset="0"/>
                <a:cs typeface="Arial" pitchFamily="34" charset="0"/>
              </a:rPr>
              <a:t> </a:t>
            </a:r>
            <a:r>
              <a:rPr lang="en-US" dirty="0" err="1">
                <a:latin typeface="Arial" pitchFamily="34" charset="0"/>
                <a:cs typeface="Arial" pitchFamily="34" charset="0"/>
              </a:rPr>
              <a:t>diferentes</a:t>
            </a:r>
            <a:r>
              <a:rPr lang="en-US" dirty="0">
                <a:latin typeface="Arial" pitchFamily="34" charset="0"/>
                <a:cs typeface="Arial" pitchFamily="34" charset="0"/>
              </a:rPr>
              <a:t> </a:t>
            </a:r>
            <a:r>
              <a:rPr lang="en-US" dirty="0" err="1">
                <a:latin typeface="Arial" pitchFamily="34" charset="0"/>
                <a:cs typeface="Arial" pitchFamily="34" charset="0"/>
              </a:rPr>
              <a:t>niveles</a:t>
            </a:r>
            <a:r>
              <a:rPr lang="en-US" dirty="0">
                <a:latin typeface="Arial" pitchFamily="34" charset="0"/>
                <a:cs typeface="Arial" pitchFamily="34" charset="0"/>
              </a:rPr>
              <a:t> y </a:t>
            </a:r>
            <a:r>
              <a:rPr lang="en-US" dirty="0" err="1">
                <a:latin typeface="Arial" pitchFamily="34" charset="0"/>
                <a:cs typeface="Arial" pitchFamily="34" charset="0"/>
              </a:rPr>
              <a:t>componentes</a:t>
            </a:r>
            <a:r>
              <a:rPr lang="en-US" dirty="0">
                <a:latin typeface="Arial" pitchFamily="34" charset="0"/>
                <a:cs typeface="Arial" pitchFamily="34" charset="0"/>
              </a:rPr>
              <a:t> </a:t>
            </a:r>
            <a:r>
              <a:rPr lang="en-US" dirty="0" err="1">
                <a:latin typeface="Arial" pitchFamily="34" charset="0"/>
                <a:cs typeface="Arial" pitchFamily="34" charset="0"/>
              </a:rPr>
              <a:t>deben</a:t>
            </a:r>
            <a:r>
              <a:rPr lang="en-US" dirty="0">
                <a:latin typeface="Arial" pitchFamily="34" charset="0"/>
                <a:cs typeface="Arial" pitchFamily="34" charset="0"/>
              </a:rPr>
              <a:t> </a:t>
            </a:r>
            <a:r>
              <a:rPr lang="en-US" dirty="0" err="1">
                <a:latin typeface="Arial" pitchFamily="34" charset="0"/>
                <a:cs typeface="Arial" pitchFamily="34" charset="0"/>
              </a:rPr>
              <a:t>definirse</a:t>
            </a:r>
            <a:r>
              <a:rPr lang="en-US" dirty="0">
                <a:latin typeface="Arial" pitchFamily="34" charset="0"/>
                <a:cs typeface="Arial" pitchFamily="34" charset="0"/>
              </a:rPr>
              <a:t> de </a:t>
            </a:r>
            <a:r>
              <a:rPr lang="en-US" dirty="0" err="1">
                <a:latin typeface="Arial" pitchFamily="34" charset="0"/>
                <a:cs typeface="Arial" pitchFamily="34" charset="0"/>
              </a:rPr>
              <a:t>modo</a:t>
            </a:r>
            <a:r>
              <a:rPr lang="en-US" dirty="0">
                <a:latin typeface="Arial" pitchFamily="34" charset="0"/>
                <a:cs typeface="Arial" pitchFamily="34" charset="0"/>
              </a:rPr>
              <a:t> que </a:t>
            </a:r>
            <a:r>
              <a:rPr lang="en-US" dirty="0" err="1">
                <a:latin typeface="Arial" pitchFamily="34" charset="0"/>
                <a:cs typeface="Arial" pitchFamily="34" charset="0"/>
              </a:rPr>
              <a:t>los</a:t>
            </a:r>
            <a:r>
              <a:rPr lang="en-US" dirty="0">
                <a:latin typeface="Arial" pitchFamily="34" charset="0"/>
                <a:cs typeface="Arial" pitchFamily="34" charset="0"/>
              </a:rPr>
              <a:t> </a:t>
            </a:r>
            <a:r>
              <a:rPr lang="en-US" dirty="0" err="1">
                <a:latin typeface="Arial" pitchFamily="34" charset="0"/>
                <a:cs typeface="Arial" pitchFamily="34" charset="0"/>
              </a:rPr>
              <a:t>cambios</a:t>
            </a:r>
            <a:r>
              <a:rPr lang="en-US" dirty="0">
                <a:latin typeface="Arial" pitchFamily="34" charset="0"/>
                <a:cs typeface="Arial" pitchFamily="34" charset="0"/>
              </a:rPr>
              <a:t> </a:t>
            </a:r>
            <a:r>
              <a:rPr lang="en-US" dirty="0" err="1">
                <a:latin typeface="Arial" pitchFamily="34" charset="0"/>
                <a:cs typeface="Arial" pitchFamily="34" charset="0"/>
              </a:rPr>
              <a:t>en</a:t>
            </a:r>
            <a:r>
              <a:rPr lang="en-US" dirty="0">
                <a:latin typeface="Arial" pitchFamily="34" charset="0"/>
                <a:cs typeface="Arial" pitchFamily="34" charset="0"/>
              </a:rPr>
              <a:t> </a:t>
            </a:r>
            <a:r>
              <a:rPr lang="en-US" dirty="0" err="1">
                <a:latin typeface="Arial" pitchFamily="34" charset="0"/>
                <a:cs typeface="Arial" pitchFamily="34" charset="0"/>
              </a:rPr>
              <a:t>algunas</a:t>
            </a:r>
            <a:r>
              <a:rPr lang="en-US" dirty="0">
                <a:latin typeface="Arial" pitchFamily="34" charset="0"/>
                <a:cs typeface="Arial" pitchFamily="34" charset="0"/>
              </a:rPr>
              <a:t> </a:t>
            </a:r>
            <a:r>
              <a:rPr lang="en-US" dirty="0" err="1">
                <a:latin typeface="Arial" pitchFamily="34" charset="0"/>
                <a:cs typeface="Arial" pitchFamily="34" charset="0"/>
              </a:rPr>
              <a:t>partes</a:t>
            </a:r>
            <a:r>
              <a:rPr lang="en-US" dirty="0">
                <a:latin typeface="Arial" pitchFamily="34" charset="0"/>
                <a:cs typeface="Arial" pitchFamily="34" charset="0"/>
              </a:rPr>
              <a:t> no </a:t>
            </a:r>
            <a:r>
              <a:rPr lang="en-US" dirty="0" err="1">
                <a:latin typeface="Arial" pitchFamily="34" charset="0"/>
                <a:cs typeface="Arial" pitchFamily="34" charset="0"/>
              </a:rPr>
              <a:t>afecten</a:t>
            </a:r>
            <a:r>
              <a:rPr lang="en-US" dirty="0">
                <a:latin typeface="Arial" pitchFamily="34" charset="0"/>
                <a:cs typeface="Arial" pitchFamily="34" charset="0"/>
              </a:rPr>
              <a:t> </a:t>
            </a:r>
            <a:r>
              <a:rPr lang="en-US" dirty="0" err="1">
                <a:latin typeface="Arial" pitchFamily="34" charset="0"/>
                <a:cs typeface="Arial" pitchFamily="34" charset="0"/>
              </a:rPr>
              <a:t>seriamente</a:t>
            </a:r>
            <a:r>
              <a:rPr lang="en-US" dirty="0">
                <a:latin typeface="Arial" pitchFamily="34" charset="0"/>
                <a:cs typeface="Arial" pitchFamily="34" charset="0"/>
              </a:rPr>
              <a:t> a </a:t>
            </a:r>
            <a:r>
              <a:rPr lang="en-US" dirty="0" err="1">
                <a:latin typeface="Arial" pitchFamily="34" charset="0"/>
                <a:cs typeface="Arial" pitchFamily="34" charset="0"/>
              </a:rPr>
              <a:t>otras</a:t>
            </a:r>
            <a:r>
              <a:rPr lang="en-US" dirty="0">
                <a:latin typeface="Arial" pitchFamily="34" charset="0"/>
                <a:cs typeface="Arial" pitchFamily="34" charset="0"/>
              </a:rPr>
              <a:t>.</a:t>
            </a:r>
          </a:p>
          <a:p>
            <a:endParaRPr lang="es-MX" dirty="0"/>
          </a:p>
        </p:txBody>
      </p:sp>
    </p:spTree>
    <p:extLst>
      <p:ext uri="{BB962C8B-B14F-4D97-AF65-F5344CB8AC3E}">
        <p14:creationId xmlns:p14="http://schemas.microsoft.com/office/powerpoint/2010/main" val="182934317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19807"/>
            <a:ext cx="10245091" cy="681030"/>
          </a:xfrm>
        </p:spPr>
        <p:txBody>
          <a:bodyPr/>
          <a:lstStyle/>
          <a:p>
            <a:r>
              <a:rPr lang="en-US" b="1" dirty="0">
                <a:solidFill>
                  <a:schemeClr val="accent1">
                    <a:lumMod val="50000"/>
                  </a:schemeClr>
                </a:solidFill>
                <a:latin typeface="Arial" charset="0"/>
              </a:rPr>
              <a:t>SQL (Structured Query Language)</a:t>
            </a:r>
            <a:endParaRPr lang="es-MX" b="1" dirty="0">
              <a:solidFill>
                <a:schemeClr val="accent1">
                  <a:lumMod val="50000"/>
                </a:schemeClr>
              </a:solidFill>
              <a:latin typeface="Arial" charset="0"/>
            </a:endParaRPr>
          </a:p>
        </p:txBody>
      </p:sp>
      <p:sp>
        <p:nvSpPr>
          <p:cNvPr id="3" name="Marcador de contenido 2"/>
          <p:cNvSpPr>
            <a:spLocks noGrp="1"/>
          </p:cNvSpPr>
          <p:nvPr>
            <p:ph sz="quarter" idx="13"/>
          </p:nvPr>
        </p:nvSpPr>
        <p:spPr/>
        <p:txBody>
          <a:bodyPr/>
          <a:lstStyle/>
          <a:p>
            <a:pPr>
              <a:defRPr/>
            </a:pPr>
            <a:r>
              <a:rPr lang="en-US" b="1" dirty="0">
                <a:solidFill>
                  <a:schemeClr val="tx2"/>
                </a:solidFill>
              </a:rPr>
              <a:t>SQL</a:t>
            </a:r>
            <a:r>
              <a:rPr lang="en-US" dirty="0"/>
              <a:t> </a:t>
            </a:r>
          </a:p>
          <a:p>
            <a:pPr>
              <a:defRPr/>
            </a:pPr>
            <a:r>
              <a:rPr lang="en-US" dirty="0" err="1"/>
              <a:t>Es</a:t>
            </a:r>
            <a:r>
              <a:rPr lang="en-US" dirty="0"/>
              <a:t> el </a:t>
            </a:r>
            <a:r>
              <a:rPr lang="en-US" dirty="0" err="1"/>
              <a:t>lenguaje</a:t>
            </a:r>
            <a:r>
              <a:rPr lang="en-US" dirty="0"/>
              <a:t> </a:t>
            </a:r>
            <a:r>
              <a:rPr lang="en-US" dirty="0" err="1"/>
              <a:t>declarativo</a:t>
            </a:r>
            <a:r>
              <a:rPr lang="en-US" dirty="0"/>
              <a:t> (no-</a:t>
            </a:r>
            <a:r>
              <a:rPr lang="en-US" dirty="0" err="1"/>
              <a:t>procedimiento</a:t>
            </a:r>
            <a:r>
              <a:rPr lang="en-US" dirty="0"/>
              <a:t>) </a:t>
            </a:r>
            <a:r>
              <a:rPr lang="en-US" dirty="0" err="1"/>
              <a:t>más</a:t>
            </a:r>
            <a:r>
              <a:rPr lang="en-US" dirty="0"/>
              <a:t> </a:t>
            </a:r>
            <a:r>
              <a:rPr lang="en-US" dirty="0" err="1"/>
              <a:t>utilizado</a:t>
            </a:r>
            <a:r>
              <a:rPr lang="en-US" dirty="0"/>
              <a:t>.</a:t>
            </a:r>
          </a:p>
          <a:p>
            <a:pPr>
              <a:defRPr/>
            </a:pPr>
            <a:endParaRPr lang="en-US" dirty="0"/>
          </a:p>
          <a:p>
            <a:pPr>
              <a:defRPr/>
            </a:pPr>
            <a:r>
              <a:rPr lang="en-US" dirty="0"/>
              <a:t>Los </a:t>
            </a:r>
            <a:r>
              <a:rPr lang="en-US" dirty="0" err="1"/>
              <a:t>programas</a:t>
            </a:r>
            <a:r>
              <a:rPr lang="en-US" dirty="0"/>
              <a:t> de </a:t>
            </a:r>
            <a:r>
              <a:rPr lang="en-US" dirty="0" err="1"/>
              <a:t>aplicación</a:t>
            </a:r>
            <a:r>
              <a:rPr lang="en-US" dirty="0"/>
              <a:t> </a:t>
            </a:r>
            <a:r>
              <a:rPr lang="en-US" dirty="0" err="1"/>
              <a:t>accesan</a:t>
            </a:r>
            <a:r>
              <a:rPr lang="en-US" dirty="0"/>
              <a:t> las BD a </a:t>
            </a:r>
            <a:r>
              <a:rPr lang="en-US" dirty="0" err="1"/>
              <a:t>través</a:t>
            </a:r>
            <a:r>
              <a:rPr lang="en-US" dirty="0"/>
              <a:t> de </a:t>
            </a:r>
          </a:p>
          <a:p>
            <a:pPr lvl="1">
              <a:defRPr/>
            </a:pPr>
            <a:r>
              <a:rPr lang="en-US" dirty="0" err="1">
                <a:latin typeface="Arial" pitchFamily="34" charset="0"/>
                <a:cs typeface="Arial" pitchFamily="34" charset="0"/>
              </a:rPr>
              <a:t>Extensiones</a:t>
            </a:r>
            <a:r>
              <a:rPr lang="en-US" dirty="0">
                <a:latin typeface="Arial" pitchFamily="34" charset="0"/>
                <a:cs typeface="Arial" pitchFamily="34" charset="0"/>
              </a:rPr>
              <a:t> de </a:t>
            </a:r>
            <a:r>
              <a:rPr lang="en-US" dirty="0" err="1">
                <a:latin typeface="Arial" pitchFamily="34" charset="0"/>
                <a:cs typeface="Arial" pitchFamily="34" charset="0"/>
              </a:rPr>
              <a:t>Lenguaje</a:t>
            </a:r>
            <a:r>
              <a:rPr lang="en-US" dirty="0">
                <a:latin typeface="Arial" pitchFamily="34" charset="0"/>
                <a:cs typeface="Arial" pitchFamily="34" charset="0"/>
              </a:rPr>
              <a:t> </a:t>
            </a:r>
            <a:r>
              <a:rPr lang="en-US" dirty="0" err="1">
                <a:latin typeface="Arial" pitchFamily="34" charset="0"/>
                <a:cs typeface="Arial" pitchFamily="34" charset="0"/>
              </a:rPr>
              <a:t>empotradas</a:t>
            </a:r>
            <a:r>
              <a:rPr lang="en-US" dirty="0">
                <a:latin typeface="Arial" pitchFamily="34" charset="0"/>
                <a:cs typeface="Arial" pitchFamily="34" charset="0"/>
              </a:rPr>
              <a:t> al SQL</a:t>
            </a:r>
          </a:p>
          <a:p>
            <a:pPr lvl="1">
              <a:defRPr/>
            </a:pPr>
            <a:r>
              <a:rPr lang="en-US" dirty="0">
                <a:latin typeface="Arial" pitchFamily="34" charset="0"/>
                <a:cs typeface="Arial" pitchFamily="34" charset="0"/>
              </a:rPr>
              <a:t>Interfaces de </a:t>
            </a:r>
            <a:r>
              <a:rPr lang="en-US" dirty="0" err="1">
                <a:latin typeface="Arial" pitchFamily="34" charset="0"/>
                <a:cs typeface="Arial" pitchFamily="34" charset="0"/>
              </a:rPr>
              <a:t>los</a:t>
            </a:r>
            <a:r>
              <a:rPr lang="en-US" dirty="0">
                <a:latin typeface="Arial" pitchFamily="34" charset="0"/>
                <a:cs typeface="Arial" pitchFamily="34" charset="0"/>
              </a:rPr>
              <a:t> </a:t>
            </a:r>
            <a:r>
              <a:rPr lang="en-US" dirty="0" err="1">
                <a:latin typeface="Arial" pitchFamily="34" charset="0"/>
                <a:cs typeface="Arial" pitchFamily="34" charset="0"/>
              </a:rPr>
              <a:t>programas</a:t>
            </a:r>
            <a:r>
              <a:rPr lang="en-US" dirty="0">
                <a:latin typeface="Arial" pitchFamily="34" charset="0"/>
                <a:cs typeface="Arial" pitchFamily="34" charset="0"/>
              </a:rPr>
              <a:t> de </a:t>
            </a:r>
            <a:r>
              <a:rPr lang="en-US" dirty="0" err="1">
                <a:latin typeface="Arial" pitchFamily="34" charset="0"/>
                <a:cs typeface="Arial" pitchFamily="34" charset="0"/>
              </a:rPr>
              <a:t>aplicación</a:t>
            </a:r>
            <a:r>
              <a:rPr lang="en-US" dirty="0">
                <a:latin typeface="Arial" pitchFamily="34" charset="0"/>
                <a:cs typeface="Arial" pitchFamily="34" charset="0"/>
              </a:rPr>
              <a:t> (</a:t>
            </a:r>
            <a:r>
              <a:rPr lang="en-US" dirty="0" err="1">
                <a:latin typeface="Arial" pitchFamily="34" charset="0"/>
                <a:cs typeface="Arial" pitchFamily="34" charset="0"/>
              </a:rPr>
              <a:t>p.e.</a:t>
            </a:r>
            <a:r>
              <a:rPr lang="en-US" dirty="0">
                <a:latin typeface="Arial" pitchFamily="34" charset="0"/>
                <a:cs typeface="Arial" pitchFamily="34" charset="0"/>
              </a:rPr>
              <a:t>, ODBC/JDBC) que </a:t>
            </a:r>
            <a:r>
              <a:rPr lang="en-US" dirty="0" err="1">
                <a:latin typeface="Arial" pitchFamily="34" charset="0"/>
                <a:cs typeface="Arial" pitchFamily="34" charset="0"/>
              </a:rPr>
              <a:t>permite</a:t>
            </a:r>
            <a:r>
              <a:rPr lang="en-US" dirty="0">
                <a:latin typeface="Arial" pitchFamily="34" charset="0"/>
                <a:cs typeface="Arial" pitchFamily="34" charset="0"/>
              </a:rPr>
              <a:t> al </a:t>
            </a:r>
            <a:r>
              <a:rPr lang="en-US" dirty="0" err="1">
                <a:latin typeface="Arial" pitchFamily="34" charset="0"/>
                <a:cs typeface="Arial" pitchFamily="34" charset="0"/>
              </a:rPr>
              <a:t>enviar</a:t>
            </a:r>
            <a:r>
              <a:rPr lang="en-US" dirty="0">
                <a:latin typeface="Arial" pitchFamily="34" charset="0"/>
                <a:cs typeface="Arial" pitchFamily="34" charset="0"/>
              </a:rPr>
              <a:t> las </a:t>
            </a:r>
            <a:r>
              <a:rPr lang="en-US" dirty="0" err="1">
                <a:latin typeface="Arial" pitchFamily="34" charset="0"/>
                <a:cs typeface="Arial" pitchFamily="34" charset="0"/>
              </a:rPr>
              <a:t>consultas</a:t>
            </a:r>
            <a:r>
              <a:rPr lang="en-US" dirty="0">
                <a:latin typeface="Arial" pitchFamily="34" charset="0"/>
                <a:cs typeface="Arial" pitchFamily="34" charset="0"/>
              </a:rPr>
              <a:t> de SQL a </a:t>
            </a:r>
            <a:r>
              <a:rPr lang="en-US" dirty="0" err="1">
                <a:latin typeface="Arial" pitchFamily="34" charset="0"/>
                <a:cs typeface="Arial" pitchFamily="34" charset="0"/>
              </a:rPr>
              <a:t>una</a:t>
            </a:r>
            <a:r>
              <a:rPr lang="en-US" dirty="0">
                <a:latin typeface="Arial" pitchFamily="34" charset="0"/>
                <a:cs typeface="Arial" pitchFamily="34" charset="0"/>
              </a:rPr>
              <a:t> BD</a:t>
            </a:r>
          </a:p>
          <a:p>
            <a:endParaRPr lang="es-MX" dirty="0"/>
          </a:p>
        </p:txBody>
      </p:sp>
    </p:spTree>
    <p:extLst>
      <p:ext uri="{BB962C8B-B14F-4D97-AF65-F5344CB8AC3E}">
        <p14:creationId xmlns:p14="http://schemas.microsoft.com/office/powerpoint/2010/main" val="186843693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a:solidFill>
                  <a:schemeClr val="accent1">
                    <a:lumMod val="50000"/>
                  </a:schemeClr>
                </a:solidFill>
                <a:latin typeface="Arial" charset="0"/>
              </a:rPr>
              <a:t>Data Definition Language (DDL)</a:t>
            </a:r>
            <a:endParaRPr lang="es-MX" b="1" dirty="0">
              <a:solidFill>
                <a:schemeClr val="accent1">
                  <a:lumMod val="50000"/>
                </a:schemeClr>
              </a:solidFill>
              <a:latin typeface="Arial" charset="0"/>
            </a:endParaRPr>
          </a:p>
        </p:txBody>
      </p:sp>
      <p:sp>
        <p:nvSpPr>
          <p:cNvPr id="3" name="Marcador de contenido 2"/>
          <p:cNvSpPr>
            <a:spLocks noGrp="1"/>
          </p:cNvSpPr>
          <p:nvPr>
            <p:ph sz="quarter" idx="13"/>
          </p:nvPr>
        </p:nvSpPr>
        <p:spPr/>
        <p:txBody>
          <a:bodyPr/>
          <a:lstStyle/>
          <a:p>
            <a:pPr>
              <a:defRPr/>
            </a:pPr>
            <a:r>
              <a:rPr lang="en-US" sz="2000" dirty="0" err="1"/>
              <a:t>Especificación</a:t>
            </a:r>
            <a:r>
              <a:rPr lang="en-US" sz="2000" dirty="0"/>
              <a:t> de la </a:t>
            </a:r>
            <a:r>
              <a:rPr lang="en-US" sz="2000" dirty="0" err="1"/>
              <a:t>notación</a:t>
            </a:r>
            <a:r>
              <a:rPr lang="en-US" sz="2000" dirty="0"/>
              <a:t> para </a:t>
            </a:r>
            <a:r>
              <a:rPr lang="en-US" sz="2000" dirty="0" err="1"/>
              <a:t>definir</a:t>
            </a:r>
            <a:r>
              <a:rPr lang="en-US" sz="2000" dirty="0"/>
              <a:t> el </a:t>
            </a:r>
            <a:r>
              <a:rPr lang="en-US" sz="2000" dirty="0" err="1"/>
              <a:t>esquema</a:t>
            </a:r>
            <a:r>
              <a:rPr lang="en-US" sz="2000" dirty="0"/>
              <a:t> de la BD</a:t>
            </a:r>
          </a:p>
          <a:p>
            <a:pPr lvl="1">
              <a:buNone/>
              <a:defRPr/>
            </a:pPr>
            <a:r>
              <a:rPr lang="en-US" sz="2000" dirty="0">
                <a:latin typeface="Arial" pitchFamily="34" charset="0"/>
                <a:cs typeface="Arial" pitchFamily="34" charset="0"/>
              </a:rPr>
              <a:t>                   </a:t>
            </a:r>
            <a:r>
              <a:rPr lang="en-US" sz="2000" dirty="0">
                <a:solidFill>
                  <a:schemeClr val="accent1">
                    <a:lumMod val="50000"/>
                  </a:schemeClr>
                </a:solidFill>
                <a:latin typeface="Arial" pitchFamily="34" charset="0"/>
                <a:cs typeface="Arial" pitchFamily="34" charset="0"/>
              </a:rPr>
              <a:t>	</a:t>
            </a:r>
            <a:r>
              <a:rPr lang="en-US" sz="2000" b="1" dirty="0">
                <a:solidFill>
                  <a:schemeClr val="accent1">
                    <a:lumMod val="50000"/>
                  </a:schemeClr>
                </a:solidFill>
                <a:latin typeface="Arial" pitchFamily="34" charset="0"/>
                <a:cs typeface="Arial" pitchFamily="34" charset="0"/>
              </a:rPr>
              <a:t>create table</a:t>
            </a:r>
            <a:r>
              <a:rPr lang="en-US" sz="2000" dirty="0">
                <a:solidFill>
                  <a:schemeClr val="accent1">
                    <a:lumMod val="50000"/>
                  </a:schemeClr>
                </a:solidFill>
                <a:latin typeface="Arial" pitchFamily="34" charset="0"/>
                <a:cs typeface="Arial" pitchFamily="34" charset="0"/>
              </a:rPr>
              <a:t> </a:t>
            </a:r>
            <a:r>
              <a:rPr lang="en-US" sz="2000" i="1" dirty="0">
                <a:solidFill>
                  <a:schemeClr val="accent1">
                    <a:lumMod val="50000"/>
                  </a:schemeClr>
                </a:solidFill>
                <a:latin typeface="Arial" pitchFamily="34" charset="0"/>
                <a:cs typeface="Arial" pitchFamily="34" charset="0"/>
              </a:rPr>
              <a:t>account</a:t>
            </a:r>
            <a:r>
              <a:rPr lang="en-US" sz="2000" dirty="0">
                <a:solidFill>
                  <a:schemeClr val="accent1">
                    <a:lumMod val="50000"/>
                  </a:schemeClr>
                </a:solidFill>
                <a:latin typeface="Arial" pitchFamily="34" charset="0"/>
                <a:cs typeface="Arial" pitchFamily="34" charset="0"/>
              </a:rPr>
              <a:t> (</a:t>
            </a:r>
            <a:br>
              <a:rPr lang="en-US" sz="2000" dirty="0">
                <a:solidFill>
                  <a:schemeClr val="accent1">
                    <a:lumMod val="50000"/>
                  </a:schemeClr>
                </a:solidFill>
                <a:latin typeface="Arial" pitchFamily="34" charset="0"/>
                <a:cs typeface="Arial" pitchFamily="34" charset="0"/>
              </a:rPr>
            </a:br>
            <a:r>
              <a:rPr lang="en-US" sz="2000" dirty="0">
                <a:solidFill>
                  <a:schemeClr val="accent1">
                    <a:lumMod val="50000"/>
                  </a:schemeClr>
                </a:solidFill>
                <a:latin typeface="Arial" pitchFamily="34" charset="0"/>
                <a:cs typeface="Arial" pitchFamily="34" charset="0"/>
              </a:rPr>
              <a:t>                             </a:t>
            </a:r>
            <a:r>
              <a:rPr lang="en-US" sz="2000" i="1" dirty="0">
                <a:solidFill>
                  <a:schemeClr val="accent1">
                    <a:lumMod val="50000"/>
                  </a:schemeClr>
                </a:solidFill>
                <a:latin typeface="Arial" pitchFamily="34" charset="0"/>
                <a:cs typeface="Arial" pitchFamily="34" charset="0"/>
              </a:rPr>
              <a:t>account-number</a:t>
            </a:r>
            <a:r>
              <a:rPr lang="en-US" sz="2000" dirty="0">
                <a:solidFill>
                  <a:schemeClr val="accent1">
                    <a:lumMod val="50000"/>
                  </a:schemeClr>
                </a:solidFill>
                <a:latin typeface="Arial" pitchFamily="34" charset="0"/>
                <a:cs typeface="Arial" pitchFamily="34" charset="0"/>
              </a:rPr>
              <a:t>    </a:t>
            </a:r>
            <a:r>
              <a:rPr lang="en-US" sz="2000" b="1" dirty="0">
                <a:solidFill>
                  <a:schemeClr val="accent1">
                    <a:lumMod val="50000"/>
                  </a:schemeClr>
                </a:solidFill>
                <a:latin typeface="Arial" pitchFamily="34" charset="0"/>
                <a:cs typeface="Arial" pitchFamily="34" charset="0"/>
              </a:rPr>
              <a:t>char</a:t>
            </a:r>
            <a:r>
              <a:rPr lang="en-US" sz="2000" dirty="0">
                <a:solidFill>
                  <a:schemeClr val="accent1">
                    <a:lumMod val="50000"/>
                  </a:schemeClr>
                </a:solidFill>
                <a:latin typeface="Arial" pitchFamily="34" charset="0"/>
                <a:cs typeface="Arial" pitchFamily="34" charset="0"/>
              </a:rPr>
              <a:t>(10),</a:t>
            </a:r>
            <a:br>
              <a:rPr lang="en-US" sz="2000" dirty="0">
                <a:solidFill>
                  <a:schemeClr val="accent1">
                    <a:lumMod val="50000"/>
                  </a:schemeClr>
                </a:solidFill>
                <a:latin typeface="Arial" pitchFamily="34" charset="0"/>
                <a:cs typeface="Arial" pitchFamily="34" charset="0"/>
              </a:rPr>
            </a:br>
            <a:r>
              <a:rPr lang="en-US" sz="2000" dirty="0">
                <a:solidFill>
                  <a:schemeClr val="accent1">
                    <a:lumMod val="50000"/>
                  </a:schemeClr>
                </a:solidFill>
                <a:latin typeface="Arial" pitchFamily="34" charset="0"/>
                <a:cs typeface="Arial" pitchFamily="34" charset="0"/>
              </a:rPr>
              <a:t>                             </a:t>
            </a:r>
            <a:r>
              <a:rPr lang="en-US" sz="2000" i="1" dirty="0">
                <a:solidFill>
                  <a:schemeClr val="accent1">
                    <a:lumMod val="50000"/>
                  </a:schemeClr>
                </a:solidFill>
                <a:latin typeface="Arial" pitchFamily="34" charset="0"/>
                <a:cs typeface="Arial" pitchFamily="34" charset="0"/>
              </a:rPr>
              <a:t>balance</a:t>
            </a:r>
            <a:r>
              <a:rPr lang="en-US" sz="2000" dirty="0">
                <a:solidFill>
                  <a:schemeClr val="accent1">
                    <a:lumMod val="50000"/>
                  </a:schemeClr>
                </a:solidFill>
                <a:latin typeface="Arial" pitchFamily="34" charset="0"/>
                <a:cs typeface="Arial" pitchFamily="34" charset="0"/>
              </a:rPr>
              <a:t>                 </a:t>
            </a:r>
            <a:r>
              <a:rPr lang="en-US" sz="2000" b="1" dirty="0">
                <a:solidFill>
                  <a:schemeClr val="accent1">
                    <a:lumMod val="50000"/>
                  </a:schemeClr>
                </a:solidFill>
                <a:latin typeface="Arial" pitchFamily="34" charset="0"/>
                <a:cs typeface="Arial" pitchFamily="34" charset="0"/>
              </a:rPr>
              <a:t>integer</a:t>
            </a:r>
            <a:r>
              <a:rPr lang="en-US" sz="2000" dirty="0">
                <a:solidFill>
                  <a:schemeClr val="accent1">
                    <a:lumMod val="50000"/>
                  </a:schemeClr>
                </a:solidFill>
                <a:latin typeface="Arial" pitchFamily="34" charset="0"/>
                <a:cs typeface="Arial" pitchFamily="34" charset="0"/>
              </a:rPr>
              <a:t>)</a:t>
            </a:r>
          </a:p>
          <a:p>
            <a:pPr>
              <a:defRPr/>
            </a:pPr>
            <a:r>
              <a:rPr lang="en-US" sz="2000" dirty="0"/>
              <a:t>El </a:t>
            </a:r>
            <a:r>
              <a:rPr lang="en-US" sz="2000" dirty="0" err="1"/>
              <a:t>compilador</a:t>
            </a:r>
            <a:r>
              <a:rPr lang="en-US" sz="2000" dirty="0"/>
              <a:t> DDL genera un </a:t>
            </a:r>
            <a:r>
              <a:rPr lang="en-US" sz="2000" dirty="0" err="1"/>
              <a:t>conjunto</a:t>
            </a:r>
            <a:r>
              <a:rPr lang="en-US" sz="2000" dirty="0"/>
              <a:t> de </a:t>
            </a:r>
            <a:r>
              <a:rPr lang="en-US" sz="2000" dirty="0" err="1"/>
              <a:t>tablas</a:t>
            </a:r>
            <a:r>
              <a:rPr lang="en-US" sz="2000" dirty="0"/>
              <a:t> </a:t>
            </a:r>
            <a:r>
              <a:rPr lang="en-US" sz="2000" dirty="0" err="1"/>
              <a:t>almacenadas</a:t>
            </a:r>
            <a:r>
              <a:rPr lang="en-US" sz="2000" dirty="0"/>
              <a:t> </a:t>
            </a:r>
            <a:r>
              <a:rPr lang="en-US" sz="2000" dirty="0" err="1"/>
              <a:t>en</a:t>
            </a:r>
            <a:r>
              <a:rPr lang="en-US" sz="2000" dirty="0"/>
              <a:t> un </a:t>
            </a:r>
            <a:r>
              <a:rPr lang="en-US" sz="2000" i="1" dirty="0" err="1"/>
              <a:t>diccionario</a:t>
            </a:r>
            <a:r>
              <a:rPr lang="en-US" sz="2000" i="1" dirty="0"/>
              <a:t> de </a:t>
            </a:r>
            <a:r>
              <a:rPr lang="en-US" sz="2000" i="1" dirty="0" err="1"/>
              <a:t>datos</a:t>
            </a:r>
            <a:endParaRPr lang="en-US" sz="2000" i="1" dirty="0"/>
          </a:p>
          <a:p>
            <a:pPr>
              <a:defRPr/>
            </a:pPr>
            <a:r>
              <a:rPr lang="en-US" sz="2000" dirty="0"/>
              <a:t>El </a:t>
            </a:r>
            <a:r>
              <a:rPr lang="en-US" sz="2000" dirty="0" err="1"/>
              <a:t>diccionario</a:t>
            </a:r>
            <a:r>
              <a:rPr lang="en-US" sz="2000" dirty="0"/>
              <a:t> de </a:t>
            </a:r>
            <a:r>
              <a:rPr lang="en-US" sz="2000" dirty="0" err="1"/>
              <a:t>datos</a:t>
            </a:r>
            <a:r>
              <a:rPr lang="en-US" sz="2000" dirty="0"/>
              <a:t> </a:t>
            </a:r>
            <a:r>
              <a:rPr lang="en-US" sz="2000" dirty="0" err="1"/>
              <a:t>contiene</a:t>
            </a:r>
            <a:r>
              <a:rPr lang="en-US" sz="2000" dirty="0"/>
              <a:t> </a:t>
            </a:r>
            <a:r>
              <a:rPr lang="en-US" sz="2000" dirty="0" err="1"/>
              <a:t>metadatos</a:t>
            </a:r>
            <a:r>
              <a:rPr lang="en-US" sz="2000" dirty="0"/>
              <a:t> (o sea, </a:t>
            </a:r>
            <a:r>
              <a:rPr lang="en-US" sz="2000" dirty="0" err="1"/>
              <a:t>datos</a:t>
            </a:r>
            <a:r>
              <a:rPr lang="en-US" sz="2000" dirty="0"/>
              <a:t> </a:t>
            </a:r>
            <a:r>
              <a:rPr lang="en-US" sz="2000" dirty="0" err="1"/>
              <a:t>sobre</a:t>
            </a:r>
            <a:r>
              <a:rPr lang="en-US" sz="2000" dirty="0"/>
              <a:t> </a:t>
            </a:r>
            <a:r>
              <a:rPr lang="en-US" sz="2000" dirty="0" err="1"/>
              <a:t>los</a:t>
            </a:r>
            <a:r>
              <a:rPr lang="en-US" sz="2000" dirty="0"/>
              <a:t> </a:t>
            </a:r>
            <a:r>
              <a:rPr lang="en-US" sz="2000" dirty="0" err="1"/>
              <a:t>datos</a:t>
            </a:r>
            <a:r>
              <a:rPr lang="en-US" sz="2000" dirty="0"/>
              <a:t>)</a:t>
            </a:r>
          </a:p>
          <a:p>
            <a:pPr lvl="1">
              <a:defRPr/>
            </a:pPr>
            <a:r>
              <a:rPr lang="en-US" sz="2000" dirty="0" err="1">
                <a:latin typeface="Arial" pitchFamily="34" charset="0"/>
                <a:cs typeface="Arial" pitchFamily="34" charset="0"/>
              </a:rPr>
              <a:t>Esquema</a:t>
            </a:r>
            <a:r>
              <a:rPr lang="en-US" sz="2000" dirty="0">
                <a:latin typeface="Arial" pitchFamily="34" charset="0"/>
                <a:cs typeface="Arial" pitchFamily="34" charset="0"/>
              </a:rPr>
              <a:t> de la BD</a:t>
            </a:r>
          </a:p>
          <a:p>
            <a:pPr lvl="1">
              <a:defRPr/>
            </a:pPr>
            <a:r>
              <a:rPr lang="en-US" sz="2000" dirty="0" err="1">
                <a:latin typeface="Arial" pitchFamily="34" charset="0"/>
                <a:cs typeface="Arial" pitchFamily="34" charset="0"/>
              </a:rPr>
              <a:t>Lenguaje</a:t>
            </a:r>
            <a:r>
              <a:rPr lang="en-US" sz="2000" dirty="0">
                <a:latin typeface="Arial" pitchFamily="34" charset="0"/>
                <a:cs typeface="Arial" pitchFamily="34" charset="0"/>
              </a:rPr>
              <a:t> de </a:t>
            </a:r>
            <a:r>
              <a:rPr lang="en-US" sz="2000" dirty="0" err="1">
                <a:latin typeface="Arial" pitchFamily="34" charset="0"/>
                <a:cs typeface="Arial" pitchFamily="34" charset="0"/>
              </a:rPr>
              <a:t>almacenamiento</a:t>
            </a:r>
            <a:r>
              <a:rPr lang="en-US" sz="2000" dirty="0">
                <a:latin typeface="Arial" pitchFamily="34" charset="0"/>
                <a:cs typeface="Arial" pitchFamily="34" charset="0"/>
              </a:rPr>
              <a:t> y </a:t>
            </a:r>
            <a:r>
              <a:rPr lang="en-US" sz="2000" dirty="0" err="1">
                <a:latin typeface="Arial" pitchFamily="34" charset="0"/>
                <a:cs typeface="Arial" pitchFamily="34" charset="0"/>
              </a:rPr>
              <a:t>definición</a:t>
            </a:r>
            <a:r>
              <a:rPr lang="en-US" sz="2000" dirty="0">
                <a:latin typeface="Arial" pitchFamily="34" charset="0"/>
                <a:cs typeface="Arial" pitchFamily="34" charset="0"/>
              </a:rPr>
              <a:t> de </a:t>
            </a:r>
            <a:r>
              <a:rPr lang="en-US" sz="2000" dirty="0" err="1">
                <a:latin typeface="Arial" pitchFamily="34" charset="0"/>
                <a:cs typeface="Arial" pitchFamily="34" charset="0"/>
              </a:rPr>
              <a:t>los</a:t>
            </a:r>
            <a:r>
              <a:rPr lang="en-US" sz="2000" dirty="0">
                <a:latin typeface="Arial" pitchFamily="34" charset="0"/>
                <a:cs typeface="Arial" pitchFamily="34" charset="0"/>
              </a:rPr>
              <a:t> </a:t>
            </a:r>
            <a:r>
              <a:rPr lang="en-US" sz="2000" dirty="0" err="1">
                <a:latin typeface="Arial" pitchFamily="34" charset="0"/>
                <a:cs typeface="Arial" pitchFamily="34" charset="0"/>
              </a:rPr>
              <a:t>datos</a:t>
            </a:r>
            <a:endParaRPr lang="en-US" sz="2000" dirty="0">
              <a:latin typeface="Arial" pitchFamily="34" charset="0"/>
              <a:cs typeface="Arial" pitchFamily="34" charset="0"/>
            </a:endParaRPr>
          </a:p>
          <a:p>
            <a:pPr lvl="2">
              <a:defRPr/>
            </a:pPr>
            <a:r>
              <a:rPr lang="en-US" dirty="0" err="1">
                <a:latin typeface="Arial" pitchFamily="34" charset="0"/>
                <a:cs typeface="Arial" pitchFamily="34" charset="0"/>
              </a:rPr>
              <a:t>Especifica</a:t>
            </a:r>
            <a:r>
              <a:rPr lang="en-US" dirty="0">
                <a:latin typeface="Arial" pitchFamily="34" charset="0"/>
                <a:cs typeface="Arial" pitchFamily="34" charset="0"/>
              </a:rPr>
              <a:t> la </a:t>
            </a:r>
            <a:r>
              <a:rPr lang="en-US" dirty="0" err="1">
                <a:latin typeface="Arial" pitchFamily="34" charset="0"/>
                <a:cs typeface="Arial" pitchFamily="34" charset="0"/>
              </a:rPr>
              <a:t>estructura</a:t>
            </a:r>
            <a:r>
              <a:rPr lang="en-US" dirty="0">
                <a:latin typeface="Arial" pitchFamily="34" charset="0"/>
                <a:cs typeface="Arial" pitchFamily="34" charset="0"/>
              </a:rPr>
              <a:t> de </a:t>
            </a:r>
            <a:r>
              <a:rPr lang="en-US" dirty="0" err="1">
                <a:latin typeface="Arial" pitchFamily="34" charset="0"/>
                <a:cs typeface="Arial" pitchFamily="34" charset="0"/>
              </a:rPr>
              <a:t>almacenamiento</a:t>
            </a:r>
            <a:r>
              <a:rPr lang="en-US" dirty="0">
                <a:latin typeface="Arial" pitchFamily="34" charset="0"/>
                <a:cs typeface="Arial" pitchFamily="34" charset="0"/>
              </a:rPr>
              <a:t> y </a:t>
            </a:r>
            <a:r>
              <a:rPr lang="en-US" dirty="0" err="1">
                <a:latin typeface="Arial" pitchFamily="34" charset="0"/>
                <a:cs typeface="Arial" pitchFamily="34" charset="0"/>
              </a:rPr>
              <a:t>los</a:t>
            </a:r>
            <a:r>
              <a:rPr lang="en-US" dirty="0">
                <a:latin typeface="Arial" pitchFamily="34" charset="0"/>
                <a:cs typeface="Arial" pitchFamily="34" charset="0"/>
              </a:rPr>
              <a:t> </a:t>
            </a:r>
            <a:r>
              <a:rPr lang="en-US" dirty="0" err="1">
                <a:latin typeface="Arial" pitchFamily="34" charset="0"/>
                <a:cs typeface="Arial" pitchFamily="34" charset="0"/>
              </a:rPr>
              <a:t>métodos</a:t>
            </a:r>
            <a:r>
              <a:rPr lang="en-US" dirty="0">
                <a:latin typeface="Arial" pitchFamily="34" charset="0"/>
                <a:cs typeface="Arial" pitchFamily="34" charset="0"/>
              </a:rPr>
              <a:t> de </a:t>
            </a:r>
            <a:r>
              <a:rPr lang="en-US" dirty="0" err="1">
                <a:latin typeface="Arial" pitchFamily="34" charset="0"/>
                <a:cs typeface="Arial" pitchFamily="34" charset="0"/>
              </a:rPr>
              <a:t>acceso</a:t>
            </a:r>
            <a:r>
              <a:rPr lang="en-US" dirty="0">
                <a:latin typeface="Arial" pitchFamily="34" charset="0"/>
                <a:cs typeface="Arial" pitchFamily="34" charset="0"/>
              </a:rPr>
              <a:t> </a:t>
            </a:r>
            <a:r>
              <a:rPr lang="en-US" dirty="0" err="1">
                <a:latin typeface="Arial" pitchFamily="34" charset="0"/>
                <a:cs typeface="Arial" pitchFamily="34" charset="0"/>
              </a:rPr>
              <a:t>utilizados</a:t>
            </a:r>
            <a:endParaRPr lang="en-US" dirty="0">
              <a:latin typeface="Arial" pitchFamily="34" charset="0"/>
              <a:cs typeface="Arial" pitchFamily="34" charset="0"/>
            </a:endParaRPr>
          </a:p>
          <a:p>
            <a:pPr lvl="1">
              <a:defRPr/>
            </a:pPr>
            <a:r>
              <a:rPr lang="en-US" sz="2000" dirty="0" err="1">
                <a:latin typeface="Arial" pitchFamily="34" charset="0"/>
                <a:cs typeface="Arial" pitchFamily="34" charset="0"/>
              </a:rPr>
              <a:t>Restricciones</a:t>
            </a:r>
            <a:r>
              <a:rPr lang="en-US" sz="2000" dirty="0">
                <a:latin typeface="Arial" pitchFamily="34" charset="0"/>
                <a:cs typeface="Arial" pitchFamily="34" charset="0"/>
              </a:rPr>
              <a:t> de </a:t>
            </a:r>
            <a:r>
              <a:rPr lang="en-US" sz="2000" dirty="0" err="1">
                <a:latin typeface="Arial" pitchFamily="34" charset="0"/>
                <a:cs typeface="Arial" pitchFamily="34" charset="0"/>
              </a:rPr>
              <a:t>Integridad</a:t>
            </a:r>
            <a:endParaRPr lang="en-US" sz="2000" dirty="0">
              <a:latin typeface="Arial" pitchFamily="34" charset="0"/>
              <a:cs typeface="Arial" pitchFamily="34" charset="0"/>
            </a:endParaRPr>
          </a:p>
          <a:p>
            <a:pPr lvl="2">
              <a:defRPr/>
            </a:pPr>
            <a:r>
              <a:rPr lang="en-US" dirty="0" err="1">
                <a:latin typeface="Arial" pitchFamily="34" charset="0"/>
                <a:cs typeface="Arial" pitchFamily="34" charset="0"/>
              </a:rPr>
              <a:t>Restricciones</a:t>
            </a:r>
            <a:r>
              <a:rPr lang="en-US" dirty="0">
                <a:latin typeface="Arial" pitchFamily="34" charset="0"/>
                <a:cs typeface="Arial" pitchFamily="34" charset="0"/>
              </a:rPr>
              <a:t> de </a:t>
            </a:r>
            <a:r>
              <a:rPr lang="en-US" dirty="0" err="1">
                <a:latin typeface="Arial" pitchFamily="34" charset="0"/>
                <a:cs typeface="Arial" pitchFamily="34" charset="0"/>
              </a:rPr>
              <a:t>Dominio</a:t>
            </a:r>
            <a:endParaRPr lang="en-US" dirty="0">
              <a:latin typeface="Arial" pitchFamily="34" charset="0"/>
              <a:cs typeface="Arial" pitchFamily="34" charset="0"/>
            </a:endParaRPr>
          </a:p>
          <a:p>
            <a:pPr lvl="2">
              <a:defRPr/>
            </a:pPr>
            <a:r>
              <a:rPr lang="en-US" dirty="0" err="1">
                <a:latin typeface="Arial" pitchFamily="34" charset="0"/>
                <a:cs typeface="Arial" pitchFamily="34" charset="0"/>
              </a:rPr>
              <a:t>Integridad</a:t>
            </a:r>
            <a:r>
              <a:rPr lang="en-US" dirty="0">
                <a:latin typeface="Arial" pitchFamily="34" charset="0"/>
                <a:cs typeface="Arial" pitchFamily="34" charset="0"/>
              </a:rPr>
              <a:t> </a:t>
            </a:r>
            <a:r>
              <a:rPr lang="en-US" dirty="0" err="1">
                <a:latin typeface="Arial" pitchFamily="34" charset="0"/>
                <a:cs typeface="Arial" pitchFamily="34" charset="0"/>
              </a:rPr>
              <a:t>Referencial</a:t>
            </a:r>
            <a:r>
              <a:rPr lang="en-US" dirty="0">
                <a:latin typeface="Arial" pitchFamily="34" charset="0"/>
                <a:cs typeface="Arial" pitchFamily="34" charset="0"/>
              </a:rPr>
              <a:t> (</a:t>
            </a:r>
            <a:r>
              <a:rPr lang="en-US" b="1" dirty="0">
                <a:latin typeface="Arial" pitchFamily="34" charset="0"/>
                <a:cs typeface="Arial" pitchFamily="34" charset="0"/>
              </a:rPr>
              <a:t>references</a:t>
            </a:r>
            <a:r>
              <a:rPr lang="en-US" dirty="0">
                <a:latin typeface="Arial" pitchFamily="34" charset="0"/>
                <a:cs typeface="Arial" pitchFamily="34" charset="0"/>
              </a:rPr>
              <a:t> constraint </a:t>
            </a:r>
            <a:r>
              <a:rPr lang="en-US" dirty="0" err="1">
                <a:latin typeface="Arial" pitchFamily="34" charset="0"/>
                <a:cs typeface="Arial" pitchFamily="34" charset="0"/>
              </a:rPr>
              <a:t>en</a:t>
            </a:r>
            <a:r>
              <a:rPr lang="en-US" dirty="0">
                <a:latin typeface="Arial" pitchFamily="34" charset="0"/>
                <a:cs typeface="Arial" pitchFamily="34" charset="0"/>
              </a:rPr>
              <a:t> SQL)</a:t>
            </a:r>
          </a:p>
          <a:p>
            <a:pPr lvl="1">
              <a:defRPr/>
            </a:pPr>
            <a:r>
              <a:rPr lang="en-US" sz="2000" dirty="0" err="1">
                <a:latin typeface="Arial" pitchFamily="34" charset="0"/>
                <a:cs typeface="Arial" pitchFamily="34" charset="0"/>
              </a:rPr>
              <a:t>Autorizaciones</a:t>
            </a:r>
            <a:endParaRPr lang="en-US" sz="2000" dirty="0">
              <a:latin typeface="Arial" pitchFamily="34" charset="0"/>
              <a:cs typeface="Arial" pitchFamily="34" charset="0"/>
            </a:endParaRPr>
          </a:p>
          <a:p>
            <a:endParaRPr lang="es-MX" dirty="0"/>
          </a:p>
        </p:txBody>
      </p:sp>
    </p:spTree>
    <p:extLst>
      <p:ext uri="{BB962C8B-B14F-4D97-AF65-F5344CB8AC3E}">
        <p14:creationId xmlns:p14="http://schemas.microsoft.com/office/powerpoint/2010/main" val="139667115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a:solidFill>
                  <a:schemeClr val="accent1">
                    <a:lumMod val="50000"/>
                  </a:schemeClr>
                </a:solidFill>
                <a:latin typeface="Arial" charset="0"/>
              </a:rPr>
              <a:t>Data Manipulation Language (DML)</a:t>
            </a:r>
            <a:endParaRPr lang="es-MX" b="1" dirty="0">
              <a:solidFill>
                <a:schemeClr val="accent1">
                  <a:lumMod val="50000"/>
                </a:schemeClr>
              </a:solidFill>
              <a:latin typeface="Arial" charset="0"/>
            </a:endParaRPr>
          </a:p>
        </p:txBody>
      </p:sp>
      <p:sp>
        <p:nvSpPr>
          <p:cNvPr id="3" name="Marcador de contenido 2"/>
          <p:cNvSpPr>
            <a:spLocks noGrp="1"/>
          </p:cNvSpPr>
          <p:nvPr>
            <p:ph sz="quarter" idx="13"/>
          </p:nvPr>
        </p:nvSpPr>
        <p:spPr/>
        <p:txBody>
          <a:bodyPr/>
          <a:lstStyle/>
          <a:p>
            <a:pPr>
              <a:defRPr/>
            </a:pPr>
            <a:r>
              <a:rPr lang="en-US" dirty="0" err="1"/>
              <a:t>Lenguaje</a:t>
            </a:r>
            <a:r>
              <a:rPr lang="en-US" dirty="0"/>
              <a:t> para el </a:t>
            </a:r>
            <a:r>
              <a:rPr lang="en-US" dirty="0" err="1"/>
              <a:t>acceso</a:t>
            </a:r>
            <a:r>
              <a:rPr lang="en-US" dirty="0"/>
              <a:t> y </a:t>
            </a:r>
            <a:r>
              <a:rPr lang="en-US" dirty="0" err="1"/>
              <a:t>manipulación</a:t>
            </a:r>
            <a:r>
              <a:rPr lang="en-US" dirty="0"/>
              <a:t> de </a:t>
            </a:r>
            <a:r>
              <a:rPr lang="en-US" dirty="0" err="1"/>
              <a:t>los</a:t>
            </a:r>
            <a:r>
              <a:rPr lang="en-US" dirty="0"/>
              <a:t> </a:t>
            </a:r>
            <a:r>
              <a:rPr lang="en-US" dirty="0" err="1"/>
              <a:t>datos</a:t>
            </a:r>
            <a:r>
              <a:rPr lang="en-US" dirty="0"/>
              <a:t> </a:t>
            </a:r>
            <a:r>
              <a:rPr lang="en-US" dirty="0" err="1"/>
              <a:t>organizados</a:t>
            </a:r>
            <a:r>
              <a:rPr lang="en-US" dirty="0"/>
              <a:t> </a:t>
            </a:r>
            <a:r>
              <a:rPr lang="en-US" dirty="0" err="1"/>
              <a:t>por</a:t>
            </a:r>
            <a:r>
              <a:rPr lang="en-US" dirty="0"/>
              <a:t> el </a:t>
            </a:r>
            <a:r>
              <a:rPr lang="en-US" dirty="0" err="1"/>
              <a:t>modelo</a:t>
            </a:r>
            <a:r>
              <a:rPr lang="en-US" dirty="0"/>
              <a:t> de </a:t>
            </a:r>
            <a:r>
              <a:rPr lang="en-US" dirty="0" err="1"/>
              <a:t>datos</a:t>
            </a:r>
            <a:r>
              <a:rPr lang="en-US" dirty="0"/>
              <a:t> </a:t>
            </a:r>
            <a:r>
              <a:rPr lang="en-US" dirty="0" err="1"/>
              <a:t>apropiado</a:t>
            </a:r>
            <a:r>
              <a:rPr lang="en-US" dirty="0"/>
              <a:t>.</a:t>
            </a:r>
          </a:p>
          <a:p>
            <a:pPr>
              <a:defRPr/>
            </a:pPr>
            <a:r>
              <a:rPr lang="en-US" dirty="0"/>
              <a:t> El DML se </a:t>
            </a:r>
            <a:r>
              <a:rPr lang="en-US" dirty="0" err="1"/>
              <a:t>conoce</a:t>
            </a:r>
            <a:r>
              <a:rPr lang="en-US" dirty="0"/>
              <a:t> </a:t>
            </a:r>
            <a:r>
              <a:rPr lang="en-US" dirty="0" err="1"/>
              <a:t>también</a:t>
            </a:r>
            <a:r>
              <a:rPr lang="en-US" dirty="0"/>
              <a:t> </a:t>
            </a:r>
            <a:r>
              <a:rPr lang="en-US" dirty="0" err="1"/>
              <a:t>como</a:t>
            </a:r>
            <a:r>
              <a:rPr lang="en-US" dirty="0"/>
              <a:t> </a:t>
            </a:r>
            <a:r>
              <a:rPr lang="en-US" dirty="0" err="1"/>
              <a:t>lenguaje</a:t>
            </a:r>
            <a:r>
              <a:rPr lang="en-US" dirty="0"/>
              <a:t> de </a:t>
            </a:r>
            <a:r>
              <a:rPr lang="en-US" dirty="0" err="1"/>
              <a:t>consultas</a:t>
            </a:r>
            <a:r>
              <a:rPr lang="en-US" dirty="0"/>
              <a:t> (query)</a:t>
            </a:r>
          </a:p>
          <a:p>
            <a:pPr>
              <a:defRPr/>
            </a:pPr>
            <a:r>
              <a:rPr lang="en-US" dirty="0"/>
              <a:t>Dos </a:t>
            </a:r>
            <a:r>
              <a:rPr lang="en-US" dirty="0" err="1"/>
              <a:t>clases</a:t>
            </a:r>
            <a:r>
              <a:rPr lang="en-US" dirty="0"/>
              <a:t> de </a:t>
            </a:r>
            <a:r>
              <a:rPr lang="en-US" dirty="0" err="1"/>
              <a:t>lenguajes</a:t>
            </a:r>
            <a:r>
              <a:rPr lang="en-US" dirty="0"/>
              <a:t> </a:t>
            </a:r>
          </a:p>
          <a:p>
            <a:pPr lvl="1">
              <a:defRPr/>
            </a:pPr>
            <a:r>
              <a:rPr lang="en-US" b="1" dirty="0" err="1">
                <a:solidFill>
                  <a:schemeClr val="tx2"/>
                </a:solidFill>
                <a:latin typeface="Arial" pitchFamily="34" charset="0"/>
                <a:cs typeface="Arial" pitchFamily="34" charset="0"/>
              </a:rPr>
              <a:t>Procedimientos</a:t>
            </a:r>
            <a:r>
              <a:rPr lang="en-US" b="1" dirty="0">
                <a:solidFill>
                  <a:schemeClr val="tx2"/>
                </a:solidFill>
                <a:latin typeface="Arial" pitchFamily="34" charset="0"/>
                <a:cs typeface="Arial" pitchFamily="34" charset="0"/>
              </a:rPr>
              <a:t> </a:t>
            </a:r>
            <a:r>
              <a:rPr lang="en-US" dirty="0">
                <a:latin typeface="Arial" pitchFamily="34" charset="0"/>
                <a:cs typeface="Arial" pitchFamily="34" charset="0"/>
              </a:rPr>
              <a:t>– el </a:t>
            </a:r>
            <a:r>
              <a:rPr lang="en-US" dirty="0" err="1">
                <a:latin typeface="Arial" pitchFamily="34" charset="0"/>
                <a:cs typeface="Arial" pitchFamily="34" charset="0"/>
              </a:rPr>
              <a:t>usuario</a:t>
            </a:r>
            <a:r>
              <a:rPr lang="en-US" dirty="0">
                <a:latin typeface="Arial" pitchFamily="34" charset="0"/>
                <a:cs typeface="Arial" pitchFamily="34" charset="0"/>
              </a:rPr>
              <a:t> </a:t>
            </a:r>
            <a:r>
              <a:rPr lang="en-US" dirty="0" err="1">
                <a:latin typeface="Arial" pitchFamily="34" charset="0"/>
                <a:cs typeface="Arial" pitchFamily="34" charset="0"/>
              </a:rPr>
              <a:t>especifica</a:t>
            </a:r>
            <a:r>
              <a:rPr lang="en-US" dirty="0">
                <a:latin typeface="Arial" pitchFamily="34" charset="0"/>
                <a:cs typeface="Arial" pitchFamily="34" charset="0"/>
              </a:rPr>
              <a:t> </a:t>
            </a:r>
            <a:r>
              <a:rPr lang="en-US" dirty="0" err="1">
                <a:latin typeface="Arial" pitchFamily="34" charset="0"/>
                <a:cs typeface="Arial" pitchFamily="34" charset="0"/>
              </a:rPr>
              <a:t>los</a:t>
            </a:r>
            <a:r>
              <a:rPr lang="en-US" dirty="0">
                <a:latin typeface="Arial" pitchFamily="34" charset="0"/>
                <a:cs typeface="Arial" pitchFamily="34" charset="0"/>
              </a:rPr>
              <a:t> </a:t>
            </a:r>
            <a:r>
              <a:rPr lang="en-US" dirty="0" err="1">
                <a:latin typeface="Arial" pitchFamily="34" charset="0"/>
                <a:cs typeface="Arial" pitchFamily="34" charset="0"/>
              </a:rPr>
              <a:t>datos</a:t>
            </a:r>
            <a:r>
              <a:rPr lang="en-US" dirty="0">
                <a:latin typeface="Arial" pitchFamily="34" charset="0"/>
                <a:cs typeface="Arial" pitchFamily="34" charset="0"/>
              </a:rPr>
              <a:t> que se </a:t>
            </a:r>
            <a:r>
              <a:rPr lang="en-US" dirty="0" err="1">
                <a:latin typeface="Arial" pitchFamily="34" charset="0"/>
                <a:cs typeface="Arial" pitchFamily="34" charset="0"/>
              </a:rPr>
              <a:t>requieren</a:t>
            </a:r>
            <a:r>
              <a:rPr lang="en-US" dirty="0">
                <a:latin typeface="Arial" pitchFamily="34" charset="0"/>
                <a:cs typeface="Arial" pitchFamily="34" charset="0"/>
              </a:rPr>
              <a:t> y </a:t>
            </a:r>
            <a:r>
              <a:rPr lang="en-US" dirty="0" err="1">
                <a:latin typeface="Arial" pitchFamily="34" charset="0"/>
                <a:cs typeface="Arial" pitchFamily="34" charset="0"/>
              </a:rPr>
              <a:t>como</a:t>
            </a:r>
            <a:r>
              <a:rPr lang="en-US" dirty="0">
                <a:latin typeface="Arial" pitchFamily="34" charset="0"/>
                <a:cs typeface="Arial" pitchFamily="34" charset="0"/>
              </a:rPr>
              <a:t> se </a:t>
            </a:r>
            <a:r>
              <a:rPr lang="en-US" dirty="0" err="1">
                <a:latin typeface="Arial" pitchFamily="34" charset="0"/>
                <a:cs typeface="Arial" pitchFamily="34" charset="0"/>
              </a:rPr>
              <a:t>organizarán</a:t>
            </a:r>
            <a:r>
              <a:rPr lang="en-US" dirty="0">
                <a:latin typeface="Arial" pitchFamily="34" charset="0"/>
                <a:cs typeface="Arial" pitchFamily="34" charset="0"/>
              </a:rPr>
              <a:t>. </a:t>
            </a:r>
          </a:p>
          <a:p>
            <a:pPr lvl="1">
              <a:defRPr/>
            </a:pPr>
            <a:r>
              <a:rPr lang="en-US" b="1" dirty="0" err="1">
                <a:solidFill>
                  <a:schemeClr val="tx2"/>
                </a:solidFill>
                <a:latin typeface="Arial" pitchFamily="34" charset="0"/>
                <a:cs typeface="Arial" pitchFamily="34" charset="0"/>
              </a:rPr>
              <a:t>Declarativo</a:t>
            </a:r>
            <a:r>
              <a:rPr lang="en-US" b="1" dirty="0">
                <a:solidFill>
                  <a:schemeClr val="tx2"/>
                </a:solidFill>
                <a:latin typeface="Arial" pitchFamily="34" charset="0"/>
                <a:cs typeface="Arial" pitchFamily="34" charset="0"/>
              </a:rPr>
              <a:t> (nonprocedural) </a:t>
            </a:r>
            <a:r>
              <a:rPr lang="en-US" dirty="0">
                <a:latin typeface="Arial" pitchFamily="34" charset="0"/>
                <a:cs typeface="Arial" pitchFamily="34" charset="0"/>
              </a:rPr>
              <a:t>– el </a:t>
            </a:r>
            <a:r>
              <a:rPr lang="en-US" dirty="0" err="1">
                <a:latin typeface="Arial" pitchFamily="34" charset="0"/>
                <a:cs typeface="Arial" pitchFamily="34" charset="0"/>
              </a:rPr>
              <a:t>usuario</a:t>
            </a:r>
            <a:r>
              <a:rPr lang="en-US" dirty="0">
                <a:latin typeface="Arial" pitchFamily="34" charset="0"/>
                <a:cs typeface="Arial" pitchFamily="34" charset="0"/>
              </a:rPr>
              <a:t> </a:t>
            </a:r>
            <a:r>
              <a:rPr lang="en-US" dirty="0" err="1">
                <a:latin typeface="Arial" pitchFamily="34" charset="0"/>
                <a:cs typeface="Arial" pitchFamily="34" charset="0"/>
              </a:rPr>
              <a:t>especifica</a:t>
            </a:r>
            <a:r>
              <a:rPr lang="en-US" dirty="0">
                <a:latin typeface="Arial" pitchFamily="34" charset="0"/>
                <a:cs typeface="Arial" pitchFamily="34" charset="0"/>
              </a:rPr>
              <a:t>  </a:t>
            </a:r>
            <a:r>
              <a:rPr lang="en-US" dirty="0" err="1">
                <a:latin typeface="Arial" pitchFamily="34" charset="0"/>
                <a:cs typeface="Arial" pitchFamily="34" charset="0"/>
              </a:rPr>
              <a:t>los</a:t>
            </a:r>
            <a:r>
              <a:rPr lang="en-US" dirty="0">
                <a:latin typeface="Arial" pitchFamily="34" charset="0"/>
                <a:cs typeface="Arial" pitchFamily="34" charset="0"/>
              </a:rPr>
              <a:t> </a:t>
            </a:r>
            <a:r>
              <a:rPr lang="en-US" dirty="0" err="1">
                <a:latin typeface="Arial" pitchFamily="34" charset="0"/>
                <a:cs typeface="Arial" pitchFamily="34" charset="0"/>
              </a:rPr>
              <a:t>datos</a:t>
            </a:r>
            <a:r>
              <a:rPr lang="en-US" dirty="0">
                <a:latin typeface="Arial" pitchFamily="34" charset="0"/>
                <a:cs typeface="Arial" pitchFamily="34" charset="0"/>
              </a:rPr>
              <a:t> que se </a:t>
            </a:r>
            <a:r>
              <a:rPr lang="en-US" dirty="0" err="1">
                <a:latin typeface="Arial" pitchFamily="34" charset="0"/>
                <a:cs typeface="Arial" pitchFamily="34" charset="0"/>
              </a:rPr>
              <a:t>requieren</a:t>
            </a:r>
            <a:r>
              <a:rPr lang="en-US" dirty="0">
                <a:latin typeface="Arial" pitchFamily="34" charset="0"/>
                <a:cs typeface="Arial" pitchFamily="34" charset="0"/>
              </a:rPr>
              <a:t> sin </a:t>
            </a:r>
            <a:r>
              <a:rPr lang="en-US" dirty="0" err="1">
                <a:latin typeface="Arial" pitchFamily="34" charset="0"/>
                <a:cs typeface="Arial" pitchFamily="34" charset="0"/>
              </a:rPr>
              <a:t>indicar</a:t>
            </a:r>
            <a:r>
              <a:rPr lang="en-US" dirty="0">
                <a:latin typeface="Arial" pitchFamily="34" charset="0"/>
                <a:cs typeface="Arial" pitchFamily="34" charset="0"/>
              </a:rPr>
              <a:t> </a:t>
            </a:r>
            <a:r>
              <a:rPr lang="en-US" dirty="0" err="1">
                <a:latin typeface="Arial" pitchFamily="34" charset="0"/>
                <a:cs typeface="Arial" pitchFamily="34" charset="0"/>
              </a:rPr>
              <a:t>como</a:t>
            </a:r>
            <a:r>
              <a:rPr lang="en-US" dirty="0">
                <a:latin typeface="Arial" pitchFamily="34" charset="0"/>
                <a:cs typeface="Arial" pitchFamily="34" charset="0"/>
              </a:rPr>
              <a:t> se </a:t>
            </a:r>
            <a:r>
              <a:rPr lang="en-US" dirty="0" err="1">
                <a:latin typeface="Arial" pitchFamily="34" charset="0"/>
                <a:cs typeface="Arial" pitchFamily="34" charset="0"/>
              </a:rPr>
              <a:t>organizarán</a:t>
            </a:r>
            <a:r>
              <a:rPr lang="en-US" dirty="0">
                <a:latin typeface="Arial" pitchFamily="34" charset="0"/>
                <a:cs typeface="Arial" pitchFamily="34" charset="0"/>
              </a:rPr>
              <a:t>.</a:t>
            </a:r>
          </a:p>
          <a:p>
            <a:pPr>
              <a:defRPr/>
            </a:pPr>
            <a:r>
              <a:rPr lang="en-US" dirty="0"/>
              <a:t>SQL </a:t>
            </a:r>
            <a:r>
              <a:rPr lang="en-US" dirty="0" err="1"/>
              <a:t>es</a:t>
            </a:r>
            <a:r>
              <a:rPr lang="en-US" dirty="0"/>
              <a:t> el </a:t>
            </a:r>
            <a:r>
              <a:rPr lang="en-US" dirty="0" err="1"/>
              <a:t>lenguaje</a:t>
            </a:r>
            <a:r>
              <a:rPr lang="en-US" dirty="0"/>
              <a:t> de </a:t>
            </a:r>
            <a:r>
              <a:rPr lang="en-US" dirty="0" err="1"/>
              <a:t>consulta</a:t>
            </a:r>
            <a:r>
              <a:rPr lang="en-US" dirty="0"/>
              <a:t> </a:t>
            </a:r>
            <a:r>
              <a:rPr lang="en-US" dirty="0" err="1"/>
              <a:t>más</a:t>
            </a:r>
            <a:r>
              <a:rPr lang="en-US" dirty="0"/>
              <a:t> </a:t>
            </a:r>
            <a:r>
              <a:rPr lang="en-US" dirty="0" err="1"/>
              <a:t>utilizado</a:t>
            </a:r>
            <a:endParaRPr lang="en-US" dirty="0"/>
          </a:p>
          <a:p>
            <a:endParaRPr lang="es-MX" dirty="0"/>
          </a:p>
        </p:txBody>
      </p:sp>
    </p:spTree>
    <p:extLst>
      <p:ext uri="{BB962C8B-B14F-4D97-AF65-F5344CB8AC3E}">
        <p14:creationId xmlns:p14="http://schemas.microsoft.com/office/powerpoint/2010/main" val="106440280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a:solidFill>
                  <a:schemeClr val="accent1">
                    <a:lumMod val="50000"/>
                  </a:schemeClr>
                </a:solidFill>
                <a:latin typeface="Arial" charset="0"/>
              </a:rPr>
              <a:t>Data Manipulation Language (DML)</a:t>
            </a:r>
            <a:endParaRPr lang="es-MX" b="1" dirty="0">
              <a:solidFill>
                <a:schemeClr val="accent1">
                  <a:lumMod val="50000"/>
                </a:schemeClr>
              </a:solidFill>
              <a:latin typeface="Arial" charset="0"/>
            </a:endParaRPr>
          </a:p>
        </p:txBody>
      </p:sp>
      <p:sp>
        <p:nvSpPr>
          <p:cNvPr id="3" name="Marcador de contenido 2"/>
          <p:cNvSpPr>
            <a:spLocks noGrp="1"/>
          </p:cNvSpPr>
          <p:nvPr>
            <p:ph sz="quarter" idx="13"/>
          </p:nvPr>
        </p:nvSpPr>
        <p:spPr/>
        <p:txBody>
          <a:bodyPr/>
          <a:lstStyle/>
          <a:p>
            <a:pPr>
              <a:defRPr/>
            </a:pPr>
            <a:r>
              <a:rPr lang="en-US" dirty="0" err="1"/>
              <a:t>Ejemplos</a:t>
            </a:r>
            <a:r>
              <a:rPr lang="en-US" dirty="0"/>
              <a:t>:</a:t>
            </a:r>
          </a:p>
          <a:p>
            <a:pPr lvl="1">
              <a:defRPr/>
            </a:pPr>
            <a:r>
              <a:rPr lang="en-US" sz="2000" dirty="0" err="1">
                <a:latin typeface="Arial" pitchFamily="34" charset="0"/>
                <a:cs typeface="Arial" pitchFamily="34" charset="0"/>
              </a:rPr>
              <a:t>Encuentra</a:t>
            </a:r>
            <a:r>
              <a:rPr lang="en-US" sz="2000" dirty="0">
                <a:latin typeface="Arial" pitchFamily="34" charset="0"/>
                <a:cs typeface="Arial" pitchFamily="34" charset="0"/>
              </a:rPr>
              <a:t> el </a:t>
            </a:r>
            <a:r>
              <a:rPr lang="en-US" sz="2000" dirty="0" err="1">
                <a:latin typeface="Arial" pitchFamily="34" charset="0"/>
                <a:cs typeface="Arial" pitchFamily="34" charset="0"/>
              </a:rPr>
              <a:t>nombre</a:t>
            </a:r>
            <a:r>
              <a:rPr lang="en-US" sz="2000" dirty="0">
                <a:latin typeface="Arial" pitchFamily="34" charset="0"/>
                <a:cs typeface="Arial" pitchFamily="34" charset="0"/>
              </a:rPr>
              <a:t> del </a:t>
            </a:r>
            <a:r>
              <a:rPr lang="en-US" sz="2000" dirty="0" err="1">
                <a:latin typeface="Arial" pitchFamily="34" charset="0"/>
                <a:cs typeface="Arial" pitchFamily="34" charset="0"/>
              </a:rPr>
              <a:t>cliente</a:t>
            </a:r>
            <a:r>
              <a:rPr lang="en-US" sz="2000" dirty="0">
                <a:latin typeface="Arial" pitchFamily="34" charset="0"/>
                <a:cs typeface="Arial" pitchFamily="34" charset="0"/>
              </a:rPr>
              <a:t> con customer-id 192-83-7465</a:t>
            </a:r>
            <a:br>
              <a:rPr lang="en-US" sz="2000" dirty="0">
                <a:latin typeface="Arial" pitchFamily="34" charset="0"/>
                <a:cs typeface="Arial" pitchFamily="34" charset="0"/>
              </a:rPr>
            </a:br>
            <a:r>
              <a:rPr lang="en-US" sz="2000" dirty="0">
                <a:latin typeface="Arial" pitchFamily="34" charset="0"/>
                <a:cs typeface="Arial" pitchFamily="34" charset="0"/>
              </a:rPr>
              <a:t>	</a:t>
            </a:r>
            <a:r>
              <a:rPr lang="en-US" sz="2000" b="1" dirty="0">
                <a:solidFill>
                  <a:schemeClr val="accent1">
                    <a:lumMod val="50000"/>
                  </a:schemeClr>
                </a:solidFill>
                <a:latin typeface="Arial" pitchFamily="34" charset="0"/>
                <a:cs typeface="Arial" pitchFamily="34" charset="0"/>
              </a:rPr>
              <a:t>select	</a:t>
            </a:r>
            <a:r>
              <a:rPr lang="en-US" sz="2000" i="1" dirty="0" err="1">
                <a:solidFill>
                  <a:schemeClr val="accent1">
                    <a:lumMod val="50000"/>
                  </a:schemeClr>
                </a:solidFill>
                <a:latin typeface="Arial" pitchFamily="34" charset="0"/>
                <a:cs typeface="Arial" pitchFamily="34" charset="0"/>
              </a:rPr>
              <a:t>customer.customer_name</a:t>
            </a:r>
            <a:br>
              <a:rPr lang="en-US" sz="2000" dirty="0">
                <a:solidFill>
                  <a:schemeClr val="accent1">
                    <a:lumMod val="50000"/>
                  </a:schemeClr>
                </a:solidFill>
                <a:latin typeface="Arial" pitchFamily="34" charset="0"/>
                <a:cs typeface="Arial" pitchFamily="34" charset="0"/>
              </a:rPr>
            </a:br>
            <a:r>
              <a:rPr lang="en-US" sz="2000" dirty="0">
                <a:solidFill>
                  <a:schemeClr val="accent1">
                    <a:lumMod val="50000"/>
                  </a:schemeClr>
                </a:solidFill>
                <a:latin typeface="Arial" pitchFamily="34" charset="0"/>
                <a:cs typeface="Arial" pitchFamily="34" charset="0"/>
              </a:rPr>
              <a:t>	</a:t>
            </a:r>
            <a:r>
              <a:rPr lang="en-US" sz="2000" b="1" dirty="0">
                <a:solidFill>
                  <a:schemeClr val="accent1">
                    <a:lumMod val="50000"/>
                  </a:schemeClr>
                </a:solidFill>
                <a:latin typeface="Arial" pitchFamily="34" charset="0"/>
                <a:cs typeface="Arial" pitchFamily="34" charset="0"/>
              </a:rPr>
              <a:t>from	</a:t>
            </a:r>
            <a:r>
              <a:rPr lang="en-US" sz="2000" i="1" dirty="0">
                <a:solidFill>
                  <a:schemeClr val="accent1">
                    <a:lumMod val="50000"/>
                  </a:schemeClr>
                </a:solidFill>
                <a:latin typeface="Arial" pitchFamily="34" charset="0"/>
                <a:cs typeface="Arial" pitchFamily="34" charset="0"/>
              </a:rPr>
              <a:t>customer</a:t>
            </a:r>
            <a:br>
              <a:rPr lang="en-US" sz="2000" dirty="0">
                <a:solidFill>
                  <a:schemeClr val="accent1">
                    <a:lumMod val="50000"/>
                  </a:schemeClr>
                </a:solidFill>
                <a:latin typeface="Arial" pitchFamily="34" charset="0"/>
                <a:cs typeface="Arial" pitchFamily="34" charset="0"/>
              </a:rPr>
            </a:br>
            <a:r>
              <a:rPr lang="en-US" sz="2000" dirty="0">
                <a:solidFill>
                  <a:schemeClr val="accent1">
                    <a:lumMod val="50000"/>
                  </a:schemeClr>
                </a:solidFill>
                <a:latin typeface="Arial" pitchFamily="34" charset="0"/>
                <a:cs typeface="Arial" pitchFamily="34" charset="0"/>
              </a:rPr>
              <a:t>	</a:t>
            </a:r>
            <a:r>
              <a:rPr lang="en-US" sz="2000" b="1" dirty="0">
                <a:solidFill>
                  <a:schemeClr val="accent1">
                    <a:lumMod val="50000"/>
                  </a:schemeClr>
                </a:solidFill>
                <a:latin typeface="Arial" pitchFamily="34" charset="0"/>
                <a:cs typeface="Arial" pitchFamily="34" charset="0"/>
              </a:rPr>
              <a:t>where</a:t>
            </a:r>
            <a:r>
              <a:rPr lang="en-US" sz="2000" dirty="0">
                <a:solidFill>
                  <a:schemeClr val="accent1">
                    <a:lumMod val="50000"/>
                  </a:schemeClr>
                </a:solidFill>
                <a:latin typeface="Arial" pitchFamily="34" charset="0"/>
                <a:cs typeface="Arial" pitchFamily="34" charset="0"/>
              </a:rPr>
              <a:t>	</a:t>
            </a:r>
            <a:r>
              <a:rPr lang="en-US" sz="2000" i="1" dirty="0" err="1">
                <a:solidFill>
                  <a:schemeClr val="accent1">
                    <a:lumMod val="50000"/>
                  </a:schemeClr>
                </a:solidFill>
                <a:latin typeface="Arial" pitchFamily="34" charset="0"/>
                <a:cs typeface="Arial" pitchFamily="34" charset="0"/>
              </a:rPr>
              <a:t>customer.customer_id</a:t>
            </a:r>
            <a:r>
              <a:rPr lang="en-US" sz="2000" dirty="0">
                <a:solidFill>
                  <a:schemeClr val="accent1">
                    <a:lumMod val="50000"/>
                  </a:schemeClr>
                </a:solidFill>
                <a:latin typeface="Arial" pitchFamily="34" charset="0"/>
                <a:cs typeface="Arial" pitchFamily="34" charset="0"/>
              </a:rPr>
              <a:t> = ‘192-83-7465’</a:t>
            </a:r>
          </a:p>
          <a:p>
            <a:pPr lvl="1">
              <a:defRPr/>
            </a:pPr>
            <a:r>
              <a:rPr lang="en-US" sz="2000" dirty="0" err="1">
                <a:latin typeface="Arial" pitchFamily="34" charset="0"/>
                <a:cs typeface="Arial" pitchFamily="34" charset="0"/>
              </a:rPr>
              <a:t>Encuentra</a:t>
            </a:r>
            <a:r>
              <a:rPr lang="en-US" sz="2000" dirty="0">
                <a:latin typeface="Arial" pitchFamily="34" charset="0"/>
                <a:cs typeface="Arial" pitchFamily="34" charset="0"/>
              </a:rPr>
              <a:t> el </a:t>
            </a:r>
            <a:r>
              <a:rPr lang="en-US" sz="2000" dirty="0" err="1">
                <a:latin typeface="Arial" pitchFamily="34" charset="0"/>
                <a:cs typeface="Arial" pitchFamily="34" charset="0"/>
              </a:rPr>
              <a:t>saldo</a:t>
            </a:r>
            <a:r>
              <a:rPr lang="en-US" sz="2000" dirty="0">
                <a:latin typeface="Arial" pitchFamily="34" charset="0"/>
                <a:cs typeface="Arial" pitchFamily="34" charset="0"/>
              </a:rPr>
              <a:t> de las </a:t>
            </a:r>
            <a:r>
              <a:rPr lang="en-US" sz="2000" dirty="0" err="1">
                <a:latin typeface="Arial" pitchFamily="34" charset="0"/>
                <a:cs typeface="Arial" pitchFamily="34" charset="0"/>
              </a:rPr>
              <a:t>cuenta</a:t>
            </a:r>
            <a:r>
              <a:rPr lang="en-US" sz="2000" dirty="0">
                <a:latin typeface="Arial" pitchFamily="34" charset="0"/>
                <a:cs typeface="Arial" pitchFamily="34" charset="0"/>
              </a:rPr>
              <a:t> del </a:t>
            </a:r>
            <a:r>
              <a:rPr lang="en-US" sz="2000" dirty="0" err="1">
                <a:latin typeface="Arial" pitchFamily="34" charset="0"/>
                <a:cs typeface="Arial" pitchFamily="34" charset="0"/>
              </a:rPr>
              <a:t>cliente</a:t>
            </a:r>
            <a:r>
              <a:rPr lang="en-US" sz="2000" dirty="0">
                <a:latin typeface="Arial" pitchFamily="34" charset="0"/>
                <a:cs typeface="Arial" pitchFamily="34" charset="0"/>
              </a:rPr>
              <a:t> con customer-id 192-83-7465</a:t>
            </a:r>
            <a:br>
              <a:rPr lang="en-US" sz="2000" dirty="0">
                <a:latin typeface="Arial" pitchFamily="34" charset="0"/>
                <a:cs typeface="Arial" pitchFamily="34" charset="0"/>
              </a:rPr>
            </a:br>
            <a:r>
              <a:rPr lang="en-US" sz="2000" dirty="0">
                <a:latin typeface="Arial" pitchFamily="34" charset="0"/>
                <a:cs typeface="Arial" pitchFamily="34" charset="0"/>
              </a:rPr>
              <a:t>	</a:t>
            </a:r>
            <a:r>
              <a:rPr lang="en-US" sz="2000" b="1" dirty="0">
                <a:solidFill>
                  <a:schemeClr val="accent1">
                    <a:lumMod val="50000"/>
                  </a:schemeClr>
                </a:solidFill>
                <a:latin typeface="Arial" pitchFamily="34" charset="0"/>
                <a:cs typeface="Arial" pitchFamily="34" charset="0"/>
              </a:rPr>
              <a:t>select</a:t>
            </a:r>
            <a:r>
              <a:rPr lang="en-US" sz="2000" dirty="0">
                <a:solidFill>
                  <a:schemeClr val="accent1">
                    <a:lumMod val="50000"/>
                  </a:schemeClr>
                </a:solidFill>
                <a:latin typeface="Arial" pitchFamily="34" charset="0"/>
                <a:cs typeface="Arial" pitchFamily="34" charset="0"/>
              </a:rPr>
              <a:t>	</a:t>
            </a:r>
            <a:r>
              <a:rPr lang="en-US" sz="2000" i="1" dirty="0" err="1">
                <a:solidFill>
                  <a:schemeClr val="accent1">
                    <a:lumMod val="50000"/>
                  </a:schemeClr>
                </a:solidFill>
                <a:latin typeface="Arial" pitchFamily="34" charset="0"/>
                <a:cs typeface="Arial" pitchFamily="34" charset="0"/>
              </a:rPr>
              <a:t>account.balance</a:t>
            </a:r>
            <a:br>
              <a:rPr lang="en-US" sz="2000" dirty="0">
                <a:solidFill>
                  <a:schemeClr val="accent1">
                    <a:lumMod val="50000"/>
                  </a:schemeClr>
                </a:solidFill>
                <a:latin typeface="Arial" pitchFamily="34" charset="0"/>
                <a:cs typeface="Arial" pitchFamily="34" charset="0"/>
              </a:rPr>
            </a:br>
            <a:r>
              <a:rPr lang="en-US" sz="2000" dirty="0">
                <a:solidFill>
                  <a:schemeClr val="accent1">
                    <a:lumMod val="50000"/>
                  </a:schemeClr>
                </a:solidFill>
                <a:latin typeface="Arial" pitchFamily="34" charset="0"/>
                <a:cs typeface="Arial" pitchFamily="34" charset="0"/>
              </a:rPr>
              <a:t>	</a:t>
            </a:r>
            <a:r>
              <a:rPr lang="en-US" sz="2000" b="1" dirty="0">
                <a:solidFill>
                  <a:schemeClr val="accent1">
                    <a:lumMod val="50000"/>
                  </a:schemeClr>
                </a:solidFill>
                <a:latin typeface="Arial" pitchFamily="34" charset="0"/>
                <a:cs typeface="Arial" pitchFamily="34" charset="0"/>
              </a:rPr>
              <a:t>from</a:t>
            </a:r>
            <a:r>
              <a:rPr lang="en-US" sz="2000" dirty="0">
                <a:solidFill>
                  <a:schemeClr val="accent1">
                    <a:lumMod val="50000"/>
                  </a:schemeClr>
                </a:solidFill>
                <a:latin typeface="Arial" pitchFamily="34" charset="0"/>
                <a:cs typeface="Arial" pitchFamily="34" charset="0"/>
              </a:rPr>
              <a:t>     	</a:t>
            </a:r>
            <a:r>
              <a:rPr lang="en-US" sz="2000" i="1" dirty="0">
                <a:solidFill>
                  <a:schemeClr val="accent1">
                    <a:lumMod val="50000"/>
                  </a:schemeClr>
                </a:solidFill>
                <a:latin typeface="Arial" pitchFamily="34" charset="0"/>
                <a:cs typeface="Arial" pitchFamily="34" charset="0"/>
              </a:rPr>
              <a:t>depositor</a:t>
            </a:r>
            <a:r>
              <a:rPr lang="en-US" sz="2000" dirty="0">
                <a:solidFill>
                  <a:schemeClr val="accent1">
                    <a:lumMod val="50000"/>
                  </a:schemeClr>
                </a:solidFill>
                <a:latin typeface="Arial" pitchFamily="34" charset="0"/>
                <a:cs typeface="Arial" pitchFamily="34" charset="0"/>
              </a:rPr>
              <a:t>, </a:t>
            </a:r>
            <a:r>
              <a:rPr lang="en-US" sz="2000" i="1" dirty="0">
                <a:solidFill>
                  <a:schemeClr val="accent1">
                    <a:lumMod val="50000"/>
                  </a:schemeClr>
                </a:solidFill>
                <a:latin typeface="Arial" pitchFamily="34" charset="0"/>
                <a:cs typeface="Arial" pitchFamily="34" charset="0"/>
              </a:rPr>
              <a:t>account</a:t>
            </a:r>
            <a:br>
              <a:rPr lang="en-US" sz="2000" dirty="0">
                <a:solidFill>
                  <a:schemeClr val="accent1">
                    <a:lumMod val="50000"/>
                  </a:schemeClr>
                </a:solidFill>
                <a:latin typeface="Arial" pitchFamily="34" charset="0"/>
                <a:cs typeface="Arial" pitchFamily="34" charset="0"/>
              </a:rPr>
            </a:br>
            <a:r>
              <a:rPr lang="en-US" sz="2000" dirty="0">
                <a:solidFill>
                  <a:schemeClr val="accent1">
                    <a:lumMod val="50000"/>
                  </a:schemeClr>
                </a:solidFill>
                <a:latin typeface="Arial" pitchFamily="34" charset="0"/>
                <a:cs typeface="Arial" pitchFamily="34" charset="0"/>
              </a:rPr>
              <a:t>	</a:t>
            </a:r>
            <a:r>
              <a:rPr lang="en-US" sz="2000" b="1" dirty="0">
                <a:solidFill>
                  <a:schemeClr val="accent1">
                    <a:lumMod val="50000"/>
                  </a:schemeClr>
                </a:solidFill>
                <a:latin typeface="Arial" pitchFamily="34" charset="0"/>
                <a:cs typeface="Arial" pitchFamily="34" charset="0"/>
              </a:rPr>
              <a:t>where</a:t>
            </a:r>
            <a:r>
              <a:rPr lang="en-US" sz="2000" dirty="0">
                <a:solidFill>
                  <a:schemeClr val="accent1">
                    <a:lumMod val="50000"/>
                  </a:schemeClr>
                </a:solidFill>
                <a:latin typeface="Arial" pitchFamily="34" charset="0"/>
                <a:cs typeface="Arial" pitchFamily="34" charset="0"/>
              </a:rPr>
              <a:t>  	</a:t>
            </a:r>
            <a:r>
              <a:rPr lang="en-US" sz="2000" i="1" dirty="0" err="1">
                <a:solidFill>
                  <a:schemeClr val="accent1">
                    <a:lumMod val="50000"/>
                  </a:schemeClr>
                </a:solidFill>
                <a:latin typeface="Arial" pitchFamily="34" charset="0"/>
                <a:cs typeface="Arial" pitchFamily="34" charset="0"/>
              </a:rPr>
              <a:t>depositor.customer_id</a:t>
            </a:r>
            <a:r>
              <a:rPr lang="en-US" sz="2000" dirty="0">
                <a:solidFill>
                  <a:schemeClr val="accent1">
                    <a:lumMod val="50000"/>
                  </a:schemeClr>
                </a:solidFill>
                <a:latin typeface="Arial" pitchFamily="34" charset="0"/>
                <a:cs typeface="Arial" pitchFamily="34" charset="0"/>
              </a:rPr>
              <a:t> = ‘192-83-7465’ </a:t>
            </a:r>
            <a:r>
              <a:rPr lang="en-US" sz="2000" b="1" dirty="0">
                <a:solidFill>
                  <a:schemeClr val="accent1">
                    <a:lumMod val="50000"/>
                  </a:schemeClr>
                </a:solidFill>
                <a:latin typeface="Arial" pitchFamily="34" charset="0"/>
                <a:cs typeface="Arial" pitchFamily="34" charset="0"/>
              </a:rPr>
              <a:t>and</a:t>
            </a:r>
            <a:br>
              <a:rPr lang="en-US" sz="2000" b="1" dirty="0">
                <a:solidFill>
                  <a:schemeClr val="accent1">
                    <a:lumMod val="50000"/>
                  </a:schemeClr>
                </a:solidFill>
                <a:latin typeface="Arial" pitchFamily="34" charset="0"/>
                <a:cs typeface="Arial" pitchFamily="34" charset="0"/>
              </a:rPr>
            </a:br>
            <a:r>
              <a:rPr lang="en-US" sz="2000" b="1" dirty="0">
                <a:solidFill>
                  <a:schemeClr val="accent1">
                    <a:lumMod val="50000"/>
                  </a:schemeClr>
                </a:solidFill>
                <a:latin typeface="Arial" pitchFamily="34" charset="0"/>
                <a:cs typeface="Arial" pitchFamily="34" charset="0"/>
              </a:rPr>
              <a:t>		</a:t>
            </a:r>
            <a:r>
              <a:rPr lang="en-US" sz="2000" i="1" dirty="0" err="1">
                <a:solidFill>
                  <a:schemeClr val="accent1">
                    <a:lumMod val="50000"/>
                  </a:schemeClr>
                </a:solidFill>
                <a:latin typeface="Arial" pitchFamily="34" charset="0"/>
                <a:cs typeface="Arial" pitchFamily="34" charset="0"/>
              </a:rPr>
              <a:t>depositor.account_number</a:t>
            </a:r>
            <a:r>
              <a:rPr lang="en-US" sz="2000" i="1" dirty="0">
                <a:solidFill>
                  <a:schemeClr val="accent1">
                    <a:lumMod val="50000"/>
                  </a:schemeClr>
                </a:solidFill>
                <a:latin typeface="Arial" pitchFamily="34" charset="0"/>
                <a:cs typeface="Arial" pitchFamily="34" charset="0"/>
              </a:rPr>
              <a:t> = </a:t>
            </a:r>
            <a:r>
              <a:rPr lang="en-US" sz="2000" i="1" dirty="0" err="1">
                <a:solidFill>
                  <a:schemeClr val="accent1">
                    <a:lumMod val="50000"/>
                  </a:schemeClr>
                </a:solidFill>
                <a:latin typeface="Arial" pitchFamily="34" charset="0"/>
                <a:cs typeface="Arial" pitchFamily="34" charset="0"/>
              </a:rPr>
              <a:t>account.account_number</a:t>
            </a:r>
            <a:endParaRPr lang="en-US" sz="2000" i="1" dirty="0">
              <a:solidFill>
                <a:schemeClr val="accent1">
                  <a:lumMod val="50000"/>
                </a:schemeClr>
              </a:solidFill>
              <a:latin typeface="Arial" pitchFamily="34" charset="0"/>
              <a:cs typeface="Arial" pitchFamily="34" charset="0"/>
            </a:endParaRPr>
          </a:p>
          <a:p>
            <a:pPr>
              <a:defRPr/>
            </a:pPr>
            <a:endParaRPr lang="es-MX" dirty="0"/>
          </a:p>
        </p:txBody>
      </p:sp>
    </p:spTree>
    <p:extLst>
      <p:ext uri="{BB962C8B-B14F-4D97-AF65-F5344CB8AC3E}">
        <p14:creationId xmlns:p14="http://schemas.microsoft.com/office/powerpoint/2010/main" val="165253852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19807"/>
            <a:ext cx="10245091" cy="681030"/>
          </a:xfrm>
        </p:spPr>
        <p:txBody>
          <a:bodyPr/>
          <a:lstStyle/>
          <a:p>
            <a:r>
              <a:rPr lang="en-US" b="1" dirty="0" err="1">
                <a:solidFill>
                  <a:schemeClr val="accent1">
                    <a:lumMod val="50000"/>
                  </a:schemeClr>
                </a:solidFill>
                <a:latin typeface="Arial" charset="0"/>
              </a:rPr>
              <a:t>Diseño</a:t>
            </a:r>
            <a:r>
              <a:rPr lang="en-US" b="1" dirty="0">
                <a:solidFill>
                  <a:schemeClr val="accent1">
                    <a:lumMod val="50000"/>
                  </a:schemeClr>
                </a:solidFill>
                <a:latin typeface="Arial" charset="0"/>
              </a:rPr>
              <a:t> de Bases de </a:t>
            </a:r>
            <a:r>
              <a:rPr lang="en-US" b="1" dirty="0" err="1">
                <a:solidFill>
                  <a:schemeClr val="accent1">
                    <a:lumMod val="50000"/>
                  </a:schemeClr>
                </a:solidFill>
                <a:latin typeface="Arial" charset="0"/>
              </a:rPr>
              <a:t>datos</a:t>
            </a:r>
            <a:endParaRPr lang="es-MX" b="1" dirty="0">
              <a:solidFill>
                <a:schemeClr val="accent1">
                  <a:lumMod val="50000"/>
                </a:schemeClr>
              </a:solidFill>
              <a:latin typeface="Arial" charset="0"/>
            </a:endParaRPr>
          </a:p>
        </p:txBody>
      </p:sp>
      <p:sp>
        <p:nvSpPr>
          <p:cNvPr id="3" name="Marcador de contenido 2"/>
          <p:cNvSpPr>
            <a:spLocks noGrp="1"/>
          </p:cNvSpPr>
          <p:nvPr>
            <p:ph sz="quarter" idx="13"/>
          </p:nvPr>
        </p:nvSpPr>
        <p:spPr/>
        <p:txBody>
          <a:bodyPr/>
          <a:lstStyle/>
          <a:p>
            <a:pPr>
              <a:defRPr/>
            </a:pPr>
            <a:r>
              <a:rPr lang="en-US" sz="2000" dirty="0" err="1"/>
              <a:t>Es</a:t>
            </a:r>
            <a:r>
              <a:rPr lang="en-US" sz="2000" dirty="0"/>
              <a:t> el </a:t>
            </a:r>
            <a:r>
              <a:rPr lang="en-US" sz="2000" dirty="0" err="1"/>
              <a:t>proceso</a:t>
            </a:r>
            <a:r>
              <a:rPr lang="en-US" sz="2000" dirty="0"/>
              <a:t> de </a:t>
            </a:r>
            <a:r>
              <a:rPr lang="en-US" sz="2000" dirty="0" err="1"/>
              <a:t>diseño</a:t>
            </a:r>
            <a:r>
              <a:rPr lang="en-US" sz="2000" dirty="0"/>
              <a:t> de la </a:t>
            </a:r>
            <a:r>
              <a:rPr lang="en-US" sz="2000" dirty="0" err="1"/>
              <a:t>estructura</a:t>
            </a:r>
            <a:r>
              <a:rPr lang="en-US" sz="2000" dirty="0"/>
              <a:t> general de la BD:</a:t>
            </a:r>
          </a:p>
          <a:p>
            <a:pPr>
              <a:defRPr/>
            </a:pPr>
            <a:endParaRPr lang="en-US" sz="2000" dirty="0"/>
          </a:p>
          <a:p>
            <a:pPr>
              <a:defRPr/>
            </a:pPr>
            <a:r>
              <a:rPr lang="en-US" sz="2000" b="1" dirty="0" err="1">
                <a:solidFill>
                  <a:schemeClr val="accent1">
                    <a:lumMod val="50000"/>
                  </a:schemeClr>
                </a:solidFill>
              </a:rPr>
              <a:t>Diseño</a:t>
            </a:r>
            <a:r>
              <a:rPr lang="en-US" sz="2000" b="1" dirty="0">
                <a:solidFill>
                  <a:schemeClr val="accent1">
                    <a:lumMod val="50000"/>
                  </a:schemeClr>
                </a:solidFill>
              </a:rPr>
              <a:t> </a:t>
            </a:r>
            <a:r>
              <a:rPr lang="en-US" sz="2000" b="1" dirty="0" err="1">
                <a:solidFill>
                  <a:schemeClr val="accent1">
                    <a:lumMod val="50000"/>
                  </a:schemeClr>
                </a:solidFill>
              </a:rPr>
              <a:t>Lógico</a:t>
            </a:r>
            <a:r>
              <a:rPr lang="en-US" sz="2000" b="1" dirty="0">
                <a:solidFill>
                  <a:schemeClr val="accent1">
                    <a:lumMod val="50000"/>
                  </a:schemeClr>
                </a:solidFill>
              </a:rPr>
              <a:t> </a:t>
            </a:r>
            <a:r>
              <a:rPr lang="en-US" sz="2000" dirty="0"/>
              <a:t>–  </a:t>
            </a:r>
            <a:r>
              <a:rPr lang="en-US" sz="2000" dirty="0" err="1"/>
              <a:t>Trata</a:t>
            </a:r>
            <a:r>
              <a:rPr lang="en-US" sz="2000" dirty="0"/>
              <a:t> </a:t>
            </a:r>
            <a:r>
              <a:rPr lang="en-US" sz="2000" dirty="0" err="1"/>
              <a:t>sobre</a:t>
            </a:r>
            <a:r>
              <a:rPr lang="en-US" sz="2000" dirty="0"/>
              <a:t> el </a:t>
            </a:r>
            <a:r>
              <a:rPr lang="en-US" sz="2000" dirty="0" err="1"/>
              <a:t>esquema</a:t>
            </a:r>
            <a:r>
              <a:rPr lang="en-US" sz="2000" dirty="0"/>
              <a:t> de la BD. El </a:t>
            </a:r>
            <a:r>
              <a:rPr lang="en-US" sz="2000" dirty="0" err="1"/>
              <a:t>diseño</a:t>
            </a:r>
            <a:r>
              <a:rPr lang="en-US" sz="2000" dirty="0"/>
              <a:t> de la BD </a:t>
            </a:r>
            <a:r>
              <a:rPr lang="en-US" sz="2000" dirty="0" err="1"/>
              <a:t>requiere</a:t>
            </a:r>
            <a:r>
              <a:rPr lang="en-US" sz="2000" dirty="0"/>
              <a:t> </a:t>
            </a:r>
            <a:r>
              <a:rPr lang="en-US" sz="2000" dirty="0" err="1"/>
              <a:t>encontrar</a:t>
            </a:r>
            <a:r>
              <a:rPr lang="en-US" sz="2000" dirty="0"/>
              <a:t> el </a:t>
            </a:r>
            <a:r>
              <a:rPr lang="en-US" sz="2000" dirty="0" err="1"/>
              <a:t>diseño</a:t>
            </a:r>
            <a:r>
              <a:rPr lang="en-US" sz="2000" dirty="0"/>
              <a:t> de </a:t>
            </a:r>
            <a:r>
              <a:rPr lang="en-US" sz="2000" dirty="0" err="1"/>
              <a:t>una</a:t>
            </a:r>
            <a:r>
              <a:rPr lang="en-US" sz="2000" dirty="0"/>
              <a:t> “</a:t>
            </a:r>
            <a:r>
              <a:rPr lang="en-US" sz="2000" dirty="0" err="1"/>
              <a:t>buena</a:t>
            </a:r>
            <a:r>
              <a:rPr lang="en-US" sz="2000" dirty="0"/>
              <a:t>” </a:t>
            </a:r>
            <a:r>
              <a:rPr lang="en-US" sz="2000" dirty="0" err="1"/>
              <a:t>colección</a:t>
            </a:r>
            <a:r>
              <a:rPr lang="en-US" sz="2000" dirty="0"/>
              <a:t> de </a:t>
            </a:r>
            <a:r>
              <a:rPr lang="en-US" sz="2000" dirty="0" err="1"/>
              <a:t>relaciones</a:t>
            </a:r>
            <a:r>
              <a:rPr lang="en-US" sz="2000" dirty="0"/>
              <a:t> de </a:t>
            </a:r>
            <a:r>
              <a:rPr lang="en-US" sz="2000" dirty="0" err="1"/>
              <a:t>esquemas</a:t>
            </a:r>
            <a:r>
              <a:rPr lang="en-US" sz="2000" dirty="0"/>
              <a:t>.</a:t>
            </a:r>
          </a:p>
          <a:p>
            <a:pPr lvl="1">
              <a:defRPr/>
            </a:pPr>
            <a:r>
              <a:rPr lang="en-US" sz="2000" dirty="0" err="1">
                <a:latin typeface="Arial" pitchFamily="34" charset="0"/>
                <a:cs typeface="Arial" pitchFamily="34" charset="0"/>
              </a:rPr>
              <a:t>Decisión</a:t>
            </a:r>
            <a:r>
              <a:rPr lang="en-US" sz="2000" dirty="0">
                <a:latin typeface="Arial" pitchFamily="34" charset="0"/>
                <a:cs typeface="Arial" pitchFamily="34" charset="0"/>
              </a:rPr>
              <a:t> de </a:t>
            </a:r>
            <a:r>
              <a:rPr lang="en-US" sz="2000" dirty="0" err="1">
                <a:latin typeface="Arial" pitchFamily="34" charset="0"/>
                <a:cs typeface="Arial" pitchFamily="34" charset="0"/>
              </a:rPr>
              <a:t>negocios</a:t>
            </a:r>
            <a:r>
              <a:rPr lang="en-US" sz="2000" dirty="0">
                <a:latin typeface="Arial" pitchFamily="34" charset="0"/>
                <a:cs typeface="Arial" pitchFamily="34" charset="0"/>
              </a:rPr>
              <a:t> – ¿</a:t>
            </a:r>
            <a:r>
              <a:rPr lang="en-US" sz="2000" dirty="0" err="1">
                <a:latin typeface="Arial" pitchFamily="34" charset="0"/>
                <a:cs typeface="Arial" pitchFamily="34" charset="0"/>
              </a:rPr>
              <a:t>Qué</a:t>
            </a:r>
            <a:r>
              <a:rPr lang="en-US" sz="2000" dirty="0">
                <a:latin typeface="Arial" pitchFamily="34" charset="0"/>
                <a:cs typeface="Arial" pitchFamily="34" charset="0"/>
              </a:rPr>
              <a:t> </a:t>
            </a:r>
            <a:r>
              <a:rPr lang="en-US" sz="2000" dirty="0" err="1">
                <a:latin typeface="Arial" pitchFamily="34" charset="0"/>
                <a:cs typeface="Arial" pitchFamily="34" charset="0"/>
              </a:rPr>
              <a:t>atributos</a:t>
            </a:r>
            <a:r>
              <a:rPr lang="en-US" sz="2000" dirty="0">
                <a:latin typeface="Arial" pitchFamily="34" charset="0"/>
                <a:cs typeface="Arial" pitchFamily="34" charset="0"/>
              </a:rPr>
              <a:t> </a:t>
            </a:r>
            <a:r>
              <a:rPr lang="en-US" sz="2000" dirty="0" err="1">
                <a:latin typeface="Arial" pitchFamily="34" charset="0"/>
                <a:cs typeface="Arial" pitchFamily="34" charset="0"/>
              </a:rPr>
              <a:t>deben</a:t>
            </a:r>
            <a:r>
              <a:rPr lang="en-US" sz="2000" dirty="0">
                <a:latin typeface="Arial" pitchFamily="34" charset="0"/>
                <a:cs typeface="Arial" pitchFamily="34" charset="0"/>
              </a:rPr>
              <a:t> </a:t>
            </a:r>
            <a:r>
              <a:rPr lang="en-US" sz="2000" dirty="0" err="1">
                <a:latin typeface="Arial" pitchFamily="34" charset="0"/>
                <a:cs typeface="Arial" pitchFamily="34" charset="0"/>
              </a:rPr>
              <a:t>registrarse</a:t>
            </a:r>
            <a:r>
              <a:rPr lang="en-US" sz="2000" dirty="0">
                <a:latin typeface="Arial" pitchFamily="34" charset="0"/>
                <a:cs typeface="Arial" pitchFamily="34" charset="0"/>
              </a:rPr>
              <a:t> </a:t>
            </a:r>
            <a:r>
              <a:rPr lang="en-US" sz="2000" dirty="0" err="1">
                <a:latin typeface="Arial" pitchFamily="34" charset="0"/>
                <a:cs typeface="Arial" pitchFamily="34" charset="0"/>
              </a:rPr>
              <a:t>en</a:t>
            </a:r>
            <a:r>
              <a:rPr lang="en-US" sz="2000" dirty="0">
                <a:latin typeface="Arial" pitchFamily="34" charset="0"/>
                <a:cs typeface="Arial" pitchFamily="34" charset="0"/>
              </a:rPr>
              <a:t> la BD?</a:t>
            </a:r>
          </a:p>
          <a:p>
            <a:pPr lvl="1">
              <a:defRPr/>
            </a:pPr>
            <a:r>
              <a:rPr lang="en-US" sz="2000" dirty="0" err="1">
                <a:latin typeface="Arial" pitchFamily="34" charset="0"/>
                <a:cs typeface="Arial" pitchFamily="34" charset="0"/>
              </a:rPr>
              <a:t>Decisión</a:t>
            </a:r>
            <a:r>
              <a:rPr lang="en-US" sz="2000" dirty="0">
                <a:latin typeface="Arial" pitchFamily="34" charset="0"/>
                <a:cs typeface="Arial" pitchFamily="34" charset="0"/>
              </a:rPr>
              <a:t> de </a:t>
            </a:r>
            <a:r>
              <a:rPr lang="en-US" sz="2000" dirty="0" err="1">
                <a:latin typeface="Arial" pitchFamily="34" charset="0"/>
                <a:cs typeface="Arial" pitchFamily="34" charset="0"/>
              </a:rPr>
              <a:t>ciencias</a:t>
            </a:r>
            <a:r>
              <a:rPr lang="en-US" sz="2000" dirty="0">
                <a:latin typeface="Arial" pitchFamily="34" charset="0"/>
                <a:cs typeface="Arial" pitchFamily="34" charset="0"/>
              </a:rPr>
              <a:t> de la </a:t>
            </a:r>
            <a:r>
              <a:rPr lang="en-US" sz="2000" dirty="0" err="1">
                <a:latin typeface="Arial" pitchFamily="34" charset="0"/>
                <a:cs typeface="Arial" pitchFamily="34" charset="0"/>
              </a:rPr>
              <a:t>computación</a:t>
            </a:r>
            <a:r>
              <a:rPr lang="en-US" sz="2000" dirty="0">
                <a:latin typeface="Arial" pitchFamily="34" charset="0"/>
                <a:cs typeface="Arial" pitchFamily="34" charset="0"/>
              </a:rPr>
              <a:t> –  ¿</a:t>
            </a:r>
            <a:r>
              <a:rPr lang="en-US" sz="2000" dirty="0" err="1">
                <a:latin typeface="Arial" pitchFamily="34" charset="0"/>
                <a:cs typeface="Arial" pitchFamily="34" charset="0"/>
              </a:rPr>
              <a:t>Cómo</a:t>
            </a:r>
            <a:r>
              <a:rPr lang="en-US" sz="2000" dirty="0">
                <a:latin typeface="Arial" pitchFamily="34" charset="0"/>
                <a:cs typeface="Arial" pitchFamily="34" charset="0"/>
              </a:rPr>
              <a:t> </a:t>
            </a:r>
            <a:r>
              <a:rPr lang="en-US" sz="2000" dirty="0" err="1">
                <a:latin typeface="Arial" pitchFamily="34" charset="0"/>
                <a:cs typeface="Arial" pitchFamily="34" charset="0"/>
              </a:rPr>
              <a:t>deben</a:t>
            </a:r>
            <a:r>
              <a:rPr lang="en-US" sz="2000" dirty="0">
                <a:latin typeface="Arial" pitchFamily="34" charset="0"/>
                <a:cs typeface="Arial" pitchFamily="34" charset="0"/>
              </a:rPr>
              <a:t> </a:t>
            </a:r>
            <a:r>
              <a:rPr lang="en-US" sz="2000" dirty="0" err="1">
                <a:latin typeface="Arial" pitchFamily="34" charset="0"/>
                <a:cs typeface="Arial" pitchFamily="34" charset="0"/>
              </a:rPr>
              <a:t>estar</a:t>
            </a:r>
            <a:r>
              <a:rPr lang="en-US" sz="2000" dirty="0">
                <a:latin typeface="Arial" pitchFamily="34" charset="0"/>
                <a:cs typeface="Arial" pitchFamily="34" charset="0"/>
              </a:rPr>
              <a:t> </a:t>
            </a:r>
            <a:r>
              <a:rPr lang="en-US" sz="2000" dirty="0" err="1">
                <a:latin typeface="Arial" pitchFamily="34" charset="0"/>
                <a:cs typeface="Arial" pitchFamily="34" charset="0"/>
              </a:rPr>
              <a:t>relacionados</a:t>
            </a:r>
            <a:r>
              <a:rPr lang="en-US" sz="2000" dirty="0">
                <a:latin typeface="Arial" pitchFamily="34" charset="0"/>
                <a:cs typeface="Arial" pitchFamily="34" charset="0"/>
              </a:rPr>
              <a:t> </a:t>
            </a:r>
            <a:r>
              <a:rPr lang="en-US" sz="2000" dirty="0" err="1">
                <a:latin typeface="Arial" pitchFamily="34" charset="0"/>
                <a:cs typeface="Arial" pitchFamily="34" charset="0"/>
              </a:rPr>
              <a:t>los</a:t>
            </a:r>
            <a:r>
              <a:rPr lang="en-US" sz="2000" dirty="0">
                <a:latin typeface="Arial" pitchFamily="34" charset="0"/>
                <a:cs typeface="Arial" pitchFamily="34" charset="0"/>
              </a:rPr>
              <a:t> </a:t>
            </a:r>
            <a:r>
              <a:rPr lang="en-US" sz="2000" dirty="0" err="1">
                <a:latin typeface="Arial" pitchFamily="34" charset="0"/>
                <a:cs typeface="Arial" pitchFamily="34" charset="0"/>
              </a:rPr>
              <a:t>esquemas</a:t>
            </a:r>
            <a:r>
              <a:rPr lang="en-US" sz="2000" dirty="0">
                <a:latin typeface="Arial" pitchFamily="34" charset="0"/>
                <a:cs typeface="Arial" pitchFamily="34" charset="0"/>
              </a:rPr>
              <a:t> y </a:t>
            </a:r>
            <a:r>
              <a:rPr lang="en-US" sz="2000" dirty="0" err="1">
                <a:latin typeface="Arial" pitchFamily="34" charset="0"/>
                <a:cs typeface="Arial" pitchFamily="34" charset="0"/>
              </a:rPr>
              <a:t>como</a:t>
            </a:r>
            <a:r>
              <a:rPr lang="en-US" sz="2000" dirty="0">
                <a:latin typeface="Arial" pitchFamily="34" charset="0"/>
                <a:cs typeface="Arial" pitchFamily="34" charset="0"/>
              </a:rPr>
              <a:t> </a:t>
            </a:r>
            <a:r>
              <a:rPr lang="en-US" sz="2000" dirty="0" err="1">
                <a:latin typeface="Arial" pitchFamily="34" charset="0"/>
                <a:cs typeface="Arial" pitchFamily="34" charset="0"/>
              </a:rPr>
              <a:t>deben</a:t>
            </a:r>
            <a:r>
              <a:rPr lang="en-US" sz="2000" dirty="0">
                <a:latin typeface="Arial" pitchFamily="34" charset="0"/>
                <a:cs typeface="Arial" pitchFamily="34" charset="0"/>
              </a:rPr>
              <a:t> </a:t>
            </a:r>
            <a:r>
              <a:rPr lang="en-US" sz="2000" dirty="0" err="1">
                <a:latin typeface="Arial" pitchFamily="34" charset="0"/>
                <a:cs typeface="Arial" pitchFamily="34" charset="0"/>
              </a:rPr>
              <a:t>distribuirse</a:t>
            </a:r>
            <a:r>
              <a:rPr lang="en-US" sz="2000" dirty="0">
                <a:latin typeface="Arial" pitchFamily="34" charset="0"/>
                <a:cs typeface="Arial" pitchFamily="34" charset="0"/>
              </a:rPr>
              <a:t> </a:t>
            </a:r>
            <a:r>
              <a:rPr lang="en-US" sz="2000" dirty="0" err="1">
                <a:latin typeface="Arial" pitchFamily="34" charset="0"/>
                <a:cs typeface="Arial" pitchFamily="34" charset="0"/>
              </a:rPr>
              <a:t>los</a:t>
            </a:r>
            <a:r>
              <a:rPr lang="en-US" sz="2000" dirty="0">
                <a:latin typeface="Arial" pitchFamily="34" charset="0"/>
                <a:cs typeface="Arial" pitchFamily="34" charset="0"/>
              </a:rPr>
              <a:t> </a:t>
            </a:r>
            <a:r>
              <a:rPr lang="en-US" sz="2000" dirty="0" err="1">
                <a:latin typeface="Arial" pitchFamily="34" charset="0"/>
                <a:cs typeface="Arial" pitchFamily="34" charset="0"/>
              </a:rPr>
              <a:t>atributos</a:t>
            </a:r>
            <a:r>
              <a:rPr lang="en-US" sz="2000" dirty="0">
                <a:latin typeface="Arial" pitchFamily="34" charset="0"/>
                <a:cs typeface="Arial" pitchFamily="34" charset="0"/>
              </a:rPr>
              <a:t> entre las </a:t>
            </a:r>
            <a:r>
              <a:rPr lang="en-US" sz="2000" dirty="0" err="1">
                <a:latin typeface="Arial" pitchFamily="34" charset="0"/>
                <a:cs typeface="Arial" pitchFamily="34" charset="0"/>
              </a:rPr>
              <a:t>diferentes</a:t>
            </a:r>
            <a:r>
              <a:rPr lang="en-US" sz="2000" dirty="0">
                <a:latin typeface="Arial" pitchFamily="34" charset="0"/>
                <a:cs typeface="Arial" pitchFamily="34" charset="0"/>
              </a:rPr>
              <a:t> </a:t>
            </a:r>
            <a:r>
              <a:rPr lang="en-US" sz="2000" dirty="0" err="1">
                <a:latin typeface="Arial" pitchFamily="34" charset="0"/>
                <a:cs typeface="Arial" pitchFamily="34" charset="0"/>
              </a:rPr>
              <a:t>relaciones</a:t>
            </a:r>
            <a:r>
              <a:rPr lang="en-US" sz="2000" dirty="0">
                <a:latin typeface="Arial" pitchFamily="34" charset="0"/>
                <a:cs typeface="Arial" pitchFamily="34" charset="0"/>
              </a:rPr>
              <a:t> de </a:t>
            </a:r>
            <a:r>
              <a:rPr lang="en-US" sz="2000" dirty="0" err="1">
                <a:latin typeface="Arial" pitchFamily="34" charset="0"/>
                <a:cs typeface="Arial" pitchFamily="34" charset="0"/>
              </a:rPr>
              <a:t>esquemas</a:t>
            </a:r>
            <a:r>
              <a:rPr lang="en-US" sz="2000" dirty="0">
                <a:latin typeface="Arial" pitchFamily="34" charset="0"/>
                <a:cs typeface="Arial" pitchFamily="34" charset="0"/>
              </a:rPr>
              <a:t>?</a:t>
            </a:r>
          </a:p>
          <a:p>
            <a:pPr lvl="1">
              <a:defRPr/>
            </a:pPr>
            <a:endParaRPr lang="en-US" sz="2000" dirty="0">
              <a:latin typeface="Arial" pitchFamily="34" charset="0"/>
              <a:cs typeface="Arial" pitchFamily="34" charset="0"/>
            </a:endParaRPr>
          </a:p>
          <a:p>
            <a:pPr>
              <a:defRPr/>
            </a:pPr>
            <a:r>
              <a:rPr lang="en-US" sz="2000" b="1" dirty="0" err="1">
                <a:solidFill>
                  <a:schemeClr val="accent1">
                    <a:lumMod val="50000"/>
                  </a:schemeClr>
                </a:solidFill>
              </a:rPr>
              <a:t>Diseño</a:t>
            </a:r>
            <a:r>
              <a:rPr lang="en-US" sz="2000" b="1" dirty="0">
                <a:solidFill>
                  <a:schemeClr val="accent1">
                    <a:lumMod val="50000"/>
                  </a:schemeClr>
                </a:solidFill>
              </a:rPr>
              <a:t> </a:t>
            </a:r>
            <a:r>
              <a:rPr lang="en-US" sz="2000" b="1" dirty="0" err="1">
                <a:solidFill>
                  <a:schemeClr val="accent1">
                    <a:lumMod val="50000"/>
                  </a:schemeClr>
                </a:solidFill>
              </a:rPr>
              <a:t>Físico</a:t>
            </a:r>
            <a:r>
              <a:rPr lang="en-US" sz="2000" b="1" dirty="0">
                <a:solidFill>
                  <a:schemeClr val="accent1">
                    <a:lumMod val="50000"/>
                  </a:schemeClr>
                </a:solidFill>
              </a:rPr>
              <a:t> </a:t>
            </a:r>
            <a:r>
              <a:rPr lang="en-US" sz="2000" dirty="0"/>
              <a:t>– </a:t>
            </a:r>
            <a:r>
              <a:rPr lang="en-US" sz="2000" dirty="0" err="1"/>
              <a:t>Decisiones</a:t>
            </a:r>
            <a:r>
              <a:rPr lang="en-US" sz="2000" dirty="0"/>
              <a:t> </a:t>
            </a:r>
            <a:r>
              <a:rPr lang="en-US" sz="2000" dirty="0" err="1"/>
              <a:t>sobre</a:t>
            </a:r>
            <a:r>
              <a:rPr lang="en-US" sz="2000" dirty="0"/>
              <a:t> la </a:t>
            </a:r>
            <a:r>
              <a:rPr lang="en-US" sz="2000" dirty="0" err="1"/>
              <a:t>distribución</a:t>
            </a:r>
            <a:r>
              <a:rPr lang="en-US" sz="2000" dirty="0"/>
              <a:t> </a:t>
            </a:r>
            <a:r>
              <a:rPr lang="en-US" sz="2000" dirty="0" err="1"/>
              <a:t>física</a:t>
            </a:r>
            <a:r>
              <a:rPr lang="en-US" sz="2000" dirty="0"/>
              <a:t> de la BD</a:t>
            </a:r>
          </a:p>
          <a:p>
            <a:pPr>
              <a:defRPr/>
            </a:pPr>
            <a:endParaRPr lang="en-US" dirty="0"/>
          </a:p>
          <a:p>
            <a:endParaRPr lang="es-MX" dirty="0"/>
          </a:p>
        </p:txBody>
      </p:sp>
    </p:spTree>
    <p:extLst>
      <p:ext uri="{BB962C8B-B14F-4D97-AF65-F5344CB8AC3E}">
        <p14:creationId xmlns:p14="http://schemas.microsoft.com/office/powerpoint/2010/main" val="340642152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a:solidFill>
                  <a:schemeClr val="accent1">
                    <a:lumMod val="50000"/>
                  </a:schemeClr>
                </a:solidFill>
                <a:latin typeface="Arial" charset="0"/>
              </a:rPr>
              <a:t>Administración</a:t>
            </a:r>
            <a:r>
              <a:rPr lang="en-US" b="1" dirty="0">
                <a:solidFill>
                  <a:schemeClr val="accent1">
                    <a:lumMod val="50000"/>
                  </a:schemeClr>
                </a:solidFill>
                <a:latin typeface="Arial" charset="0"/>
              </a:rPr>
              <a:t> del </a:t>
            </a:r>
            <a:r>
              <a:rPr lang="en-US" b="1" dirty="0" err="1">
                <a:solidFill>
                  <a:schemeClr val="accent1">
                    <a:lumMod val="50000"/>
                  </a:schemeClr>
                </a:solidFill>
                <a:latin typeface="Arial" charset="0"/>
              </a:rPr>
              <a:t>Almacenamiento</a:t>
            </a:r>
            <a:endParaRPr lang="es-MX" b="1" dirty="0">
              <a:solidFill>
                <a:schemeClr val="accent1">
                  <a:lumMod val="50000"/>
                </a:schemeClr>
              </a:solidFill>
              <a:latin typeface="Arial" charset="0"/>
            </a:endParaRPr>
          </a:p>
        </p:txBody>
      </p:sp>
      <p:sp>
        <p:nvSpPr>
          <p:cNvPr id="3" name="Marcador de contenido 2"/>
          <p:cNvSpPr>
            <a:spLocks noGrp="1"/>
          </p:cNvSpPr>
          <p:nvPr>
            <p:ph sz="quarter" idx="13"/>
          </p:nvPr>
        </p:nvSpPr>
        <p:spPr/>
        <p:txBody>
          <a:bodyPr/>
          <a:lstStyle/>
          <a:p>
            <a:pPr>
              <a:defRPr/>
            </a:pPr>
            <a:r>
              <a:rPr lang="en-US" sz="2200" b="1" dirty="0">
                <a:solidFill>
                  <a:schemeClr val="tx2"/>
                </a:solidFill>
              </a:rPr>
              <a:t>El </a:t>
            </a:r>
            <a:r>
              <a:rPr lang="en-US" sz="2200" b="1" dirty="0" err="1">
                <a:solidFill>
                  <a:schemeClr val="tx2"/>
                </a:solidFill>
              </a:rPr>
              <a:t>Administrador</a:t>
            </a:r>
            <a:r>
              <a:rPr lang="en-US" sz="2200" b="1" dirty="0">
                <a:solidFill>
                  <a:schemeClr val="tx2"/>
                </a:solidFill>
              </a:rPr>
              <a:t> del </a:t>
            </a:r>
            <a:r>
              <a:rPr lang="en-US" sz="2200" b="1" dirty="0" err="1">
                <a:solidFill>
                  <a:schemeClr val="tx2"/>
                </a:solidFill>
              </a:rPr>
              <a:t>Almacenamiento</a:t>
            </a:r>
            <a:r>
              <a:rPr lang="en-US" sz="2200" b="1" dirty="0">
                <a:solidFill>
                  <a:schemeClr val="tx2"/>
                </a:solidFill>
              </a:rPr>
              <a:t> </a:t>
            </a:r>
            <a:r>
              <a:rPr lang="en-US" sz="2200" dirty="0" err="1"/>
              <a:t>es</a:t>
            </a:r>
            <a:r>
              <a:rPr lang="en-US" sz="2200" dirty="0"/>
              <a:t> un </a:t>
            </a:r>
            <a:r>
              <a:rPr lang="en-US" sz="2200" dirty="0" err="1"/>
              <a:t>módulo</a:t>
            </a:r>
            <a:r>
              <a:rPr lang="en-US" sz="2200" dirty="0"/>
              <a:t> del </a:t>
            </a:r>
            <a:r>
              <a:rPr lang="en-US" sz="2200" dirty="0" err="1"/>
              <a:t>programa</a:t>
            </a:r>
            <a:r>
              <a:rPr lang="en-US" sz="2200" dirty="0"/>
              <a:t> que </a:t>
            </a:r>
            <a:r>
              <a:rPr lang="en-US" sz="2200" dirty="0" err="1"/>
              <a:t>provee</a:t>
            </a:r>
            <a:r>
              <a:rPr lang="en-US" sz="2200" dirty="0"/>
              <a:t> </a:t>
            </a:r>
            <a:r>
              <a:rPr lang="en-US" sz="2200" dirty="0" err="1"/>
              <a:t>una</a:t>
            </a:r>
            <a:r>
              <a:rPr lang="en-US" sz="2200" dirty="0"/>
              <a:t> interface entre </a:t>
            </a:r>
            <a:r>
              <a:rPr lang="en-US" sz="2200" dirty="0" err="1"/>
              <a:t>los</a:t>
            </a:r>
            <a:r>
              <a:rPr lang="en-US" sz="2200" dirty="0"/>
              <a:t> </a:t>
            </a:r>
            <a:r>
              <a:rPr lang="en-US" sz="2200" dirty="0" err="1"/>
              <a:t>datos</a:t>
            </a:r>
            <a:r>
              <a:rPr lang="en-US" sz="2200" dirty="0"/>
              <a:t> </a:t>
            </a:r>
            <a:r>
              <a:rPr lang="en-US" sz="2200" dirty="0" err="1"/>
              <a:t>almacenados</a:t>
            </a:r>
            <a:r>
              <a:rPr lang="en-US" sz="2200" dirty="0"/>
              <a:t> </a:t>
            </a:r>
            <a:r>
              <a:rPr lang="en-US" sz="2200" dirty="0" err="1"/>
              <a:t>en</a:t>
            </a:r>
            <a:r>
              <a:rPr lang="en-US" sz="2200" dirty="0"/>
              <a:t> el </a:t>
            </a:r>
            <a:r>
              <a:rPr lang="en-US" sz="2200" dirty="0" err="1"/>
              <a:t>nivel</a:t>
            </a:r>
            <a:r>
              <a:rPr lang="en-US" sz="2200" dirty="0"/>
              <a:t> inferior </a:t>
            </a:r>
            <a:r>
              <a:rPr lang="en-US" sz="2200" dirty="0" err="1"/>
              <a:t>en</a:t>
            </a:r>
            <a:r>
              <a:rPr lang="en-US" sz="2200" dirty="0"/>
              <a:t> la BD y </a:t>
            </a:r>
            <a:r>
              <a:rPr lang="en-US" sz="2200" dirty="0" err="1"/>
              <a:t>los</a:t>
            </a:r>
            <a:r>
              <a:rPr lang="en-US" sz="2200" dirty="0"/>
              <a:t> </a:t>
            </a:r>
            <a:r>
              <a:rPr lang="en-US" sz="2200" dirty="0" err="1"/>
              <a:t>programas</a:t>
            </a:r>
            <a:r>
              <a:rPr lang="en-US" sz="2200" dirty="0"/>
              <a:t> de </a:t>
            </a:r>
            <a:r>
              <a:rPr lang="en-US" sz="2200" dirty="0" err="1"/>
              <a:t>aplicaciones</a:t>
            </a:r>
            <a:r>
              <a:rPr lang="en-US" sz="2200" dirty="0"/>
              <a:t> y las </a:t>
            </a:r>
            <a:r>
              <a:rPr lang="en-US" sz="2200" dirty="0" err="1"/>
              <a:t>consultas</a:t>
            </a:r>
            <a:r>
              <a:rPr lang="en-US" sz="2200" dirty="0"/>
              <a:t> </a:t>
            </a:r>
            <a:r>
              <a:rPr lang="en-US" sz="2200" dirty="0" err="1"/>
              <a:t>realizadas</a:t>
            </a:r>
            <a:r>
              <a:rPr lang="en-US" sz="2200" dirty="0"/>
              <a:t> al </a:t>
            </a:r>
            <a:r>
              <a:rPr lang="en-US" sz="2200" dirty="0" err="1"/>
              <a:t>sistema</a:t>
            </a:r>
            <a:r>
              <a:rPr lang="en-US" sz="2200" dirty="0"/>
              <a:t>.</a:t>
            </a:r>
          </a:p>
          <a:p>
            <a:pPr>
              <a:defRPr/>
            </a:pPr>
            <a:r>
              <a:rPr lang="en-US" sz="2200" dirty="0"/>
              <a:t>El </a:t>
            </a:r>
            <a:r>
              <a:rPr lang="en-US" sz="2200" dirty="0" err="1"/>
              <a:t>administrador</a:t>
            </a:r>
            <a:r>
              <a:rPr lang="en-US" sz="2200" dirty="0"/>
              <a:t> del </a:t>
            </a:r>
            <a:r>
              <a:rPr lang="en-US" sz="2200" dirty="0" err="1"/>
              <a:t>almacenamiento</a:t>
            </a:r>
            <a:r>
              <a:rPr lang="en-US" sz="2200" dirty="0"/>
              <a:t> </a:t>
            </a:r>
            <a:r>
              <a:rPr lang="en-US" sz="2200" dirty="0" err="1"/>
              <a:t>es</a:t>
            </a:r>
            <a:r>
              <a:rPr lang="en-US" sz="2200" dirty="0"/>
              <a:t> </a:t>
            </a:r>
            <a:r>
              <a:rPr lang="en-US" sz="2200" dirty="0" err="1"/>
              <a:t>responsable</a:t>
            </a:r>
            <a:r>
              <a:rPr lang="en-US" sz="2200" dirty="0"/>
              <a:t> de las </a:t>
            </a:r>
            <a:r>
              <a:rPr lang="en-US" sz="2200" dirty="0" err="1"/>
              <a:t>siguientes</a:t>
            </a:r>
            <a:r>
              <a:rPr lang="en-US" sz="2200" dirty="0"/>
              <a:t> </a:t>
            </a:r>
            <a:r>
              <a:rPr lang="en-US" sz="2200" dirty="0" err="1"/>
              <a:t>tareas</a:t>
            </a:r>
            <a:r>
              <a:rPr lang="en-US" sz="2200" dirty="0"/>
              <a:t>: </a:t>
            </a:r>
          </a:p>
          <a:p>
            <a:pPr lvl="1">
              <a:defRPr/>
            </a:pPr>
            <a:r>
              <a:rPr lang="en-US" sz="2200" dirty="0" err="1">
                <a:latin typeface="Arial" pitchFamily="34" charset="0"/>
                <a:cs typeface="Arial" pitchFamily="34" charset="0"/>
              </a:rPr>
              <a:t>Interacción</a:t>
            </a:r>
            <a:r>
              <a:rPr lang="en-US" sz="2200" dirty="0">
                <a:latin typeface="Arial" pitchFamily="34" charset="0"/>
                <a:cs typeface="Arial" pitchFamily="34" charset="0"/>
              </a:rPr>
              <a:t> con el </a:t>
            </a:r>
            <a:r>
              <a:rPr lang="en-US" sz="2200" dirty="0" err="1">
                <a:latin typeface="Arial" pitchFamily="34" charset="0"/>
                <a:cs typeface="Arial" pitchFamily="34" charset="0"/>
              </a:rPr>
              <a:t>administrador</a:t>
            </a:r>
            <a:r>
              <a:rPr lang="en-US" sz="2200" dirty="0">
                <a:latin typeface="Arial" pitchFamily="34" charset="0"/>
                <a:cs typeface="Arial" pitchFamily="34" charset="0"/>
              </a:rPr>
              <a:t> de </a:t>
            </a:r>
            <a:r>
              <a:rPr lang="en-US" sz="2200" dirty="0" err="1">
                <a:latin typeface="Arial" pitchFamily="34" charset="0"/>
                <a:cs typeface="Arial" pitchFamily="34" charset="0"/>
              </a:rPr>
              <a:t>archivos</a:t>
            </a:r>
            <a:endParaRPr lang="en-US" sz="2200" dirty="0">
              <a:latin typeface="Arial" pitchFamily="34" charset="0"/>
              <a:cs typeface="Arial" pitchFamily="34" charset="0"/>
            </a:endParaRPr>
          </a:p>
          <a:p>
            <a:pPr lvl="1">
              <a:defRPr/>
            </a:pPr>
            <a:r>
              <a:rPr lang="en-US" sz="2200" dirty="0" err="1">
                <a:latin typeface="Arial" pitchFamily="34" charset="0"/>
                <a:cs typeface="Arial" pitchFamily="34" charset="0"/>
              </a:rPr>
              <a:t>Almacenamiento</a:t>
            </a:r>
            <a:r>
              <a:rPr lang="en-US" sz="2200" dirty="0">
                <a:latin typeface="Arial" pitchFamily="34" charset="0"/>
                <a:cs typeface="Arial" pitchFamily="34" charset="0"/>
              </a:rPr>
              <a:t> </a:t>
            </a:r>
            <a:r>
              <a:rPr lang="en-US" sz="2200" dirty="0" err="1">
                <a:latin typeface="Arial" pitchFamily="34" charset="0"/>
                <a:cs typeface="Arial" pitchFamily="34" charset="0"/>
              </a:rPr>
              <a:t>eficiente</a:t>
            </a:r>
            <a:r>
              <a:rPr lang="en-US" sz="2200" dirty="0">
                <a:latin typeface="Arial" pitchFamily="34" charset="0"/>
                <a:cs typeface="Arial" pitchFamily="34" charset="0"/>
              </a:rPr>
              <a:t>, </a:t>
            </a:r>
            <a:r>
              <a:rPr lang="en-US" sz="2200" dirty="0" err="1">
                <a:latin typeface="Arial" pitchFamily="34" charset="0"/>
                <a:cs typeface="Arial" pitchFamily="34" charset="0"/>
              </a:rPr>
              <a:t>recuperación</a:t>
            </a:r>
            <a:r>
              <a:rPr lang="en-US" sz="2200" dirty="0">
                <a:latin typeface="Arial" pitchFamily="34" charset="0"/>
                <a:cs typeface="Arial" pitchFamily="34" charset="0"/>
              </a:rPr>
              <a:t> y </a:t>
            </a:r>
            <a:r>
              <a:rPr lang="en-US" sz="2200" dirty="0" err="1">
                <a:latin typeface="Arial" pitchFamily="34" charset="0"/>
                <a:cs typeface="Arial" pitchFamily="34" charset="0"/>
              </a:rPr>
              <a:t>actualización</a:t>
            </a:r>
            <a:r>
              <a:rPr lang="en-US" sz="2200" dirty="0">
                <a:latin typeface="Arial" pitchFamily="34" charset="0"/>
                <a:cs typeface="Arial" pitchFamily="34" charset="0"/>
              </a:rPr>
              <a:t> de </a:t>
            </a:r>
            <a:r>
              <a:rPr lang="en-US" sz="2200" dirty="0" err="1">
                <a:latin typeface="Arial" pitchFamily="34" charset="0"/>
                <a:cs typeface="Arial" pitchFamily="34" charset="0"/>
              </a:rPr>
              <a:t>datos</a:t>
            </a:r>
            <a:r>
              <a:rPr lang="en-US" sz="2200" dirty="0">
                <a:latin typeface="Arial" pitchFamily="34" charset="0"/>
                <a:cs typeface="Arial" pitchFamily="34" charset="0"/>
              </a:rPr>
              <a:t>.</a:t>
            </a:r>
          </a:p>
          <a:p>
            <a:pPr>
              <a:defRPr/>
            </a:pPr>
            <a:r>
              <a:rPr lang="en-US" sz="2200" dirty="0" err="1"/>
              <a:t>Aspectos</a:t>
            </a:r>
            <a:r>
              <a:rPr lang="en-US" sz="2200" dirty="0"/>
              <a:t>:</a:t>
            </a:r>
          </a:p>
          <a:p>
            <a:pPr lvl="1">
              <a:defRPr/>
            </a:pPr>
            <a:r>
              <a:rPr lang="en-US" sz="2200" dirty="0" err="1">
                <a:latin typeface="Arial" pitchFamily="34" charset="0"/>
                <a:cs typeface="Arial" pitchFamily="34" charset="0"/>
              </a:rPr>
              <a:t>Acceso</a:t>
            </a:r>
            <a:r>
              <a:rPr lang="en-US" sz="2200" dirty="0">
                <a:latin typeface="Arial" pitchFamily="34" charset="0"/>
                <a:cs typeface="Arial" pitchFamily="34" charset="0"/>
              </a:rPr>
              <a:t> al </a:t>
            </a:r>
            <a:r>
              <a:rPr lang="en-US" sz="2200" dirty="0" err="1">
                <a:latin typeface="Arial" pitchFamily="34" charset="0"/>
                <a:cs typeface="Arial" pitchFamily="34" charset="0"/>
              </a:rPr>
              <a:t>almacenamiento</a:t>
            </a:r>
            <a:endParaRPr lang="en-US" sz="2200" dirty="0">
              <a:latin typeface="Arial" pitchFamily="34" charset="0"/>
              <a:cs typeface="Arial" pitchFamily="34" charset="0"/>
            </a:endParaRPr>
          </a:p>
          <a:p>
            <a:pPr lvl="1">
              <a:defRPr/>
            </a:pPr>
            <a:r>
              <a:rPr lang="en-US" sz="2200" dirty="0" err="1">
                <a:latin typeface="Arial" pitchFamily="34" charset="0"/>
                <a:cs typeface="Arial" pitchFamily="34" charset="0"/>
              </a:rPr>
              <a:t>Organización</a:t>
            </a:r>
            <a:r>
              <a:rPr lang="en-US" sz="2200" dirty="0">
                <a:latin typeface="Arial" pitchFamily="34" charset="0"/>
                <a:cs typeface="Arial" pitchFamily="34" charset="0"/>
              </a:rPr>
              <a:t> de </a:t>
            </a:r>
            <a:r>
              <a:rPr lang="en-US" sz="2200" dirty="0" err="1">
                <a:latin typeface="Arial" pitchFamily="34" charset="0"/>
                <a:cs typeface="Arial" pitchFamily="34" charset="0"/>
              </a:rPr>
              <a:t>archivos</a:t>
            </a:r>
            <a:endParaRPr lang="en-US" sz="2200" dirty="0">
              <a:latin typeface="Arial" pitchFamily="34" charset="0"/>
              <a:cs typeface="Arial" pitchFamily="34" charset="0"/>
            </a:endParaRPr>
          </a:p>
          <a:p>
            <a:pPr lvl="1">
              <a:defRPr/>
            </a:pPr>
            <a:r>
              <a:rPr lang="en-US" sz="2200" dirty="0" err="1">
                <a:latin typeface="Arial" pitchFamily="34" charset="0"/>
                <a:cs typeface="Arial" pitchFamily="34" charset="0"/>
              </a:rPr>
              <a:t>Indexación</a:t>
            </a:r>
            <a:r>
              <a:rPr lang="en-US" sz="2200" dirty="0">
                <a:latin typeface="Arial" pitchFamily="34" charset="0"/>
                <a:cs typeface="Arial" pitchFamily="34" charset="0"/>
              </a:rPr>
              <a:t> y hashing</a:t>
            </a:r>
          </a:p>
          <a:p>
            <a:endParaRPr lang="es-MX" dirty="0"/>
          </a:p>
        </p:txBody>
      </p:sp>
    </p:spTree>
    <p:extLst>
      <p:ext uri="{BB962C8B-B14F-4D97-AF65-F5344CB8AC3E}">
        <p14:creationId xmlns:p14="http://schemas.microsoft.com/office/powerpoint/2010/main" val="118532044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a:solidFill>
                  <a:schemeClr val="accent1">
                    <a:lumMod val="50000"/>
                  </a:schemeClr>
                </a:solidFill>
                <a:latin typeface="Arial" charset="0"/>
              </a:rPr>
              <a:t>Procesamiento</a:t>
            </a:r>
            <a:r>
              <a:rPr lang="en-US" b="1" dirty="0">
                <a:solidFill>
                  <a:schemeClr val="accent1">
                    <a:lumMod val="50000"/>
                  </a:schemeClr>
                </a:solidFill>
                <a:latin typeface="Arial" charset="0"/>
              </a:rPr>
              <a:t> de </a:t>
            </a:r>
            <a:r>
              <a:rPr lang="en-US" b="1" dirty="0" err="1">
                <a:solidFill>
                  <a:schemeClr val="accent1">
                    <a:lumMod val="50000"/>
                  </a:schemeClr>
                </a:solidFill>
                <a:latin typeface="Arial" charset="0"/>
              </a:rPr>
              <a:t>Consultas</a:t>
            </a:r>
            <a:endParaRPr lang="es-MX" b="1" dirty="0">
              <a:solidFill>
                <a:schemeClr val="accent1">
                  <a:lumMod val="50000"/>
                </a:schemeClr>
              </a:solidFill>
              <a:latin typeface="Arial" charset="0"/>
            </a:endParaRPr>
          </a:p>
        </p:txBody>
      </p:sp>
      <p:pic>
        <p:nvPicPr>
          <p:cNvPr id="4" name="Picture 4"/>
          <p:cNvPicPr>
            <a:picLocks noGrp="1" noChangeAspect="1" noChangeArrowheads="1"/>
          </p:cNvPicPr>
          <p:nvPr>
            <p:ph sz="quarter" idx="13"/>
          </p:nvPr>
        </p:nvPicPr>
        <p:blipFill>
          <a:blip r:embed="rId2">
            <a:extLst>
              <a:ext uri="{28A0092B-C50C-407E-A947-70E740481C1C}">
                <a14:useLocalDpi xmlns:a14="http://schemas.microsoft.com/office/drawing/2010/main" val="0"/>
              </a:ext>
            </a:extLst>
          </a:blip>
          <a:srcRect l="1796" t="11250" r="5206" b="13644"/>
          <a:stretch>
            <a:fillRect/>
          </a:stretch>
        </p:blipFill>
        <p:spPr bwMode="auto">
          <a:xfrm>
            <a:off x="3862155" y="1917383"/>
            <a:ext cx="7317569" cy="4432300"/>
          </a:xfrm>
          <a:prstGeom prst="rect">
            <a:avLst/>
          </a:prstGeom>
          <a:noFill/>
          <a:ln w="38100" cmpd="dbl">
            <a:solidFill>
              <a:schemeClr val="tx2"/>
            </a:solidFill>
            <a:miter lim="800000"/>
            <a:headEnd/>
            <a:tailEnd/>
          </a:ln>
          <a:extLst>
            <a:ext uri="{909E8E84-426E-40DD-AFC4-6F175D3DCCD1}">
              <a14:hiddenFill xmlns:a14="http://schemas.microsoft.com/office/drawing/2010/main">
                <a:solidFill>
                  <a:srgbClr val="FFFFFF"/>
                </a:solidFill>
              </a14:hiddenFill>
            </a:ext>
          </a:extLst>
        </p:spPr>
      </p:pic>
      <p:sp>
        <p:nvSpPr>
          <p:cNvPr id="5" name="Rectángulo 4"/>
          <p:cNvSpPr/>
          <p:nvPr/>
        </p:nvSpPr>
        <p:spPr>
          <a:xfrm>
            <a:off x="735724" y="2494895"/>
            <a:ext cx="2554014" cy="923330"/>
          </a:xfrm>
          <a:prstGeom prst="rect">
            <a:avLst/>
          </a:prstGeom>
        </p:spPr>
        <p:txBody>
          <a:bodyPr wrap="square">
            <a:spAutoFit/>
          </a:bodyPr>
          <a:lstStyle/>
          <a:p>
            <a:pPr>
              <a:defRPr/>
            </a:pPr>
            <a:r>
              <a:rPr lang="en-US" dirty="0">
                <a:latin typeface="Arial" pitchFamily="34" charset="0"/>
                <a:cs typeface="Arial" pitchFamily="34" charset="0"/>
              </a:rPr>
              <a:t>1. Parsing y </a:t>
            </a:r>
            <a:r>
              <a:rPr lang="en-US" dirty="0" err="1">
                <a:latin typeface="Arial" pitchFamily="34" charset="0"/>
                <a:cs typeface="Arial" pitchFamily="34" charset="0"/>
              </a:rPr>
              <a:t>traducción</a:t>
            </a:r>
            <a:endParaRPr lang="en-US" dirty="0">
              <a:latin typeface="Arial" pitchFamily="34" charset="0"/>
              <a:cs typeface="Arial" pitchFamily="34" charset="0"/>
            </a:endParaRPr>
          </a:p>
          <a:p>
            <a:pPr>
              <a:defRPr/>
            </a:pPr>
            <a:r>
              <a:rPr lang="en-US" dirty="0">
                <a:latin typeface="Arial" pitchFamily="34" charset="0"/>
                <a:cs typeface="Arial" pitchFamily="34" charset="0"/>
              </a:rPr>
              <a:t>2. </a:t>
            </a:r>
            <a:r>
              <a:rPr lang="en-US" dirty="0" err="1">
                <a:latin typeface="Arial" pitchFamily="34" charset="0"/>
                <a:cs typeface="Arial" pitchFamily="34" charset="0"/>
              </a:rPr>
              <a:t>Optimización</a:t>
            </a:r>
            <a:endParaRPr lang="en-US" dirty="0">
              <a:latin typeface="Arial" pitchFamily="34" charset="0"/>
              <a:cs typeface="Arial" pitchFamily="34" charset="0"/>
            </a:endParaRPr>
          </a:p>
          <a:p>
            <a:pPr>
              <a:defRPr/>
            </a:pPr>
            <a:r>
              <a:rPr lang="en-US" dirty="0">
                <a:latin typeface="Arial" pitchFamily="34" charset="0"/>
                <a:cs typeface="Arial" pitchFamily="34" charset="0"/>
              </a:rPr>
              <a:t>3. </a:t>
            </a:r>
            <a:r>
              <a:rPr lang="en-US" dirty="0" err="1">
                <a:latin typeface="Arial" pitchFamily="34" charset="0"/>
                <a:cs typeface="Arial" pitchFamily="34" charset="0"/>
              </a:rPr>
              <a:t>Evaluación</a:t>
            </a:r>
            <a:endParaRPr lang="en-US" dirty="0">
              <a:latin typeface="Arial" pitchFamily="34" charset="0"/>
              <a:cs typeface="Arial" pitchFamily="34" charset="0"/>
            </a:endParaRPr>
          </a:p>
        </p:txBody>
      </p:sp>
    </p:spTree>
    <p:extLst>
      <p:ext uri="{BB962C8B-B14F-4D97-AF65-F5344CB8AC3E}">
        <p14:creationId xmlns:p14="http://schemas.microsoft.com/office/powerpoint/2010/main" val="97884986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a:solidFill>
                  <a:schemeClr val="accent1">
                    <a:lumMod val="50000"/>
                  </a:schemeClr>
                </a:solidFill>
                <a:latin typeface="Arial" charset="0"/>
              </a:rPr>
              <a:t>Procesamiento</a:t>
            </a:r>
            <a:r>
              <a:rPr lang="en-US" b="1" dirty="0">
                <a:solidFill>
                  <a:schemeClr val="accent1">
                    <a:lumMod val="50000"/>
                  </a:schemeClr>
                </a:solidFill>
                <a:latin typeface="Arial" charset="0"/>
              </a:rPr>
              <a:t> de </a:t>
            </a:r>
            <a:r>
              <a:rPr lang="en-US" b="1" dirty="0" err="1">
                <a:solidFill>
                  <a:schemeClr val="accent1">
                    <a:lumMod val="50000"/>
                  </a:schemeClr>
                </a:solidFill>
                <a:latin typeface="Arial" charset="0"/>
              </a:rPr>
              <a:t>Consultas</a:t>
            </a:r>
            <a:r>
              <a:rPr lang="en-US" b="1" dirty="0">
                <a:solidFill>
                  <a:schemeClr val="accent1">
                    <a:lumMod val="50000"/>
                  </a:schemeClr>
                </a:solidFill>
                <a:latin typeface="Arial" charset="0"/>
              </a:rPr>
              <a:t> (Cont.)</a:t>
            </a:r>
            <a:endParaRPr lang="es-MX" b="1" dirty="0">
              <a:solidFill>
                <a:schemeClr val="accent1">
                  <a:lumMod val="50000"/>
                </a:schemeClr>
              </a:solidFill>
              <a:latin typeface="Arial" charset="0"/>
            </a:endParaRPr>
          </a:p>
        </p:txBody>
      </p:sp>
      <p:sp>
        <p:nvSpPr>
          <p:cNvPr id="3" name="Marcador de contenido 2"/>
          <p:cNvSpPr>
            <a:spLocks noGrp="1"/>
          </p:cNvSpPr>
          <p:nvPr>
            <p:ph sz="quarter" idx="13"/>
          </p:nvPr>
        </p:nvSpPr>
        <p:spPr/>
        <p:txBody>
          <a:bodyPr/>
          <a:lstStyle/>
          <a:p>
            <a:pPr>
              <a:defRPr/>
            </a:pPr>
            <a:r>
              <a:rPr lang="en-US" dirty="0" err="1"/>
              <a:t>Opciones</a:t>
            </a:r>
            <a:r>
              <a:rPr lang="en-US" dirty="0"/>
              <a:t> para </a:t>
            </a:r>
            <a:r>
              <a:rPr lang="en-US" dirty="0" err="1"/>
              <a:t>evaluar</a:t>
            </a:r>
            <a:r>
              <a:rPr lang="en-US" dirty="0"/>
              <a:t> </a:t>
            </a:r>
            <a:r>
              <a:rPr lang="en-US" dirty="0" err="1"/>
              <a:t>una</a:t>
            </a:r>
            <a:r>
              <a:rPr lang="en-US" dirty="0"/>
              <a:t> </a:t>
            </a:r>
            <a:r>
              <a:rPr lang="en-US" dirty="0" err="1"/>
              <a:t>consulta</a:t>
            </a:r>
            <a:endParaRPr lang="en-US" dirty="0"/>
          </a:p>
          <a:p>
            <a:pPr lvl="1">
              <a:defRPr/>
            </a:pPr>
            <a:r>
              <a:rPr lang="en-US" dirty="0" err="1">
                <a:latin typeface="Arial" pitchFamily="34" charset="0"/>
                <a:cs typeface="Arial" pitchFamily="34" charset="0"/>
              </a:rPr>
              <a:t>Expresiones</a:t>
            </a:r>
            <a:r>
              <a:rPr lang="en-US" dirty="0">
                <a:latin typeface="Arial" pitchFamily="34" charset="0"/>
                <a:cs typeface="Arial" pitchFamily="34" charset="0"/>
              </a:rPr>
              <a:t> </a:t>
            </a:r>
            <a:r>
              <a:rPr lang="en-US" dirty="0" err="1">
                <a:latin typeface="Arial" pitchFamily="34" charset="0"/>
                <a:cs typeface="Arial" pitchFamily="34" charset="0"/>
              </a:rPr>
              <a:t>Equivalentes</a:t>
            </a:r>
            <a:endParaRPr lang="en-US" dirty="0">
              <a:latin typeface="Arial" pitchFamily="34" charset="0"/>
              <a:cs typeface="Arial" pitchFamily="34" charset="0"/>
            </a:endParaRPr>
          </a:p>
          <a:p>
            <a:pPr lvl="1">
              <a:defRPr/>
            </a:pPr>
            <a:r>
              <a:rPr lang="en-US" dirty="0" err="1">
                <a:latin typeface="Arial" pitchFamily="34" charset="0"/>
                <a:cs typeface="Arial" pitchFamily="34" charset="0"/>
              </a:rPr>
              <a:t>Algoritmos</a:t>
            </a:r>
            <a:r>
              <a:rPr lang="en-US" dirty="0">
                <a:latin typeface="Arial" pitchFamily="34" charset="0"/>
                <a:cs typeface="Arial" pitchFamily="34" charset="0"/>
              </a:rPr>
              <a:t> </a:t>
            </a:r>
            <a:r>
              <a:rPr lang="en-US" dirty="0" err="1">
                <a:latin typeface="Arial" pitchFamily="34" charset="0"/>
                <a:cs typeface="Arial" pitchFamily="34" charset="0"/>
              </a:rPr>
              <a:t>Diferentes</a:t>
            </a:r>
            <a:r>
              <a:rPr lang="en-US" dirty="0">
                <a:latin typeface="Arial" pitchFamily="34" charset="0"/>
                <a:cs typeface="Arial" pitchFamily="34" charset="0"/>
              </a:rPr>
              <a:t> para </a:t>
            </a:r>
            <a:r>
              <a:rPr lang="en-US" dirty="0" err="1">
                <a:latin typeface="Arial" pitchFamily="34" charset="0"/>
                <a:cs typeface="Arial" pitchFamily="34" charset="0"/>
              </a:rPr>
              <a:t>cada</a:t>
            </a:r>
            <a:r>
              <a:rPr lang="en-US" dirty="0">
                <a:latin typeface="Arial" pitchFamily="34" charset="0"/>
                <a:cs typeface="Arial" pitchFamily="34" charset="0"/>
              </a:rPr>
              <a:t> </a:t>
            </a:r>
            <a:r>
              <a:rPr lang="en-US" dirty="0" err="1">
                <a:latin typeface="Arial" pitchFamily="34" charset="0"/>
                <a:cs typeface="Arial" pitchFamily="34" charset="0"/>
              </a:rPr>
              <a:t>operación</a:t>
            </a:r>
            <a:endParaRPr lang="en-US" dirty="0">
              <a:latin typeface="Arial" pitchFamily="34" charset="0"/>
              <a:cs typeface="Arial" pitchFamily="34" charset="0"/>
            </a:endParaRPr>
          </a:p>
          <a:p>
            <a:pPr>
              <a:defRPr/>
            </a:pPr>
            <a:r>
              <a:rPr lang="en-US" dirty="0"/>
              <a:t>La </a:t>
            </a:r>
            <a:r>
              <a:rPr lang="en-US" dirty="0" err="1"/>
              <a:t>diferencia</a:t>
            </a:r>
            <a:r>
              <a:rPr lang="en-US" dirty="0"/>
              <a:t> de </a:t>
            </a:r>
            <a:r>
              <a:rPr lang="en-US" dirty="0" err="1"/>
              <a:t>costos</a:t>
            </a:r>
            <a:r>
              <a:rPr lang="en-US" dirty="0"/>
              <a:t> entre </a:t>
            </a:r>
            <a:r>
              <a:rPr lang="en-US" dirty="0" err="1"/>
              <a:t>una</a:t>
            </a:r>
            <a:r>
              <a:rPr lang="en-US" dirty="0"/>
              <a:t> </a:t>
            </a:r>
            <a:r>
              <a:rPr lang="en-US" dirty="0" err="1"/>
              <a:t>manera</a:t>
            </a:r>
            <a:r>
              <a:rPr lang="en-US" dirty="0"/>
              <a:t> </a:t>
            </a:r>
            <a:r>
              <a:rPr lang="en-US" dirty="0" err="1"/>
              <a:t>buena</a:t>
            </a:r>
            <a:r>
              <a:rPr lang="en-US" dirty="0"/>
              <a:t> y </a:t>
            </a:r>
            <a:r>
              <a:rPr lang="en-US" dirty="0" err="1"/>
              <a:t>una</a:t>
            </a:r>
            <a:r>
              <a:rPr lang="en-US" dirty="0"/>
              <a:t> mala de </a:t>
            </a:r>
            <a:r>
              <a:rPr lang="en-US" dirty="0" err="1"/>
              <a:t>evaluar</a:t>
            </a:r>
            <a:r>
              <a:rPr lang="en-US" dirty="0"/>
              <a:t> </a:t>
            </a:r>
            <a:r>
              <a:rPr lang="en-US" dirty="0" err="1"/>
              <a:t>una</a:t>
            </a:r>
            <a:r>
              <a:rPr lang="en-US" dirty="0"/>
              <a:t> </a:t>
            </a:r>
            <a:r>
              <a:rPr lang="en-US" dirty="0" err="1"/>
              <a:t>consulta</a:t>
            </a:r>
            <a:r>
              <a:rPr lang="en-US" dirty="0"/>
              <a:t> </a:t>
            </a:r>
            <a:r>
              <a:rPr lang="en-US" dirty="0" err="1"/>
              <a:t>puede</a:t>
            </a:r>
            <a:r>
              <a:rPr lang="en-US" dirty="0"/>
              <a:t> </a:t>
            </a:r>
            <a:r>
              <a:rPr lang="en-US" dirty="0" err="1"/>
              <a:t>ser</a:t>
            </a:r>
            <a:r>
              <a:rPr lang="en-US" dirty="0"/>
              <a:t> </a:t>
            </a:r>
            <a:r>
              <a:rPr lang="en-US" dirty="0" err="1"/>
              <a:t>enorme</a:t>
            </a:r>
            <a:endParaRPr lang="en-US" dirty="0"/>
          </a:p>
          <a:p>
            <a:pPr>
              <a:defRPr/>
            </a:pPr>
            <a:r>
              <a:rPr lang="en-US" dirty="0" err="1"/>
              <a:t>Necesidad</a:t>
            </a:r>
            <a:r>
              <a:rPr lang="en-US" dirty="0"/>
              <a:t> de </a:t>
            </a:r>
            <a:r>
              <a:rPr lang="en-US" dirty="0" err="1"/>
              <a:t>estimar</a:t>
            </a:r>
            <a:r>
              <a:rPr lang="en-US" dirty="0"/>
              <a:t> el </a:t>
            </a:r>
            <a:r>
              <a:rPr lang="en-US" dirty="0" err="1"/>
              <a:t>costo</a:t>
            </a:r>
            <a:r>
              <a:rPr lang="en-US" dirty="0"/>
              <a:t> de las </a:t>
            </a:r>
            <a:r>
              <a:rPr lang="en-US" dirty="0" err="1"/>
              <a:t>operaciones</a:t>
            </a:r>
            <a:endParaRPr lang="en-US" dirty="0"/>
          </a:p>
          <a:p>
            <a:pPr lvl="1">
              <a:defRPr/>
            </a:pPr>
            <a:r>
              <a:rPr lang="en-US" dirty="0" err="1">
                <a:latin typeface="Arial" pitchFamily="34" charset="0"/>
                <a:cs typeface="Arial" pitchFamily="34" charset="0"/>
              </a:rPr>
              <a:t>Depende</a:t>
            </a:r>
            <a:r>
              <a:rPr lang="en-US" dirty="0">
                <a:latin typeface="Arial" pitchFamily="34" charset="0"/>
                <a:cs typeface="Arial" pitchFamily="34" charset="0"/>
              </a:rPr>
              <a:t> de </a:t>
            </a:r>
            <a:r>
              <a:rPr lang="en-US" dirty="0" err="1">
                <a:latin typeface="Arial" pitchFamily="34" charset="0"/>
                <a:cs typeface="Arial" pitchFamily="34" charset="0"/>
              </a:rPr>
              <a:t>manera</a:t>
            </a:r>
            <a:r>
              <a:rPr lang="en-US" dirty="0">
                <a:latin typeface="Arial" pitchFamily="34" charset="0"/>
                <a:cs typeface="Arial" pitchFamily="34" charset="0"/>
              </a:rPr>
              <a:t> </a:t>
            </a:r>
            <a:r>
              <a:rPr lang="en-US" dirty="0" err="1">
                <a:latin typeface="Arial" pitchFamily="34" charset="0"/>
                <a:cs typeface="Arial" pitchFamily="34" charset="0"/>
              </a:rPr>
              <a:t>importante</a:t>
            </a:r>
            <a:r>
              <a:rPr lang="en-US" dirty="0">
                <a:latin typeface="Arial" pitchFamily="34" charset="0"/>
                <a:cs typeface="Arial" pitchFamily="34" charset="0"/>
              </a:rPr>
              <a:t> de la </a:t>
            </a:r>
            <a:r>
              <a:rPr lang="en-US" dirty="0" err="1">
                <a:latin typeface="Arial" pitchFamily="34" charset="0"/>
                <a:cs typeface="Arial" pitchFamily="34" charset="0"/>
              </a:rPr>
              <a:t>información</a:t>
            </a:r>
            <a:r>
              <a:rPr lang="en-US" dirty="0">
                <a:latin typeface="Arial" pitchFamily="34" charset="0"/>
                <a:cs typeface="Arial" pitchFamily="34" charset="0"/>
              </a:rPr>
              <a:t> </a:t>
            </a:r>
            <a:r>
              <a:rPr lang="en-US" dirty="0" err="1">
                <a:latin typeface="Arial" pitchFamily="34" charset="0"/>
                <a:cs typeface="Arial" pitchFamily="34" charset="0"/>
              </a:rPr>
              <a:t>estadística</a:t>
            </a:r>
            <a:r>
              <a:rPr lang="en-US" dirty="0">
                <a:latin typeface="Arial" pitchFamily="34" charset="0"/>
                <a:cs typeface="Arial" pitchFamily="34" charset="0"/>
              </a:rPr>
              <a:t> </a:t>
            </a:r>
            <a:r>
              <a:rPr lang="en-US" dirty="0" err="1">
                <a:latin typeface="Arial" pitchFamily="34" charset="0"/>
                <a:cs typeface="Arial" pitchFamily="34" charset="0"/>
              </a:rPr>
              <a:t>sobre</a:t>
            </a:r>
            <a:r>
              <a:rPr lang="en-US" dirty="0">
                <a:latin typeface="Arial" pitchFamily="34" charset="0"/>
                <a:cs typeface="Arial" pitchFamily="34" charset="0"/>
              </a:rPr>
              <a:t> las </a:t>
            </a:r>
            <a:r>
              <a:rPr lang="en-US" dirty="0" err="1">
                <a:latin typeface="Arial" pitchFamily="34" charset="0"/>
                <a:cs typeface="Arial" pitchFamily="34" charset="0"/>
              </a:rPr>
              <a:t>relaciones</a:t>
            </a:r>
            <a:r>
              <a:rPr lang="en-US" dirty="0">
                <a:latin typeface="Arial" pitchFamily="34" charset="0"/>
                <a:cs typeface="Arial" pitchFamily="34" charset="0"/>
              </a:rPr>
              <a:t> que la BD </a:t>
            </a:r>
            <a:r>
              <a:rPr lang="en-US" dirty="0" err="1">
                <a:latin typeface="Arial" pitchFamily="34" charset="0"/>
                <a:cs typeface="Arial" pitchFamily="34" charset="0"/>
              </a:rPr>
              <a:t>debe</a:t>
            </a:r>
            <a:r>
              <a:rPr lang="en-US" dirty="0">
                <a:latin typeface="Arial" pitchFamily="34" charset="0"/>
                <a:cs typeface="Arial" pitchFamily="34" charset="0"/>
              </a:rPr>
              <a:t> </a:t>
            </a:r>
            <a:r>
              <a:rPr lang="en-US" dirty="0" err="1">
                <a:latin typeface="Arial" pitchFamily="34" charset="0"/>
                <a:cs typeface="Arial" pitchFamily="34" charset="0"/>
              </a:rPr>
              <a:t>mantener</a:t>
            </a:r>
            <a:endParaRPr lang="en-US" dirty="0">
              <a:latin typeface="Arial" pitchFamily="34" charset="0"/>
              <a:cs typeface="Arial" pitchFamily="34" charset="0"/>
            </a:endParaRPr>
          </a:p>
          <a:p>
            <a:pPr lvl="1">
              <a:defRPr/>
            </a:pPr>
            <a:r>
              <a:rPr lang="en-US" dirty="0" err="1">
                <a:latin typeface="Arial" pitchFamily="34" charset="0"/>
                <a:cs typeface="Arial" pitchFamily="34" charset="0"/>
              </a:rPr>
              <a:t>Necesidad</a:t>
            </a:r>
            <a:r>
              <a:rPr lang="en-US" dirty="0">
                <a:latin typeface="Arial" pitchFamily="34" charset="0"/>
                <a:cs typeface="Arial" pitchFamily="34" charset="0"/>
              </a:rPr>
              <a:t> de </a:t>
            </a:r>
            <a:r>
              <a:rPr lang="en-US" dirty="0" err="1">
                <a:latin typeface="Arial" pitchFamily="34" charset="0"/>
                <a:cs typeface="Arial" pitchFamily="34" charset="0"/>
              </a:rPr>
              <a:t>estimar</a:t>
            </a:r>
            <a:r>
              <a:rPr lang="en-US" dirty="0">
                <a:latin typeface="Arial" pitchFamily="34" charset="0"/>
                <a:cs typeface="Arial" pitchFamily="34" charset="0"/>
              </a:rPr>
              <a:t> </a:t>
            </a:r>
            <a:r>
              <a:rPr lang="en-US" dirty="0" err="1">
                <a:latin typeface="Arial" pitchFamily="34" charset="0"/>
                <a:cs typeface="Arial" pitchFamily="34" charset="0"/>
              </a:rPr>
              <a:t>estadísticas</a:t>
            </a:r>
            <a:r>
              <a:rPr lang="en-US" dirty="0">
                <a:latin typeface="Arial" pitchFamily="34" charset="0"/>
                <a:cs typeface="Arial" pitchFamily="34" charset="0"/>
              </a:rPr>
              <a:t> de </a:t>
            </a:r>
            <a:r>
              <a:rPr lang="en-US" dirty="0" err="1">
                <a:latin typeface="Arial" pitchFamily="34" charset="0"/>
                <a:cs typeface="Arial" pitchFamily="34" charset="0"/>
              </a:rPr>
              <a:t>los</a:t>
            </a:r>
            <a:r>
              <a:rPr lang="en-US" dirty="0">
                <a:latin typeface="Arial" pitchFamily="34" charset="0"/>
                <a:cs typeface="Arial" pitchFamily="34" charset="0"/>
              </a:rPr>
              <a:t> </a:t>
            </a:r>
            <a:r>
              <a:rPr lang="en-US" dirty="0" err="1">
                <a:latin typeface="Arial" pitchFamily="34" charset="0"/>
                <a:cs typeface="Arial" pitchFamily="34" charset="0"/>
              </a:rPr>
              <a:t>resultados</a:t>
            </a:r>
            <a:r>
              <a:rPr lang="en-US" dirty="0">
                <a:latin typeface="Arial" pitchFamily="34" charset="0"/>
                <a:cs typeface="Arial" pitchFamily="34" charset="0"/>
              </a:rPr>
              <a:t> </a:t>
            </a:r>
            <a:r>
              <a:rPr lang="en-US" dirty="0" err="1">
                <a:latin typeface="Arial" pitchFamily="34" charset="0"/>
                <a:cs typeface="Arial" pitchFamily="34" charset="0"/>
              </a:rPr>
              <a:t>intermedios</a:t>
            </a:r>
            <a:r>
              <a:rPr lang="en-US" dirty="0">
                <a:latin typeface="Arial" pitchFamily="34" charset="0"/>
                <a:cs typeface="Arial" pitchFamily="34" charset="0"/>
              </a:rPr>
              <a:t> para </a:t>
            </a:r>
            <a:r>
              <a:rPr lang="en-US" dirty="0" err="1">
                <a:latin typeface="Arial" pitchFamily="34" charset="0"/>
                <a:cs typeface="Arial" pitchFamily="34" charset="0"/>
              </a:rPr>
              <a:t>calcular</a:t>
            </a:r>
            <a:r>
              <a:rPr lang="en-US" dirty="0">
                <a:latin typeface="Arial" pitchFamily="34" charset="0"/>
                <a:cs typeface="Arial" pitchFamily="34" charset="0"/>
              </a:rPr>
              <a:t> el </a:t>
            </a:r>
            <a:r>
              <a:rPr lang="en-US" dirty="0" err="1">
                <a:latin typeface="Arial" pitchFamily="34" charset="0"/>
                <a:cs typeface="Arial" pitchFamily="34" charset="0"/>
              </a:rPr>
              <a:t>costo</a:t>
            </a:r>
            <a:r>
              <a:rPr lang="en-US" dirty="0">
                <a:latin typeface="Arial" pitchFamily="34" charset="0"/>
                <a:cs typeface="Arial" pitchFamily="34" charset="0"/>
              </a:rPr>
              <a:t> de </a:t>
            </a:r>
            <a:r>
              <a:rPr lang="en-US" dirty="0" err="1">
                <a:latin typeface="Arial" pitchFamily="34" charset="0"/>
                <a:cs typeface="Arial" pitchFamily="34" charset="0"/>
              </a:rPr>
              <a:t>expresiones</a:t>
            </a:r>
            <a:r>
              <a:rPr lang="en-US" dirty="0">
                <a:latin typeface="Arial" pitchFamily="34" charset="0"/>
                <a:cs typeface="Arial" pitchFamily="34" charset="0"/>
              </a:rPr>
              <a:t> </a:t>
            </a:r>
            <a:r>
              <a:rPr lang="en-US" dirty="0" err="1">
                <a:latin typeface="Arial" pitchFamily="34" charset="0"/>
                <a:cs typeface="Arial" pitchFamily="34" charset="0"/>
              </a:rPr>
              <a:t>complejas</a:t>
            </a:r>
            <a:r>
              <a:rPr lang="en-US" dirty="0">
                <a:latin typeface="Arial" pitchFamily="34" charset="0"/>
                <a:cs typeface="Arial" pitchFamily="34" charset="0"/>
              </a:rPr>
              <a:t>.</a:t>
            </a:r>
          </a:p>
          <a:p>
            <a:endParaRPr lang="es-MX" dirty="0"/>
          </a:p>
        </p:txBody>
      </p:sp>
    </p:spTree>
    <p:extLst>
      <p:ext uri="{BB962C8B-B14F-4D97-AF65-F5344CB8AC3E}">
        <p14:creationId xmlns:p14="http://schemas.microsoft.com/office/powerpoint/2010/main" val="26149646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a:solidFill>
                  <a:schemeClr val="accent1">
                    <a:lumMod val="50000"/>
                  </a:schemeClr>
                </a:solidFill>
                <a:latin typeface="Arial" charset="0"/>
              </a:rPr>
              <a:t>Administración</a:t>
            </a:r>
            <a:r>
              <a:rPr lang="en-US" b="1" dirty="0">
                <a:solidFill>
                  <a:schemeClr val="accent1">
                    <a:lumMod val="50000"/>
                  </a:schemeClr>
                </a:solidFill>
                <a:latin typeface="Arial" charset="0"/>
              </a:rPr>
              <a:t> de </a:t>
            </a:r>
            <a:r>
              <a:rPr lang="en-US" b="1" dirty="0" err="1">
                <a:solidFill>
                  <a:schemeClr val="accent1">
                    <a:lumMod val="50000"/>
                  </a:schemeClr>
                </a:solidFill>
                <a:latin typeface="Arial" charset="0"/>
              </a:rPr>
              <a:t>Transacciones</a:t>
            </a:r>
            <a:endParaRPr lang="es-MX" b="1" dirty="0">
              <a:solidFill>
                <a:schemeClr val="accent1">
                  <a:lumMod val="50000"/>
                </a:schemeClr>
              </a:solidFill>
              <a:latin typeface="Arial" charset="0"/>
            </a:endParaRPr>
          </a:p>
        </p:txBody>
      </p:sp>
      <p:sp>
        <p:nvSpPr>
          <p:cNvPr id="3" name="Marcador de contenido 2"/>
          <p:cNvSpPr>
            <a:spLocks noGrp="1"/>
          </p:cNvSpPr>
          <p:nvPr>
            <p:ph sz="quarter" idx="13"/>
          </p:nvPr>
        </p:nvSpPr>
        <p:spPr/>
        <p:txBody>
          <a:bodyPr/>
          <a:lstStyle/>
          <a:p>
            <a:pPr>
              <a:defRPr/>
            </a:pPr>
            <a:r>
              <a:rPr lang="en-US" dirty="0" err="1"/>
              <a:t>Una</a:t>
            </a:r>
            <a:r>
              <a:rPr lang="en-US" dirty="0"/>
              <a:t> </a:t>
            </a:r>
            <a:r>
              <a:rPr lang="en-US" b="1" dirty="0" err="1">
                <a:solidFill>
                  <a:schemeClr val="tx2"/>
                </a:solidFill>
              </a:rPr>
              <a:t>transacción</a:t>
            </a:r>
            <a:r>
              <a:rPr lang="en-US" dirty="0"/>
              <a:t> </a:t>
            </a:r>
            <a:r>
              <a:rPr lang="en-US" dirty="0" err="1"/>
              <a:t>es</a:t>
            </a:r>
            <a:r>
              <a:rPr lang="en-US" dirty="0"/>
              <a:t> </a:t>
            </a:r>
            <a:r>
              <a:rPr lang="en-US" dirty="0" err="1"/>
              <a:t>una</a:t>
            </a:r>
            <a:r>
              <a:rPr lang="en-US" dirty="0"/>
              <a:t> </a:t>
            </a:r>
            <a:r>
              <a:rPr lang="en-US" dirty="0" err="1"/>
              <a:t>colección</a:t>
            </a:r>
            <a:r>
              <a:rPr lang="en-US" dirty="0"/>
              <a:t> de </a:t>
            </a:r>
            <a:r>
              <a:rPr lang="en-US" dirty="0" err="1"/>
              <a:t>operaciones</a:t>
            </a:r>
            <a:r>
              <a:rPr lang="en-US" dirty="0"/>
              <a:t> que se </a:t>
            </a:r>
            <a:r>
              <a:rPr lang="en-US" dirty="0" err="1"/>
              <a:t>realizan</a:t>
            </a:r>
            <a:r>
              <a:rPr lang="en-US" dirty="0"/>
              <a:t> </a:t>
            </a:r>
            <a:r>
              <a:rPr lang="en-US" dirty="0" err="1"/>
              <a:t>como</a:t>
            </a:r>
            <a:r>
              <a:rPr lang="en-US" dirty="0"/>
              <a:t> </a:t>
            </a:r>
            <a:r>
              <a:rPr lang="en-US" dirty="0" err="1"/>
              <a:t>una</a:t>
            </a:r>
            <a:r>
              <a:rPr lang="en-US" dirty="0"/>
              <a:t> sola </a:t>
            </a:r>
            <a:r>
              <a:rPr lang="en-US" dirty="0" err="1"/>
              <a:t>operación</a:t>
            </a:r>
            <a:r>
              <a:rPr lang="en-US" dirty="0"/>
              <a:t> </a:t>
            </a:r>
            <a:r>
              <a:rPr lang="en-US" dirty="0" err="1"/>
              <a:t>lógica</a:t>
            </a:r>
            <a:r>
              <a:rPr lang="en-US" dirty="0"/>
              <a:t> </a:t>
            </a:r>
            <a:r>
              <a:rPr lang="en-US" dirty="0" err="1"/>
              <a:t>en</a:t>
            </a:r>
            <a:r>
              <a:rPr lang="en-US" dirty="0"/>
              <a:t> </a:t>
            </a:r>
            <a:r>
              <a:rPr lang="en-US" dirty="0" err="1"/>
              <a:t>una</a:t>
            </a:r>
            <a:r>
              <a:rPr lang="en-US" dirty="0"/>
              <a:t> </a:t>
            </a:r>
            <a:r>
              <a:rPr lang="en-US" dirty="0" err="1"/>
              <a:t>aplicación</a:t>
            </a:r>
            <a:r>
              <a:rPr lang="en-US" dirty="0"/>
              <a:t> de BD</a:t>
            </a:r>
          </a:p>
          <a:p>
            <a:pPr>
              <a:defRPr/>
            </a:pPr>
            <a:r>
              <a:rPr lang="en-US" b="1" dirty="0">
                <a:solidFill>
                  <a:schemeClr val="tx2"/>
                </a:solidFill>
              </a:rPr>
              <a:t>El </a:t>
            </a:r>
            <a:r>
              <a:rPr lang="en-US" b="1" dirty="0" err="1">
                <a:solidFill>
                  <a:schemeClr val="tx2"/>
                </a:solidFill>
              </a:rPr>
              <a:t>Componente</a:t>
            </a:r>
            <a:r>
              <a:rPr lang="en-US" b="1" dirty="0">
                <a:solidFill>
                  <a:schemeClr val="tx2"/>
                </a:solidFill>
              </a:rPr>
              <a:t> de </a:t>
            </a:r>
            <a:r>
              <a:rPr lang="en-US" b="1" dirty="0" err="1">
                <a:solidFill>
                  <a:schemeClr val="tx2"/>
                </a:solidFill>
              </a:rPr>
              <a:t>Administración</a:t>
            </a:r>
            <a:r>
              <a:rPr lang="en-US" b="1" dirty="0">
                <a:solidFill>
                  <a:schemeClr val="tx2"/>
                </a:solidFill>
              </a:rPr>
              <a:t> de </a:t>
            </a:r>
            <a:r>
              <a:rPr lang="en-US" b="1" dirty="0" err="1">
                <a:solidFill>
                  <a:schemeClr val="tx2"/>
                </a:solidFill>
              </a:rPr>
              <a:t>Transacciones</a:t>
            </a:r>
            <a:r>
              <a:rPr lang="en-US" dirty="0"/>
              <a:t> </a:t>
            </a:r>
            <a:r>
              <a:rPr lang="en-US" dirty="0" err="1"/>
              <a:t>asegura</a:t>
            </a:r>
            <a:r>
              <a:rPr lang="en-US" dirty="0"/>
              <a:t> que la BD </a:t>
            </a:r>
            <a:r>
              <a:rPr lang="en-US" dirty="0" err="1"/>
              <a:t>permanecerá</a:t>
            </a:r>
            <a:r>
              <a:rPr lang="en-US" dirty="0"/>
              <a:t> </a:t>
            </a:r>
            <a:r>
              <a:rPr lang="en-US" dirty="0" err="1"/>
              <a:t>en</a:t>
            </a:r>
            <a:r>
              <a:rPr lang="en-US" dirty="0"/>
              <a:t> un </a:t>
            </a:r>
            <a:r>
              <a:rPr lang="en-US" dirty="0" err="1"/>
              <a:t>estado</a:t>
            </a:r>
            <a:r>
              <a:rPr lang="en-US" dirty="0"/>
              <a:t> </a:t>
            </a:r>
            <a:r>
              <a:rPr lang="en-US" dirty="0" err="1"/>
              <a:t>consistente</a:t>
            </a:r>
            <a:r>
              <a:rPr lang="en-US" dirty="0"/>
              <a:t> (</a:t>
            </a:r>
            <a:r>
              <a:rPr lang="en-US" dirty="0" err="1"/>
              <a:t>correcto</a:t>
            </a:r>
            <a:r>
              <a:rPr lang="en-US" dirty="0"/>
              <a:t>) a </a:t>
            </a:r>
            <a:r>
              <a:rPr lang="en-US" dirty="0" err="1"/>
              <a:t>pesar</a:t>
            </a:r>
            <a:r>
              <a:rPr lang="en-US" dirty="0"/>
              <a:t> de </a:t>
            </a:r>
            <a:r>
              <a:rPr lang="en-US" dirty="0" err="1"/>
              <a:t>alguna</a:t>
            </a:r>
            <a:r>
              <a:rPr lang="en-US" dirty="0"/>
              <a:t> </a:t>
            </a:r>
            <a:r>
              <a:rPr lang="en-US" dirty="0" err="1"/>
              <a:t>falla</a:t>
            </a:r>
            <a:r>
              <a:rPr lang="en-US" dirty="0"/>
              <a:t> del </a:t>
            </a:r>
            <a:r>
              <a:rPr lang="en-US" dirty="0" err="1"/>
              <a:t>sistema</a:t>
            </a:r>
            <a:r>
              <a:rPr lang="en-US" dirty="0"/>
              <a:t> (</a:t>
            </a:r>
            <a:r>
              <a:rPr lang="en-US" dirty="0" err="1"/>
              <a:t>p.e.</a:t>
            </a:r>
            <a:r>
              <a:rPr lang="en-US" dirty="0"/>
              <a:t>, </a:t>
            </a:r>
            <a:r>
              <a:rPr lang="en-US" dirty="0" err="1"/>
              <a:t>fallas</a:t>
            </a:r>
            <a:r>
              <a:rPr lang="en-US" dirty="0"/>
              <a:t> de </a:t>
            </a:r>
            <a:r>
              <a:rPr lang="en-US" dirty="0" err="1"/>
              <a:t>energía</a:t>
            </a:r>
            <a:r>
              <a:rPr lang="en-US" dirty="0"/>
              <a:t> y del SO) y </a:t>
            </a:r>
            <a:r>
              <a:rPr lang="en-US" dirty="0" err="1"/>
              <a:t>fallas</a:t>
            </a:r>
            <a:r>
              <a:rPr lang="en-US" dirty="0"/>
              <a:t> </a:t>
            </a:r>
            <a:r>
              <a:rPr lang="en-US" dirty="0" err="1"/>
              <a:t>en</a:t>
            </a:r>
            <a:r>
              <a:rPr lang="en-US" dirty="0"/>
              <a:t> las </a:t>
            </a:r>
            <a:r>
              <a:rPr lang="en-US" dirty="0" err="1"/>
              <a:t>transacciones</a:t>
            </a:r>
            <a:r>
              <a:rPr lang="en-US" dirty="0"/>
              <a:t>.</a:t>
            </a:r>
          </a:p>
          <a:p>
            <a:pPr>
              <a:defRPr/>
            </a:pPr>
            <a:r>
              <a:rPr lang="en-US" b="1" dirty="0">
                <a:solidFill>
                  <a:schemeClr val="tx2"/>
                </a:solidFill>
              </a:rPr>
              <a:t>El </a:t>
            </a:r>
            <a:r>
              <a:rPr lang="en-US" b="1" dirty="0" err="1">
                <a:solidFill>
                  <a:schemeClr val="tx2"/>
                </a:solidFill>
              </a:rPr>
              <a:t>Administrador</a:t>
            </a:r>
            <a:r>
              <a:rPr lang="en-US" b="1" dirty="0">
                <a:solidFill>
                  <a:schemeClr val="tx2"/>
                </a:solidFill>
              </a:rPr>
              <a:t> de Control de </a:t>
            </a:r>
            <a:r>
              <a:rPr lang="en-US" b="1" dirty="0" err="1">
                <a:solidFill>
                  <a:schemeClr val="tx2"/>
                </a:solidFill>
              </a:rPr>
              <a:t>Concurrencia</a:t>
            </a:r>
            <a:r>
              <a:rPr lang="en-US" dirty="0"/>
              <a:t> </a:t>
            </a:r>
            <a:r>
              <a:rPr lang="en-US" dirty="0" err="1"/>
              <a:t>controla</a:t>
            </a:r>
            <a:r>
              <a:rPr lang="en-US" dirty="0"/>
              <a:t> la </a:t>
            </a:r>
            <a:r>
              <a:rPr lang="en-US" dirty="0" err="1"/>
              <a:t>interacción</a:t>
            </a:r>
            <a:r>
              <a:rPr lang="en-US" dirty="0"/>
              <a:t> entre las </a:t>
            </a:r>
            <a:r>
              <a:rPr lang="en-US" dirty="0" err="1"/>
              <a:t>transacciones</a:t>
            </a:r>
            <a:r>
              <a:rPr lang="en-US" dirty="0"/>
              <a:t> </a:t>
            </a:r>
            <a:r>
              <a:rPr lang="en-US" dirty="0" err="1"/>
              <a:t>concurrentes</a:t>
            </a:r>
            <a:r>
              <a:rPr lang="en-US" dirty="0"/>
              <a:t> para </a:t>
            </a:r>
            <a:r>
              <a:rPr lang="en-US" dirty="0" err="1"/>
              <a:t>asegurar</a:t>
            </a:r>
            <a:r>
              <a:rPr lang="en-US" dirty="0"/>
              <a:t> la </a:t>
            </a:r>
            <a:r>
              <a:rPr lang="en-US" dirty="0" err="1"/>
              <a:t>consistencia</a:t>
            </a:r>
            <a:r>
              <a:rPr lang="en-US" dirty="0"/>
              <a:t> de la BD.</a:t>
            </a:r>
          </a:p>
          <a:p>
            <a:endParaRPr lang="es-MX" dirty="0"/>
          </a:p>
        </p:txBody>
      </p:sp>
    </p:spTree>
    <p:extLst>
      <p:ext uri="{BB962C8B-B14F-4D97-AF65-F5344CB8AC3E}">
        <p14:creationId xmlns:p14="http://schemas.microsoft.com/office/powerpoint/2010/main" val="158429479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a:solidFill>
                  <a:schemeClr val="accent1">
                    <a:lumMod val="50000"/>
                  </a:schemeClr>
                </a:solidFill>
                <a:latin typeface="Arial" charset="0"/>
              </a:rPr>
              <a:t>Usuarios</a:t>
            </a:r>
            <a:r>
              <a:rPr lang="en-US" b="1" dirty="0">
                <a:solidFill>
                  <a:schemeClr val="accent1">
                    <a:lumMod val="50000"/>
                  </a:schemeClr>
                </a:solidFill>
                <a:latin typeface="Arial" charset="0"/>
              </a:rPr>
              <a:t> de la Base de </a:t>
            </a:r>
            <a:r>
              <a:rPr lang="en-US" b="1" dirty="0" err="1">
                <a:solidFill>
                  <a:schemeClr val="accent1">
                    <a:lumMod val="50000"/>
                  </a:schemeClr>
                </a:solidFill>
                <a:latin typeface="Arial" charset="0"/>
              </a:rPr>
              <a:t>Datos</a:t>
            </a:r>
            <a:endParaRPr lang="es-MX" b="1" dirty="0">
              <a:solidFill>
                <a:schemeClr val="accent1">
                  <a:lumMod val="50000"/>
                </a:schemeClr>
              </a:solidFill>
              <a:latin typeface="Arial" charset="0"/>
            </a:endParaRPr>
          </a:p>
        </p:txBody>
      </p:sp>
      <p:sp>
        <p:nvSpPr>
          <p:cNvPr id="3" name="Marcador de contenido 2"/>
          <p:cNvSpPr>
            <a:spLocks noGrp="1"/>
          </p:cNvSpPr>
          <p:nvPr>
            <p:ph sz="quarter" idx="13"/>
          </p:nvPr>
        </p:nvSpPr>
        <p:spPr/>
        <p:txBody>
          <a:bodyPr/>
          <a:lstStyle/>
          <a:p>
            <a:pPr>
              <a:defRPr/>
            </a:pPr>
            <a:r>
              <a:rPr lang="en-US" b="1" dirty="0">
                <a:solidFill>
                  <a:schemeClr val="tx2"/>
                </a:solidFill>
              </a:rPr>
              <a:t>Los </a:t>
            </a:r>
            <a:r>
              <a:rPr lang="en-US" b="1" dirty="0" err="1">
                <a:solidFill>
                  <a:schemeClr val="tx2"/>
                </a:solidFill>
              </a:rPr>
              <a:t>Usuarios</a:t>
            </a:r>
            <a:r>
              <a:rPr lang="en-US" b="1" dirty="0">
                <a:solidFill>
                  <a:schemeClr val="tx2"/>
                </a:solidFill>
              </a:rPr>
              <a:t> </a:t>
            </a:r>
            <a:r>
              <a:rPr lang="en-US" dirty="0"/>
              <a:t>se </a:t>
            </a:r>
            <a:r>
              <a:rPr lang="en-US" dirty="0" err="1"/>
              <a:t>diferencian</a:t>
            </a:r>
            <a:r>
              <a:rPr lang="en-US" dirty="0"/>
              <a:t> </a:t>
            </a:r>
            <a:r>
              <a:rPr lang="en-US" dirty="0" err="1"/>
              <a:t>por</a:t>
            </a:r>
            <a:r>
              <a:rPr lang="en-US" dirty="0"/>
              <a:t> la </a:t>
            </a:r>
            <a:r>
              <a:rPr lang="en-US" dirty="0" err="1"/>
              <a:t>manera</a:t>
            </a:r>
            <a:r>
              <a:rPr lang="en-US" dirty="0"/>
              <a:t> </a:t>
            </a:r>
            <a:r>
              <a:rPr lang="en-US" dirty="0" err="1"/>
              <a:t>en</a:t>
            </a:r>
            <a:r>
              <a:rPr lang="en-US" dirty="0"/>
              <a:t> que </a:t>
            </a:r>
            <a:r>
              <a:rPr lang="en-US" dirty="0" err="1"/>
              <a:t>interactúan</a:t>
            </a:r>
            <a:r>
              <a:rPr lang="en-US" dirty="0"/>
              <a:t> con el </a:t>
            </a:r>
            <a:r>
              <a:rPr lang="en-US" dirty="0" err="1"/>
              <a:t>sistema</a:t>
            </a:r>
            <a:endParaRPr lang="en-US" dirty="0"/>
          </a:p>
          <a:p>
            <a:pPr>
              <a:defRPr/>
            </a:pPr>
            <a:r>
              <a:rPr lang="en-US" b="1" dirty="0">
                <a:solidFill>
                  <a:schemeClr val="tx2"/>
                </a:solidFill>
              </a:rPr>
              <a:t>Los </a:t>
            </a:r>
            <a:r>
              <a:rPr lang="en-US" b="1" dirty="0" err="1">
                <a:solidFill>
                  <a:schemeClr val="tx2"/>
                </a:solidFill>
              </a:rPr>
              <a:t>programadores</a:t>
            </a:r>
            <a:r>
              <a:rPr lang="en-US" b="1" dirty="0">
                <a:solidFill>
                  <a:schemeClr val="tx2"/>
                </a:solidFill>
              </a:rPr>
              <a:t> de </a:t>
            </a:r>
            <a:r>
              <a:rPr lang="en-US" b="1" dirty="0" err="1">
                <a:solidFill>
                  <a:schemeClr val="tx2"/>
                </a:solidFill>
              </a:rPr>
              <a:t>aplicaciones</a:t>
            </a:r>
            <a:r>
              <a:rPr lang="en-US" b="1" dirty="0">
                <a:solidFill>
                  <a:schemeClr val="tx2"/>
                </a:solidFill>
              </a:rPr>
              <a:t> </a:t>
            </a:r>
            <a:r>
              <a:rPr lang="en-US" dirty="0"/>
              <a:t>– </a:t>
            </a:r>
            <a:r>
              <a:rPr lang="en-US" dirty="0" err="1"/>
              <a:t>interactúan</a:t>
            </a:r>
            <a:r>
              <a:rPr lang="en-US" dirty="0"/>
              <a:t> con el </a:t>
            </a:r>
            <a:r>
              <a:rPr lang="en-US" dirty="0" err="1"/>
              <a:t>sistema</a:t>
            </a:r>
            <a:r>
              <a:rPr lang="en-US" dirty="0"/>
              <a:t> a </a:t>
            </a:r>
            <a:r>
              <a:rPr lang="en-US" dirty="0" err="1"/>
              <a:t>través</a:t>
            </a:r>
            <a:r>
              <a:rPr lang="en-US" dirty="0"/>
              <a:t> de </a:t>
            </a:r>
            <a:r>
              <a:rPr lang="en-US" dirty="0" err="1"/>
              <a:t>llamadas</a:t>
            </a:r>
            <a:r>
              <a:rPr lang="en-US" dirty="0"/>
              <a:t> DML</a:t>
            </a:r>
          </a:p>
          <a:p>
            <a:pPr>
              <a:defRPr/>
            </a:pPr>
            <a:r>
              <a:rPr lang="en-US" b="1" dirty="0">
                <a:solidFill>
                  <a:schemeClr val="tx2"/>
                </a:solidFill>
              </a:rPr>
              <a:t>Los </a:t>
            </a:r>
            <a:r>
              <a:rPr lang="en-US" b="1" dirty="0" err="1">
                <a:solidFill>
                  <a:schemeClr val="tx2"/>
                </a:solidFill>
              </a:rPr>
              <a:t>Usuarios</a:t>
            </a:r>
            <a:r>
              <a:rPr lang="en-US" b="1" dirty="0">
                <a:solidFill>
                  <a:schemeClr val="tx2"/>
                </a:solidFill>
              </a:rPr>
              <a:t> </a:t>
            </a:r>
            <a:r>
              <a:rPr lang="en-US" b="1" dirty="0" err="1">
                <a:solidFill>
                  <a:schemeClr val="tx2"/>
                </a:solidFill>
              </a:rPr>
              <a:t>Sofisticados</a:t>
            </a:r>
            <a:r>
              <a:rPr lang="en-US" dirty="0"/>
              <a:t> – </a:t>
            </a:r>
            <a:r>
              <a:rPr lang="en-US" dirty="0" err="1"/>
              <a:t>solicitan</a:t>
            </a:r>
            <a:r>
              <a:rPr lang="en-US" dirty="0"/>
              <a:t> </a:t>
            </a:r>
            <a:r>
              <a:rPr lang="en-US" dirty="0" err="1"/>
              <a:t>datos</a:t>
            </a:r>
            <a:r>
              <a:rPr lang="en-US" dirty="0"/>
              <a:t> a </a:t>
            </a:r>
            <a:r>
              <a:rPr lang="en-US" dirty="0" err="1"/>
              <a:t>través</a:t>
            </a:r>
            <a:r>
              <a:rPr lang="en-US" dirty="0"/>
              <a:t> del </a:t>
            </a:r>
            <a:r>
              <a:rPr lang="en-US" dirty="0" err="1"/>
              <a:t>lenguaje</a:t>
            </a:r>
            <a:r>
              <a:rPr lang="en-US" dirty="0"/>
              <a:t> de </a:t>
            </a:r>
            <a:r>
              <a:rPr lang="en-US" dirty="0" err="1"/>
              <a:t>consultas</a:t>
            </a:r>
            <a:r>
              <a:rPr lang="en-US" dirty="0"/>
              <a:t> (query)</a:t>
            </a:r>
          </a:p>
          <a:p>
            <a:pPr>
              <a:defRPr/>
            </a:pPr>
            <a:r>
              <a:rPr lang="en-US" b="1" dirty="0">
                <a:solidFill>
                  <a:schemeClr val="tx2"/>
                </a:solidFill>
              </a:rPr>
              <a:t>Los </a:t>
            </a:r>
            <a:r>
              <a:rPr lang="en-US" b="1" dirty="0" err="1">
                <a:solidFill>
                  <a:schemeClr val="tx2"/>
                </a:solidFill>
              </a:rPr>
              <a:t>usuarios</a:t>
            </a:r>
            <a:r>
              <a:rPr lang="en-US" b="1" dirty="0">
                <a:solidFill>
                  <a:schemeClr val="tx2"/>
                </a:solidFill>
              </a:rPr>
              <a:t> </a:t>
            </a:r>
            <a:r>
              <a:rPr lang="en-US" b="1" dirty="0" err="1">
                <a:solidFill>
                  <a:schemeClr val="tx2"/>
                </a:solidFill>
              </a:rPr>
              <a:t>Especializados</a:t>
            </a:r>
            <a:r>
              <a:rPr lang="en-US" dirty="0"/>
              <a:t> – </a:t>
            </a:r>
            <a:r>
              <a:rPr lang="en-US" dirty="0" err="1"/>
              <a:t>escriben</a:t>
            </a:r>
            <a:r>
              <a:rPr lang="en-US" dirty="0"/>
              <a:t> </a:t>
            </a:r>
            <a:r>
              <a:rPr lang="en-US" dirty="0" err="1"/>
              <a:t>aplicaciones</a:t>
            </a:r>
            <a:r>
              <a:rPr lang="en-US" dirty="0"/>
              <a:t> </a:t>
            </a:r>
            <a:r>
              <a:rPr lang="en-US" dirty="0" err="1"/>
              <a:t>especializadas</a:t>
            </a:r>
            <a:r>
              <a:rPr lang="en-US" dirty="0"/>
              <a:t> que </a:t>
            </a:r>
            <a:r>
              <a:rPr lang="en-US" dirty="0" err="1"/>
              <a:t>caen</a:t>
            </a:r>
            <a:r>
              <a:rPr lang="en-US" dirty="0"/>
              <a:t> </a:t>
            </a:r>
            <a:r>
              <a:rPr lang="en-US" dirty="0" err="1"/>
              <a:t>en</a:t>
            </a:r>
            <a:r>
              <a:rPr lang="en-US" dirty="0"/>
              <a:t> el </a:t>
            </a:r>
            <a:r>
              <a:rPr lang="en-US" dirty="0" err="1"/>
              <a:t>ámbito</a:t>
            </a:r>
            <a:r>
              <a:rPr lang="en-US" dirty="0"/>
              <a:t> </a:t>
            </a:r>
            <a:r>
              <a:rPr lang="en-US" dirty="0" err="1"/>
              <a:t>tradicional</a:t>
            </a:r>
            <a:r>
              <a:rPr lang="en-US" dirty="0"/>
              <a:t> de </a:t>
            </a:r>
            <a:r>
              <a:rPr lang="en-US" dirty="0" err="1"/>
              <a:t>procesamiento</a:t>
            </a:r>
            <a:r>
              <a:rPr lang="en-US" dirty="0"/>
              <a:t> de </a:t>
            </a:r>
            <a:r>
              <a:rPr lang="en-US" dirty="0" err="1"/>
              <a:t>datos</a:t>
            </a:r>
            <a:r>
              <a:rPr lang="en-US" dirty="0"/>
              <a:t>.</a:t>
            </a:r>
          </a:p>
          <a:p>
            <a:pPr>
              <a:defRPr/>
            </a:pPr>
            <a:r>
              <a:rPr lang="en-US" b="1" dirty="0">
                <a:solidFill>
                  <a:schemeClr val="tx2"/>
                </a:solidFill>
              </a:rPr>
              <a:t>Los </a:t>
            </a:r>
            <a:r>
              <a:rPr lang="en-US" b="1" dirty="0" err="1">
                <a:solidFill>
                  <a:schemeClr val="tx2"/>
                </a:solidFill>
              </a:rPr>
              <a:t>usuarios</a:t>
            </a:r>
            <a:r>
              <a:rPr lang="en-US" b="1" dirty="0">
                <a:solidFill>
                  <a:schemeClr val="tx2"/>
                </a:solidFill>
              </a:rPr>
              <a:t> </a:t>
            </a:r>
            <a:r>
              <a:rPr lang="en-US" b="1" dirty="0" err="1">
                <a:solidFill>
                  <a:schemeClr val="tx2"/>
                </a:solidFill>
              </a:rPr>
              <a:t>inexpertos</a:t>
            </a:r>
            <a:r>
              <a:rPr lang="en-US" b="1" dirty="0">
                <a:solidFill>
                  <a:schemeClr val="tx2"/>
                </a:solidFill>
              </a:rPr>
              <a:t> </a:t>
            </a:r>
            <a:r>
              <a:rPr lang="en-US" dirty="0"/>
              <a:t> – </a:t>
            </a:r>
            <a:r>
              <a:rPr lang="en-US" dirty="0" err="1"/>
              <a:t>usan</a:t>
            </a:r>
            <a:r>
              <a:rPr lang="en-US" dirty="0"/>
              <a:t> </a:t>
            </a:r>
            <a:r>
              <a:rPr lang="en-US" dirty="0" err="1"/>
              <a:t>los</a:t>
            </a:r>
            <a:r>
              <a:rPr lang="en-US" dirty="0"/>
              <a:t> </a:t>
            </a:r>
            <a:r>
              <a:rPr lang="en-US" dirty="0" err="1"/>
              <a:t>programas</a:t>
            </a:r>
            <a:r>
              <a:rPr lang="en-US" dirty="0"/>
              <a:t> de </a:t>
            </a:r>
            <a:r>
              <a:rPr lang="en-US" dirty="0" err="1"/>
              <a:t>aplicación</a:t>
            </a:r>
            <a:r>
              <a:rPr lang="en-US" dirty="0"/>
              <a:t> </a:t>
            </a:r>
            <a:r>
              <a:rPr lang="en-US" dirty="0" err="1"/>
              <a:t>desarrollados</a:t>
            </a:r>
            <a:r>
              <a:rPr lang="en-US" dirty="0"/>
              <a:t> con </a:t>
            </a:r>
            <a:r>
              <a:rPr lang="en-US" dirty="0" err="1"/>
              <a:t>anticipación</a:t>
            </a:r>
            <a:r>
              <a:rPr lang="en-US" dirty="0"/>
              <a:t>.</a:t>
            </a:r>
          </a:p>
          <a:p>
            <a:pPr lvl="1">
              <a:defRPr/>
            </a:pPr>
            <a:r>
              <a:rPr lang="en-US" sz="2000" dirty="0" err="1">
                <a:latin typeface="Arial" pitchFamily="34" charset="0"/>
                <a:cs typeface="Arial" pitchFamily="34" charset="0"/>
              </a:rPr>
              <a:t>Ejemplos</a:t>
            </a:r>
            <a:r>
              <a:rPr lang="en-US" sz="2000" dirty="0">
                <a:latin typeface="Arial" pitchFamily="34" charset="0"/>
                <a:cs typeface="Arial" pitchFamily="34" charset="0"/>
              </a:rPr>
              <a:t>: </a:t>
            </a:r>
            <a:r>
              <a:rPr lang="en-US" sz="2000" dirty="0" err="1">
                <a:latin typeface="Arial" pitchFamily="34" charset="0"/>
                <a:cs typeface="Arial" pitchFamily="34" charset="0"/>
              </a:rPr>
              <a:t>gente</a:t>
            </a:r>
            <a:r>
              <a:rPr lang="en-US" sz="2000" dirty="0">
                <a:latin typeface="Arial" pitchFamily="34" charset="0"/>
                <a:cs typeface="Arial" pitchFamily="34" charset="0"/>
              </a:rPr>
              <a:t> con el </a:t>
            </a:r>
            <a:r>
              <a:rPr lang="en-US" sz="2000" dirty="0" err="1">
                <a:latin typeface="Arial" pitchFamily="34" charset="0"/>
                <a:cs typeface="Arial" pitchFamily="34" charset="0"/>
              </a:rPr>
              <a:t>acceso</a:t>
            </a:r>
            <a:r>
              <a:rPr lang="en-US" sz="2000" dirty="0">
                <a:latin typeface="Arial" pitchFamily="34" charset="0"/>
                <a:cs typeface="Arial" pitchFamily="34" charset="0"/>
              </a:rPr>
              <a:t> a la BD </a:t>
            </a:r>
            <a:r>
              <a:rPr lang="en-US" sz="2000" dirty="0" err="1">
                <a:latin typeface="Arial" pitchFamily="34" charset="0"/>
                <a:cs typeface="Arial" pitchFamily="34" charset="0"/>
              </a:rPr>
              <a:t>sobre</a:t>
            </a:r>
            <a:r>
              <a:rPr lang="en-US" sz="2000" dirty="0">
                <a:latin typeface="Arial" pitchFamily="34" charset="0"/>
                <a:cs typeface="Arial" pitchFamily="34" charset="0"/>
              </a:rPr>
              <a:t> la web, </a:t>
            </a:r>
            <a:r>
              <a:rPr lang="en-US" sz="2000" dirty="0" err="1">
                <a:latin typeface="Arial" pitchFamily="34" charset="0"/>
                <a:cs typeface="Arial" pitchFamily="34" charset="0"/>
              </a:rPr>
              <a:t>cajeros</a:t>
            </a:r>
            <a:r>
              <a:rPr lang="en-US" sz="2000" dirty="0">
                <a:latin typeface="Arial" pitchFamily="34" charset="0"/>
                <a:cs typeface="Arial" pitchFamily="34" charset="0"/>
              </a:rPr>
              <a:t> banco, </a:t>
            </a:r>
            <a:r>
              <a:rPr lang="en-US" sz="2000" dirty="0" err="1">
                <a:latin typeface="Arial" pitchFamily="34" charset="0"/>
                <a:cs typeface="Arial" pitchFamily="34" charset="0"/>
              </a:rPr>
              <a:t>auxiliares</a:t>
            </a:r>
            <a:r>
              <a:rPr lang="en-US" sz="2000" dirty="0">
                <a:latin typeface="Arial" pitchFamily="34" charset="0"/>
                <a:cs typeface="Arial" pitchFamily="34" charset="0"/>
              </a:rPr>
              <a:t> </a:t>
            </a:r>
            <a:r>
              <a:rPr lang="en-US" sz="2000" dirty="0" err="1">
                <a:latin typeface="Arial" pitchFamily="34" charset="0"/>
                <a:cs typeface="Arial" pitchFamily="34" charset="0"/>
              </a:rPr>
              <a:t>administrativos</a:t>
            </a:r>
            <a:r>
              <a:rPr lang="en-US" sz="2000" dirty="0">
                <a:latin typeface="Arial" pitchFamily="34" charset="0"/>
                <a:cs typeface="Arial" pitchFamily="34" charset="0"/>
              </a:rPr>
              <a:t>.</a:t>
            </a:r>
          </a:p>
          <a:p>
            <a:endParaRPr lang="es-MX" dirty="0"/>
          </a:p>
        </p:txBody>
      </p:sp>
    </p:spTree>
    <p:extLst>
      <p:ext uri="{BB962C8B-B14F-4D97-AF65-F5344CB8AC3E}">
        <p14:creationId xmlns:p14="http://schemas.microsoft.com/office/powerpoint/2010/main" val="211930115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819807"/>
            <a:ext cx="10245091" cy="681030"/>
          </a:xfrm>
        </p:spPr>
        <p:txBody>
          <a:bodyPr/>
          <a:lstStyle/>
          <a:p>
            <a:r>
              <a:rPr lang="en-US" b="1" dirty="0" err="1">
                <a:solidFill>
                  <a:schemeClr val="accent1">
                    <a:lumMod val="50000"/>
                  </a:schemeClr>
                </a:solidFill>
                <a:latin typeface="Arial" charset="0"/>
              </a:rPr>
              <a:t>Administrador</a:t>
            </a:r>
            <a:r>
              <a:rPr lang="en-US" b="1" dirty="0">
                <a:solidFill>
                  <a:schemeClr val="accent1">
                    <a:lumMod val="50000"/>
                  </a:schemeClr>
                </a:solidFill>
                <a:latin typeface="Arial" charset="0"/>
              </a:rPr>
              <a:t> de la BD</a:t>
            </a:r>
            <a:endParaRPr lang="es-MX" b="1" dirty="0">
              <a:solidFill>
                <a:schemeClr val="accent1">
                  <a:lumMod val="50000"/>
                </a:schemeClr>
              </a:solidFill>
              <a:latin typeface="Arial" charset="0"/>
            </a:endParaRPr>
          </a:p>
        </p:txBody>
      </p:sp>
      <p:sp>
        <p:nvSpPr>
          <p:cNvPr id="3" name="Marcador de contenido 2"/>
          <p:cNvSpPr>
            <a:spLocks noGrp="1"/>
          </p:cNvSpPr>
          <p:nvPr>
            <p:ph sz="quarter" idx="13"/>
          </p:nvPr>
        </p:nvSpPr>
        <p:spPr/>
        <p:txBody>
          <a:bodyPr/>
          <a:lstStyle/>
          <a:p>
            <a:pPr>
              <a:defRPr/>
            </a:pPr>
            <a:r>
              <a:rPr lang="en-US" dirty="0" err="1"/>
              <a:t>Coordina</a:t>
            </a:r>
            <a:r>
              <a:rPr lang="en-US" dirty="0"/>
              <a:t> </a:t>
            </a:r>
            <a:r>
              <a:rPr lang="en-US" dirty="0" err="1"/>
              <a:t>todas</a:t>
            </a:r>
            <a:r>
              <a:rPr lang="en-US" dirty="0"/>
              <a:t> las </a:t>
            </a:r>
            <a:r>
              <a:rPr lang="en-US" dirty="0" err="1"/>
              <a:t>actividades</a:t>
            </a:r>
            <a:r>
              <a:rPr lang="en-US" dirty="0"/>
              <a:t> del </a:t>
            </a:r>
            <a:r>
              <a:rPr lang="en-US" dirty="0" err="1"/>
              <a:t>sistema</a:t>
            </a:r>
            <a:r>
              <a:rPr lang="en-US" dirty="0"/>
              <a:t> de BD; </a:t>
            </a:r>
            <a:r>
              <a:rPr lang="en-US" dirty="0" err="1"/>
              <a:t>tiene</a:t>
            </a:r>
            <a:r>
              <a:rPr lang="en-US" dirty="0"/>
              <a:t> un </a:t>
            </a:r>
            <a:r>
              <a:rPr lang="en-US" dirty="0" err="1"/>
              <a:t>buen</a:t>
            </a:r>
            <a:r>
              <a:rPr lang="en-US" dirty="0"/>
              <a:t> </a:t>
            </a:r>
            <a:r>
              <a:rPr lang="en-US" dirty="0" err="1"/>
              <a:t>entendimiento</a:t>
            </a:r>
            <a:r>
              <a:rPr lang="en-US" dirty="0"/>
              <a:t> de </a:t>
            </a:r>
            <a:r>
              <a:rPr lang="en-US" dirty="0" err="1"/>
              <a:t>los</a:t>
            </a:r>
            <a:r>
              <a:rPr lang="en-US" dirty="0"/>
              <a:t> </a:t>
            </a:r>
            <a:r>
              <a:rPr lang="en-US" dirty="0" err="1"/>
              <a:t>recursos</a:t>
            </a:r>
            <a:r>
              <a:rPr lang="en-US" dirty="0"/>
              <a:t> y </a:t>
            </a:r>
            <a:r>
              <a:rPr lang="en-US" dirty="0" err="1"/>
              <a:t>necesidades</a:t>
            </a:r>
            <a:r>
              <a:rPr lang="en-US" dirty="0"/>
              <a:t> de la </a:t>
            </a:r>
            <a:r>
              <a:rPr lang="en-US" dirty="0" err="1"/>
              <a:t>empresa</a:t>
            </a:r>
            <a:r>
              <a:rPr lang="en-US" dirty="0"/>
              <a:t>.</a:t>
            </a:r>
          </a:p>
          <a:p>
            <a:pPr>
              <a:defRPr/>
            </a:pPr>
            <a:r>
              <a:rPr lang="en-US" dirty="0"/>
              <a:t>Las </a:t>
            </a:r>
            <a:r>
              <a:rPr lang="en-US" dirty="0" err="1"/>
              <a:t>responsabilidades</a:t>
            </a:r>
            <a:r>
              <a:rPr lang="en-US" dirty="0"/>
              <a:t> de </a:t>
            </a:r>
            <a:r>
              <a:rPr lang="en-US" dirty="0" err="1"/>
              <a:t>los</a:t>
            </a:r>
            <a:r>
              <a:rPr lang="en-US" dirty="0"/>
              <a:t> </a:t>
            </a:r>
            <a:r>
              <a:rPr lang="en-US" dirty="0" err="1"/>
              <a:t>administradores</a:t>
            </a:r>
            <a:r>
              <a:rPr lang="en-US" dirty="0"/>
              <a:t> de BD:</a:t>
            </a:r>
          </a:p>
          <a:p>
            <a:pPr lvl="1">
              <a:defRPr/>
            </a:pPr>
            <a:r>
              <a:rPr lang="en-US" dirty="0" err="1">
                <a:latin typeface="Arial" pitchFamily="34" charset="0"/>
                <a:cs typeface="Arial" pitchFamily="34" charset="0"/>
              </a:rPr>
              <a:t>Definición</a:t>
            </a:r>
            <a:r>
              <a:rPr lang="en-US" dirty="0">
                <a:latin typeface="Arial" pitchFamily="34" charset="0"/>
                <a:cs typeface="Arial" pitchFamily="34" charset="0"/>
              </a:rPr>
              <a:t> del </a:t>
            </a:r>
            <a:r>
              <a:rPr lang="en-US" dirty="0" err="1">
                <a:latin typeface="Arial" pitchFamily="34" charset="0"/>
                <a:cs typeface="Arial" pitchFamily="34" charset="0"/>
              </a:rPr>
              <a:t>Esquema</a:t>
            </a:r>
            <a:endParaRPr lang="en-US" dirty="0">
              <a:latin typeface="Arial" pitchFamily="34" charset="0"/>
              <a:cs typeface="Arial" pitchFamily="34" charset="0"/>
            </a:endParaRPr>
          </a:p>
          <a:p>
            <a:pPr lvl="1">
              <a:defRPr/>
            </a:pPr>
            <a:r>
              <a:rPr lang="en-US" dirty="0" err="1">
                <a:latin typeface="Arial" pitchFamily="34" charset="0"/>
                <a:cs typeface="Arial" pitchFamily="34" charset="0"/>
              </a:rPr>
              <a:t>Estructura</a:t>
            </a:r>
            <a:r>
              <a:rPr lang="en-US" dirty="0">
                <a:latin typeface="Arial" pitchFamily="34" charset="0"/>
                <a:cs typeface="Arial" pitchFamily="34" charset="0"/>
              </a:rPr>
              <a:t> de </a:t>
            </a:r>
            <a:r>
              <a:rPr lang="en-US" dirty="0" err="1">
                <a:latin typeface="Arial" pitchFamily="34" charset="0"/>
                <a:cs typeface="Arial" pitchFamily="34" charset="0"/>
              </a:rPr>
              <a:t>almacenamiento</a:t>
            </a:r>
            <a:r>
              <a:rPr lang="en-US" dirty="0">
                <a:latin typeface="Arial" pitchFamily="34" charset="0"/>
                <a:cs typeface="Arial" pitchFamily="34" charset="0"/>
              </a:rPr>
              <a:t> y </a:t>
            </a:r>
            <a:r>
              <a:rPr lang="en-US" dirty="0" err="1">
                <a:latin typeface="Arial" pitchFamily="34" charset="0"/>
                <a:cs typeface="Arial" pitchFamily="34" charset="0"/>
              </a:rPr>
              <a:t>definición</a:t>
            </a:r>
            <a:r>
              <a:rPr lang="en-US" dirty="0">
                <a:latin typeface="Arial" pitchFamily="34" charset="0"/>
                <a:cs typeface="Arial" pitchFamily="34" charset="0"/>
              </a:rPr>
              <a:t> de </a:t>
            </a:r>
            <a:r>
              <a:rPr lang="en-US" dirty="0" err="1">
                <a:latin typeface="Arial" pitchFamily="34" charset="0"/>
                <a:cs typeface="Arial" pitchFamily="34" charset="0"/>
              </a:rPr>
              <a:t>los</a:t>
            </a:r>
            <a:r>
              <a:rPr lang="en-US" dirty="0">
                <a:latin typeface="Arial" pitchFamily="34" charset="0"/>
                <a:cs typeface="Arial" pitchFamily="34" charset="0"/>
              </a:rPr>
              <a:t> </a:t>
            </a:r>
            <a:r>
              <a:rPr lang="en-US" dirty="0" err="1">
                <a:latin typeface="Arial" pitchFamily="34" charset="0"/>
                <a:cs typeface="Arial" pitchFamily="34" charset="0"/>
              </a:rPr>
              <a:t>métodos</a:t>
            </a:r>
            <a:r>
              <a:rPr lang="en-US" dirty="0">
                <a:latin typeface="Arial" pitchFamily="34" charset="0"/>
                <a:cs typeface="Arial" pitchFamily="34" charset="0"/>
              </a:rPr>
              <a:t> de </a:t>
            </a:r>
            <a:r>
              <a:rPr lang="en-US" dirty="0" err="1">
                <a:latin typeface="Arial" pitchFamily="34" charset="0"/>
                <a:cs typeface="Arial" pitchFamily="34" charset="0"/>
              </a:rPr>
              <a:t>acceso</a:t>
            </a:r>
            <a:endParaRPr lang="en-US" dirty="0">
              <a:latin typeface="Arial" pitchFamily="34" charset="0"/>
              <a:cs typeface="Arial" pitchFamily="34" charset="0"/>
            </a:endParaRPr>
          </a:p>
          <a:p>
            <a:pPr lvl="1">
              <a:defRPr/>
            </a:pPr>
            <a:r>
              <a:rPr lang="en-US" dirty="0" err="1">
                <a:latin typeface="Arial" pitchFamily="34" charset="0"/>
                <a:cs typeface="Arial" pitchFamily="34" charset="0"/>
              </a:rPr>
              <a:t>Modificación</a:t>
            </a:r>
            <a:r>
              <a:rPr lang="en-US" dirty="0">
                <a:latin typeface="Arial" pitchFamily="34" charset="0"/>
                <a:cs typeface="Arial" pitchFamily="34" charset="0"/>
              </a:rPr>
              <a:t> de la </a:t>
            </a:r>
            <a:r>
              <a:rPr lang="en-US" dirty="0" err="1">
                <a:latin typeface="Arial" pitchFamily="34" charset="0"/>
                <a:cs typeface="Arial" pitchFamily="34" charset="0"/>
              </a:rPr>
              <a:t>organización</a:t>
            </a:r>
            <a:r>
              <a:rPr lang="en-US" dirty="0">
                <a:latin typeface="Arial" pitchFamily="34" charset="0"/>
                <a:cs typeface="Arial" pitchFamily="34" charset="0"/>
              </a:rPr>
              <a:t> </a:t>
            </a:r>
            <a:r>
              <a:rPr lang="en-US" dirty="0" err="1">
                <a:latin typeface="Arial" pitchFamily="34" charset="0"/>
                <a:cs typeface="Arial" pitchFamily="34" charset="0"/>
              </a:rPr>
              <a:t>física</a:t>
            </a:r>
            <a:r>
              <a:rPr lang="en-US" dirty="0">
                <a:latin typeface="Arial" pitchFamily="34" charset="0"/>
                <a:cs typeface="Arial" pitchFamily="34" charset="0"/>
              </a:rPr>
              <a:t> del </a:t>
            </a:r>
            <a:r>
              <a:rPr lang="en-US" dirty="0" err="1">
                <a:latin typeface="Arial" pitchFamily="34" charset="0"/>
                <a:cs typeface="Arial" pitchFamily="34" charset="0"/>
              </a:rPr>
              <a:t>esquema</a:t>
            </a:r>
            <a:endParaRPr lang="en-US" dirty="0">
              <a:latin typeface="Arial" pitchFamily="34" charset="0"/>
              <a:cs typeface="Arial" pitchFamily="34" charset="0"/>
            </a:endParaRPr>
          </a:p>
          <a:p>
            <a:pPr lvl="1">
              <a:defRPr/>
            </a:pPr>
            <a:r>
              <a:rPr lang="en-US" dirty="0" err="1">
                <a:latin typeface="Arial" pitchFamily="34" charset="0"/>
                <a:cs typeface="Arial" pitchFamily="34" charset="0"/>
              </a:rPr>
              <a:t>Concesión</a:t>
            </a:r>
            <a:r>
              <a:rPr lang="en-US" dirty="0">
                <a:latin typeface="Arial" pitchFamily="34" charset="0"/>
                <a:cs typeface="Arial" pitchFamily="34" charset="0"/>
              </a:rPr>
              <a:t> de la </a:t>
            </a:r>
            <a:r>
              <a:rPr lang="en-US" dirty="0" err="1">
                <a:latin typeface="Arial" pitchFamily="34" charset="0"/>
                <a:cs typeface="Arial" pitchFamily="34" charset="0"/>
              </a:rPr>
              <a:t>autoridad</a:t>
            </a:r>
            <a:r>
              <a:rPr lang="en-US" dirty="0">
                <a:latin typeface="Arial" pitchFamily="34" charset="0"/>
                <a:cs typeface="Arial" pitchFamily="34" charset="0"/>
              </a:rPr>
              <a:t> a </a:t>
            </a:r>
            <a:r>
              <a:rPr lang="en-US" dirty="0" err="1">
                <a:latin typeface="Arial" pitchFamily="34" charset="0"/>
                <a:cs typeface="Arial" pitchFamily="34" charset="0"/>
              </a:rPr>
              <a:t>los</a:t>
            </a:r>
            <a:r>
              <a:rPr lang="en-US" dirty="0">
                <a:latin typeface="Arial" pitchFamily="34" charset="0"/>
                <a:cs typeface="Arial" pitchFamily="34" charset="0"/>
              </a:rPr>
              <a:t> </a:t>
            </a:r>
            <a:r>
              <a:rPr lang="en-US" dirty="0" err="1">
                <a:latin typeface="Arial" pitchFamily="34" charset="0"/>
                <a:cs typeface="Arial" pitchFamily="34" charset="0"/>
              </a:rPr>
              <a:t>usuarios</a:t>
            </a:r>
            <a:r>
              <a:rPr lang="en-US" dirty="0">
                <a:latin typeface="Arial" pitchFamily="34" charset="0"/>
                <a:cs typeface="Arial" pitchFamily="34" charset="0"/>
              </a:rPr>
              <a:t> para el </a:t>
            </a:r>
            <a:r>
              <a:rPr lang="en-US" dirty="0" err="1">
                <a:latin typeface="Arial" pitchFamily="34" charset="0"/>
                <a:cs typeface="Arial" pitchFamily="34" charset="0"/>
              </a:rPr>
              <a:t>acceso</a:t>
            </a:r>
            <a:r>
              <a:rPr lang="en-US" dirty="0">
                <a:latin typeface="Arial" pitchFamily="34" charset="0"/>
                <a:cs typeface="Arial" pitchFamily="34" charset="0"/>
              </a:rPr>
              <a:t> a la BD</a:t>
            </a:r>
          </a:p>
          <a:p>
            <a:pPr lvl="1">
              <a:defRPr/>
            </a:pPr>
            <a:r>
              <a:rPr lang="en-US" dirty="0" err="1">
                <a:latin typeface="Arial" pitchFamily="34" charset="0"/>
                <a:cs typeface="Arial" pitchFamily="34" charset="0"/>
              </a:rPr>
              <a:t>Especificación</a:t>
            </a:r>
            <a:r>
              <a:rPr lang="en-US" dirty="0">
                <a:latin typeface="Arial" pitchFamily="34" charset="0"/>
                <a:cs typeface="Arial" pitchFamily="34" charset="0"/>
              </a:rPr>
              <a:t> de las </a:t>
            </a:r>
            <a:r>
              <a:rPr lang="en-US" dirty="0" err="1">
                <a:latin typeface="Arial" pitchFamily="34" charset="0"/>
                <a:cs typeface="Arial" pitchFamily="34" charset="0"/>
              </a:rPr>
              <a:t>restricciones</a:t>
            </a:r>
            <a:r>
              <a:rPr lang="en-US" dirty="0">
                <a:latin typeface="Arial" pitchFamily="34" charset="0"/>
                <a:cs typeface="Arial" pitchFamily="34" charset="0"/>
              </a:rPr>
              <a:t> de </a:t>
            </a:r>
            <a:r>
              <a:rPr lang="en-US" dirty="0" err="1">
                <a:latin typeface="Arial" pitchFamily="34" charset="0"/>
                <a:cs typeface="Arial" pitchFamily="34" charset="0"/>
              </a:rPr>
              <a:t>integridad</a:t>
            </a:r>
            <a:endParaRPr lang="en-US" dirty="0">
              <a:latin typeface="Arial" pitchFamily="34" charset="0"/>
              <a:cs typeface="Arial" pitchFamily="34" charset="0"/>
            </a:endParaRPr>
          </a:p>
          <a:p>
            <a:pPr lvl="1">
              <a:defRPr/>
            </a:pPr>
            <a:r>
              <a:rPr lang="en-US" dirty="0" err="1">
                <a:latin typeface="Arial" pitchFamily="34" charset="0"/>
                <a:cs typeface="Arial" pitchFamily="34" charset="0"/>
              </a:rPr>
              <a:t>Actúa</a:t>
            </a:r>
            <a:r>
              <a:rPr lang="en-US" dirty="0">
                <a:latin typeface="Arial" pitchFamily="34" charset="0"/>
                <a:cs typeface="Arial" pitchFamily="34" charset="0"/>
              </a:rPr>
              <a:t> </a:t>
            </a:r>
            <a:r>
              <a:rPr lang="en-US" dirty="0" err="1">
                <a:latin typeface="Arial" pitchFamily="34" charset="0"/>
                <a:cs typeface="Arial" pitchFamily="34" charset="0"/>
              </a:rPr>
              <a:t>como</a:t>
            </a:r>
            <a:r>
              <a:rPr lang="en-US" dirty="0">
                <a:latin typeface="Arial" pitchFamily="34" charset="0"/>
                <a:cs typeface="Arial" pitchFamily="34" charset="0"/>
              </a:rPr>
              <a:t> </a:t>
            </a:r>
            <a:r>
              <a:rPr lang="en-US" dirty="0" err="1">
                <a:latin typeface="Arial" pitchFamily="34" charset="0"/>
                <a:cs typeface="Arial" pitchFamily="34" charset="0"/>
              </a:rPr>
              <a:t>intermediario</a:t>
            </a:r>
            <a:r>
              <a:rPr lang="en-US" dirty="0">
                <a:latin typeface="Arial" pitchFamily="34" charset="0"/>
                <a:cs typeface="Arial" pitchFamily="34" charset="0"/>
              </a:rPr>
              <a:t> con </a:t>
            </a:r>
            <a:r>
              <a:rPr lang="en-US" dirty="0" err="1">
                <a:latin typeface="Arial" pitchFamily="34" charset="0"/>
                <a:cs typeface="Arial" pitchFamily="34" charset="0"/>
              </a:rPr>
              <a:t>los</a:t>
            </a:r>
            <a:r>
              <a:rPr lang="en-US" dirty="0">
                <a:latin typeface="Arial" pitchFamily="34" charset="0"/>
                <a:cs typeface="Arial" pitchFamily="34" charset="0"/>
              </a:rPr>
              <a:t> </a:t>
            </a:r>
            <a:r>
              <a:rPr lang="en-US" dirty="0" err="1">
                <a:latin typeface="Arial" pitchFamily="34" charset="0"/>
                <a:cs typeface="Arial" pitchFamily="34" charset="0"/>
              </a:rPr>
              <a:t>usuarios</a:t>
            </a:r>
            <a:endParaRPr lang="en-US" dirty="0">
              <a:latin typeface="Arial" pitchFamily="34" charset="0"/>
              <a:cs typeface="Arial" pitchFamily="34" charset="0"/>
            </a:endParaRPr>
          </a:p>
          <a:p>
            <a:pPr lvl="1">
              <a:defRPr/>
            </a:pPr>
            <a:r>
              <a:rPr lang="en-US" dirty="0" err="1">
                <a:latin typeface="Arial" pitchFamily="34" charset="0"/>
                <a:cs typeface="Arial" pitchFamily="34" charset="0"/>
              </a:rPr>
              <a:t>Monitorea</a:t>
            </a:r>
            <a:r>
              <a:rPr lang="en-US" dirty="0">
                <a:latin typeface="Arial" pitchFamily="34" charset="0"/>
                <a:cs typeface="Arial" pitchFamily="34" charset="0"/>
              </a:rPr>
              <a:t> el </a:t>
            </a:r>
            <a:r>
              <a:rPr lang="en-US" dirty="0" err="1">
                <a:latin typeface="Arial" pitchFamily="34" charset="0"/>
                <a:cs typeface="Arial" pitchFamily="34" charset="0"/>
              </a:rPr>
              <a:t>desempeño</a:t>
            </a:r>
            <a:r>
              <a:rPr lang="en-US" dirty="0">
                <a:latin typeface="Arial" pitchFamily="34" charset="0"/>
                <a:cs typeface="Arial" pitchFamily="34" charset="0"/>
              </a:rPr>
              <a:t> y </a:t>
            </a:r>
            <a:r>
              <a:rPr lang="en-US" dirty="0" err="1">
                <a:latin typeface="Arial" pitchFamily="34" charset="0"/>
                <a:cs typeface="Arial" pitchFamily="34" charset="0"/>
              </a:rPr>
              <a:t>responde</a:t>
            </a:r>
            <a:r>
              <a:rPr lang="en-US" dirty="0">
                <a:latin typeface="Arial" pitchFamily="34" charset="0"/>
                <a:cs typeface="Arial" pitchFamily="34" charset="0"/>
              </a:rPr>
              <a:t> a </a:t>
            </a:r>
            <a:r>
              <a:rPr lang="en-US" dirty="0" err="1">
                <a:latin typeface="Arial" pitchFamily="34" charset="0"/>
                <a:cs typeface="Arial" pitchFamily="34" charset="0"/>
              </a:rPr>
              <a:t>los</a:t>
            </a:r>
            <a:r>
              <a:rPr lang="en-US" dirty="0">
                <a:latin typeface="Arial" pitchFamily="34" charset="0"/>
                <a:cs typeface="Arial" pitchFamily="34" charset="0"/>
              </a:rPr>
              <a:t> </a:t>
            </a:r>
            <a:r>
              <a:rPr lang="en-US" dirty="0" err="1">
                <a:latin typeface="Arial" pitchFamily="34" charset="0"/>
                <a:cs typeface="Arial" pitchFamily="34" charset="0"/>
              </a:rPr>
              <a:t>cambios</a:t>
            </a:r>
            <a:r>
              <a:rPr lang="en-US" dirty="0">
                <a:latin typeface="Arial" pitchFamily="34" charset="0"/>
                <a:cs typeface="Arial" pitchFamily="34" charset="0"/>
              </a:rPr>
              <a:t> de </a:t>
            </a:r>
            <a:r>
              <a:rPr lang="en-US" dirty="0" err="1">
                <a:latin typeface="Arial" pitchFamily="34" charset="0"/>
                <a:cs typeface="Arial" pitchFamily="34" charset="0"/>
              </a:rPr>
              <a:t>requerimientos</a:t>
            </a:r>
            <a:r>
              <a:rPr lang="en-US" dirty="0">
                <a:latin typeface="Arial" pitchFamily="34" charset="0"/>
                <a:cs typeface="Arial" pitchFamily="34" charset="0"/>
              </a:rPr>
              <a:t>.</a:t>
            </a:r>
          </a:p>
          <a:p>
            <a:endParaRPr lang="es-MX" dirty="0"/>
          </a:p>
        </p:txBody>
      </p:sp>
    </p:spTree>
    <p:extLst>
      <p:ext uri="{BB962C8B-B14F-4D97-AF65-F5344CB8AC3E}">
        <p14:creationId xmlns:p14="http://schemas.microsoft.com/office/powerpoint/2010/main" val="236554303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2537460" y="1245870"/>
            <a:ext cx="6286500" cy="53835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Título 1"/>
          <p:cNvSpPr>
            <a:spLocks noGrp="1"/>
          </p:cNvSpPr>
          <p:nvPr>
            <p:ph type="title"/>
          </p:nvPr>
        </p:nvSpPr>
        <p:spPr/>
        <p:txBody>
          <a:bodyPr/>
          <a:lstStyle/>
          <a:p>
            <a:r>
              <a:rPr lang="en-US" b="1" dirty="0" err="1">
                <a:solidFill>
                  <a:schemeClr val="accent1">
                    <a:lumMod val="50000"/>
                  </a:schemeClr>
                </a:solidFill>
                <a:latin typeface="Arial" charset="0"/>
              </a:rPr>
              <a:t>Estructura</a:t>
            </a:r>
            <a:r>
              <a:rPr lang="en-US" b="1" dirty="0">
                <a:solidFill>
                  <a:schemeClr val="accent1">
                    <a:lumMod val="50000"/>
                  </a:schemeClr>
                </a:solidFill>
                <a:latin typeface="Arial" charset="0"/>
              </a:rPr>
              <a:t> General del Sistema</a:t>
            </a:r>
            <a:endParaRPr lang="es-MX" b="1" dirty="0">
              <a:solidFill>
                <a:schemeClr val="accent1">
                  <a:lumMod val="50000"/>
                </a:schemeClr>
              </a:solidFill>
              <a:latin typeface="Arial" charset="0"/>
            </a:endParaRPr>
          </a:p>
        </p:txBody>
      </p:sp>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7470" y="1313004"/>
            <a:ext cx="6112088" cy="5247815"/>
          </a:xfrm>
          <a:prstGeom prst="rect">
            <a:avLst/>
          </a:prstGeom>
        </p:spPr>
      </p:pic>
    </p:spTree>
    <p:extLst>
      <p:ext uri="{BB962C8B-B14F-4D97-AF65-F5344CB8AC3E}">
        <p14:creationId xmlns:p14="http://schemas.microsoft.com/office/powerpoint/2010/main" val="426855680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8709" y="777765"/>
            <a:ext cx="10245091" cy="723071"/>
          </a:xfrm>
        </p:spPr>
        <p:txBody>
          <a:bodyPr/>
          <a:lstStyle/>
          <a:p>
            <a:r>
              <a:rPr lang="en-US" b="1" dirty="0" err="1">
                <a:solidFill>
                  <a:schemeClr val="accent1">
                    <a:lumMod val="50000"/>
                  </a:schemeClr>
                </a:solidFill>
                <a:latin typeface="Arial" charset="0"/>
              </a:rPr>
              <a:t>Historia</a:t>
            </a:r>
            <a:r>
              <a:rPr lang="en-US" b="1" dirty="0">
                <a:solidFill>
                  <a:schemeClr val="accent1">
                    <a:lumMod val="50000"/>
                  </a:schemeClr>
                </a:solidFill>
                <a:latin typeface="Arial" charset="0"/>
              </a:rPr>
              <a:t> </a:t>
            </a:r>
            <a:r>
              <a:rPr lang="en-US" b="1" dirty="0" err="1">
                <a:solidFill>
                  <a:schemeClr val="accent1">
                    <a:lumMod val="50000"/>
                  </a:schemeClr>
                </a:solidFill>
                <a:latin typeface="Arial" charset="0"/>
              </a:rPr>
              <a:t>los</a:t>
            </a:r>
            <a:r>
              <a:rPr lang="en-US" b="1" dirty="0">
                <a:solidFill>
                  <a:schemeClr val="accent1">
                    <a:lumMod val="50000"/>
                  </a:schemeClr>
                </a:solidFill>
                <a:latin typeface="Arial" charset="0"/>
              </a:rPr>
              <a:t> </a:t>
            </a:r>
            <a:r>
              <a:rPr lang="en-US" b="1" dirty="0" err="1">
                <a:solidFill>
                  <a:schemeClr val="accent1">
                    <a:lumMod val="50000"/>
                  </a:schemeClr>
                </a:solidFill>
                <a:latin typeface="Arial" charset="0"/>
              </a:rPr>
              <a:t>Sistemas</a:t>
            </a:r>
            <a:r>
              <a:rPr lang="en-US" b="1" dirty="0">
                <a:solidFill>
                  <a:schemeClr val="accent1">
                    <a:lumMod val="50000"/>
                  </a:schemeClr>
                </a:solidFill>
                <a:latin typeface="Arial" charset="0"/>
              </a:rPr>
              <a:t> de BD</a:t>
            </a:r>
            <a:endParaRPr lang="es-MX" b="1" dirty="0">
              <a:solidFill>
                <a:schemeClr val="accent1">
                  <a:lumMod val="50000"/>
                </a:schemeClr>
              </a:solidFill>
              <a:latin typeface="Arial" charset="0"/>
            </a:endParaRPr>
          </a:p>
        </p:txBody>
      </p:sp>
      <p:sp>
        <p:nvSpPr>
          <p:cNvPr id="3" name="Marcador de contenido 2"/>
          <p:cNvSpPr>
            <a:spLocks noGrp="1"/>
          </p:cNvSpPr>
          <p:nvPr>
            <p:ph sz="quarter" idx="13"/>
          </p:nvPr>
        </p:nvSpPr>
        <p:spPr/>
        <p:txBody>
          <a:bodyPr/>
          <a:lstStyle/>
          <a:p>
            <a:pPr>
              <a:defRPr/>
            </a:pPr>
            <a:r>
              <a:rPr lang="en-US" sz="2000" dirty="0"/>
              <a:t>Las </a:t>
            </a:r>
            <a:r>
              <a:rPr lang="en-US" sz="2000" dirty="0" err="1"/>
              <a:t>décadas</a:t>
            </a:r>
            <a:r>
              <a:rPr lang="en-US" sz="2000" dirty="0"/>
              <a:t> de 1950 e </a:t>
            </a:r>
            <a:r>
              <a:rPr lang="en-US" sz="2000" dirty="0" err="1"/>
              <a:t>inicios</a:t>
            </a:r>
            <a:r>
              <a:rPr lang="en-US" sz="2000" dirty="0"/>
              <a:t> de 1960:</a:t>
            </a:r>
          </a:p>
          <a:p>
            <a:pPr lvl="1">
              <a:defRPr/>
            </a:pPr>
            <a:r>
              <a:rPr lang="en-US" sz="2000" dirty="0" err="1">
                <a:latin typeface="Arial" pitchFamily="34" charset="0"/>
                <a:cs typeface="Arial" pitchFamily="34" charset="0"/>
              </a:rPr>
              <a:t>Procesamiento</a:t>
            </a:r>
            <a:r>
              <a:rPr lang="en-US" sz="2000" dirty="0">
                <a:latin typeface="Arial" pitchFamily="34" charset="0"/>
                <a:cs typeface="Arial" pitchFamily="34" charset="0"/>
              </a:rPr>
              <a:t> de </a:t>
            </a:r>
            <a:r>
              <a:rPr lang="en-US" sz="2000" dirty="0" err="1">
                <a:latin typeface="Arial" pitchFamily="34" charset="0"/>
                <a:cs typeface="Arial" pitchFamily="34" charset="0"/>
              </a:rPr>
              <a:t>datos</a:t>
            </a:r>
            <a:r>
              <a:rPr lang="en-US" sz="2000" dirty="0">
                <a:latin typeface="Arial" pitchFamily="34" charset="0"/>
                <a:cs typeface="Arial" pitchFamily="34" charset="0"/>
              </a:rPr>
              <a:t> </a:t>
            </a:r>
            <a:r>
              <a:rPr lang="en-US" sz="2000" dirty="0" err="1">
                <a:latin typeface="Arial" pitchFamily="34" charset="0"/>
                <a:cs typeface="Arial" pitchFamily="34" charset="0"/>
              </a:rPr>
              <a:t>usando</a:t>
            </a:r>
            <a:r>
              <a:rPr lang="en-US" sz="2000" dirty="0">
                <a:latin typeface="Arial" pitchFamily="34" charset="0"/>
                <a:cs typeface="Arial" pitchFamily="34" charset="0"/>
              </a:rPr>
              <a:t> </a:t>
            </a:r>
            <a:r>
              <a:rPr lang="en-US" sz="2000" dirty="0" err="1">
                <a:latin typeface="Arial" pitchFamily="34" charset="0"/>
                <a:cs typeface="Arial" pitchFamily="34" charset="0"/>
              </a:rPr>
              <a:t>cintas</a:t>
            </a:r>
            <a:r>
              <a:rPr lang="en-US" sz="2000" dirty="0">
                <a:latin typeface="Arial" pitchFamily="34" charset="0"/>
                <a:cs typeface="Arial" pitchFamily="34" charset="0"/>
              </a:rPr>
              <a:t> </a:t>
            </a:r>
            <a:r>
              <a:rPr lang="en-US" sz="2000" dirty="0" err="1">
                <a:latin typeface="Arial" pitchFamily="34" charset="0"/>
                <a:cs typeface="Arial" pitchFamily="34" charset="0"/>
              </a:rPr>
              <a:t>magnéticas</a:t>
            </a:r>
            <a:r>
              <a:rPr lang="en-US" sz="2000" dirty="0">
                <a:latin typeface="Arial" pitchFamily="34" charset="0"/>
                <a:cs typeface="Arial" pitchFamily="34" charset="0"/>
              </a:rPr>
              <a:t> para el </a:t>
            </a:r>
            <a:r>
              <a:rPr lang="en-US" sz="2000" dirty="0" err="1">
                <a:latin typeface="Arial" pitchFamily="34" charset="0"/>
                <a:cs typeface="Arial" pitchFamily="34" charset="0"/>
              </a:rPr>
              <a:t>almacenamiento</a:t>
            </a:r>
            <a:endParaRPr lang="en-US" sz="2000" dirty="0">
              <a:latin typeface="Arial" pitchFamily="34" charset="0"/>
              <a:cs typeface="Arial" pitchFamily="34" charset="0"/>
            </a:endParaRPr>
          </a:p>
          <a:p>
            <a:pPr lvl="2">
              <a:defRPr/>
            </a:pPr>
            <a:r>
              <a:rPr lang="en-US" dirty="0">
                <a:latin typeface="Arial" pitchFamily="34" charset="0"/>
                <a:cs typeface="Arial" pitchFamily="34" charset="0"/>
              </a:rPr>
              <a:t>Cintas  </a:t>
            </a:r>
            <a:r>
              <a:rPr lang="en-US" dirty="0" err="1">
                <a:latin typeface="Arial" pitchFamily="34" charset="0"/>
                <a:cs typeface="Arial" pitchFamily="34" charset="0"/>
              </a:rPr>
              <a:t>proveen</a:t>
            </a:r>
            <a:r>
              <a:rPr lang="en-US" dirty="0">
                <a:latin typeface="Arial" pitchFamily="34" charset="0"/>
                <a:cs typeface="Arial" pitchFamily="34" charset="0"/>
              </a:rPr>
              <a:t> </a:t>
            </a:r>
            <a:r>
              <a:rPr lang="en-US" dirty="0" err="1">
                <a:latin typeface="Arial" pitchFamily="34" charset="0"/>
                <a:cs typeface="Arial" pitchFamily="34" charset="0"/>
              </a:rPr>
              <a:t>sólo</a:t>
            </a:r>
            <a:r>
              <a:rPr lang="en-US" dirty="0">
                <a:latin typeface="Arial" pitchFamily="34" charset="0"/>
                <a:cs typeface="Arial" pitchFamily="34" charset="0"/>
              </a:rPr>
              <a:t> </a:t>
            </a:r>
            <a:r>
              <a:rPr lang="en-US" dirty="0" err="1">
                <a:latin typeface="Arial" pitchFamily="34" charset="0"/>
                <a:cs typeface="Arial" pitchFamily="34" charset="0"/>
              </a:rPr>
              <a:t>acceso</a:t>
            </a:r>
            <a:r>
              <a:rPr lang="en-US" dirty="0">
                <a:latin typeface="Arial" pitchFamily="34" charset="0"/>
                <a:cs typeface="Arial" pitchFamily="34" charset="0"/>
              </a:rPr>
              <a:t> </a:t>
            </a:r>
            <a:r>
              <a:rPr lang="en-US" dirty="0" err="1">
                <a:latin typeface="Arial" pitchFamily="34" charset="0"/>
                <a:cs typeface="Arial" pitchFamily="34" charset="0"/>
              </a:rPr>
              <a:t>secuencial</a:t>
            </a:r>
            <a:endParaRPr lang="en-US" dirty="0">
              <a:latin typeface="Arial" pitchFamily="34" charset="0"/>
              <a:cs typeface="Arial" pitchFamily="34" charset="0"/>
            </a:endParaRPr>
          </a:p>
          <a:p>
            <a:pPr lvl="1">
              <a:defRPr/>
            </a:pPr>
            <a:r>
              <a:rPr lang="en-US" sz="2000" dirty="0" err="1">
                <a:latin typeface="Arial" pitchFamily="34" charset="0"/>
                <a:cs typeface="Arial" pitchFamily="34" charset="0"/>
              </a:rPr>
              <a:t>Tarjetas</a:t>
            </a:r>
            <a:r>
              <a:rPr lang="en-US" sz="2000" dirty="0">
                <a:latin typeface="Arial" pitchFamily="34" charset="0"/>
                <a:cs typeface="Arial" pitchFamily="34" charset="0"/>
              </a:rPr>
              <a:t> de entrada para la </a:t>
            </a:r>
            <a:r>
              <a:rPr lang="en-US" sz="2000" dirty="0" err="1">
                <a:latin typeface="Arial" pitchFamily="34" charset="0"/>
                <a:cs typeface="Arial" pitchFamily="34" charset="0"/>
              </a:rPr>
              <a:t>lectura</a:t>
            </a:r>
            <a:r>
              <a:rPr lang="en-US" sz="2000" dirty="0">
                <a:latin typeface="Arial" pitchFamily="34" charset="0"/>
                <a:cs typeface="Arial" pitchFamily="34" charset="0"/>
              </a:rPr>
              <a:t> de </a:t>
            </a:r>
            <a:r>
              <a:rPr lang="en-US" sz="2000" dirty="0" err="1">
                <a:latin typeface="Arial" pitchFamily="34" charset="0"/>
                <a:cs typeface="Arial" pitchFamily="34" charset="0"/>
              </a:rPr>
              <a:t>datos</a:t>
            </a:r>
            <a:endParaRPr lang="en-US" sz="2000" dirty="0">
              <a:latin typeface="Arial" pitchFamily="34" charset="0"/>
              <a:cs typeface="Arial" pitchFamily="34" charset="0"/>
            </a:endParaRPr>
          </a:p>
          <a:p>
            <a:pPr>
              <a:defRPr/>
            </a:pPr>
            <a:r>
              <a:rPr lang="en-US" sz="2000" dirty="0"/>
              <a:t>Finales de la </a:t>
            </a:r>
            <a:r>
              <a:rPr lang="en-US" sz="2000" dirty="0" err="1"/>
              <a:t>década</a:t>
            </a:r>
            <a:r>
              <a:rPr lang="en-US" sz="2000" dirty="0"/>
              <a:t> de 1960 y </a:t>
            </a:r>
            <a:r>
              <a:rPr lang="en-US" sz="2000" dirty="0" err="1"/>
              <a:t>década</a:t>
            </a:r>
            <a:r>
              <a:rPr lang="en-US" sz="2000" dirty="0"/>
              <a:t> de 1970:</a:t>
            </a:r>
          </a:p>
          <a:p>
            <a:pPr lvl="1">
              <a:defRPr/>
            </a:pPr>
            <a:r>
              <a:rPr lang="en-US" sz="2000" dirty="0">
                <a:latin typeface="Arial" pitchFamily="34" charset="0"/>
                <a:cs typeface="Arial" pitchFamily="34" charset="0"/>
              </a:rPr>
              <a:t>Los DD </a:t>
            </a:r>
            <a:r>
              <a:rPr lang="en-US" sz="2000" dirty="0" err="1">
                <a:latin typeface="Arial" pitchFamily="34" charset="0"/>
                <a:cs typeface="Arial" pitchFamily="34" charset="0"/>
              </a:rPr>
              <a:t>permiten</a:t>
            </a:r>
            <a:r>
              <a:rPr lang="en-US" sz="2000" dirty="0">
                <a:latin typeface="Arial" pitchFamily="34" charset="0"/>
                <a:cs typeface="Arial" pitchFamily="34" charset="0"/>
              </a:rPr>
              <a:t> </a:t>
            </a:r>
            <a:r>
              <a:rPr lang="en-US" sz="2000" dirty="0" err="1">
                <a:latin typeface="Arial" pitchFamily="34" charset="0"/>
                <a:cs typeface="Arial" pitchFamily="34" charset="0"/>
              </a:rPr>
              <a:t>acceso</a:t>
            </a:r>
            <a:r>
              <a:rPr lang="en-US" sz="2000" dirty="0">
                <a:latin typeface="Arial" pitchFamily="34" charset="0"/>
                <a:cs typeface="Arial" pitchFamily="34" charset="0"/>
              </a:rPr>
              <a:t> </a:t>
            </a:r>
            <a:r>
              <a:rPr lang="en-US" sz="2000" dirty="0" err="1">
                <a:latin typeface="Arial" pitchFamily="34" charset="0"/>
                <a:cs typeface="Arial" pitchFamily="34" charset="0"/>
              </a:rPr>
              <a:t>directo</a:t>
            </a:r>
            <a:r>
              <a:rPr lang="en-US" sz="2000" dirty="0">
                <a:latin typeface="Arial" pitchFamily="34" charset="0"/>
                <a:cs typeface="Arial" pitchFamily="34" charset="0"/>
              </a:rPr>
              <a:t> a </a:t>
            </a:r>
            <a:r>
              <a:rPr lang="en-US" sz="2000" dirty="0" err="1">
                <a:latin typeface="Arial" pitchFamily="34" charset="0"/>
                <a:cs typeface="Arial" pitchFamily="34" charset="0"/>
              </a:rPr>
              <a:t>los</a:t>
            </a:r>
            <a:r>
              <a:rPr lang="en-US" sz="2000" dirty="0">
                <a:latin typeface="Arial" pitchFamily="34" charset="0"/>
                <a:cs typeface="Arial" pitchFamily="34" charset="0"/>
              </a:rPr>
              <a:t> </a:t>
            </a:r>
            <a:r>
              <a:rPr lang="en-US" sz="2000" dirty="0" err="1">
                <a:latin typeface="Arial" pitchFamily="34" charset="0"/>
                <a:cs typeface="Arial" pitchFamily="34" charset="0"/>
              </a:rPr>
              <a:t>datos</a:t>
            </a:r>
            <a:endParaRPr lang="en-US" sz="2000" dirty="0">
              <a:latin typeface="Arial" pitchFamily="34" charset="0"/>
              <a:cs typeface="Arial" pitchFamily="34" charset="0"/>
            </a:endParaRPr>
          </a:p>
          <a:p>
            <a:pPr lvl="1">
              <a:defRPr/>
            </a:pPr>
            <a:r>
              <a:rPr lang="en-US" sz="2000" dirty="0" err="1">
                <a:latin typeface="Arial" pitchFamily="34" charset="0"/>
                <a:cs typeface="Arial" pitchFamily="34" charset="0"/>
              </a:rPr>
              <a:t>Uso</a:t>
            </a:r>
            <a:r>
              <a:rPr lang="en-US" sz="2000" dirty="0">
                <a:latin typeface="Arial" pitchFamily="34" charset="0"/>
                <a:cs typeface="Arial" pitchFamily="34" charset="0"/>
              </a:rPr>
              <a:t> </a:t>
            </a:r>
            <a:r>
              <a:rPr lang="en-US" sz="2000" dirty="0" err="1">
                <a:latin typeface="Arial" pitchFamily="34" charset="0"/>
                <a:cs typeface="Arial" pitchFamily="34" charset="0"/>
              </a:rPr>
              <a:t>amplio</a:t>
            </a:r>
            <a:r>
              <a:rPr lang="en-US" sz="2000" dirty="0">
                <a:latin typeface="Arial" pitchFamily="34" charset="0"/>
                <a:cs typeface="Arial" pitchFamily="34" charset="0"/>
              </a:rPr>
              <a:t> de </a:t>
            </a:r>
            <a:r>
              <a:rPr lang="en-US" sz="2000" dirty="0" err="1">
                <a:latin typeface="Arial" pitchFamily="34" charset="0"/>
                <a:cs typeface="Arial" pitchFamily="34" charset="0"/>
              </a:rPr>
              <a:t>Redes</a:t>
            </a:r>
            <a:r>
              <a:rPr lang="en-US" sz="2000" dirty="0">
                <a:latin typeface="Arial" pitchFamily="34" charset="0"/>
                <a:cs typeface="Arial" pitchFamily="34" charset="0"/>
              </a:rPr>
              <a:t> y </a:t>
            </a:r>
            <a:r>
              <a:rPr lang="en-US" sz="2000" dirty="0" err="1">
                <a:latin typeface="Arial" pitchFamily="34" charset="0"/>
                <a:cs typeface="Arial" pitchFamily="34" charset="0"/>
              </a:rPr>
              <a:t>modelos</a:t>
            </a:r>
            <a:r>
              <a:rPr lang="en-US" sz="2000" dirty="0">
                <a:latin typeface="Arial" pitchFamily="34" charset="0"/>
                <a:cs typeface="Arial" pitchFamily="34" charset="0"/>
              </a:rPr>
              <a:t> </a:t>
            </a:r>
            <a:r>
              <a:rPr lang="en-US" sz="2000" dirty="0" err="1">
                <a:latin typeface="Arial" pitchFamily="34" charset="0"/>
                <a:cs typeface="Arial" pitchFamily="34" charset="0"/>
              </a:rPr>
              <a:t>jerárquicos</a:t>
            </a:r>
            <a:r>
              <a:rPr lang="en-US" sz="2000" dirty="0">
                <a:latin typeface="Arial" pitchFamily="34" charset="0"/>
                <a:cs typeface="Arial" pitchFamily="34" charset="0"/>
              </a:rPr>
              <a:t> de </a:t>
            </a:r>
            <a:r>
              <a:rPr lang="en-US" sz="2000" dirty="0" err="1">
                <a:latin typeface="Arial" pitchFamily="34" charset="0"/>
                <a:cs typeface="Arial" pitchFamily="34" charset="0"/>
              </a:rPr>
              <a:t>datos</a:t>
            </a:r>
            <a:r>
              <a:rPr lang="en-US" sz="2000" dirty="0">
                <a:latin typeface="Arial" pitchFamily="34" charset="0"/>
                <a:cs typeface="Arial" pitchFamily="34" charset="0"/>
              </a:rPr>
              <a:t>.</a:t>
            </a:r>
          </a:p>
          <a:p>
            <a:pPr lvl="1">
              <a:defRPr/>
            </a:pPr>
            <a:r>
              <a:rPr lang="en-US" sz="2000" dirty="0">
                <a:latin typeface="Arial" pitchFamily="34" charset="0"/>
                <a:cs typeface="Arial" pitchFamily="34" charset="0"/>
              </a:rPr>
              <a:t>Ted </a:t>
            </a:r>
            <a:r>
              <a:rPr lang="en-US" sz="2000" dirty="0" err="1">
                <a:latin typeface="Arial" pitchFamily="34" charset="0"/>
                <a:cs typeface="Arial" pitchFamily="34" charset="0"/>
              </a:rPr>
              <a:t>Codd</a:t>
            </a:r>
            <a:r>
              <a:rPr lang="en-US" sz="2000" dirty="0">
                <a:latin typeface="Arial" pitchFamily="34" charset="0"/>
                <a:cs typeface="Arial" pitchFamily="34" charset="0"/>
              </a:rPr>
              <a:t> define el </a:t>
            </a:r>
            <a:r>
              <a:rPr lang="en-US" sz="2000" dirty="0" err="1">
                <a:latin typeface="Arial" pitchFamily="34" charset="0"/>
                <a:cs typeface="Arial" pitchFamily="34" charset="0"/>
              </a:rPr>
              <a:t>modelo</a:t>
            </a:r>
            <a:r>
              <a:rPr lang="en-US" sz="2000" dirty="0">
                <a:latin typeface="Arial" pitchFamily="34" charset="0"/>
                <a:cs typeface="Arial" pitchFamily="34" charset="0"/>
              </a:rPr>
              <a:t> </a:t>
            </a:r>
            <a:r>
              <a:rPr lang="en-US" sz="2000" dirty="0" err="1">
                <a:latin typeface="Arial" pitchFamily="34" charset="0"/>
                <a:cs typeface="Arial" pitchFamily="34" charset="0"/>
              </a:rPr>
              <a:t>relacional</a:t>
            </a:r>
            <a:r>
              <a:rPr lang="en-US" sz="2000" dirty="0">
                <a:latin typeface="Arial" pitchFamily="34" charset="0"/>
                <a:cs typeface="Arial" pitchFamily="34" charset="0"/>
              </a:rPr>
              <a:t> de </a:t>
            </a:r>
            <a:r>
              <a:rPr lang="en-US" sz="2000" dirty="0" err="1">
                <a:latin typeface="Arial" pitchFamily="34" charset="0"/>
                <a:cs typeface="Arial" pitchFamily="34" charset="0"/>
              </a:rPr>
              <a:t>datos</a:t>
            </a:r>
            <a:endParaRPr lang="en-US" sz="2000" dirty="0">
              <a:latin typeface="Arial" pitchFamily="34" charset="0"/>
              <a:cs typeface="Arial" pitchFamily="34" charset="0"/>
            </a:endParaRPr>
          </a:p>
          <a:p>
            <a:pPr lvl="1">
              <a:defRPr/>
            </a:pPr>
            <a:r>
              <a:rPr lang="en-US" sz="2000" dirty="0" err="1">
                <a:latin typeface="Arial" pitchFamily="34" charset="0"/>
                <a:cs typeface="Arial" pitchFamily="34" charset="0"/>
              </a:rPr>
              <a:t>Nominado</a:t>
            </a:r>
            <a:r>
              <a:rPr lang="en-US" sz="2000" dirty="0">
                <a:latin typeface="Arial" pitchFamily="34" charset="0"/>
                <a:cs typeface="Arial" pitchFamily="34" charset="0"/>
              </a:rPr>
              <a:t> para el ACM Turing Award </a:t>
            </a:r>
            <a:r>
              <a:rPr lang="en-US" sz="2000" dirty="0" err="1">
                <a:latin typeface="Arial" pitchFamily="34" charset="0"/>
                <a:cs typeface="Arial" pitchFamily="34" charset="0"/>
              </a:rPr>
              <a:t>por</a:t>
            </a:r>
            <a:r>
              <a:rPr lang="en-US" sz="2000" dirty="0">
                <a:latin typeface="Arial" pitchFamily="34" charset="0"/>
                <a:cs typeface="Arial" pitchFamily="34" charset="0"/>
              </a:rPr>
              <a:t> </a:t>
            </a:r>
            <a:r>
              <a:rPr lang="en-US" sz="2000" dirty="0" err="1">
                <a:latin typeface="Arial" pitchFamily="34" charset="0"/>
                <a:cs typeface="Arial" pitchFamily="34" charset="0"/>
              </a:rPr>
              <a:t>este</a:t>
            </a:r>
            <a:r>
              <a:rPr lang="en-US" sz="2000" dirty="0">
                <a:latin typeface="Arial" pitchFamily="34" charset="0"/>
                <a:cs typeface="Arial" pitchFamily="34" charset="0"/>
              </a:rPr>
              <a:t> </a:t>
            </a:r>
            <a:r>
              <a:rPr lang="en-US" sz="2000" dirty="0" err="1">
                <a:latin typeface="Arial" pitchFamily="34" charset="0"/>
                <a:cs typeface="Arial" pitchFamily="34" charset="0"/>
              </a:rPr>
              <a:t>trabajo</a:t>
            </a:r>
            <a:endParaRPr lang="en-US" sz="2000" dirty="0">
              <a:latin typeface="Arial" pitchFamily="34" charset="0"/>
              <a:cs typeface="Arial" pitchFamily="34" charset="0"/>
            </a:endParaRPr>
          </a:p>
          <a:p>
            <a:pPr lvl="2">
              <a:defRPr/>
            </a:pPr>
            <a:r>
              <a:rPr lang="en-US" dirty="0">
                <a:latin typeface="Arial" pitchFamily="34" charset="0"/>
                <a:cs typeface="Arial" pitchFamily="34" charset="0"/>
              </a:rPr>
              <a:t>IBM Research </a:t>
            </a:r>
            <a:r>
              <a:rPr lang="en-US" dirty="0" err="1">
                <a:latin typeface="Arial" pitchFamily="34" charset="0"/>
                <a:cs typeface="Arial" pitchFamily="34" charset="0"/>
              </a:rPr>
              <a:t>inicia</a:t>
            </a:r>
            <a:r>
              <a:rPr lang="en-US" dirty="0">
                <a:latin typeface="Arial" pitchFamily="34" charset="0"/>
                <a:cs typeface="Arial" pitchFamily="34" charset="0"/>
              </a:rPr>
              <a:t> el </a:t>
            </a:r>
            <a:r>
              <a:rPr lang="en-US" dirty="0" err="1">
                <a:latin typeface="Arial" pitchFamily="34" charset="0"/>
                <a:cs typeface="Arial" pitchFamily="34" charset="0"/>
              </a:rPr>
              <a:t>prototipo</a:t>
            </a:r>
            <a:r>
              <a:rPr lang="en-US" dirty="0">
                <a:latin typeface="Arial" pitchFamily="34" charset="0"/>
                <a:cs typeface="Arial" pitchFamily="34" charset="0"/>
              </a:rPr>
              <a:t> System R</a:t>
            </a:r>
          </a:p>
          <a:p>
            <a:pPr lvl="2">
              <a:defRPr/>
            </a:pPr>
            <a:r>
              <a:rPr lang="en-US" dirty="0">
                <a:latin typeface="Arial" pitchFamily="34" charset="0"/>
                <a:cs typeface="Arial" pitchFamily="34" charset="0"/>
              </a:rPr>
              <a:t>UC Berkeley </a:t>
            </a:r>
            <a:r>
              <a:rPr lang="en-US" dirty="0" err="1">
                <a:latin typeface="Arial" pitchFamily="34" charset="0"/>
                <a:cs typeface="Arial" pitchFamily="34" charset="0"/>
              </a:rPr>
              <a:t>inicia</a:t>
            </a:r>
            <a:r>
              <a:rPr lang="en-US" dirty="0">
                <a:latin typeface="Arial" pitchFamily="34" charset="0"/>
                <a:cs typeface="Arial" pitchFamily="34" charset="0"/>
              </a:rPr>
              <a:t> el </a:t>
            </a:r>
            <a:r>
              <a:rPr lang="en-US" dirty="0" err="1">
                <a:latin typeface="Arial" pitchFamily="34" charset="0"/>
                <a:cs typeface="Arial" pitchFamily="34" charset="0"/>
              </a:rPr>
              <a:t>prototipo</a:t>
            </a:r>
            <a:r>
              <a:rPr lang="en-US" dirty="0">
                <a:latin typeface="Arial" pitchFamily="34" charset="0"/>
                <a:cs typeface="Arial" pitchFamily="34" charset="0"/>
              </a:rPr>
              <a:t> Ingres</a:t>
            </a:r>
          </a:p>
          <a:p>
            <a:pPr lvl="1">
              <a:defRPr/>
            </a:pPr>
            <a:r>
              <a:rPr lang="en-US" sz="2000" dirty="0" err="1">
                <a:latin typeface="Arial" pitchFamily="34" charset="0"/>
                <a:cs typeface="Arial" pitchFamily="34" charset="0"/>
              </a:rPr>
              <a:t>Procesamiento</a:t>
            </a:r>
            <a:r>
              <a:rPr lang="en-US" sz="2000" dirty="0">
                <a:latin typeface="Arial" pitchFamily="34" charset="0"/>
                <a:cs typeface="Arial" pitchFamily="34" charset="0"/>
              </a:rPr>
              <a:t> de </a:t>
            </a:r>
            <a:r>
              <a:rPr lang="en-US" sz="2000" dirty="0" err="1">
                <a:latin typeface="Arial" pitchFamily="34" charset="0"/>
                <a:cs typeface="Arial" pitchFamily="34" charset="0"/>
              </a:rPr>
              <a:t>transacciones</a:t>
            </a:r>
            <a:r>
              <a:rPr lang="en-US" sz="2000" dirty="0">
                <a:latin typeface="Arial" pitchFamily="34" charset="0"/>
                <a:cs typeface="Arial" pitchFamily="34" charset="0"/>
              </a:rPr>
              <a:t> de Alta-</a:t>
            </a:r>
            <a:r>
              <a:rPr lang="en-US" sz="2000" dirty="0" err="1">
                <a:latin typeface="Arial" pitchFamily="34" charset="0"/>
                <a:cs typeface="Arial" pitchFamily="34" charset="0"/>
              </a:rPr>
              <a:t>desempeño</a:t>
            </a:r>
            <a:endParaRPr lang="en-US" sz="2000" dirty="0">
              <a:latin typeface="Arial" pitchFamily="34" charset="0"/>
              <a:cs typeface="Arial" pitchFamily="34" charset="0"/>
            </a:endParaRPr>
          </a:p>
          <a:p>
            <a:endParaRPr lang="es-MX" dirty="0"/>
          </a:p>
        </p:txBody>
      </p:sp>
    </p:spTree>
    <p:extLst>
      <p:ext uri="{BB962C8B-B14F-4D97-AF65-F5344CB8AC3E}">
        <p14:creationId xmlns:p14="http://schemas.microsoft.com/office/powerpoint/2010/main" val="121925491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a:solidFill>
                  <a:schemeClr val="accent1">
                    <a:lumMod val="50000"/>
                  </a:schemeClr>
                </a:solidFill>
                <a:latin typeface="Arial" charset="0"/>
              </a:rPr>
              <a:t>Historia</a:t>
            </a:r>
            <a:r>
              <a:rPr lang="en-US" b="1" dirty="0">
                <a:solidFill>
                  <a:schemeClr val="accent1">
                    <a:lumMod val="50000"/>
                  </a:schemeClr>
                </a:solidFill>
                <a:latin typeface="Arial" charset="0"/>
              </a:rPr>
              <a:t> (cont.)</a:t>
            </a:r>
            <a:endParaRPr lang="es-MX" b="1" dirty="0">
              <a:solidFill>
                <a:schemeClr val="accent1">
                  <a:lumMod val="50000"/>
                </a:schemeClr>
              </a:solidFill>
              <a:latin typeface="Arial" charset="0"/>
            </a:endParaRPr>
          </a:p>
        </p:txBody>
      </p:sp>
      <p:sp>
        <p:nvSpPr>
          <p:cNvPr id="3" name="Marcador de contenido 2"/>
          <p:cNvSpPr>
            <a:spLocks noGrp="1"/>
          </p:cNvSpPr>
          <p:nvPr>
            <p:ph sz="quarter" idx="13"/>
          </p:nvPr>
        </p:nvSpPr>
        <p:spPr/>
        <p:txBody>
          <a:bodyPr/>
          <a:lstStyle/>
          <a:p>
            <a:pPr>
              <a:defRPr/>
            </a:pPr>
            <a:r>
              <a:rPr lang="en-US" sz="2000" dirty="0" err="1"/>
              <a:t>Década</a:t>
            </a:r>
            <a:r>
              <a:rPr lang="en-US" sz="2000" dirty="0"/>
              <a:t> 1980:</a:t>
            </a:r>
          </a:p>
          <a:p>
            <a:pPr lvl="1">
              <a:defRPr/>
            </a:pPr>
            <a:r>
              <a:rPr lang="en-US" sz="2000" dirty="0">
                <a:latin typeface="Arial" pitchFamily="34" charset="0"/>
                <a:cs typeface="Arial" pitchFamily="34" charset="0"/>
              </a:rPr>
              <a:t>La </a:t>
            </a:r>
            <a:r>
              <a:rPr lang="en-US" sz="2000" dirty="0" err="1">
                <a:latin typeface="Arial" pitchFamily="34" charset="0"/>
                <a:cs typeface="Arial" pitchFamily="34" charset="0"/>
              </a:rPr>
              <a:t>investigación</a:t>
            </a:r>
            <a:r>
              <a:rPr lang="en-US" sz="2000" dirty="0">
                <a:latin typeface="Arial" pitchFamily="34" charset="0"/>
                <a:cs typeface="Arial" pitchFamily="34" charset="0"/>
              </a:rPr>
              <a:t> de </a:t>
            </a:r>
            <a:r>
              <a:rPr lang="en-US" sz="2000" dirty="0" err="1">
                <a:latin typeface="Arial" pitchFamily="34" charset="0"/>
                <a:cs typeface="Arial" pitchFamily="34" charset="0"/>
              </a:rPr>
              <a:t>los</a:t>
            </a:r>
            <a:r>
              <a:rPr lang="en-US" sz="2000" dirty="0">
                <a:latin typeface="Arial" pitchFamily="34" charset="0"/>
                <a:cs typeface="Arial" pitchFamily="34" charset="0"/>
              </a:rPr>
              <a:t> </a:t>
            </a:r>
            <a:r>
              <a:rPr lang="en-US" sz="2000" dirty="0" err="1">
                <a:latin typeface="Arial" pitchFamily="34" charset="0"/>
                <a:cs typeface="Arial" pitchFamily="34" charset="0"/>
              </a:rPr>
              <a:t>prototipos</a:t>
            </a:r>
            <a:r>
              <a:rPr lang="en-US" sz="2000" dirty="0">
                <a:latin typeface="Arial" pitchFamily="34" charset="0"/>
                <a:cs typeface="Arial" pitchFamily="34" charset="0"/>
              </a:rPr>
              <a:t> </a:t>
            </a:r>
            <a:r>
              <a:rPr lang="en-US" sz="2000" dirty="0" err="1">
                <a:latin typeface="Arial" pitchFamily="34" charset="0"/>
                <a:cs typeface="Arial" pitchFamily="34" charset="0"/>
              </a:rPr>
              <a:t>evolucionan</a:t>
            </a:r>
            <a:r>
              <a:rPr lang="en-US" sz="2000" dirty="0">
                <a:latin typeface="Arial" pitchFamily="34" charset="0"/>
                <a:cs typeface="Arial" pitchFamily="34" charset="0"/>
              </a:rPr>
              <a:t> </a:t>
            </a:r>
            <a:r>
              <a:rPr lang="en-US" sz="2000" dirty="0" err="1">
                <a:latin typeface="Arial" pitchFamily="34" charset="0"/>
                <a:cs typeface="Arial" pitchFamily="34" charset="0"/>
              </a:rPr>
              <a:t>en</a:t>
            </a:r>
            <a:r>
              <a:rPr lang="en-US" sz="2000" dirty="0">
                <a:latin typeface="Arial" pitchFamily="34" charset="0"/>
                <a:cs typeface="Arial" pitchFamily="34" charset="0"/>
              </a:rPr>
              <a:t> </a:t>
            </a:r>
            <a:r>
              <a:rPr lang="en-US" sz="2000" dirty="0" err="1">
                <a:latin typeface="Arial" pitchFamily="34" charset="0"/>
                <a:cs typeface="Arial" pitchFamily="34" charset="0"/>
              </a:rPr>
              <a:t>sistemas</a:t>
            </a:r>
            <a:r>
              <a:rPr lang="en-US" sz="2000" dirty="0">
                <a:latin typeface="Arial" pitchFamily="34" charset="0"/>
                <a:cs typeface="Arial" pitchFamily="34" charset="0"/>
              </a:rPr>
              <a:t> </a:t>
            </a:r>
            <a:r>
              <a:rPr lang="en-US" sz="2000" dirty="0" err="1">
                <a:latin typeface="Arial" pitchFamily="34" charset="0"/>
                <a:cs typeface="Arial" pitchFamily="34" charset="0"/>
              </a:rPr>
              <a:t>comerciales</a:t>
            </a:r>
            <a:endParaRPr lang="en-US" sz="2000" dirty="0">
              <a:latin typeface="Arial" pitchFamily="34" charset="0"/>
              <a:cs typeface="Arial" pitchFamily="34" charset="0"/>
            </a:endParaRPr>
          </a:p>
          <a:p>
            <a:pPr lvl="1">
              <a:defRPr/>
            </a:pPr>
            <a:r>
              <a:rPr lang="en-US" sz="2000" dirty="0">
                <a:latin typeface="Arial" pitchFamily="34" charset="0"/>
                <a:cs typeface="Arial" pitchFamily="34" charset="0"/>
              </a:rPr>
              <a:t>SQL se </a:t>
            </a:r>
            <a:r>
              <a:rPr lang="en-US" sz="2000" dirty="0" err="1">
                <a:latin typeface="Arial" pitchFamily="34" charset="0"/>
                <a:cs typeface="Arial" pitchFamily="34" charset="0"/>
              </a:rPr>
              <a:t>convierte</a:t>
            </a:r>
            <a:r>
              <a:rPr lang="en-US" sz="2000" dirty="0">
                <a:latin typeface="Arial" pitchFamily="34" charset="0"/>
                <a:cs typeface="Arial" pitchFamily="34" charset="0"/>
              </a:rPr>
              <a:t> </a:t>
            </a:r>
            <a:r>
              <a:rPr lang="en-US" sz="2000" dirty="0" err="1">
                <a:latin typeface="Arial" pitchFamily="34" charset="0"/>
                <a:cs typeface="Arial" pitchFamily="34" charset="0"/>
              </a:rPr>
              <a:t>en</a:t>
            </a:r>
            <a:r>
              <a:rPr lang="en-US" sz="2000" dirty="0">
                <a:latin typeface="Arial" pitchFamily="34" charset="0"/>
                <a:cs typeface="Arial" pitchFamily="34" charset="0"/>
              </a:rPr>
              <a:t> un </a:t>
            </a:r>
            <a:r>
              <a:rPr lang="en-US" sz="2000" dirty="0" err="1">
                <a:latin typeface="Arial" pitchFamily="34" charset="0"/>
                <a:cs typeface="Arial" pitchFamily="34" charset="0"/>
              </a:rPr>
              <a:t>estándar</a:t>
            </a:r>
            <a:r>
              <a:rPr lang="en-US" sz="2000" dirty="0">
                <a:latin typeface="Arial" pitchFamily="34" charset="0"/>
                <a:cs typeface="Arial" pitchFamily="34" charset="0"/>
              </a:rPr>
              <a:t> industrial</a:t>
            </a:r>
          </a:p>
          <a:p>
            <a:pPr lvl="1">
              <a:defRPr/>
            </a:pPr>
            <a:r>
              <a:rPr lang="en-US" sz="2000" dirty="0" err="1">
                <a:latin typeface="Arial" pitchFamily="34" charset="0"/>
                <a:cs typeface="Arial" pitchFamily="34" charset="0"/>
              </a:rPr>
              <a:t>Sistemas</a:t>
            </a:r>
            <a:r>
              <a:rPr lang="en-US" sz="2000" dirty="0">
                <a:latin typeface="Arial" pitchFamily="34" charset="0"/>
                <a:cs typeface="Arial" pitchFamily="34" charset="0"/>
              </a:rPr>
              <a:t> de BD </a:t>
            </a:r>
            <a:r>
              <a:rPr lang="en-US" sz="2000" dirty="0" err="1">
                <a:latin typeface="Arial" pitchFamily="34" charset="0"/>
                <a:cs typeface="Arial" pitchFamily="34" charset="0"/>
              </a:rPr>
              <a:t>Paralelas</a:t>
            </a:r>
            <a:r>
              <a:rPr lang="en-US" sz="2000" dirty="0">
                <a:latin typeface="Arial" pitchFamily="34" charset="0"/>
                <a:cs typeface="Arial" pitchFamily="34" charset="0"/>
              </a:rPr>
              <a:t> y </a:t>
            </a:r>
            <a:r>
              <a:rPr lang="en-US" sz="2000" dirty="0" err="1">
                <a:latin typeface="Arial" pitchFamily="34" charset="0"/>
                <a:cs typeface="Arial" pitchFamily="34" charset="0"/>
              </a:rPr>
              <a:t>distribuidos</a:t>
            </a:r>
            <a:endParaRPr lang="en-US" sz="2000" dirty="0">
              <a:latin typeface="Arial" pitchFamily="34" charset="0"/>
              <a:cs typeface="Arial" pitchFamily="34" charset="0"/>
            </a:endParaRPr>
          </a:p>
          <a:p>
            <a:pPr lvl="1">
              <a:defRPr/>
            </a:pPr>
            <a:r>
              <a:rPr lang="en-US" sz="2000" dirty="0" err="1">
                <a:latin typeface="Arial" pitchFamily="34" charset="0"/>
                <a:cs typeface="Arial" pitchFamily="34" charset="0"/>
              </a:rPr>
              <a:t>Sistemas</a:t>
            </a:r>
            <a:r>
              <a:rPr lang="en-US" sz="2000" dirty="0">
                <a:latin typeface="Arial" pitchFamily="34" charset="0"/>
                <a:cs typeface="Arial" pitchFamily="34" charset="0"/>
              </a:rPr>
              <a:t> de BD </a:t>
            </a:r>
            <a:r>
              <a:rPr lang="en-US" sz="2000" dirty="0" err="1">
                <a:latin typeface="Arial" pitchFamily="34" charset="0"/>
                <a:cs typeface="Arial" pitchFamily="34" charset="0"/>
              </a:rPr>
              <a:t>Orientados</a:t>
            </a:r>
            <a:r>
              <a:rPr lang="en-US" sz="2000" dirty="0">
                <a:latin typeface="Arial" pitchFamily="34" charset="0"/>
                <a:cs typeface="Arial" pitchFamily="34" charset="0"/>
              </a:rPr>
              <a:t> a </a:t>
            </a:r>
            <a:r>
              <a:rPr lang="en-US" sz="2000" dirty="0" err="1">
                <a:latin typeface="Arial" pitchFamily="34" charset="0"/>
                <a:cs typeface="Arial" pitchFamily="34" charset="0"/>
              </a:rPr>
              <a:t>objetos</a:t>
            </a:r>
            <a:endParaRPr lang="en-US" sz="2000" dirty="0">
              <a:latin typeface="Arial" pitchFamily="34" charset="0"/>
              <a:cs typeface="Arial" pitchFamily="34" charset="0"/>
            </a:endParaRPr>
          </a:p>
          <a:p>
            <a:pPr>
              <a:defRPr/>
            </a:pPr>
            <a:r>
              <a:rPr lang="en-US" sz="2000" dirty="0" err="1"/>
              <a:t>Década</a:t>
            </a:r>
            <a:r>
              <a:rPr lang="en-US" sz="2000" dirty="0"/>
              <a:t> de 1990:</a:t>
            </a:r>
          </a:p>
          <a:p>
            <a:pPr lvl="1">
              <a:defRPr/>
            </a:pPr>
            <a:r>
              <a:rPr lang="en-US" sz="2000" dirty="0">
                <a:latin typeface="Arial" pitchFamily="34" charset="0"/>
                <a:cs typeface="Arial" pitchFamily="34" charset="0"/>
              </a:rPr>
              <a:t>Gran </a:t>
            </a:r>
            <a:r>
              <a:rPr lang="en-US" sz="2000" dirty="0" err="1">
                <a:latin typeface="Arial" pitchFamily="34" charset="0"/>
                <a:cs typeface="Arial" pitchFamily="34" charset="0"/>
              </a:rPr>
              <a:t>apoyo</a:t>
            </a:r>
            <a:r>
              <a:rPr lang="en-US" sz="2000" dirty="0">
                <a:latin typeface="Arial" pitchFamily="34" charset="0"/>
                <a:cs typeface="Arial" pitchFamily="34" charset="0"/>
              </a:rPr>
              <a:t> a las </a:t>
            </a:r>
            <a:r>
              <a:rPr lang="en-US" sz="2000" dirty="0" err="1">
                <a:latin typeface="Arial" pitchFamily="34" charset="0"/>
                <a:cs typeface="Arial" pitchFamily="34" charset="0"/>
              </a:rPr>
              <a:t>aplicaciones</a:t>
            </a:r>
            <a:r>
              <a:rPr lang="en-US" sz="2000" dirty="0">
                <a:latin typeface="Arial" pitchFamily="34" charset="0"/>
                <a:cs typeface="Arial" pitchFamily="34" charset="0"/>
              </a:rPr>
              <a:t> de </a:t>
            </a:r>
            <a:r>
              <a:rPr lang="en-US" sz="2000" dirty="0" err="1">
                <a:latin typeface="Arial" pitchFamily="34" charset="0"/>
                <a:cs typeface="Arial" pitchFamily="34" charset="0"/>
              </a:rPr>
              <a:t>minería</a:t>
            </a:r>
            <a:r>
              <a:rPr lang="en-US" sz="2000" dirty="0">
                <a:latin typeface="Arial" pitchFamily="34" charset="0"/>
                <a:cs typeface="Arial" pitchFamily="34" charset="0"/>
              </a:rPr>
              <a:t> de </a:t>
            </a:r>
            <a:r>
              <a:rPr lang="en-US" sz="2000" dirty="0" err="1">
                <a:latin typeface="Arial" pitchFamily="34" charset="0"/>
                <a:cs typeface="Arial" pitchFamily="34" charset="0"/>
              </a:rPr>
              <a:t>datos</a:t>
            </a:r>
            <a:endParaRPr lang="en-US" sz="2000" dirty="0">
              <a:latin typeface="Arial" pitchFamily="34" charset="0"/>
              <a:cs typeface="Arial" pitchFamily="34" charset="0"/>
            </a:endParaRPr>
          </a:p>
          <a:p>
            <a:pPr lvl="1">
              <a:defRPr/>
            </a:pPr>
            <a:r>
              <a:rPr lang="en-US" sz="2000" dirty="0" err="1">
                <a:latin typeface="Arial" pitchFamily="34" charset="0"/>
                <a:cs typeface="Arial" pitchFamily="34" charset="0"/>
              </a:rPr>
              <a:t>Grandes</a:t>
            </a:r>
            <a:r>
              <a:rPr lang="en-US" sz="2000" dirty="0">
                <a:latin typeface="Arial" pitchFamily="34" charset="0"/>
                <a:cs typeface="Arial" pitchFamily="34" charset="0"/>
              </a:rPr>
              <a:t> </a:t>
            </a:r>
            <a:r>
              <a:rPr lang="en-US" sz="2000" dirty="0" err="1">
                <a:latin typeface="Arial" pitchFamily="34" charset="0"/>
                <a:cs typeface="Arial" pitchFamily="34" charset="0"/>
              </a:rPr>
              <a:t>almacenes</a:t>
            </a:r>
            <a:r>
              <a:rPr lang="en-US" sz="2000" dirty="0">
                <a:latin typeface="Arial" pitchFamily="34" charset="0"/>
                <a:cs typeface="Arial" pitchFamily="34" charset="0"/>
              </a:rPr>
              <a:t> de </a:t>
            </a:r>
            <a:r>
              <a:rPr lang="en-US" sz="2000" dirty="0" err="1">
                <a:latin typeface="Arial" pitchFamily="34" charset="0"/>
                <a:cs typeface="Arial" pitchFamily="34" charset="0"/>
              </a:rPr>
              <a:t>datos</a:t>
            </a:r>
            <a:r>
              <a:rPr lang="en-US" sz="2000" dirty="0">
                <a:latin typeface="Arial" pitchFamily="34" charset="0"/>
                <a:cs typeface="Arial" pitchFamily="34" charset="0"/>
              </a:rPr>
              <a:t> multi-terabyte</a:t>
            </a:r>
          </a:p>
          <a:p>
            <a:pPr lvl="1">
              <a:defRPr/>
            </a:pPr>
            <a:r>
              <a:rPr lang="en-US" sz="2000" dirty="0" err="1">
                <a:latin typeface="Arial" pitchFamily="34" charset="0"/>
                <a:cs typeface="Arial" pitchFamily="34" charset="0"/>
              </a:rPr>
              <a:t>Surgimiento</a:t>
            </a:r>
            <a:r>
              <a:rPr lang="en-US" sz="2000" dirty="0">
                <a:latin typeface="Arial" pitchFamily="34" charset="0"/>
                <a:cs typeface="Arial" pitchFamily="34" charset="0"/>
              </a:rPr>
              <a:t> del </a:t>
            </a:r>
            <a:r>
              <a:rPr lang="en-US" sz="2000" dirty="0" err="1">
                <a:latin typeface="Arial" pitchFamily="34" charset="0"/>
                <a:cs typeface="Arial" pitchFamily="34" charset="0"/>
              </a:rPr>
              <a:t>comercio</a:t>
            </a:r>
            <a:r>
              <a:rPr lang="en-US" sz="2000" dirty="0">
                <a:latin typeface="Arial" pitchFamily="34" charset="0"/>
                <a:cs typeface="Arial" pitchFamily="34" charset="0"/>
              </a:rPr>
              <a:t> Web</a:t>
            </a:r>
          </a:p>
          <a:p>
            <a:pPr>
              <a:defRPr/>
            </a:pPr>
            <a:r>
              <a:rPr lang="en-US" sz="2000" dirty="0" err="1"/>
              <a:t>Década</a:t>
            </a:r>
            <a:r>
              <a:rPr lang="en-US" sz="2000" dirty="0"/>
              <a:t> de 2000:</a:t>
            </a:r>
          </a:p>
          <a:p>
            <a:pPr lvl="1">
              <a:defRPr/>
            </a:pPr>
            <a:r>
              <a:rPr lang="en-US" sz="2000" dirty="0" err="1">
                <a:latin typeface="Arial" pitchFamily="34" charset="0"/>
                <a:cs typeface="Arial" pitchFamily="34" charset="0"/>
              </a:rPr>
              <a:t>Estándares</a:t>
            </a:r>
            <a:r>
              <a:rPr lang="en-US" sz="2000" dirty="0">
                <a:latin typeface="Arial" pitchFamily="34" charset="0"/>
                <a:cs typeface="Arial" pitchFamily="34" charset="0"/>
              </a:rPr>
              <a:t> XML y XQuery</a:t>
            </a:r>
          </a:p>
          <a:p>
            <a:pPr lvl="1">
              <a:defRPr/>
            </a:pPr>
            <a:r>
              <a:rPr lang="en-US" sz="2000" dirty="0" err="1">
                <a:latin typeface="Arial" pitchFamily="34" charset="0"/>
                <a:cs typeface="Arial" pitchFamily="34" charset="0"/>
              </a:rPr>
              <a:t>Administración</a:t>
            </a:r>
            <a:r>
              <a:rPr lang="en-US" sz="2000" dirty="0">
                <a:latin typeface="Arial" pitchFamily="34" charset="0"/>
                <a:cs typeface="Arial" pitchFamily="34" charset="0"/>
              </a:rPr>
              <a:t> de BD </a:t>
            </a:r>
            <a:r>
              <a:rPr lang="en-US" sz="2000" dirty="0" err="1">
                <a:latin typeface="Arial" pitchFamily="34" charset="0"/>
                <a:cs typeface="Arial" pitchFamily="34" charset="0"/>
              </a:rPr>
              <a:t>Automatizadas</a:t>
            </a:r>
            <a:endParaRPr lang="en-US" sz="2000" dirty="0">
              <a:latin typeface="Arial" pitchFamily="34" charset="0"/>
              <a:cs typeface="Arial" pitchFamily="34" charset="0"/>
            </a:endParaRPr>
          </a:p>
          <a:p>
            <a:endParaRPr lang="es-MX" dirty="0"/>
          </a:p>
        </p:txBody>
      </p:sp>
    </p:spTree>
    <p:extLst>
      <p:ext uri="{BB962C8B-B14F-4D97-AF65-F5344CB8AC3E}">
        <p14:creationId xmlns:p14="http://schemas.microsoft.com/office/powerpoint/2010/main" val="71497035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ción2" id="{740516BB-DCA8-4949-93DB-E4D6225E756B}" vid="{6B63E8A4-1C14-4F31-BA51-7771A480E8A7}"/>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Presentación4</Template>
  <TotalTime>3137</TotalTime>
  <Words>7317</Words>
  <Application>Microsoft Office PowerPoint</Application>
  <PresentationFormat>Panorámica</PresentationFormat>
  <Paragraphs>1041</Paragraphs>
  <Slides>114</Slides>
  <Notes>0</Notes>
  <HiddenSlides>0</HiddenSlides>
  <MMClips>0</MMClips>
  <ScaleCrop>false</ScaleCrop>
  <HeadingPairs>
    <vt:vector size="8" baseType="variant">
      <vt:variant>
        <vt:lpstr>Fuentes usadas</vt:lpstr>
      </vt:variant>
      <vt:variant>
        <vt:i4>3</vt:i4>
      </vt:variant>
      <vt:variant>
        <vt:lpstr>Tema</vt:lpstr>
      </vt:variant>
      <vt:variant>
        <vt:i4>1</vt:i4>
      </vt:variant>
      <vt:variant>
        <vt:lpstr>Servidores OLE incrustados</vt:lpstr>
      </vt:variant>
      <vt:variant>
        <vt:i4>1</vt:i4>
      </vt:variant>
      <vt:variant>
        <vt:lpstr>Títulos de diapositiva</vt:lpstr>
      </vt:variant>
      <vt:variant>
        <vt:i4>114</vt:i4>
      </vt:variant>
    </vt:vector>
  </HeadingPairs>
  <TitlesOfParts>
    <vt:vector size="119" baseType="lpstr">
      <vt:lpstr>Arial</vt:lpstr>
      <vt:lpstr>Calibri</vt:lpstr>
      <vt:lpstr>Wingdings</vt:lpstr>
      <vt:lpstr>Tema de Office</vt:lpstr>
      <vt:lpstr>CorelDRAW</vt:lpstr>
      <vt:lpstr>Presentación de PowerPoint</vt:lpstr>
      <vt:lpstr>Diseño de Bases de Datos</vt:lpstr>
      <vt:lpstr>Diseño de Bases de Datos</vt:lpstr>
      <vt:lpstr>Ejemplo BD Escolar</vt:lpstr>
      <vt:lpstr>Ejemplo BD Escolar</vt:lpstr>
      <vt:lpstr>SiCSE (Sistema de Control y Seguimiento Escolar)</vt:lpstr>
      <vt:lpstr>Presentación de PowerPoint</vt:lpstr>
      <vt:lpstr>BD Escolar – DER (Incompleto)</vt:lpstr>
      <vt:lpstr>Esquema de la BD Escolar SQL – Data Definition Language</vt:lpstr>
      <vt:lpstr>Ejemplo BD Escolar</vt:lpstr>
      <vt:lpstr>Unidad 1. Introducción a las Bases de Datos</vt:lpstr>
      <vt:lpstr>Introducción</vt:lpstr>
      <vt:lpstr>Los Sistemas de Bases de Datos (SBD)</vt:lpstr>
      <vt:lpstr>Los Sistemas de Bases de Datos (SBD)</vt:lpstr>
      <vt:lpstr>Los Sistemas de Bases de Datos (SBD)</vt:lpstr>
      <vt:lpstr>Componentes de un Sistema de base de datos</vt:lpstr>
      <vt:lpstr>Datos Vs. Información</vt:lpstr>
      <vt:lpstr>Transformación de Datos en Información</vt:lpstr>
      <vt:lpstr>Características de los Sistemas de bases de datos</vt:lpstr>
      <vt:lpstr>Base de datos (BD)</vt:lpstr>
      <vt:lpstr>Base de datos (BD)</vt:lpstr>
      <vt:lpstr>Base de datos (BD)</vt:lpstr>
      <vt:lpstr>Base de datos (BD) – instancia</vt:lpstr>
      <vt:lpstr>Sistema Manejador de Bases de Datos (SMBD)</vt:lpstr>
      <vt:lpstr>Rol y Ventajas del SMBD</vt:lpstr>
      <vt:lpstr>Rol y Ventajas del SMBD</vt:lpstr>
      <vt:lpstr>Raíces históricas: sistemas de archivos</vt:lpstr>
      <vt:lpstr>Sistema de archivos simple</vt:lpstr>
      <vt:lpstr>Sistema de Archivos: Problemas en el desarrollo</vt:lpstr>
      <vt:lpstr>Sistema de Archivos: Problemas en el desarrollo</vt:lpstr>
      <vt:lpstr>Sistema de Archivos: Problemas en el desarrollo</vt:lpstr>
      <vt:lpstr>Ventajas de las Bases de Datos</vt:lpstr>
      <vt:lpstr>Ventajas de las Bases de Datos</vt:lpstr>
      <vt:lpstr>Ventajas de las Bases de Datos</vt:lpstr>
      <vt:lpstr>Sistemas de Bases de Datos</vt:lpstr>
      <vt:lpstr>Ventajas del enfoque de BD</vt:lpstr>
      <vt:lpstr>El entorno del Sistema de BD</vt:lpstr>
      <vt:lpstr>Costos del enfoque de BD</vt:lpstr>
      <vt:lpstr>ADA 1. Sistema de Archivos VS  Modelo de Bases de datos</vt:lpstr>
      <vt:lpstr>Beneficios del enfoque de BD</vt:lpstr>
      <vt:lpstr>El Ciclo de Vida de Bases de datos (CVBD)                                          Database modeling and design</vt:lpstr>
      <vt:lpstr>Presentación de PowerPoint</vt:lpstr>
      <vt:lpstr>CVBD. I. Desarrollo de Requisitos (Especificación)</vt:lpstr>
      <vt:lpstr>CVBD. I. Análisis de Requisitos</vt:lpstr>
      <vt:lpstr>Ejemplo BD Escolar</vt:lpstr>
      <vt:lpstr>Presentación de PowerPoint</vt:lpstr>
      <vt:lpstr>Diccionario de Datos (DD del DFD) Ejemplos:</vt:lpstr>
      <vt:lpstr>CVBD. II. Diseño Lógico</vt:lpstr>
      <vt:lpstr>CVBD. II. Diseño Lógico</vt:lpstr>
      <vt:lpstr>Ejemplo BD Escolar</vt:lpstr>
      <vt:lpstr>BD Escolar – DER</vt:lpstr>
      <vt:lpstr>CVBD. II. Diseño Lógico</vt:lpstr>
      <vt:lpstr>Estructura de la BD</vt:lpstr>
      <vt:lpstr>CVBD. II. Diseño Lógico</vt:lpstr>
      <vt:lpstr>CVBD. III. Diseño Físico</vt:lpstr>
      <vt:lpstr>CVBD. III. Diseño Físico</vt:lpstr>
      <vt:lpstr>Esquema de la BD Escolar SQL – Data Definition Language</vt:lpstr>
      <vt:lpstr>CVBD. III. Diseño Físico</vt:lpstr>
      <vt:lpstr>CVBD. IV.  Distribución de los datos</vt:lpstr>
      <vt:lpstr>CVBD. V.  Implementación, Monitoreo y Modificación</vt:lpstr>
      <vt:lpstr>Presentación de PowerPoint</vt:lpstr>
      <vt:lpstr>SQL – Data Manipulation Language</vt:lpstr>
      <vt:lpstr>Una Arquitectura de Bases de Datos                                          Introduction to database systems. Date</vt:lpstr>
      <vt:lpstr>1.3. Una Arquitectura de Bases de Datos </vt:lpstr>
      <vt:lpstr>1.3. Arquitectura de Bases de Datos </vt:lpstr>
      <vt:lpstr>1.3. Arquitectura de Bases de Datos </vt:lpstr>
      <vt:lpstr>1.3. Arquitectura de Bases de Datos  (ANSI/SPARC) </vt:lpstr>
      <vt:lpstr>1.3. Arquitectura de Bases de Datos </vt:lpstr>
      <vt:lpstr>1.3. Arquitectura de Bases de Datos </vt:lpstr>
      <vt:lpstr>1.3. Arquitectura de Bases de Datos </vt:lpstr>
      <vt:lpstr>Diferentes Vistas de la BD</vt:lpstr>
      <vt:lpstr>Esquema de la BD Escolar SQL – Data Definition Language</vt:lpstr>
      <vt:lpstr>Ejemplo BD Escolar</vt:lpstr>
      <vt:lpstr>1.3. Arquitectura de Bases de Datos </vt:lpstr>
      <vt:lpstr>1.3. Arquitectura de Bases de Datos </vt:lpstr>
      <vt:lpstr>1.3. Arquitectura de Bases de Datos </vt:lpstr>
      <vt:lpstr>1.3. Arquitectura de Bases de Datos </vt:lpstr>
      <vt:lpstr>1.3. Arquitectura de Bases de Datos </vt:lpstr>
      <vt:lpstr>1.3. Arquitectura de Bases de Datos </vt:lpstr>
      <vt:lpstr>Arquitecturas de los SBD: Sistemas Centralizados</vt:lpstr>
      <vt:lpstr>1.3. Arquitectura de Bases de Datos </vt:lpstr>
      <vt:lpstr>1.3. Arquitectura de Bases de Datos </vt:lpstr>
      <vt:lpstr>1.3. Arquitectura de Bases de Datos </vt:lpstr>
      <vt:lpstr>Arquitecturas de los SBD: Sistemas Cliente-Servidor </vt:lpstr>
      <vt:lpstr>1.3. Arquitectura de Bases de Datos </vt:lpstr>
      <vt:lpstr>Modelos de datos. Exposiciones</vt:lpstr>
      <vt:lpstr>Conceptos</vt:lpstr>
      <vt:lpstr>Los Modelos de Datos                  Coronel. Bases de datos: Diseño, implementación y administración</vt:lpstr>
      <vt:lpstr>Modelos de datos</vt:lpstr>
      <vt:lpstr>El Modelado de datos</vt:lpstr>
      <vt:lpstr>Elementos básicos de un Modelo de datos</vt:lpstr>
      <vt:lpstr>Reglas de Negocio</vt:lpstr>
      <vt:lpstr>Reglas de Negocio</vt:lpstr>
      <vt:lpstr>Reglas de Negocio. Identificación</vt:lpstr>
      <vt:lpstr>Evolución de los principales modelos de datos</vt:lpstr>
      <vt:lpstr>Conceptos de Bases de Datos Repaso</vt:lpstr>
      <vt:lpstr>Niveles de Abstracción</vt:lpstr>
      <vt:lpstr>Vista de los datos</vt:lpstr>
      <vt:lpstr>Esquemas e Instancias</vt:lpstr>
      <vt:lpstr>Independencia de Datos</vt:lpstr>
      <vt:lpstr>SQL (Structured Query Language)</vt:lpstr>
      <vt:lpstr>Data Definition Language (DDL)</vt:lpstr>
      <vt:lpstr>Data Manipulation Language (DML)</vt:lpstr>
      <vt:lpstr>Data Manipulation Language (DML)</vt:lpstr>
      <vt:lpstr>Diseño de Bases de datos</vt:lpstr>
      <vt:lpstr>Administración del Almacenamiento</vt:lpstr>
      <vt:lpstr>Procesamiento de Consultas</vt:lpstr>
      <vt:lpstr>Procesamiento de Consultas (Cont.)</vt:lpstr>
      <vt:lpstr>Administración de Transacciones</vt:lpstr>
      <vt:lpstr>Usuarios de la Base de Datos</vt:lpstr>
      <vt:lpstr>Administrador de la BD</vt:lpstr>
      <vt:lpstr>Estructura General del Sistema</vt:lpstr>
      <vt:lpstr>Historia los Sistemas de BD</vt:lpstr>
      <vt:lpstr>Historia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JC dm</dc:creator>
  <cp:lastModifiedBy>Julio César Díaz Mendoza</cp:lastModifiedBy>
  <cp:revision>194</cp:revision>
  <dcterms:created xsi:type="dcterms:W3CDTF">2017-06-26T22:31:56Z</dcterms:created>
  <dcterms:modified xsi:type="dcterms:W3CDTF">2026-08-11T22:42:22Z</dcterms:modified>
</cp:coreProperties>
</file>